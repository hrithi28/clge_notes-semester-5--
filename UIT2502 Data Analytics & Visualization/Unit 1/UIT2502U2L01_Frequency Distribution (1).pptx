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349" r:id="rId2"/>
    <p:sldId id="388" r:id="rId3"/>
    <p:sldId id="389" r:id="rId4"/>
    <p:sldId id="390" r:id="rId5"/>
    <p:sldId id="391" r:id="rId6"/>
    <p:sldId id="392" r:id="rId7"/>
    <p:sldId id="393" r:id="rId8"/>
    <p:sldId id="394" r:id="rId9"/>
    <p:sldId id="395" r:id="rId10"/>
    <p:sldId id="396" r:id="rId11"/>
    <p:sldId id="397" r:id="rId12"/>
    <p:sldId id="398" r:id="rId13"/>
    <p:sldId id="399" r:id="rId14"/>
    <p:sldId id="400" r:id="rId15"/>
    <p:sldId id="401" r:id="rId16"/>
    <p:sldId id="402" r:id="rId17"/>
    <p:sldId id="403" r:id="rId18"/>
    <p:sldId id="404" r:id="rId19"/>
    <p:sldId id="408" r:id="rId20"/>
    <p:sldId id="409" r:id="rId21"/>
    <p:sldId id="410" r:id="rId22"/>
    <p:sldId id="411" r:id="rId23"/>
    <p:sldId id="405" r:id="rId24"/>
    <p:sldId id="406" r:id="rId25"/>
    <p:sldId id="412" r:id="rId26"/>
    <p:sldId id="413" r:id="rId27"/>
    <p:sldId id="414" r:id="rId28"/>
    <p:sldId id="415" r:id="rId29"/>
    <p:sldId id="416" r:id="rId30"/>
    <p:sldId id="417" r:id="rId31"/>
    <p:sldId id="387" r:id="rId3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64659" autoAdjust="0"/>
  </p:normalViewPr>
  <p:slideViewPr>
    <p:cSldViewPr snapToGrid="0">
      <p:cViewPr varScale="1">
        <p:scale>
          <a:sx n="60" d="100"/>
          <a:sy n="60" d="100"/>
        </p:scale>
        <p:origin x="84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B0FF3E-45F1-43B8-B345-4BDBBF07A7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DF9A75-C077-45A9-825E-C6B04B24026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C76006B-1609-407B-B4DF-18FB2F915E3A}" type="datetimeFigureOut">
              <a:rPr lang="en-IN"/>
              <a:pPr>
                <a:defRPr/>
              </a:pPr>
              <a:t>18-08-2024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044B7DB-FF18-4A40-95A7-12719871AE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0B1F00B-FA20-45A0-A39A-D2F9BA9BC8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AE3A7-313B-45A8-AABB-7D725AC482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BA41B-7414-4071-80A8-BD8925D23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E2244FC-7632-47D8-9188-518A72FB3A9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80D0A25C-BBA7-4C07-85D4-8127069AFC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B1C32B4-B99F-4B38-8D2C-C7DB36F7BACE}" type="slidenum">
              <a:rPr lang="en-US" altLang="en-US" smtClean="0">
                <a:solidFill>
                  <a:srgbClr val="FFFFFF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>
              <a:solidFill>
                <a:srgbClr val="FFFFFF"/>
              </a:solidFill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56EBBCFE-8E96-47C3-B77E-8D9F84860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30513" y="566738"/>
            <a:ext cx="5037137" cy="2833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C340F232-9272-4D30-B1C5-19585A2A4A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25575" y="3589338"/>
            <a:ext cx="7842250" cy="3400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73214" indent="0" algn="ctr">
              <a:buNone/>
              <a:defRPr/>
            </a:lvl2pPr>
            <a:lvl3pPr marL="946429" indent="0" algn="ctr">
              <a:buNone/>
              <a:defRPr/>
            </a:lvl3pPr>
            <a:lvl4pPr marL="1419643" indent="0" algn="ctr">
              <a:buNone/>
              <a:defRPr/>
            </a:lvl4pPr>
            <a:lvl5pPr marL="1892858" indent="0" algn="ctr">
              <a:buNone/>
              <a:defRPr/>
            </a:lvl5pPr>
            <a:lvl6pPr marL="2366071" indent="0" algn="ctr">
              <a:buNone/>
              <a:defRPr/>
            </a:lvl6pPr>
            <a:lvl7pPr marL="2839286" indent="0" algn="ctr">
              <a:buNone/>
              <a:defRPr/>
            </a:lvl7pPr>
            <a:lvl8pPr marL="3312500" indent="0" algn="ctr">
              <a:buNone/>
              <a:defRPr/>
            </a:lvl8pPr>
            <a:lvl9pPr marL="3785715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E1A18FDD-F8FB-48EC-81A5-05675859B25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B7D1E-6DF6-4752-A710-C2698E234E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531084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7A3B895D-DF92-43DD-AE17-443AF10090C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F67F06-8C13-4734-9C58-547A6022B2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503686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17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087"/>
            </a:lvl1pPr>
            <a:lvl2pPr marL="473214" indent="0">
              <a:buNone/>
              <a:defRPr sz="1906"/>
            </a:lvl2pPr>
            <a:lvl3pPr marL="946429" indent="0">
              <a:buNone/>
              <a:defRPr sz="1634"/>
            </a:lvl3pPr>
            <a:lvl4pPr marL="1419643" indent="0">
              <a:buNone/>
              <a:defRPr sz="1452"/>
            </a:lvl4pPr>
            <a:lvl5pPr marL="1892858" indent="0">
              <a:buNone/>
              <a:defRPr sz="1452"/>
            </a:lvl5pPr>
            <a:lvl6pPr marL="2366071" indent="0">
              <a:buNone/>
              <a:defRPr sz="1452"/>
            </a:lvl6pPr>
            <a:lvl7pPr marL="2839286" indent="0">
              <a:buNone/>
              <a:defRPr sz="1452"/>
            </a:lvl7pPr>
            <a:lvl8pPr marL="3312500" indent="0">
              <a:buNone/>
              <a:defRPr sz="1452"/>
            </a:lvl8pPr>
            <a:lvl9pPr marL="3785715" indent="0">
              <a:buNone/>
              <a:defRPr sz="14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3935024-D5B8-4870-8B59-743A525F27A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B8AA0B-A091-4E4F-BAA0-ED98D21E9E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262045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95401"/>
            <a:ext cx="5384800" cy="4830763"/>
          </a:xfrm>
        </p:spPr>
        <p:txBody>
          <a:bodyPr/>
          <a:lstStyle>
            <a:lvl1pPr>
              <a:defRPr sz="2904"/>
            </a:lvl1pPr>
            <a:lvl2pPr>
              <a:defRPr sz="2451"/>
            </a:lvl2pPr>
            <a:lvl3pPr>
              <a:defRPr sz="2087"/>
            </a:lvl3pPr>
            <a:lvl4pPr>
              <a:defRPr sz="1906"/>
            </a:lvl4pPr>
            <a:lvl5pPr>
              <a:defRPr sz="1906"/>
            </a:lvl5pPr>
            <a:lvl6pPr>
              <a:defRPr sz="1906"/>
            </a:lvl6pPr>
            <a:lvl7pPr>
              <a:defRPr sz="1906"/>
            </a:lvl7pPr>
            <a:lvl8pPr>
              <a:defRPr sz="1906"/>
            </a:lvl8pPr>
            <a:lvl9pPr>
              <a:defRPr sz="1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1"/>
            <a:ext cx="5384800" cy="4830763"/>
          </a:xfrm>
        </p:spPr>
        <p:txBody>
          <a:bodyPr/>
          <a:lstStyle>
            <a:lvl1pPr>
              <a:defRPr sz="2904"/>
            </a:lvl1pPr>
            <a:lvl2pPr>
              <a:defRPr sz="2451"/>
            </a:lvl2pPr>
            <a:lvl3pPr>
              <a:defRPr sz="2087"/>
            </a:lvl3pPr>
            <a:lvl4pPr>
              <a:defRPr sz="1906"/>
            </a:lvl4pPr>
            <a:lvl5pPr>
              <a:defRPr sz="1906"/>
            </a:lvl5pPr>
            <a:lvl6pPr>
              <a:defRPr sz="1906"/>
            </a:lvl6pPr>
            <a:lvl7pPr>
              <a:defRPr sz="1906"/>
            </a:lvl7pPr>
            <a:lvl8pPr>
              <a:defRPr sz="1906"/>
            </a:lvl8pPr>
            <a:lvl9pPr>
              <a:defRPr sz="1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7C2577CE-8A3A-4487-A5F7-3588E8D3B83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985FED-0574-4120-A240-E2935F6A53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622962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6917" cy="639762"/>
          </a:xfrm>
        </p:spPr>
        <p:txBody>
          <a:bodyPr anchor="b"/>
          <a:lstStyle>
            <a:lvl1pPr marL="0" indent="0">
              <a:buNone/>
              <a:defRPr sz="2451" b="1"/>
            </a:lvl1pPr>
            <a:lvl2pPr marL="473214" indent="0">
              <a:buNone/>
              <a:defRPr sz="2087" b="1"/>
            </a:lvl2pPr>
            <a:lvl3pPr marL="946429" indent="0">
              <a:buNone/>
              <a:defRPr sz="1906" b="1"/>
            </a:lvl3pPr>
            <a:lvl4pPr marL="1419643" indent="0">
              <a:buNone/>
              <a:defRPr sz="1634" b="1"/>
            </a:lvl4pPr>
            <a:lvl5pPr marL="1892858" indent="0">
              <a:buNone/>
              <a:defRPr sz="1634" b="1"/>
            </a:lvl5pPr>
            <a:lvl6pPr marL="2366071" indent="0">
              <a:buNone/>
              <a:defRPr sz="1634" b="1"/>
            </a:lvl6pPr>
            <a:lvl7pPr marL="2839286" indent="0">
              <a:buNone/>
              <a:defRPr sz="1634" b="1"/>
            </a:lvl7pPr>
            <a:lvl8pPr marL="3312500" indent="0">
              <a:buNone/>
              <a:defRPr sz="1634" b="1"/>
            </a:lvl8pPr>
            <a:lvl9pPr marL="3785715" indent="0">
              <a:buNone/>
              <a:defRPr sz="16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6917" cy="3951288"/>
          </a:xfrm>
        </p:spPr>
        <p:txBody>
          <a:bodyPr/>
          <a:lstStyle>
            <a:lvl1pPr>
              <a:defRPr sz="2451"/>
            </a:lvl1pPr>
            <a:lvl2pPr>
              <a:defRPr sz="2087"/>
            </a:lvl2pPr>
            <a:lvl3pPr>
              <a:defRPr sz="1906"/>
            </a:lvl3pPr>
            <a:lvl4pPr>
              <a:defRPr sz="1634"/>
            </a:lvl4pPr>
            <a:lvl5pPr>
              <a:defRPr sz="1634"/>
            </a:lvl5pPr>
            <a:lvl6pPr>
              <a:defRPr sz="1634"/>
            </a:lvl6pPr>
            <a:lvl7pPr>
              <a:defRPr sz="1634"/>
            </a:lvl7pPr>
            <a:lvl8pPr>
              <a:defRPr sz="1634"/>
            </a:lvl8pPr>
            <a:lvl9pPr>
              <a:defRPr sz="16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51" b="1"/>
            </a:lvl1pPr>
            <a:lvl2pPr marL="473214" indent="0">
              <a:buNone/>
              <a:defRPr sz="2087" b="1"/>
            </a:lvl2pPr>
            <a:lvl3pPr marL="946429" indent="0">
              <a:buNone/>
              <a:defRPr sz="1906" b="1"/>
            </a:lvl3pPr>
            <a:lvl4pPr marL="1419643" indent="0">
              <a:buNone/>
              <a:defRPr sz="1634" b="1"/>
            </a:lvl4pPr>
            <a:lvl5pPr marL="1892858" indent="0">
              <a:buNone/>
              <a:defRPr sz="1634" b="1"/>
            </a:lvl5pPr>
            <a:lvl6pPr marL="2366071" indent="0">
              <a:buNone/>
              <a:defRPr sz="1634" b="1"/>
            </a:lvl6pPr>
            <a:lvl7pPr marL="2839286" indent="0">
              <a:buNone/>
              <a:defRPr sz="1634" b="1"/>
            </a:lvl7pPr>
            <a:lvl8pPr marL="3312500" indent="0">
              <a:buNone/>
              <a:defRPr sz="1634" b="1"/>
            </a:lvl8pPr>
            <a:lvl9pPr marL="3785715" indent="0">
              <a:buNone/>
              <a:defRPr sz="16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51"/>
            </a:lvl1pPr>
            <a:lvl2pPr>
              <a:defRPr sz="2087"/>
            </a:lvl2pPr>
            <a:lvl3pPr>
              <a:defRPr sz="1906"/>
            </a:lvl3pPr>
            <a:lvl4pPr>
              <a:defRPr sz="1634"/>
            </a:lvl4pPr>
            <a:lvl5pPr>
              <a:defRPr sz="1634"/>
            </a:lvl5pPr>
            <a:lvl6pPr>
              <a:defRPr sz="1634"/>
            </a:lvl6pPr>
            <a:lvl7pPr>
              <a:defRPr sz="1634"/>
            </a:lvl7pPr>
            <a:lvl8pPr>
              <a:defRPr sz="1634"/>
            </a:lvl8pPr>
            <a:lvl9pPr>
              <a:defRPr sz="16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A6284437-A0FA-4DDB-8D39-CDCFBCC4E1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B00822-6C0F-4025-8441-8D8FC90BB7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678081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DD55447C-A63C-4484-8308-49E194F098E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56E37C-1A5F-4EF7-9F92-22A8DF3998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003264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2869FC-9EBE-402F-9172-5BEBC6D924F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B762-0D60-4608-B2B1-52C0A3250B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148882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</p:spPr>
        <p:txBody>
          <a:bodyPr anchor="b"/>
          <a:lstStyle>
            <a:lvl1pPr algn="l">
              <a:defRPr sz="208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67"/>
            </a:lvl1pPr>
            <a:lvl2pPr>
              <a:defRPr sz="2904"/>
            </a:lvl2pPr>
            <a:lvl3pPr>
              <a:defRPr sz="2451"/>
            </a:lvl3pPr>
            <a:lvl4pPr>
              <a:defRPr sz="2087"/>
            </a:lvl4pPr>
            <a:lvl5pPr>
              <a:defRPr sz="2087"/>
            </a:lvl5pPr>
            <a:lvl6pPr>
              <a:defRPr sz="2087"/>
            </a:lvl6pPr>
            <a:lvl7pPr>
              <a:defRPr sz="2087"/>
            </a:lvl7pPr>
            <a:lvl8pPr>
              <a:defRPr sz="2087"/>
            </a:lvl8pPr>
            <a:lvl9pPr>
              <a:defRPr sz="208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0"/>
            <a:ext cx="4011084" cy="4691063"/>
          </a:xfrm>
        </p:spPr>
        <p:txBody>
          <a:bodyPr/>
          <a:lstStyle>
            <a:lvl1pPr marL="0" indent="0">
              <a:buNone/>
              <a:defRPr sz="1452"/>
            </a:lvl1pPr>
            <a:lvl2pPr marL="473214" indent="0">
              <a:buNone/>
              <a:defRPr sz="1271"/>
            </a:lvl2pPr>
            <a:lvl3pPr marL="946429" indent="0">
              <a:buNone/>
              <a:defRPr sz="998"/>
            </a:lvl3pPr>
            <a:lvl4pPr marL="1419643" indent="0">
              <a:buNone/>
              <a:defRPr sz="908"/>
            </a:lvl4pPr>
            <a:lvl5pPr marL="1892858" indent="0">
              <a:buNone/>
              <a:defRPr sz="908"/>
            </a:lvl5pPr>
            <a:lvl6pPr marL="2366071" indent="0">
              <a:buNone/>
              <a:defRPr sz="908"/>
            </a:lvl6pPr>
            <a:lvl7pPr marL="2839286" indent="0">
              <a:buNone/>
              <a:defRPr sz="908"/>
            </a:lvl7pPr>
            <a:lvl8pPr marL="3312500" indent="0">
              <a:buNone/>
              <a:defRPr sz="908"/>
            </a:lvl8pPr>
            <a:lvl9pPr marL="3785715" indent="0">
              <a:buNone/>
              <a:defRPr sz="9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39D19E17-DE14-4EBE-B440-EE5855B14E6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3E8CE8-157F-48D1-94BC-EA501134D0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995792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8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67"/>
            </a:lvl1pPr>
            <a:lvl2pPr marL="473214" indent="0">
              <a:buNone/>
              <a:defRPr sz="2904"/>
            </a:lvl2pPr>
            <a:lvl3pPr marL="946429" indent="0">
              <a:buNone/>
              <a:defRPr sz="2451"/>
            </a:lvl3pPr>
            <a:lvl4pPr marL="1419643" indent="0">
              <a:buNone/>
              <a:defRPr sz="2087"/>
            </a:lvl4pPr>
            <a:lvl5pPr marL="1892858" indent="0">
              <a:buNone/>
              <a:defRPr sz="2087"/>
            </a:lvl5pPr>
            <a:lvl6pPr marL="2366071" indent="0">
              <a:buNone/>
              <a:defRPr sz="2087"/>
            </a:lvl6pPr>
            <a:lvl7pPr marL="2839286" indent="0">
              <a:buNone/>
              <a:defRPr sz="2087"/>
            </a:lvl7pPr>
            <a:lvl8pPr marL="3312500" indent="0">
              <a:buNone/>
              <a:defRPr sz="2087"/>
            </a:lvl8pPr>
            <a:lvl9pPr marL="3785715" indent="0">
              <a:buNone/>
              <a:defRPr sz="2087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52"/>
            </a:lvl1pPr>
            <a:lvl2pPr marL="473214" indent="0">
              <a:buNone/>
              <a:defRPr sz="1271"/>
            </a:lvl2pPr>
            <a:lvl3pPr marL="946429" indent="0">
              <a:buNone/>
              <a:defRPr sz="998"/>
            </a:lvl3pPr>
            <a:lvl4pPr marL="1419643" indent="0">
              <a:buNone/>
              <a:defRPr sz="908"/>
            </a:lvl4pPr>
            <a:lvl5pPr marL="1892858" indent="0">
              <a:buNone/>
              <a:defRPr sz="908"/>
            </a:lvl5pPr>
            <a:lvl6pPr marL="2366071" indent="0">
              <a:buNone/>
              <a:defRPr sz="908"/>
            </a:lvl6pPr>
            <a:lvl7pPr marL="2839286" indent="0">
              <a:buNone/>
              <a:defRPr sz="908"/>
            </a:lvl7pPr>
            <a:lvl8pPr marL="3312500" indent="0">
              <a:buNone/>
              <a:defRPr sz="908"/>
            </a:lvl8pPr>
            <a:lvl9pPr marL="3785715" indent="0">
              <a:buNone/>
              <a:defRPr sz="9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14AC197-EF1E-44B4-B518-CE6818673D0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57A6A4-0C8F-453E-A564-A575F00AFB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241961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D010446-F860-4F3D-948B-F1CB62DAD8C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0BF4A-F59E-4280-A7A6-64CB8CE96F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091643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3801" y="228601"/>
            <a:ext cx="2768600" cy="5897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228601"/>
            <a:ext cx="8102600" cy="5897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06C3F708-910D-4DCD-8992-E27117BDD6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700381-DB6F-4CC2-BA01-AFC70A8128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200233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>
            <a:extLst>
              <a:ext uri="{FF2B5EF4-FFF2-40B4-BE49-F238E27FC236}">
                <a16:creationId xmlns:a16="http://schemas.microsoft.com/office/drawing/2014/main" id="{9D5C5592-86D1-45BD-8CAB-1514CD659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6013450"/>
            <a:ext cx="22352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8" descr="band">
            <a:extLst>
              <a:ext uri="{FF2B5EF4-FFF2-40B4-BE49-F238E27FC236}">
                <a16:creationId xmlns:a16="http://schemas.microsoft.com/office/drawing/2014/main" id="{92F56DA8-85A4-48AA-90D9-986C78D6E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666"/>
          <a:stretch>
            <a:fillRect/>
          </a:stretch>
        </p:blipFill>
        <p:spPr bwMode="auto">
          <a:xfrm>
            <a:off x="0" y="5867400"/>
            <a:ext cx="8940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>
            <a:extLst>
              <a:ext uri="{FF2B5EF4-FFF2-40B4-BE49-F238E27FC236}">
                <a16:creationId xmlns:a16="http://schemas.microsoft.com/office/drawing/2014/main" id="{F02E2BB9-25A8-4EFC-9A80-45D5308BFC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228600"/>
            <a:ext cx="10972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78" tIns="52139" rIns="104278" bIns="5213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75C0A3B0-DB66-4FE7-880F-F027A0AC86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95400"/>
            <a:ext cx="109728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278" tIns="52139" rIns="104278" bIns="521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8" name="Slide Number Placeholder 1">
            <a:extLst>
              <a:ext uri="{FF2B5EF4-FFF2-40B4-BE49-F238E27FC236}">
                <a16:creationId xmlns:a16="http://schemas.microsoft.com/office/drawing/2014/main" id="{EBBE09C9-ABF4-4A7D-8185-E660A29332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44275" y="914400"/>
            <a:ext cx="812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78" tIns="52139" rIns="104278" bIns="52139" numCol="1" anchor="ctr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71">
                <a:solidFill>
                  <a:srgbClr val="898989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E824012-6F34-4F3D-8476-D88DADBDD4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900">
          <a:solidFill>
            <a:srgbClr val="1B57B5"/>
          </a:solidFill>
          <a:latin typeface="+mj-lt"/>
          <a:ea typeface="+mj-ea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900">
          <a:solidFill>
            <a:srgbClr val="1B57B5"/>
          </a:solidFill>
          <a:latin typeface="Verdana" pitchFamily="34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900">
          <a:solidFill>
            <a:srgbClr val="1B57B5"/>
          </a:solidFill>
          <a:latin typeface="Verdana" pitchFamily="34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900">
          <a:solidFill>
            <a:srgbClr val="1B57B5"/>
          </a:solidFill>
          <a:latin typeface="Verdana" pitchFamily="34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900">
          <a:solidFill>
            <a:srgbClr val="1B57B5"/>
          </a:solidFill>
          <a:latin typeface="Verdana" pitchFamily="34" charset="0"/>
          <a:ea typeface="MS PGothic" pitchFamily="34" charset="-128"/>
          <a:cs typeface="MS PGothic" charset="0"/>
        </a:defRPr>
      </a:lvl5pPr>
      <a:lvl6pPr marL="473214" algn="ctr" rtl="0" eaLnBrk="1" fontAlgn="base" hangingPunct="1">
        <a:spcBef>
          <a:spcPct val="0"/>
        </a:spcBef>
        <a:spcAft>
          <a:spcPct val="0"/>
        </a:spcAft>
        <a:defRPr sz="2904">
          <a:solidFill>
            <a:srgbClr val="1B57B5"/>
          </a:solidFill>
          <a:latin typeface="Verdana" pitchFamily="34" charset="0"/>
          <a:ea typeface="MS PGothic" pitchFamily="34" charset="-128"/>
        </a:defRPr>
      </a:lvl6pPr>
      <a:lvl7pPr marL="946429" algn="ctr" rtl="0" eaLnBrk="1" fontAlgn="base" hangingPunct="1">
        <a:spcBef>
          <a:spcPct val="0"/>
        </a:spcBef>
        <a:spcAft>
          <a:spcPct val="0"/>
        </a:spcAft>
        <a:defRPr sz="2904">
          <a:solidFill>
            <a:srgbClr val="1B57B5"/>
          </a:solidFill>
          <a:latin typeface="Verdana" pitchFamily="34" charset="0"/>
          <a:ea typeface="MS PGothic" pitchFamily="34" charset="-128"/>
        </a:defRPr>
      </a:lvl7pPr>
      <a:lvl8pPr marL="1419643" algn="ctr" rtl="0" eaLnBrk="1" fontAlgn="base" hangingPunct="1">
        <a:spcBef>
          <a:spcPct val="0"/>
        </a:spcBef>
        <a:spcAft>
          <a:spcPct val="0"/>
        </a:spcAft>
        <a:defRPr sz="2904">
          <a:solidFill>
            <a:srgbClr val="1B57B5"/>
          </a:solidFill>
          <a:latin typeface="Verdana" pitchFamily="34" charset="0"/>
          <a:ea typeface="MS PGothic" pitchFamily="34" charset="-128"/>
        </a:defRPr>
      </a:lvl8pPr>
      <a:lvl9pPr marL="1892858" algn="ctr" rtl="0" eaLnBrk="1" fontAlgn="base" hangingPunct="1">
        <a:spcBef>
          <a:spcPct val="0"/>
        </a:spcBef>
        <a:spcAft>
          <a:spcPct val="0"/>
        </a:spcAft>
        <a:defRPr sz="2904">
          <a:solidFill>
            <a:srgbClr val="1B57B5"/>
          </a:solidFill>
          <a:latin typeface="Verdana" pitchFamily="34" charset="0"/>
          <a:ea typeface="MS PGothic" pitchFamily="34" charset="-128"/>
        </a:defRPr>
      </a:lvl9pPr>
    </p:titleStyle>
    <p:bodyStyle>
      <a:lvl1pPr marL="354013" indent="-354013" algn="l" rtl="0" eaLnBrk="0" fontAlgn="base" hangingPunct="0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MS PGothic" charset="0"/>
        </a:defRPr>
      </a:lvl1pPr>
      <a:lvl2pPr marL="766763" indent="-295275" algn="l" rtl="0" eaLnBrk="0" fontAlgn="base" hangingPunct="0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500">
          <a:solidFill>
            <a:schemeClr val="tx1"/>
          </a:solidFill>
          <a:latin typeface="+mn-lt"/>
          <a:ea typeface="+mn-ea"/>
          <a:cs typeface="MS PGothic" charset="0"/>
        </a:defRPr>
      </a:lvl2pPr>
      <a:lvl3pPr marL="1182688" indent="-234950" algn="l" rtl="0" eaLnBrk="0" fontAlgn="base" hangingPunct="0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100">
          <a:solidFill>
            <a:schemeClr val="tx1"/>
          </a:solidFill>
          <a:latin typeface="+mn-lt"/>
          <a:ea typeface="+mn-ea"/>
          <a:cs typeface="MS PGothic" charset="0"/>
        </a:defRPr>
      </a:lvl3pPr>
      <a:lvl4pPr marL="1654175" indent="-234950" algn="l" rtl="0" eaLnBrk="0" fontAlgn="base" hangingPunct="0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  <a:ea typeface="+mn-ea"/>
          <a:cs typeface="MS PGothic" charset="0"/>
        </a:defRPr>
      </a:lvl4pPr>
      <a:lvl5pPr marL="2127250" indent="-234950" algn="l" rtl="0" eaLnBrk="0" fontAlgn="base" hangingPunct="0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  <a:ea typeface="+mn-ea"/>
          <a:cs typeface="MS PGothic" charset="0"/>
        </a:defRPr>
      </a:lvl5pPr>
      <a:lvl6pPr marL="2602679" indent="-236607" algn="l" rtl="0" eaLnBrk="1" fontAlgn="base" hangingPunct="1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52">
          <a:solidFill>
            <a:schemeClr val="tx1"/>
          </a:solidFill>
          <a:latin typeface="+mn-lt"/>
          <a:ea typeface="+mn-ea"/>
        </a:defRPr>
      </a:lvl6pPr>
      <a:lvl7pPr marL="3075894" indent="-236607" algn="l" rtl="0" eaLnBrk="1" fontAlgn="base" hangingPunct="1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52">
          <a:solidFill>
            <a:schemeClr val="tx1"/>
          </a:solidFill>
          <a:latin typeface="+mn-lt"/>
          <a:ea typeface="+mn-ea"/>
        </a:defRPr>
      </a:lvl7pPr>
      <a:lvl8pPr marL="3549108" indent="-236607" algn="l" rtl="0" eaLnBrk="1" fontAlgn="base" hangingPunct="1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52">
          <a:solidFill>
            <a:schemeClr val="tx1"/>
          </a:solidFill>
          <a:latin typeface="+mn-lt"/>
          <a:ea typeface="+mn-ea"/>
        </a:defRPr>
      </a:lvl8pPr>
      <a:lvl9pPr marL="4022322" indent="-236607" algn="l" rtl="0" eaLnBrk="1" fontAlgn="base" hangingPunct="1">
        <a:lnSpc>
          <a:spcPct val="14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52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1pPr>
      <a:lvl2pPr marL="473214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2pPr>
      <a:lvl3pPr marL="946429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3pPr>
      <a:lvl4pPr marL="1419643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4pPr>
      <a:lvl5pPr marL="1892858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5pPr>
      <a:lvl6pPr marL="2366071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6pPr>
      <a:lvl7pPr marL="2839286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7pPr>
      <a:lvl8pPr marL="3312500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8pPr>
      <a:lvl9pPr marL="3785715" algn="l" defTabSz="946429" rtl="0" eaLnBrk="1" latinLnBrk="0" hangingPunct="1">
        <a:defRPr sz="19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123E0D7-ECDD-4262-96CF-B7821E7D591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73088" y="202097"/>
            <a:ext cx="112014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721" dirty="0"/>
              <a:t>UIT2502 – Data Analytics &amp; Visualization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58AF5B0-6D99-4C3C-9F82-61C7A563D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870" y="5072188"/>
            <a:ext cx="11426618" cy="141713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140" tIns="48433" rIns="93140" bIns="48433" anchor="ctr"/>
          <a:lstStyle/>
          <a:p>
            <a:pPr algn="ctr" defTabSz="473169">
              <a:buClr>
                <a:srgbClr val="000000"/>
              </a:buClr>
              <a:buSzPct val="100000"/>
              <a:defRPr/>
            </a:pPr>
            <a:r>
              <a:rPr lang="en-US" sz="3267" b="1" kern="0" dirty="0">
                <a:solidFill>
                  <a:srgbClr val="000000"/>
                </a:solidFill>
                <a:latin typeface="Verdana"/>
                <a:ea typeface="MS PGothic"/>
                <a:cs typeface="Arial" charset="0"/>
              </a:rPr>
              <a:t>Frequency Distribution</a:t>
            </a:r>
            <a:endParaRPr lang="en-US" sz="2400" b="1" kern="0" dirty="0">
              <a:solidFill>
                <a:srgbClr val="000000"/>
              </a:solidFill>
              <a:latin typeface="Verdana"/>
              <a:ea typeface="MS PGothic"/>
              <a:cs typeface="Arial" charset="0"/>
            </a:endParaRPr>
          </a:p>
        </p:txBody>
      </p:sp>
      <p:pic>
        <p:nvPicPr>
          <p:cNvPr id="1028" name="Picture 4" descr="Answering questions with data - 13 GIFs">
            <a:extLst>
              <a:ext uri="{FF2B5EF4-FFF2-40B4-BE49-F238E27FC236}">
                <a16:creationId xmlns:a16="http://schemas.microsoft.com/office/drawing/2014/main" id="{02A5FA49-C3DA-D8FE-B582-03E322E2B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9882"/>
            <a:ext cx="3662306" cy="3662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tatistical Tableau: How to Analyze Distribution with Histograms | Playfair+">
            <a:extLst>
              <a:ext uri="{FF2B5EF4-FFF2-40B4-BE49-F238E27FC236}">
                <a16:creationId xmlns:a16="http://schemas.microsoft.com/office/drawing/2014/main" id="{58A88EBC-9E45-BAB8-0261-A729D749C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307" y="1541722"/>
            <a:ext cx="3717320" cy="3358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requency Distribution: Graph, Distribution Table, Example &amp; FAQs">
            <a:extLst>
              <a:ext uri="{FF2B5EF4-FFF2-40B4-BE49-F238E27FC236}">
                <a16:creationId xmlns:a16="http://schemas.microsoft.com/office/drawing/2014/main" id="{C1CFFED6-69EF-762B-9B90-B9AED6EE3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034" y="1409882"/>
            <a:ext cx="3907932" cy="3358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8DD8-7FB0-89DD-9070-1A5216E79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F2A32-B94D-1243-642E-E72D24553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95400"/>
            <a:ext cx="10972800" cy="4830763"/>
          </a:xfrm>
        </p:spPr>
        <p:txBody>
          <a:bodyPr/>
          <a:lstStyle/>
          <a:p>
            <a:r>
              <a:rPr lang="en-US" sz="2400" b="1" dirty="0"/>
              <a:t>Overview:</a:t>
            </a:r>
            <a:r>
              <a:rPr lang="en-US" sz="2400" dirty="0"/>
              <a:t> Gives an idea of all values of some variable and the number of times they occur.</a:t>
            </a:r>
          </a:p>
          <a:p>
            <a:r>
              <a:rPr lang="en-US" sz="2400" b="1" dirty="0"/>
              <a:t>Definition:</a:t>
            </a:r>
            <a:r>
              <a:rPr lang="en-US" sz="2400" dirty="0"/>
              <a:t> It is a table or graph that displays the frequency of various outcomes or values in a sample or population. It shows the number of times each value occurs in the data set.</a:t>
            </a:r>
          </a:p>
          <a:p>
            <a:r>
              <a:rPr lang="en-US" sz="2400" b="1" dirty="0"/>
              <a:t>Purpose:</a:t>
            </a:r>
            <a:r>
              <a:rPr lang="en-US" sz="2400" dirty="0"/>
              <a:t> To organize and summarize the data by showing the frequency of the observations. This helps </a:t>
            </a:r>
            <a:r>
              <a:rPr lang="en-US" sz="2400" i="1" dirty="0"/>
              <a:t>us identify the patterns </a:t>
            </a:r>
            <a:r>
              <a:rPr lang="en-US" sz="2400" dirty="0"/>
              <a:t>in any given set of data.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400630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1D2F-DD10-9E4E-31AF-C4CE9637E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Frequency distribution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C51AE-0A44-FCE2-0D66-F5EF91BCB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76417"/>
            <a:ext cx="10972800" cy="969335"/>
          </a:xfrm>
        </p:spPr>
        <p:txBody>
          <a:bodyPr/>
          <a:lstStyle/>
          <a:p>
            <a:r>
              <a:rPr lang="en-US" sz="2000" dirty="0"/>
              <a:t>A frequency distribution table is a way to organize and present data in a tabular form which helps us summarize the large dataset into a concise table.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A8E19-2E74-B293-262E-7AB8F53AB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428" y="2007769"/>
            <a:ext cx="2222614" cy="3988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3259D1-57E4-FD42-1B7D-944797A94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246" y="1995068"/>
            <a:ext cx="1847945" cy="400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9594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1D2F-DD10-9E4E-31AF-C4CE9637E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Frequency distribution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C51AE-0A44-FCE2-0D66-F5EF91BCB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76417"/>
            <a:ext cx="10972800" cy="969335"/>
          </a:xfrm>
        </p:spPr>
        <p:txBody>
          <a:bodyPr/>
          <a:lstStyle/>
          <a:p>
            <a:r>
              <a:rPr lang="en-US" sz="2000" dirty="0"/>
              <a:t>A frequency distribution table is a way to organize and present data in a tabular form which helps us summarize the large dataset into a concise table.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A8E19-2E74-B293-262E-7AB8F53AB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659" y="2007769"/>
            <a:ext cx="2222614" cy="3988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3259D1-57E4-FD42-1B7D-944797A94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407" y="1995068"/>
            <a:ext cx="1847945" cy="40007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6D41DC-DB29-F678-BE9B-AEF4A225A644}"/>
              </a:ext>
            </a:extLst>
          </p:cNvPr>
          <p:cNvSpPr txBox="1"/>
          <p:nvPr/>
        </p:nvSpPr>
        <p:spPr>
          <a:xfrm>
            <a:off x="664832" y="6136390"/>
            <a:ext cx="4128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Grouped Frequency Distribution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B0F0C0-218F-FBB8-8532-9F9ED9DEBEB8}"/>
              </a:ext>
            </a:extLst>
          </p:cNvPr>
          <p:cNvSpPr txBox="1"/>
          <p:nvPr/>
        </p:nvSpPr>
        <p:spPr>
          <a:xfrm>
            <a:off x="5155611" y="6136390"/>
            <a:ext cx="4404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Ungrouped Frequency Distribution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2C5373-6056-1264-1C51-070D67541033}"/>
              </a:ext>
            </a:extLst>
          </p:cNvPr>
          <p:cNvSpPr txBox="1"/>
          <p:nvPr/>
        </p:nvSpPr>
        <p:spPr>
          <a:xfrm>
            <a:off x="178096" y="3298901"/>
            <a:ext cx="1744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class intervals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7EF7F6-E4E4-72A3-6F4A-236E0804A435}"/>
              </a:ext>
            </a:extLst>
          </p:cNvPr>
          <p:cNvSpPr txBox="1"/>
          <p:nvPr/>
        </p:nvSpPr>
        <p:spPr>
          <a:xfrm>
            <a:off x="8253352" y="3488476"/>
            <a:ext cx="2737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individual data values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756389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229B-9227-37A6-2DDB-AF348E922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frequency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8C254-4527-726C-08D6-CBEBFD9C8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Grouped Frequency Distribution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Ungrouped Frequency Distribution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Relative Frequency Distribution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Cumulative Frequency Distribution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26281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4B368-2827-A53E-59F8-C19292E5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to understand types of frequency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FCC7B-5E7F-9D53-539C-4DB54C688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Make the Frequency Distribution Table for the ungrouped data given as follows:</a:t>
            </a:r>
          </a:p>
          <a:p>
            <a:pPr marL="0" indent="0" algn="ctr">
              <a:buNone/>
            </a:pPr>
            <a:endParaRPr lang="en-IN" b="1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23, 27, 21, 14, 43, 37, 38, 41, 55, 11, 35, 15, 21, 24, 57, 35, 29, 10, 39, 42, 27, 17, 45, 52, 31, 36, 39, 38, 43, 46, 32, 37, 25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59752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6A98-4AA5-12EE-A140-8DD75E1B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Grouped frequency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F9B17-788E-8FC3-29C6-4030744F1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127" y="1284742"/>
            <a:ext cx="3047050" cy="477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47521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4B368-2827-A53E-59F8-C19292E5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to understand types of frequency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FCC7B-5E7F-9D53-539C-4DB54C688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Make the Frequency Distribution Table for the ungrouped data given as follows:</a:t>
            </a:r>
          </a:p>
          <a:p>
            <a:pPr marL="0" indent="0" algn="ctr">
              <a:buNone/>
            </a:pPr>
            <a:endParaRPr lang="en-IN" b="1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10, 20, 15, 25, 30, 10, 15, 10, 25, 20, 15, 10, 30, 25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55958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6A98-4AA5-12EE-A140-8DD75E1B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Ungrouped frequency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109791-5802-FE89-3A4D-86092A6D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386" y="999457"/>
            <a:ext cx="2321314" cy="505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71083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C7B8-85B8-8EFD-123A-FFA22CA1B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Relative frequency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1CA13-BBD5-9419-F473-24C312A4B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231" y="1182623"/>
            <a:ext cx="7552722" cy="149678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990F5F-80C8-000C-2BF0-3F8A992C7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671177"/>
            <a:ext cx="10972800" cy="1379824"/>
          </a:xfrm>
        </p:spPr>
        <p:txBody>
          <a:bodyPr/>
          <a:lstStyle/>
          <a:p>
            <a:pPr marL="0" indent="0" algn="ctr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Make the Relative Frequency Distribution Table for the following data:</a:t>
            </a:r>
          </a:p>
          <a:p>
            <a:pPr marL="0" indent="0" algn="ctr">
              <a:buNone/>
            </a:pPr>
            <a:endParaRPr lang="en-IN" b="1" i="0" dirty="0">
              <a:solidFill>
                <a:srgbClr val="273239"/>
              </a:solidFill>
              <a:effectLst/>
              <a:latin typeface="Nunito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0EDD48-BADE-AF96-D905-8A074C231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088" y="4167958"/>
            <a:ext cx="6673823" cy="183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43736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E935-B99F-42F2-FCA7-6A21C6B9F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Relative frequency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2B697-6161-F3AF-B1E6-BB967EC48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809" y="1165108"/>
            <a:ext cx="5160076" cy="546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47058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6D22-1DB9-AAAB-ED47-AF06D91F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Cumulative frequency distribution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363D1-A9EF-5617-9D7F-C508AE0E7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Sum of all the frequencies in the previous values or intervals up to the current one</a:t>
            </a:r>
          </a:p>
          <a:p>
            <a:r>
              <a:rPr lang="en-US" sz="2800" dirty="0"/>
              <a:t>Types:</a:t>
            </a:r>
          </a:p>
          <a:p>
            <a:pPr lvl="1"/>
            <a:r>
              <a:rPr lang="en-US" sz="2300" dirty="0"/>
              <a:t>Less than type: Sum all the frequencies before the current interval.</a:t>
            </a:r>
          </a:p>
          <a:p>
            <a:pPr lvl="1"/>
            <a:r>
              <a:rPr lang="en-US" sz="2300" dirty="0"/>
              <a:t>More than type: Sum all the frequencies after the current interval.</a:t>
            </a:r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22351181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A59B-3918-AF82-8E70-192A4818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for cumulative frequency distribution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3FFE9-B008-61BF-A4C8-AE395B307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1139456"/>
          </a:xfrm>
        </p:spPr>
        <p:txBody>
          <a:bodyPr/>
          <a:lstStyle/>
          <a:p>
            <a:pPr marL="0" indent="0">
              <a:buNone/>
            </a:pPr>
            <a:r>
              <a:rPr lang="en-US" sz="2000" b="1" i="0" dirty="0">
                <a:solidFill>
                  <a:srgbClr val="273239"/>
                </a:solidFill>
                <a:effectLst/>
                <a:latin typeface="Nunito" pitchFamily="2" charset="0"/>
              </a:rPr>
              <a:t>The table below gives the values of runs scored by Virat Kohli in the last 25 T-20 matches. Represent the data in the form of less-than-type cumulative frequency distribution: 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FA428-509C-D50C-2B07-E796637B4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534" y="2384326"/>
            <a:ext cx="3099004" cy="407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6522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B371D-5452-6FAE-EA55-A8CDA1A41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for cumulative frequency distribution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942230-9E9F-777F-E231-D7ABDA536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19" y="996909"/>
            <a:ext cx="2424347" cy="5519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948610-049E-561D-ED37-F153D1C29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070" y="2000845"/>
            <a:ext cx="2554847" cy="347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82003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B371D-5452-6FAE-EA55-A8CDA1A41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for cumulative frequency distribution </a:t>
            </a:r>
            <a:br>
              <a:rPr lang="en-IN" dirty="0"/>
            </a:br>
            <a:r>
              <a:rPr lang="en-IN" i="1" dirty="0"/>
              <a:t>Less than 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88A9F4-7BD9-E95B-E9D0-4945DD8DB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54887"/>
            <a:ext cx="5296315" cy="43392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C945DF-0D10-F1D3-3B6D-C2A9F1AE4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432" y="1822367"/>
            <a:ext cx="5501568" cy="387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44931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37630-404C-2472-064E-DA7085C0E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for cumulative frequency distribution </a:t>
            </a:r>
            <a:br>
              <a:rPr lang="en-IN" dirty="0"/>
            </a:br>
            <a:r>
              <a:rPr lang="en-IN" i="1" dirty="0"/>
              <a:t>More than type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28AF4B-2ACB-2D73-097E-23A5BBCF0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02" y="1394828"/>
            <a:ext cx="4962631" cy="4909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E453B9-F4BD-5E94-2FC4-55B0AD7E7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296" y="2245770"/>
            <a:ext cx="4884202" cy="284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00261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EA94C-6636-1F5A-565B-CE76B453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Variability in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2E0E1-E8EC-C03E-F651-01CF69F4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6420"/>
            <a:ext cx="10972800" cy="5009744"/>
          </a:xfrm>
        </p:spPr>
        <p:txBody>
          <a:bodyPr/>
          <a:lstStyle/>
          <a:p>
            <a:r>
              <a:rPr lang="en-US" sz="2800" dirty="0"/>
              <a:t>Spread or dispersion of data</a:t>
            </a:r>
          </a:p>
          <a:p>
            <a:r>
              <a:rPr lang="en-US" sz="2800" dirty="0"/>
              <a:t>Refers to how spread out a set of data is</a:t>
            </a:r>
          </a:p>
          <a:p>
            <a:r>
              <a:rPr lang="en-US" sz="2800" dirty="0"/>
              <a:t>Describing variability</a:t>
            </a:r>
          </a:p>
          <a:p>
            <a:pPr lvl="1"/>
            <a:r>
              <a:rPr lang="fr-FR" sz="2800" dirty="0"/>
              <a:t>Range</a:t>
            </a:r>
          </a:p>
          <a:p>
            <a:pPr lvl="1"/>
            <a:r>
              <a:rPr lang="fr-FR" sz="2800" dirty="0"/>
              <a:t>Interquartile range</a:t>
            </a:r>
          </a:p>
          <a:p>
            <a:pPr lvl="1"/>
            <a:r>
              <a:rPr lang="fr-FR" sz="2800" dirty="0"/>
              <a:t>Variance</a:t>
            </a:r>
          </a:p>
          <a:p>
            <a:pPr lvl="1"/>
            <a:r>
              <a:rPr lang="fr-FR" sz="2800" dirty="0"/>
              <a:t>Standard </a:t>
            </a:r>
            <a:r>
              <a:rPr lang="fr-FR" sz="2800" dirty="0" err="1"/>
              <a:t>deviation</a:t>
            </a:r>
            <a:endParaRPr lang="en-IN" sz="2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63550-93B4-F204-2135-0A71554B1A33}"/>
              </a:ext>
            </a:extLst>
          </p:cNvPr>
          <p:cNvSpPr txBox="1"/>
          <p:nvPr/>
        </p:nvSpPr>
        <p:spPr>
          <a:xfrm>
            <a:off x="39610" y="6127438"/>
            <a:ext cx="115067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Everitt, B. S.; </a:t>
            </a:r>
            <a:r>
              <a:rPr lang="en-US" sz="1200" dirty="0" err="1"/>
              <a:t>Skrondal</a:t>
            </a:r>
            <a:r>
              <a:rPr lang="en-US" sz="1200" dirty="0"/>
              <a:t>, A. (2010), The Cambridge Dictionary of Statistics, Cambridge University Press.</a:t>
            </a:r>
          </a:p>
          <a:p>
            <a:r>
              <a:rPr lang="en-US" sz="1200" dirty="0" err="1"/>
              <a:t>Gonick</a:t>
            </a:r>
            <a:r>
              <a:rPr lang="en-US" sz="1200" dirty="0"/>
              <a:t>, L. (1993). The Cartoon Guide to Statistics. </a:t>
            </a:r>
            <a:r>
              <a:rPr lang="en-US" sz="1200" dirty="0" err="1"/>
              <a:t>HarperPerennial</a:t>
            </a:r>
            <a:r>
              <a:rPr lang="en-US" sz="1200" dirty="0"/>
              <a:t>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29075144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AC86F-3E85-8EF8-3BE3-7E133D0D9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Describing variability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565D2-8B0D-7CA7-0FCA-735C89C80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04011"/>
            <a:ext cx="10972800" cy="48307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Range</a:t>
            </a:r>
            <a:r>
              <a:rPr lang="en-US" dirty="0"/>
              <a:t> – Amount between the smallest and largest item in the set.</a:t>
            </a:r>
          </a:p>
          <a:p>
            <a:r>
              <a:rPr lang="en-US" b="1" dirty="0"/>
              <a:t>Interquartile range </a:t>
            </a:r>
            <a:r>
              <a:rPr lang="en-US" dirty="0"/>
              <a:t>– A number that indicates how </a:t>
            </a:r>
            <a:r>
              <a:rPr lang="en-US" dirty="0" err="1"/>
              <a:t>spreadout</a:t>
            </a:r>
            <a:r>
              <a:rPr lang="en-US" dirty="0"/>
              <a:t> scores are and tells users what the range is in the middle of a set of scores.</a:t>
            </a:r>
          </a:p>
          <a:p>
            <a:r>
              <a:rPr lang="en-US" b="1" dirty="0"/>
              <a:t>Variance</a:t>
            </a:r>
            <a:r>
              <a:rPr lang="en-US" dirty="0"/>
              <a:t> – Gives users a rough idea of how spread out the data is</a:t>
            </a:r>
          </a:p>
          <a:p>
            <a:r>
              <a:rPr lang="en-US" b="1" dirty="0"/>
              <a:t>Standard deviation </a:t>
            </a:r>
            <a:r>
              <a:rPr lang="en-US" dirty="0"/>
              <a:t>– Tells a user how tightly their data is clustered around the mean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52E87-826D-2B81-FC7E-D672AF291705}"/>
              </a:ext>
            </a:extLst>
          </p:cNvPr>
          <p:cNvSpPr txBox="1"/>
          <p:nvPr/>
        </p:nvSpPr>
        <p:spPr>
          <a:xfrm>
            <a:off x="39610" y="6127438"/>
            <a:ext cx="115067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Everitt, B. S.; </a:t>
            </a:r>
            <a:r>
              <a:rPr lang="en-US" sz="1200" dirty="0" err="1"/>
              <a:t>Skrondal</a:t>
            </a:r>
            <a:r>
              <a:rPr lang="en-US" sz="1200" dirty="0"/>
              <a:t>, A. (2010), The Cambridge Dictionary of Statistics, Cambridge University Press.</a:t>
            </a:r>
          </a:p>
          <a:p>
            <a:r>
              <a:rPr lang="en-US" sz="1200" dirty="0" err="1"/>
              <a:t>Gonick</a:t>
            </a:r>
            <a:r>
              <a:rPr lang="en-US" sz="1200" dirty="0"/>
              <a:t>, L. (1993). The Cartoon Guide to Statistics. </a:t>
            </a:r>
            <a:r>
              <a:rPr lang="en-US" sz="1200" dirty="0" err="1"/>
              <a:t>HarperPerennial</a:t>
            </a:r>
            <a:r>
              <a:rPr lang="en-US" sz="1200" dirty="0"/>
              <a:t>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51657367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AC86F-3E85-8EF8-3BE3-7E133D0D9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Describing variability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565D2-8B0D-7CA7-0FCA-735C89C80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795" y="1135913"/>
            <a:ext cx="11366205" cy="5222358"/>
          </a:xfrm>
        </p:spPr>
        <p:txBody>
          <a:bodyPr>
            <a:normAutofit/>
          </a:bodyPr>
          <a:lstStyle/>
          <a:p>
            <a:r>
              <a:rPr lang="en-US" sz="2800" b="1" dirty="0"/>
              <a:t>Variance</a:t>
            </a:r>
            <a:r>
              <a:rPr lang="en-US" sz="2800" dirty="0"/>
              <a:t> – Gives users a rough idea of how spread out the data is</a:t>
            </a:r>
          </a:p>
          <a:p>
            <a:pPr lvl="1"/>
            <a:r>
              <a:rPr lang="en-US" sz="2400" dirty="0"/>
              <a:t>A small number for the variance means your data set is tightly clustered together and a large number means the values are more spread apart.</a:t>
            </a:r>
          </a:p>
          <a:p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5773A-1FE1-32CB-8DEF-C26C9250151B}"/>
              </a:ext>
            </a:extLst>
          </p:cNvPr>
          <p:cNvSpPr txBox="1"/>
          <p:nvPr/>
        </p:nvSpPr>
        <p:spPr>
          <a:xfrm>
            <a:off x="39610" y="6127438"/>
            <a:ext cx="115067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Everitt, B. S.; </a:t>
            </a:r>
            <a:r>
              <a:rPr lang="en-US" sz="1200" dirty="0" err="1"/>
              <a:t>Skrondal</a:t>
            </a:r>
            <a:r>
              <a:rPr lang="en-US" sz="1200" dirty="0"/>
              <a:t>, A. (2010), The Cambridge Dictionary of Statistics, Cambridge University Press.</a:t>
            </a:r>
          </a:p>
          <a:p>
            <a:r>
              <a:rPr lang="en-US" sz="1200" dirty="0" err="1"/>
              <a:t>Gonick</a:t>
            </a:r>
            <a:r>
              <a:rPr lang="en-US" sz="1200" dirty="0"/>
              <a:t>, L. (1993). The Cartoon Guide to Statistics. </a:t>
            </a:r>
            <a:r>
              <a:rPr lang="en-US" sz="1200" dirty="0" err="1"/>
              <a:t>HarperPerennial</a:t>
            </a:r>
            <a:r>
              <a:rPr lang="en-US" sz="1200" dirty="0"/>
              <a:t>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10079463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AC86F-3E85-8EF8-3BE3-7E133D0D9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Describing variability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565D2-8B0D-7CA7-0FCA-735C89C80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94" y="1114647"/>
            <a:ext cx="11506791" cy="5222358"/>
          </a:xfrm>
        </p:spPr>
        <p:txBody>
          <a:bodyPr>
            <a:normAutofit/>
          </a:bodyPr>
          <a:lstStyle/>
          <a:p>
            <a:r>
              <a:rPr lang="en-US" sz="2400" b="1" dirty="0"/>
              <a:t>Standard deviation </a:t>
            </a:r>
            <a:r>
              <a:rPr lang="en-US" sz="2400" dirty="0"/>
              <a:t>– Tells a user how tightly their data is clustered around the mean</a:t>
            </a:r>
          </a:p>
          <a:p>
            <a:pPr lvl="1"/>
            <a:r>
              <a:rPr lang="en-US" sz="2000" dirty="0"/>
              <a:t>A small SD indicates that your data is tightly clustered — you’ll also have a taller bell curve; a large SD tells you that your data is more spread apart.</a:t>
            </a:r>
          </a:p>
          <a:p>
            <a:endParaRPr lang="en-IN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DBB4F6E-883B-B41E-0695-518552137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8649" y="3242930"/>
            <a:ext cx="6153332" cy="338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5C6D56-10CD-4A6B-8426-6B1CDE9552E8}"/>
              </a:ext>
            </a:extLst>
          </p:cNvPr>
          <p:cNvSpPr txBox="1"/>
          <p:nvPr/>
        </p:nvSpPr>
        <p:spPr>
          <a:xfrm>
            <a:off x="39610" y="6127438"/>
            <a:ext cx="115067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Everitt, B. S.; </a:t>
            </a:r>
            <a:r>
              <a:rPr lang="en-US" sz="1200" dirty="0" err="1"/>
              <a:t>Skrondal</a:t>
            </a:r>
            <a:r>
              <a:rPr lang="en-US" sz="1200" dirty="0"/>
              <a:t>, A. (2010), The Cambridge Dictionary of Statistics, Cambridge University Press.</a:t>
            </a:r>
          </a:p>
          <a:p>
            <a:r>
              <a:rPr lang="en-US" sz="1200" dirty="0" err="1"/>
              <a:t>Gonick</a:t>
            </a:r>
            <a:r>
              <a:rPr lang="en-US" sz="1200" dirty="0"/>
              <a:t>, L. (1993). The Cartoon Guide to Statistics. </a:t>
            </a:r>
            <a:r>
              <a:rPr lang="en-US" sz="1200" dirty="0" err="1"/>
              <a:t>HarperPerennial</a:t>
            </a:r>
            <a:r>
              <a:rPr lang="en-US" sz="1200" dirty="0"/>
              <a:t>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66480763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C6BD7-9746-2F80-A190-BD138258C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Standard deviation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EBA34-22FB-B587-A7AA-0F53A757D6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508000" y="1095153"/>
            <a:ext cx="6924628" cy="2642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FFA705-05BF-3D47-6DD5-63BAA4294E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000"/>
          <a:stretch/>
        </p:blipFill>
        <p:spPr>
          <a:xfrm>
            <a:off x="336998" y="3631019"/>
            <a:ext cx="7593407" cy="289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92872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F88B4-1AAF-7EE5-4512-5DBA73ED7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E0B1D0-6168-FCBA-A74D-B6525756F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85" y="832540"/>
            <a:ext cx="6829047" cy="25964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6AC423-7BFE-C93B-B088-9CC2E87D8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86" y="3643818"/>
            <a:ext cx="7570514" cy="272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2559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670C-63C9-BAB5-7401-583B15796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Variability in big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FA3E6-0A04-2279-8202-F39A5FBA6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Refers to the number of inconsistencies in the data.  </a:t>
            </a:r>
          </a:p>
          <a:p>
            <a:r>
              <a:rPr lang="en-US" sz="2800" dirty="0"/>
              <a:t>Refers the multitude of data dimensions which result from the multiple disparate data types and sources available.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198292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B69F8-B168-85CE-3AA3-CF7E4159D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States of variability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E4A7C-1F9F-5C68-4FDA-6554104BA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2564219"/>
          </a:xfrm>
        </p:spPr>
        <p:txBody>
          <a:bodyPr/>
          <a:lstStyle/>
          <a:p>
            <a:r>
              <a:rPr lang="en-US" sz="2800" dirty="0"/>
              <a:t>Low variability - Better prediction of information about the population based on sample data</a:t>
            </a:r>
          </a:p>
          <a:p>
            <a:r>
              <a:rPr lang="en-US" sz="2800" dirty="0"/>
              <a:t>High variability - Values are less consistent, so it’s harder to make predictions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038907-F101-EE88-8383-21C14196CC2D}"/>
              </a:ext>
            </a:extLst>
          </p:cNvPr>
          <p:cNvSpPr txBox="1"/>
          <p:nvPr/>
        </p:nvSpPr>
        <p:spPr>
          <a:xfrm>
            <a:off x="1183758" y="4430233"/>
            <a:ext cx="98244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Data sets can have the same central tendency but different levels of variability or vice versa. 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If you know only the central tendency or the variability, you can’t say anything about the other aspect. 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Both of them together give you a complete picture of your data.</a:t>
            </a:r>
            <a:endParaRPr lang="en-IN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340426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547F8-9955-97C9-72B7-501366C8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measure of variability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2BB7B2E-6452-E78C-378A-0BAFB566E8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3229302"/>
              </p:ext>
            </p:extLst>
          </p:nvPr>
        </p:nvGraphicFramePr>
        <p:xfrm>
          <a:off x="609600" y="1295400"/>
          <a:ext cx="10972800" cy="41499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139292553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992012875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78613742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166532175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527012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Interquartile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Standard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Variance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760712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0" marR="0" lvl="0" indent="0" algn="ctr" defTabSz="946429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Level of measurement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57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Ordinal/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453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Best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325563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dirty="0"/>
                        <a:t>Distribution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585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Best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847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Skewed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768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156629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D84E8-0ACD-93F0-65F8-544DC5C0C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Co-efficient of variation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DDB1B-FCA9-3BDB-189C-074909031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1713614"/>
          </a:xfrm>
        </p:spPr>
        <p:txBody>
          <a:bodyPr/>
          <a:lstStyle/>
          <a:p>
            <a:r>
              <a:rPr lang="en-IN" sz="2400" dirty="0"/>
              <a:t>Describes the dispersion in data</a:t>
            </a:r>
          </a:p>
          <a:p>
            <a:r>
              <a:rPr lang="en-IN" sz="2400" dirty="0"/>
              <a:t>Uses mean and standard deviation</a:t>
            </a:r>
          </a:p>
          <a:p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4095B-0A05-DA99-E571-9A768F2CE8B5}"/>
              </a:ext>
            </a:extLst>
          </p:cNvPr>
          <p:cNvSpPr txBox="1"/>
          <p:nvPr/>
        </p:nvSpPr>
        <p:spPr>
          <a:xfrm>
            <a:off x="450109" y="3244334"/>
            <a:ext cx="11277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0000FF"/>
                </a:solidFill>
              </a:rPr>
              <a:t>Co-efficient of variation (C.V) = (SD/Mean of observations)*100</a:t>
            </a:r>
          </a:p>
        </p:txBody>
      </p:sp>
    </p:spTree>
    <p:extLst>
      <p:ext uri="{BB962C8B-B14F-4D97-AF65-F5344CB8AC3E}">
        <p14:creationId xmlns:p14="http://schemas.microsoft.com/office/powerpoint/2010/main" val="2122429945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02189-4D2C-DD86-0423-8BB7CFFCE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C.V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B563D-BC78-3C4C-A9E7-CB21F3F63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87051"/>
            <a:ext cx="10972800" cy="4830763"/>
          </a:xfrm>
        </p:spPr>
        <p:txBody>
          <a:bodyPr/>
          <a:lstStyle/>
          <a:p>
            <a:r>
              <a:rPr lang="en-US" sz="2400" dirty="0"/>
              <a:t>Let’s say we have two series, about the heights of students in a class. </a:t>
            </a:r>
          </a:p>
          <a:p>
            <a:r>
              <a:rPr lang="en-US" sz="2400" dirty="0"/>
              <a:t>Ex: Now one series measures </a:t>
            </a:r>
            <a:r>
              <a:rPr lang="en-US" sz="2400" dirty="0">
                <a:solidFill>
                  <a:srgbClr val="0000FF"/>
                </a:solidFill>
              </a:rPr>
              <a:t>height in cm </a:t>
            </a:r>
            <a:r>
              <a:rPr lang="en-US" sz="2400" dirty="0"/>
              <a:t>and the </a:t>
            </a:r>
            <a:r>
              <a:rPr lang="en-US" sz="2400" dirty="0">
                <a:solidFill>
                  <a:srgbClr val="0000FF"/>
                </a:solidFill>
              </a:rPr>
              <a:t>other one in meters</a:t>
            </a:r>
            <a:r>
              <a:rPr lang="en-US" sz="2400" dirty="0"/>
              <a:t>. </a:t>
            </a:r>
          </a:p>
          <a:p>
            <a:r>
              <a:rPr lang="en-US" sz="2400" dirty="0"/>
              <a:t>Ideally, both should have the same dispersion but the methods of measuring the dispersion are dependent on the units in which we are measuring. </a:t>
            </a:r>
          </a:p>
          <a:p>
            <a:r>
              <a:rPr lang="en-US" sz="2400" dirty="0"/>
              <a:t>This makes such comparisons hard. </a:t>
            </a:r>
          </a:p>
          <a:p>
            <a:r>
              <a:rPr lang="en-US" sz="2400" dirty="0"/>
              <a:t>For dealing with such problems, we define the Coefficient of Variation.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11558870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0AFEF-C016-9B75-23E4-CC72B4BE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for Variability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4C054B-728E-BBF0-EA1E-4E3478D35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930592"/>
              </p:ext>
            </p:extLst>
          </p:nvPr>
        </p:nvGraphicFramePr>
        <p:xfrm>
          <a:off x="938470" y="1473150"/>
          <a:ext cx="4254501" cy="155448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418167">
                  <a:extLst>
                    <a:ext uri="{9D8B030D-6E8A-4147-A177-3AD203B41FA5}">
                      <a16:colId xmlns:a16="http://schemas.microsoft.com/office/drawing/2014/main" val="1307021165"/>
                    </a:ext>
                  </a:extLst>
                </a:gridCol>
                <a:gridCol w="1418167">
                  <a:extLst>
                    <a:ext uri="{9D8B030D-6E8A-4147-A177-3AD203B41FA5}">
                      <a16:colId xmlns:a16="http://schemas.microsoft.com/office/drawing/2014/main" val="1402689421"/>
                    </a:ext>
                  </a:extLst>
                </a:gridCol>
                <a:gridCol w="1418167">
                  <a:extLst>
                    <a:ext uri="{9D8B030D-6E8A-4147-A177-3AD203B41FA5}">
                      <a16:colId xmlns:a16="http://schemas.microsoft.com/office/drawing/2014/main" val="2807762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Height</a:t>
                      </a: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effectLst/>
                        </a:rPr>
                        <a:t>Asian Students</a:t>
                      </a: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Western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501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Mean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59.9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44.8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extLst>
                  <a:ext uri="{0D108BD9-81ED-4DB2-BD59-A6C34878D82A}">
                    <a16:rowId xmlns:a16="http://schemas.microsoft.com/office/drawing/2014/main" val="1782985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SD</a:t>
                      </a:r>
                      <a:endParaRPr lang="en-IN" sz="180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10.2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12.7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extLst>
                  <a:ext uri="{0D108BD9-81ED-4DB2-BD59-A6C34878D82A}">
                    <a16:rowId xmlns:a16="http://schemas.microsoft.com/office/drawing/2014/main" val="245381487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3D54CEB-C28C-5C3D-B0AA-CC03A89C665A}"/>
              </a:ext>
            </a:extLst>
          </p:cNvPr>
          <p:cNvSpPr txBox="1"/>
          <p:nvPr/>
        </p:nvSpPr>
        <p:spPr>
          <a:xfrm>
            <a:off x="5643230" y="1892677"/>
            <a:ext cx="58375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Comparative observation:</a:t>
            </a:r>
          </a:p>
          <a:p>
            <a:r>
              <a:rPr lang="en-US" dirty="0"/>
              <a:t>Looking at the standard deviations 10.2 and 12.7, the tests seems to have similar results.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326840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0AFEF-C016-9B75-23E4-CC72B4BE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for Variability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4C054B-728E-BBF0-EA1E-4E3478D35603}"/>
              </a:ext>
            </a:extLst>
          </p:cNvPr>
          <p:cNvGraphicFramePr>
            <a:graphicFrameLocks noGrp="1"/>
          </p:cNvGraphicFramePr>
          <p:nvPr/>
        </p:nvGraphicFramePr>
        <p:xfrm>
          <a:off x="938470" y="1473150"/>
          <a:ext cx="4254501" cy="155448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418167">
                  <a:extLst>
                    <a:ext uri="{9D8B030D-6E8A-4147-A177-3AD203B41FA5}">
                      <a16:colId xmlns:a16="http://schemas.microsoft.com/office/drawing/2014/main" val="1307021165"/>
                    </a:ext>
                  </a:extLst>
                </a:gridCol>
                <a:gridCol w="1418167">
                  <a:extLst>
                    <a:ext uri="{9D8B030D-6E8A-4147-A177-3AD203B41FA5}">
                      <a16:colId xmlns:a16="http://schemas.microsoft.com/office/drawing/2014/main" val="1402689421"/>
                    </a:ext>
                  </a:extLst>
                </a:gridCol>
                <a:gridCol w="1418167">
                  <a:extLst>
                    <a:ext uri="{9D8B030D-6E8A-4147-A177-3AD203B41FA5}">
                      <a16:colId xmlns:a16="http://schemas.microsoft.com/office/drawing/2014/main" val="2807762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Height</a:t>
                      </a: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effectLst/>
                        </a:rPr>
                        <a:t>Asian Students</a:t>
                      </a: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Western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501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Mean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59.9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44.8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extLst>
                  <a:ext uri="{0D108BD9-81ED-4DB2-BD59-A6C34878D82A}">
                    <a16:rowId xmlns:a16="http://schemas.microsoft.com/office/drawing/2014/main" val="1782985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SD</a:t>
                      </a:r>
                      <a:endParaRPr lang="en-IN" sz="180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10.2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12.7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extLst>
                  <a:ext uri="{0D108BD9-81ED-4DB2-BD59-A6C34878D82A}">
                    <a16:rowId xmlns:a16="http://schemas.microsoft.com/office/drawing/2014/main" val="24538148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9205150-C685-F802-34B3-4137F80D2A40}"/>
              </a:ext>
            </a:extLst>
          </p:cNvPr>
          <p:cNvGraphicFramePr>
            <a:graphicFrameLocks noGrp="1"/>
          </p:cNvGraphicFramePr>
          <p:nvPr/>
        </p:nvGraphicFramePr>
        <p:xfrm>
          <a:off x="938470" y="3586380"/>
          <a:ext cx="4254501" cy="19812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418167">
                  <a:extLst>
                    <a:ext uri="{9D8B030D-6E8A-4147-A177-3AD203B41FA5}">
                      <a16:colId xmlns:a16="http://schemas.microsoft.com/office/drawing/2014/main" val="3012248468"/>
                    </a:ext>
                  </a:extLst>
                </a:gridCol>
                <a:gridCol w="1418167">
                  <a:extLst>
                    <a:ext uri="{9D8B030D-6E8A-4147-A177-3AD203B41FA5}">
                      <a16:colId xmlns:a16="http://schemas.microsoft.com/office/drawing/2014/main" val="315056001"/>
                    </a:ext>
                  </a:extLst>
                </a:gridCol>
                <a:gridCol w="1418167">
                  <a:extLst>
                    <a:ext uri="{9D8B030D-6E8A-4147-A177-3AD203B41FA5}">
                      <a16:colId xmlns:a16="http://schemas.microsoft.com/office/drawing/2014/main" val="32074201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Height</a:t>
                      </a: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effectLst/>
                        </a:rPr>
                        <a:t>Asian Students</a:t>
                      </a: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Western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602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Mean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59.9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44.8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extLst>
                  <a:ext uri="{0D108BD9-81ED-4DB2-BD59-A6C34878D82A}">
                    <a16:rowId xmlns:a16="http://schemas.microsoft.com/office/drawing/2014/main" val="187496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SD</a:t>
                      </a:r>
                      <a:endParaRPr lang="en-IN" sz="180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10.2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12.7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extLst>
                  <a:ext uri="{0D108BD9-81ED-4DB2-BD59-A6C34878D82A}">
                    <a16:rowId xmlns:a16="http://schemas.microsoft.com/office/drawing/2014/main" val="2867706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CV</a:t>
                      </a: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17.03</a:t>
                      </a: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28.35</a:t>
                      </a:r>
                    </a:p>
                  </a:txBody>
                  <a:tcPr marL="50800" marR="50800" marT="76200" marB="76200" anchor="ctr"/>
                </a:tc>
                <a:extLst>
                  <a:ext uri="{0D108BD9-81ED-4DB2-BD59-A6C34878D82A}">
                    <a16:rowId xmlns:a16="http://schemas.microsoft.com/office/drawing/2014/main" val="302984529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3D54CEB-C28C-5C3D-B0AA-CC03A89C665A}"/>
              </a:ext>
            </a:extLst>
          </p:cNvPr>
          <p:cNvSpPr txBox="1"/>
          <p:nvPr/>
        </p:nvSpPr>
        <p:spPr>
          <a:xfrm>
            <a:off x="5643230" y="1892677"/>
            <a:ext cx="58375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Comparative observation:</a:t>
            </a:r>
          </a:p>
          <a:p>
            <a:r>
              <a:rPr lang="en-US" dirty="0"/>
              <a:t>Looking at the standard deviations 10.2 and 12.7, the tests seems to have similar results.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Individual observation:</a:t>
            </a:r>
          </a:p>
          <a:p>
            <a:r>
              <a:rPr lang="en-US" dirty="0"/>
              <a:t>Variation in the mean has higher impact on the dispersion 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4214363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0AFEF-C016-9B75-23E4-CC72B4BE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for Variability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4C054B-728E-BBF0-EA1E-4E3478D35603}"/>
              </a:ext>
            </a:extLst>
          </p:cNvPr>
          <p:cNvGraphicFramePr>
            <a:graphicFrameLocks noGrp="1"/>
          </p:cNvGraphicFramePr>
          <p:nvPr/>
        </p:nvGraphicFramePr>
        <p:xfrm>
          <a:off x="938470" y="1473150"/>
          <a:ext cx="4254501" cy="155448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418167">
                  <a:extLst>
                    <a:ext uri="{9D8B030D-6E8A-4147-A177-3AD203B41FA5}">
                      <a16:colId xmlns:a16="http://schemas.microsoft.com/office/drawing/2014/main" val="1307021165"/>
                    </a:ext>
                  </a:extLst>
                </a:gridCol>
                <a:gridCol w="1418167">
                  <a:extLst>
                    <a:ext uri="{9D8B030D-6E8A-4147-A177-3AD203B41FA5}">
                      <a16:colId xmlns:a16="http://schemas.microsoft.com/office/drawing/2014/main" val="1402689421"/>
                    </a:ext>
                  </a:extLst>
                </a:gridCol>
                <a:gridCol w="1418167">
                  <a:extLst>
                    <a:ext uri="{9D8B030D-6E8A-4147-A177-3AD203B41FA5}">
                      <a16:colId xmlns:a16="http://schemas.microsoft.com/office/drawing/2014/main" val="2807762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Height</a:t>
                      </a: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effectLst/>
                        </a:rPr>
                        <a:t>Asian Students</a:t>
                      </a: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Western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501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Mean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59.9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44.8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extLst>
                  <a:ext uri="{0D108BD9-81ED-4DB2-BD59-A6C34878D82A}">
                    <a16:rowId xmlns:a16="http://schemas.microsoft.com/office/drawing/2014/main" val="1782985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SD</a:t>
                      </a:r>
                      <a:endParaRPr lang="en-IN" sz="180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10.2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12.7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extLst>
                  <a:ext uri="{0D108BD9-81ED-4DB2-BD59-A6C34878D82A}">
                    <a16:rowId xmlns:a16="http://schemas.microsoft.com/office/drawing/2014/main" val="24538148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9205150-C685-F802-34B3-4137F80D2A40}"/>
              </a:ext>
            </a:extLst>
          </p:cNvPr>
          <p:cNvGraphicFramePr>
            <a:graphicFrameLocks noGrp="1"/>
          </p:cNvGraphicFramePr>
          <p:nvPr/>
        </p:nvGraphicFramePr>
        <p:xfrm>
          <a:off x="938470" y="3586380"/>
          <a:ext cx="4254501" cy="19812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418167">
                  <a:extLst>
                    <a:ext uri="{9D8B030D-6E8A-4147-A177-3AD203B41FA5}">
                      <a16:colId xmlns:a16="http://schemas.microsoft.com/office/drawing/2014/main" val="3012248468"/>
                    </a:ext>
                  </a:extLst>
                </a:gridCol>
                <a:gridCol w="1418167">
                  <a:extLst>
                    <a:ext uri="{9D8B030D-6E8A-4147-A177-3AD203B41FA5}">
                      <a16:colId xmlns:a16="http://schemas.microsoft.com/office/drawing/2014/main" val="315056001"/>
                    </a:ext>
                  </a:extLst>
                </a:gridCol>
                <a:gridCol w="1418167">
                  <a:extLst>
                    <a:ext uri="{9D8B030D-6E8A-4147-A177-3AD203B41FA5}">
                      <a16:colId xmlns:a16="http://schemas.microsoft.com/office/drawing/2014/main" val="32074201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Height</a:t>
                      </a: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effectLst/>
                        </a:rPr>
                        <a:t>Asian Students</a:t>
                      </a: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Western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602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Mean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59.9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44.8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extLst>
                  <a:ext uri="{0D108BD9-81ED-4DB2-BD59-A6C34878D82A}">
                    <a16:rowId xmlns:a16="http://schemas.microsoft.com/office/drawing/2014/main" val="187496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>
                          <a:effectLst/>
                        </a:rPr>
                        <a:t>SD</a:t>
                      </a:r>
                      <a:endParaRPr lang="en-IN" sz="180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10.2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</a:rPr>
                        <a:t>12.7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76200" marB="76200" anchor="ctr"/>
                </a:tc>
                <a:extLst>
                  <a:ext uri="{0D108BD9-81ED-4DB2-BD59-A6C34878D82A}">
                    <a16:rowId xmlns:a16="http://schemas.microsoft.com/office/drawing/2014/main" val="2867706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CV</a:t>
                      </a: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17.03</a:t>
                      </a:r>
                    </a:p>
                  </a:txBody>
                  <a:tcPr marL="50800" marR="508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28.35</a:t>
                      </a:r>
                    </a:p>
                  </a:txBody>
                  <a:tcPr marL="50800" marR="50800" marT="76200" marB="76200" anchor="ctr"/>
                </a:tc>
                <a:extLst>
                  <a:ext uri="{0D108BD9-81ED-4DB2-BD59-A6C34878D82A}">
                    <a16:rowId xmlns:a16="http://schemas.microsoft.com/office/drawing/2014/main" val="302984529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3D54CEB-C28C-5C3D-B0AA-CC03A89C665A}"/>
              </a:ext>
            </a:extLst>
          </p:cNvPr>
          <p:cNvSpPr txBox="1"/>
          <p:nvPr/>
        </p:nvSpPr>
        <p:spPr>
          <a:xfrm>
            <a:off x="5643230" y="1321417"/>
            <a:ext cx="58375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Individual observation:</a:t>
            </a:r>
          </a:p>
          <a:p>
            <a:r>
              <a:rPr lang="en-US" dirty="0"/>
              <a:t>Variation in the mean has higher impact on the dispersion.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894610-504D-4D21-3D58-2DB9DF8FBB1E}"/>
              </a:ext>
            </a:extLst>
          </p:cNvPr>
          <p:cNvSpPr txBox="1"/>
          <p:nvPr/>
        </p:nvSpPr>
        <p:spPr>
          <a:xfrm>
            <a:off x="5773035" y="2892907"/>
            <a:ext cx="557795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273239"/>
                </a:solidFill>
                <a:effectLst/>
                <a:latin typeface="Nunito" pitchFamily="2" charset="0"/>
              </a:rPr>
              <a:t>Observation:</a:t>
            </a:r>
          </a:p>
          <a:p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data with greater C.V. is said to be more variable and less stable than the other</a:t>
            </a:r>
            <a:r>
              <a:rPr lang="en-US" sz="2400" b="0" i="0">
                <a:solidFill>
                  <a:srgbClr val="273239"/>
                </a:solidFill>
                <a:effectLst/>
                <a:latin typeface="Nunito" pitchFamily="2" charset="0"/>
              </a:rPr>
              <a:t>. </a:t>
            </a:r>
          </a:p>
          <a:p>
            <a:endParaRPr lang="en-US" sz="2400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series having lesser C.V. is said to be more consistent than the other.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2389901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5957-FFF0-6063-F832-ED0910755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3B0DD-A467-3F16-6BD6-8B703EE6F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600" b="1" dirty="0"/>
              <a:t>TEXTBOOKS: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David </a:t>
            </a:r>
            <a:r>
              <a:rPr lang="en-IN" sz="1600" dirty="0" err="1"/>
              <a:t>Cielen</a:t>
            </a:r>
            <a:r>
              <a:rPr lang="en-IN" sz="1600" dirty="0"/>
              <a:t>, Arno D. B. </a:t>
            </a:r>
            <a:r>
              <a:rPr lang="en-IN" sz="1600" dirty="0" err="1"/>
              <a:t>Meysman</a:t>
            </a:r>
            <a:r>
              <a:rPr lang="en-IN" sz="1600" dirty="0"/>
              <a:t>, and Mohamed Ali, “Introducing Data Science”, Manning Publications, 2016. (first two chapters for Unit I).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Robert S. Witte and John S. Witte, “Statistics”, Eleventh Edition, Wiley Publications, 2017.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Jake </a:t>
            </a:r>
            <a:r>
              <a:rPr lang="en-IN" sz="1600" dirty="0" err="1"/>
              <a:t>VanderPlas</a:t>
            </a:r>
            <a:r>
              <a:rPr lang="en-IN" sz="1600" dirty="0"/>
              <a:t>, “Python Data Science Handbook”, O’Reilly, 2016.</a:t>
            </a:r>
          </a:p>
          <a:p>
            <a:pPr marL="0" indent="0">
              <a:buNone/>
            </a:pPr>
            <a:r>
              <a:rPr lang="en-IN" sz="1600" b="1" dirty="0"/>
              <a:t>REFERENCES: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Allen B. Downey, “Think Stats: Exploratory Data Analysis in Python”, Green Tea Press, 2014.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65123347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T6006U3LS02Filtering_Streams">
  <a:themeElements>
    <a:clrScheme name="1_Heartbeat Review 9 May'06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CC"/>
      </a:hlink>
      <a:folHlink>
        <a:srgbClr val="000099"/>
      </a:folHlink>
    </a:clrScheme>
    <a:fontScheme name="1_Heartbeat Review 9 May'06">
      <a:majorFont>
        <a:latin typeface="Verdana"/>
        <a:ea typeface="MS PGothic"/>
        <a:cs typeface=""/>
      </a:majorFont>
      <a:minorFont>
        <a:latin typeface="Verdana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MS PGothic" pitchFamily="34" charset="-128"/>
          </a:defRPr>
        </a:defPPr>
      </a:lstStyle>
    </a:lnDef>
  </a:objectDefaults>
  <a:extraClrSchemeLst>
    <a:extraClrScheme>
      <a:clrScheme name="1_Heartbeat Review 9 May'0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eartbeat Review 9 May'06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eartbeat Review 9 May'06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eartbeat Review 9 May'06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eartbeat Review 9 May'06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eartbeat Review 9 May'06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eartbeat Review 9 May'06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eartbeat Review 9 May'06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eartbeat Review 9 May'06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eartbeat Review 9 May'06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eartbeat Review 9 May'06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eartbeat Review 9 May'06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eartbeat Review 9 May'06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CC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eartbeat Review 9 May'06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CC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eartbeat Review 9 May'06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CC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8473</TotalTime>
  <Words>1315</Words>
  <Application>Microsoft Office PowerPoint</Application>
  <PresentationFormat>Widescreen</PresentationFormat>
  <Paragraphs>183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Microsoft YaHei</vt:lpstr>
      <vt:lpstr>Arial</vt:lpstr>
      <vt:lpstr>Calibri</vt:lpstr>
      <vt:lpstr>Nunito</vt:lpstr>
      <vt:lpstr>Verdana</vt:lpstr>
      <vt:lpstr>Wingdings</vt:lpstr>
      <vt:lpstr>IT6006U3LS02Filtering_Streams</vt:lpstr>
      <vt:lpstr>UIT2502 – Data Analytics &amp; Visualization</vt:lpstr>
      <vt:lpstr>Introduction</vt:lpstr>
      <vt:lpstr>Frequency distribution table</vt:lpstr>
      <vt:lpstr>Frequency distribution table</vt:lpstr>
      <vt:lpstr>Types of frequency distribution</vt:lpstr>
      <vt:lpstr>Example to understand types of frequency distribution</vt:lpstr>
      <vt:lpstr>Grouped frequency distribution</vt:lpstr>
      <vt:lpstr>Example to understand types of frequency distribution</vt:lpstr>
      <vt:lpstr>Ungrouped frequency distribution</vt:lpstr>
      <vt:lpstr>Relative frequency distribution</vt:lpstr>
      <vt:lpstr>Relative frequency distribution</vt:lpstr>
      <vt:lpstr>Cumulative frequency distribution </vt:lpstr>
      <vt:lpstr>Example for cumulative frequency distribution </vt:lpstr>
      <vt:lpstr>Example for cumulative frequency distribution </vt:lpstr>
      <vt:lpstr>Example for cumulative frequency distribution  Less than type</vt:lpstr>
      <vt:lpstr>Example for cumulative frequency distribution  More than type</vt:lpstr>
      <vt:lpstr>Variability in Statistics</vt:lpstr>
      <vt:lpstr>Describing variability</vt:lpstr>
      <vt:lpstr>Describing variability</vt:lpstr>
      <vt:lpstr>Describing variability</vt:lpstr>
      <vt:lpstr>Standard deviation</vt:lpstr>
      <vt:lpstr>Variance</vt:lpstr>
      <vt:lpstr>Variability in big data</vt:lpstr>
      <vt:lpstr>States of variability</vt:lpstr>
      <vt:lpstr>Best measure of variability</vt:lpstr>
      <vt:lpstr>Co-efficient of variation</vt:lpstr>
      <vt:lpstr>When to use C.V</vt:lpstr>
      <vt:lpstr>Example for Variability</vt:lpstr>
      <vt:lpstr>Example for Variability</vt:lpstr>
      <vt:lpstr>Example for Variability</vt:lpstr>
      <vt:lpstr>Books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PIF1941 – NLP &amp; IR</dc:title>
  <dc:creator>VEERA RAGAVAN</dc:creator>
  <cp:lastModifiedBy>Karthika S</cp:lastModifiedBy>
  <cp:revision>435</cp:revision>
  <dcterms:created xsi:type="dcterms:W3CDTF">2020-08-02T17:30:45Z</dcterms:created>
  <dcterms:modified xsi:type="dcterms:W3CDTF">2024-08-18T04:18:25Z</dcterms:modified>
</cp:coreProperties>
</file>