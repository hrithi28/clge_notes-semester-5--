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sldIdLst>
    <p:sldId id="256" r:id="rId2"/>
    <p:sldId id="257" r:id="rId3"/>
    <p:sldId id="259" r:id="rId4"/>
    <p:sldId id="260" r:id="rId5"/>
    <p:sldId id="261" r:id="rId6"/>
    <p:sldId id="262" r:id="rId7"/>
    <p:sldId id="263" r:id="rId8"/>
    <p:sldId id="264" r:id="rId9"/>
    <p:sldId id="265" r:id="rId10"/>
    <p:sldId id="258" r:id="rId11"/>
    <p:sldId id="285" r:id="rId12"/>
    <p:sldId id="286" r:id="rId13"/>
    <p:sldId id="266" r:id="rId14"/>
    <p:sldId id="267" r:id="rId15"/>
    <p:sldId id="268" r:id="rId16"/>
    <p:sldId id="269" r:id="rId17"/>
    <p:sldId id="270" r:id="rId18"/>
    <p:sldId id="271" r:id="rId19"/>
    <p:sldId id="274" r:id="rId20"/>
    <p:sldId id="275" r:id="rId21"/>
    <p:sldId id="272" r:id="rId22"/>
    <p:sldId id="273"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94660"/>
  </p:normalViewPr>
  <p:slideViewPr>
    <p:cSldViewPr snapToGrid="0">
      <p:cViewPr varScale="1">
        <p:scale>
          <a:sx n="64" d="100"/>
          <a:sy n="64" d="100"/>
        </p:scale>
        <p:origin x="40" y="2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85935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733144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281429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8BA0D8-464F-4949-9B0E-958AE8E510E2}"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3598840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8BA0D8-464F-4949-9B0E-958AE8E510E2}" type="datetimeFigureOut">
              <a:rPr lang="en-IN" smtClean="0"/>
              <a:t>29-09-2025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2424968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147916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698788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14920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BA0D8-464F-4949-9B0E-958AE8E510E2}"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327228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BA0D8-464F-4949-9B0E-958AE8E510E2}"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048177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2906208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94780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6866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4133101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2347206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1367946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BA0D8-464F-4949-9B0E-958AE8E510E2}"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1F64-4174-4784-9645-469E12C8E196}" type="slidenum">
              <a:rPr lang="en-IN" smtClean="0"/>
              <a:t>‹#›</a:t>
            </a:fld>
            <a:endParaRPr lang="en-IN"/>
          </a:p>
        </p:txBody>
      </p:sp>
    </p:spTree>
    <p:extLst>
      <p:ext uri="{BB962C8B-B14F-4D97-AF65-F5344CB8AC3E}">
        <p14:creationId xmlns:p14="http://schemas.microsoft.com/office/powerpoint/2010/main" val="3388920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68BA0D8-464F-4949-9B0E-958AE8E510E2}" type="datetimeFigureOut">
              <a:rPr lang="en-IN" smtClean="0"/>
              <a:t>29-09-2025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0F71F64-4174-4784-9645-469E12C8E196}" type="slidenum">
              <a:rPr lang="en-IN" smtClean="0"/>
              <a:t>‹#›</a:t>
            </a:fld>
            <a:endParaRPr lang="en-IN"/>
          </a:p>
        </p:txBody>
      </p:sp>
    </p:spTree>
    <p:extLst>
      <p:ext uri="{BB962C8B-B14F-4D97-AF65-F5344CB8AC3E}">
        <p14:creationId xmlns:p14="http://schemas.microsoft.com/office/powerpoint/2010/main" val="783663572"/>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A9A3-79CD-DD1C-5025-7EDCB21E5CD8}"/>
              </a:ext>
            </a:extLst>
          </p:cNvPr>
          <p:cNvSpPr>
            <a:spLocks noGrp="1"/>
          </p:cNvSpPr>
          <p:nvPr>
            <p:ph type="ctrTitle"/>
          </p:nvPr>
        </p:nvSpPr>
        <p:spPr/>
        <p:txBody>
          <a:bodyPr/>
          <a:lstStyle/>
          <a:p>
            <a:r>
              <a:rPr lang="en-US" dirty="0"/>
              <a:t>Unit 4</a:t>
            </a:r>
            <a:endParaRPr lang="en-IN" dirty="0"/>
          </a:p>
        </p:txBody>
      </p:sp>
      <p:sp>
        <p:nvSpPr>
          <p:cNvPr id="3" name="Subtitle 2">
            <a:extLst>
              <a:ext uri="{FF2B5EF4-FFF2-40B4-BE49-F238E27FC236}">
                <a16:creationId xmlns:a16="http://schemas.microsoft.com/office/drawing/2014/main" id="{5490DE1D-DFA0-D492-A69E-7C0AF0AB975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448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191336" cy="5940697"/>
          </a:xfrm>
        </p:spPr>
        <p:txBody>
          <a:bodyPr>
            <a:normAutofit fontScale="92500" lnSpcReduction="10000"/>
          </a:bodyPr>
          <a:lstStyle/>
          <a:p>
            <a:pPr algn="just"/>
            <a:r>
              <a:rPr lang="en-US" sz="1600" dirty="0">
                <a:latin typeface="Times New Roman" panose="02020603050405020304" pitchFamily="18" charset="0"/>
                <a:cs typeface="Times New Roman" panose="02020603050405020304" pitchFamily="18" charset="0"/>
              </a:rPr>
              <a:t>Software Testing is the process of evaluating a system or its components to check whether it meets specified requirements and to identify any defects. The goal of testing is to ensure that the software behaves as expected, works efficiently, and is free of bugs before it is released.</a:t>
            </a:r>
          </a:p>
          <a:p>
            <a:pPr marL="0" indent="0" algn="just">
              <a:buNone/>
            </a:pPr>
            <a:r>
              <a:rPr lang="en-US" sz="1600" dirty="0">
                <a:latin typeface="Times New Roman" panose="02020603050405020304" pitchFamily="18" charset="0"/>
                <a:cs typeface="Times New Roman" panose="02020603050405020304" pitchFamily="18" charset="0"/>
              </a:rPr>
              <a:t>Why is Testing Important?</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the system functions correctly.</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Identifies and fixes defects early.</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Validates that the software meets user needs.</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Enhances the quality and reliability of the software.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Reduces the risk of failure in the production environment.</a:t>
            </a:r>
          </a:p>
          <a:p>
            <a:pPr marL="0" indent="0" algn="just">
              <a:buNone/>
            </a:pPr>
            <a:r>
              <a:rPr lang="en-US" sz="1600" dirty="0">
                <a:latin typeface="Times New Roman" panose="02020603050405020304" pitchFamily="18" charset="0"/>
                <a:cs typeface="Times New Roman" panose="02020603050405020304" pitchFamily="18" charset="0"/>
              </a:rPr>
              <a:t>Types of Testing:</a:t>
            </a:r>
          </a:p>
          <a:p>
            <a:pPr algn="just">
              <a:buFont typeface="+mj-lt"/>
              <a:buAutoNum type="arabicPeriod"/>
            </a:pPr>
            <a:r>
              <a:rPr lang="en-US" sz="1600" dirty="0">
                <a:latin typeface="Times New Roman" panose="02020603050405020304" pitchFamily="18" charset="0"/>
                <a:cs typeface="Times New Roman" panose="02020603050405020304" pitchFamily="18" charset="0"/>
              </a:rPr>
              <a:t>Functional Testing: Tests specific features or functionalities (e.g., does the login work?).</a:t>
            </a:r>
          </a:p>
          <a:p>
            <a:pPr algn="just">
              <a:buFont typeface="+mj-lt"/>
              <a:buAutoNum type="arabicPeriod"/>
            </a:pPr>
            <a:r>
              <a:rPr lang="en-US" sz="1600" dirty="0">
                <a:latin typeface="Times New Roman" panose="02020603050405020304" pitchFamily="18" charset="0"/>
                <a:cs typeface="Times New Roman" panose="02020603050405020304" pitchFamily="18" charset="0"/>
              </a:rPr>
              <a:t>Non-Functional Testing: Tests attributes like performance, security, usability (e.g., how fast is the login process?).</a:t>
            </a:r>
          </a:p>
          <a:p>
            <a:pPr algn="just">
              <a:buFont typeface="+mj-lt"/>
              <a:buAutoNum type="arabicPeriod"/>
            </a:pPr>
            <a:r>
              <a:rPr lang="en-US" sz="1600" dirty="0">
                <a:latin typeface="Times New Roman" panose="02020603050405020304" pitchFamily="18" charset="0"/>
                <a:cs typeface="Times New Roman" panose="02020603050405020304" pitchFamily="18" charset="0"/>
              </a:rPr>
              <a:t>Unit Testing: Tests individual components or units of the software.</a:t>
            </a:r>
          </a:p>
          <a:p>
            <a:pPr algn="just">
              <a:buFont typeface="+mj-lt"/>
              <a:buAutoNum type="arabicPeriod"/>
            </a:pPr>
            <a:r>
              <a:rPr lang="en-US" sz="1600" dirty="0">
                <a:latin typeface="Times New Roman" panose="02020603050405020304" pitchFamily="18" charset="0"/>
                <a:cs typeface="Times New Roman" panose="02020603050405020304" pitchFamily="18" charset="0"/>
              </a:rPr>
              <a:t>Integration Testing: Ensures different parts of the system work together.</a:t>
            </a:r>
          </a:p>
          <a:p>
            <a:pPr algn="just">
              <a:buFont typeface="+mj-lt"/>
              <a:buAutoNum type="arabicPeriod"/>
            </a:pPr>
            <a:r>
              <a:rPr lang="en-US" sz="1600" dirty="0">
                <a:latin typeface="Times New Roman" panose="02020603050405020304" pitchFamily="18" charset="0"/>
                <a:cs typeface="Times New Roman" panose="02020603050405020304" pitchFamily="18" charset="0"/>
              </a:rPr>
              <a:t>System Testing: Tests the entire system as a whole.</a:t>
            </a:r>
          </a:p>
          <a:p>
            <a:pPr algn="just">
              <a:buFont typeface="+mj-lt"/>
              <a:buAutoNum type="arabicPeriod"/>
            </a:pPr>
            <a:r>
              <a:rPr lang="en-US" sz="1600" dirty="0">
                <a:latin typeface="Times New Roman" panose="02020603050405020304" pitchFamily="18" charset="0"/>
                <a:cs typeface="Times New Roman" panose="02020603050405020304" pitchFamily="18" charset="0"/>
              </a:rPr>
              <a:t>Acceptance Testing: Performed to ensure the software meets end-user requirements.</a:t>
            </a:r>
          </a:p>
          <a:p>
            <a:pPr algn="just"/>
            <a:r>
              <a:rPr lang="en-US" sz="1600" dirty="0">
                <a:latin typeface="Times New Roman" panose="02020603050405020304" pitchFamily="18" charset="0"/>
                <a:cs typeface="Times New Roman" panose="02020603050405020304" pitchFamily="18" charset="0"/>
              </a:rPr>
              <a:t>A Test Case is a specific scenario or condition with defined inputs, steps, and expected results, designed to test a particular feature or function of the software. It describes the preconditions, execution steps, inputs, and expected output to verify whether the software behaves as intended.</a:t>
            </a:r>
          </a:p>
          <a:p>
            <a:pPr algn="just"/>
            <a:r>
              <a:rPr lang="en-US" sz="1600" dirty="0">
                <a:latin typeface="Times New Roman" panose="02020603050405020304" pitchFamily="18" charset="0"/>
                <a:cs typeface="Times New Roman" panose="02020603050405020304" pitchFamily="18" charset="0"/>
              </a:rPr>
              <a:t>A Test Suite is a collection of test cases that are grouped together for execution. </a:t>
            </a:r>
          </a:p>
        </p:txBody>
      </p:sp>
    </p:spTree>
    <p:extLst>
      <p:ext uri="{BB962C8B-B14F-4D97-AF65-F5344CB8AC3E}">
        <p14:creationId xmlns:p14="http://schemas.microsoft.com/office/powerpoint/2010/main" val="401920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089A5-4648-C719-28C5-53D86B260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05078-A9C6-DB8C-1CDE-135D7D223AC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When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F21CE3-C8EB-D67B-E0AA-1A108FEFBA67}"/>
              </a:ext>
            </a:extLst>
          </p:cNvPr>
          <p:cNvSpPr>
            <a:spLocks noGrp="1"/>
          </p:cNvSpPr>
          <p:nvPr>
            <p:ph idx="1"/>
          </p:nvPr>
        </p:nvSpPr>
        <p:spPr>
          <a:xfrm>
            <a:off x="609600" y="606752"/>
            <a:ext cx="10972800" cy="5922235"/>
          </a:xfrm>
        </p:spPr>
        <p:txBody>
          <a:bodyPr>
            <a:normAutofit fontScale="92500" lnSpcReduction="10000"/>
          </a:bodyPr>
          <a:lstStyle/>
          <a:p>
            <a:pPr algn="just"/>
            <a:r>
              <a:rPr lang="en-US" sz="1900" dirty="0">
                <a:latin typeface="Times New Roman" panose="02020603050405020304" pitchFamily="18" charset="0"/>
                <a:cs typeface="Times New Roman" panose="02020603050405020304" pitchFamily="18" charset="0"/>
              </a:rPr>
              <a:t>Testing should be performed at various stages of the software development lifecycle (SDLC) to ensure quality and to catch defects as early as possible. The timing and type of testing depend on the development model being used (e.g., Waterfall, Agile).</a:t>
            </a:r>
          </a:p>
          <a:p>
            <a:pPr marL="0" indent="0" algn="just">
              <a:buNone/>
            </a:pPr>
            <a:r>
              <a:rPr lang="en-US" sz="1900" dirty="0">
                <a:latin typeface="Times New Roman" panose="02020603050405020304" pitchFamily="18" charset="0"/>
                <a:cs typeface="Times New Roman" panose="02020603050405020304" pitchFamily="18" charset="0"/>
              </a:rPr>
              <a:t>1. Requirements Phase</a:t>
            </a:r>
          </a:p>
          <a:p>
            <a:pPr lvl="1" algn="just"/>
            <a:r>
              <a:rPr lang="en-US" sz="1900" dirty="0">
                <a:latin typeface="Times New Roman" panose="02020603050405020304" pitchFamily="18" charset="0"/>
                <a:cs typeface="Times New Roman" panose="02020603050405020304" pitchFamily="18" charset="0"/>
              </a:rPr>
              <a:t>Testing Activity: Requirements review and validation.</a:t>
            </a:r>
          </a:p>
          <a:p>
            <a:pPr lvl="1" algn="just"/>
            <a:r>
              <a:rPr lang="en-US" sz="1900" dirty="0">
                <a:latin typeface="Times New Roman" panose="02020603050405020304" pitchFamily="18" charset="0"/>
                <a:cs typeface="Times New Roman" panose="02020603050405020304" pitchFamily="18" charset="0"/>
              </a:rPr>
              <a:t>Why: To ensure that the requirements are complete, clear, consistent, and testable. This is the first step to ensuring the end product meets the customer’s expectations.</a:t>
            </a:r>
          </a:p>
          <a:p>
            <a:pPr lvl="1" algn="just"/>
            <a:r>
              <a:rPr lang="en-US" sz="1900" dirty="0">
                <a:latin typeface="Times New Roman" panose="02020603050405020304" pitchFamily="18" charset="0"/>
                <a:cs typeface="Times New Roman" panose="02020603050405020304" pitchFamily="18" charset="0"/>
              </a:rPr>
              <a:t>When: Before development begins, after requirements have been gathered and documented.</a:t>
            </a:r>
          </a:p>
          <a:p>
            <a:pPr marL="0" indent="0" algn="just">
              <a:buNone/>
            </a:pPr>
            <a:r>
              <a:rPr lang="en-US" sz="1900" dirty="0">
                <a:latin typeface="Times New Roman" panose="02020603050405020304" pitchFamily="18" charset="0"/>
                <a:cs typeface="Times New Roman" panose="02020603050405020304" pitchFamily="18" charset="0"/>
              </a:rPr>
              <a:t>2. Design Phase</a:t>
            </a:r>
          </a:p>
          <a:p>
            <a:pPr lvl="1" algn="just"/>
            <a:r>
              <a:rPr lang="en-US" sz="1900" dirty="0">
                <a:latin typeface="Times New Roman" panose="02020603050405020304" pitchFamily="18" charset="0"/>
                <a:cs typeface="Times New Roman" panose="02020603050405020304" pitchFamily="18" charset="0"/>
              </a:rPr>
              <a:t>Testing Activity: Design validation and review (e.g., architectural design review, module design review).</a:t>
            </a:r>
          </a:p>
          <a:p>
            <a:pPr lvl="1" algn="just"/>
            <a:r>
              <a:rPr lang="en-US" sz="1900" dirty="0">
                <a:latin typeface="Times New Roman" panose="02020603050405020304" pitchFamily="18" charset="0"/>
                <a:cs typeface="Times New Roman" panose="02020603050405020304" pitchFamily="18" charset="0"/>
              </a:rPr>
              <a:t>Why: To ensure the design aligns with the requirements and is feasible for implementation.</a:t>
            </a:r>
          </a:p>
          <a:p>
            <a:pPr lvl="1" algn="just"/>
            <a:r>
              <a:rPr lang="en-US" sz="1900" dirty="0">
                <a:latin typeface="Times New Roman" panose="02020603050405020304" pitchFamily="18" charset="0"/>
                <a:cs typeface="Times New Roman" panose="02020603050405020304" pitchFamily="18" charset="0"/>
              </a:rPr>
              <a:t>When: Once the design is documented but before coding starts.</a:t>
            </a:r>
          </a:p>
          <a:p>
            <a:pPr marL="0" indent="0" algn="just">
              <a:buNone/>
            </a:pPr>
            <a:r>
              <a:rPr lang="en-US" sz="1900" dirty="0">
                <a:latin typeface="Times New Roman" panose="02020603050405020304" pitchFamily="18" charset="0"/>
                <a:cs typeface="Times New Roman" panose="02020603050405020304" pitchFamily="18" charset="0"/>
              </a:rPr>
              <a:t>3. Development (Coding) Phase</a:t>
            </a:r>
          </a:p>
          <a:p>
            <a:pPr lvl="1" algn="just"/>
            <a:r>
              <a:rPr lang="en-US" sz="1900" dirty="0">
                <a:latin typeface="Times New Roman" panose="02020603050405020304" pitchFamily="18" charset="0"/>
                <a:cs typeface="Times New Roman" panose="02020603050405020304" pitchFamily="18" charset="0"/>
              </a:rPr>
              <a:t>Testing Activity: Unit Testing.</a:t>
            </a:r>
          </a:p>
          <a:p>
            <a:pPr lvl="1" algn="just"/>
            <a:r>
              <a:rPr lang="en-US" sz="1900" dirty="0">
                <a:latin typeface="Times New Roman" panose="02020603050405020304" pitchFamily="18" charset="0"/>
                <a:cs typeface="Times New Roman" panose="02020603050405020304" pitchFamily="18" charset="0"/>
              </a:rPr>
              <a:t>Why: To ensure individual components (functions, modules, or methods) work as intended in isolation.</a:t>
            </a:r>
          </a:p>
          <a:p>
            <a:pPr lvl="1" algn="just"/>
            <a:r>
              <a:rPr lang="en-US" sz="1900" dirty="0">
                <a:latin typeface="Times New Roman" panose="02020603050405020304" pitchFamily="18" charset="0"/>
                <a:cs typeface="Times New Roman" panose="02020603050405020304" pitchFamily="18" charset="0"/>
              </a:rPr>
              <a:t>When: As developers complete coding individual components or units, typically right after coding each unit.</a:t>
            </a:r>
          </a:p>
        </p:txBody>
      </p:sp>
    </p:spTree>
    <p:extLst>
      <p:ext uri="{BB962C8B-B14F-4D97-AF65-F5344CB8AC3E}">
        <p14:creationId xmlns:p14="http://schemas.microsoft.com/office/powerpoint/2010/main" val="2132270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DCDB-D685-CB7F-20B7-18E47299D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BF7E0-FA9C-3B86-6EEE-2784F091D7BD}"/>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When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6B0013-3A39-6021-B601-E6061624CB9D}"/>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4. Integration Phase</a:t>
            </a:r>
          </a:p>
          <a:p>
            <a:pPr marL="571500" lvl="1" indent="-171450" algn="just"/>
            <a:r>
              <a:rPr lang="en-US" sz="2000" dirty="0">
                <a:latin typeface="Times New Roman" panose="02020603050405020304" pitchFamily="18" charset="0"/>
                <a:cs typeface="Times New Roman" panose="02020603050405020304" pitchFamily="18" charset="0"/>
              </a:rPr>
              <a:t>Testing Activity: Integration Testing.</a:t>
            </a:r>
          </a:p>
          <a:p>
            <a:pPr marL="571500" lvl="1" indent="-171450" algn="just"/>
            <a:r>
              <a:rPr lang="en-US" sz="2000" dirty="0">
                <a:latin typeface="Times New Roman" panose="02020603050405020304" pitchFamily="18" charset="0"/>
                <a:cs typeface="Times New Roman" panose="02020603050405020304" pitchFamily="18" charset="0"/>
              </a:rPr>
              <a:t>Why: To ensure that different components or units of the system work together correctly. This helps in identifying issues with data flow and interactions between modules.</a:t>
            </a:r>
          </a:p>
          <a:p>
            <a:pPr marL="571500" lvl="1" indent="-171450" algn="just"/>
            <a:r>
              <a:rPr lang="en-US" sz="2000" dirty="0">
                <a:latin typeface="Times New Roman" panose="02020603050405020304" pitchFamily="18" charset="0"/>
                <a:cs typeface="Times New Roman" panose="02020603050405020304" pitchFamily="18" charset="0"/>
              </a:rPr>
              <a:t>When: After unit testing, as multiple components or modules are combined.</a:t>
            </a:r>
          </a:p>
          <a:p>
            <a:pPr marL="0" indent="0" algn="just">
              <a:buNone/>
            </a:pPr>
            <a:r>
              <a:rPr lang="en-US" sz="2000" dirty="0">
                <a:latin typeface="Times New Roman" panose="02020603050405020304" pitchFamily="18" charset="0"/>
                <a:cs typeface="Times New Roman" panose="02020603050405020304" pitchFamily="18" charset="0"/>
              </a:rPr>
              <a:t>5. System Testing</a:t>
            </a:r>
          </a:p>
          <a:p>
            <a:pPr lvl="1" algn="just"/>
            <a:r>
              <a:rPr lang="en-US" sz="2000" dirty="0">
                <a:latin typeface="Times New Roman" panose="02020603050405020304" pitchFamily="18" charset="0"/>
                <a:cs typeface="Times New Roman" panose="02020603050405020304" pitchFamily="18" charset="0"/>
              </a:rPr>
              <a:t>Testing Activity: System Testing.</a:t>
            </a:r>
          </a:p>
          <a:p>
            <a:pPr lvl="1" algn="just"/>
            <a:r>
              <a:rPr lang="en-US" sz="2000" dirty="0">
                <a:latin typeface="Times New Roman" panose="02020603050405020304" pitchFamily="18" charset="0"/>
                <a:cs typeface="Times New Roman" panose="02020603050405020304" pitchFamily="18" charset="0"/>
              </a:rPr>
              <a:t>Why: To validate that the entire system works as a whole and behaves as expected. All the functional and non-functional requirements should be tested in this phase.</a:t>
            </a:r>
          </a:p>
          <a:p>
            <a:pPr lvl="1" algn="just"/>
            <a:r>
              <a:rPr lang="en-US" sz="2000" dirty="0">
                <a:latin typeface="Times New Roman" panose="02020603050405020304" pitchFamily="18" charset="0"/>
                <a:cs typeface="Times New Roman" panose="02020603050405020304" pitchFamily="18" charset="0"/>
              </a:rPr>
              <a:t>When: After integration testing, when the complete system is ready.</a:t>
            </a:r>
          </a:p>
        </p:txBody>
      </p:sp>
    </p:spTree>
    <p:extLst>
      <p:ext uri="{BB962C8B-B14F-4D97-AF65-F5344CB8AC3E}">
        <p14:creationId xmlns:p14="http://schemas.microsoft.com/office/powerpoint/2010/main" val="3293366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FAC71-4127-D997-7011-D7667DE2E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135DC-C014-425D-4F63-BC823955E508}"/>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When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7158F5-1B41-7847-1275-E3F30B1306CE}"/>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5. System Testing</a:t>
            </a:r>
          </a:p>
          <a:p>
            <a:pPr lvl="1" algn="just"/>
            <a:r>
              <a:rPr lang="en-US" sz="1600" dirty="0">
                <a:latin typeface="Times New Roman" panose="02020603050405020304" pitchFamily="18" charset="0"/>
                <a:cs typeface="Times New Roman" panose="02020603050405020304" pitchFamily="18" charset="0"/>
              </a:rPr>
              <a:t>Testing Activity: System Testing.</a:t>
            </a:r>
          </a:p>
          <a:p>
            <a:pPr lvl="1" algn="just"/>
            <a:r>
              <a:rPr lang="en-US" sz="1600" dirty="0">
                <a:latin typeface="Times New Roman" panose="02020603050405020304" pitchFamily="18" charset="0"/>
                <a:cs typeface="Times New Roman" panose="02020603050405020304" pitchFamily="18" charset="0"/>
              </a:rPr>
              <a:t>Why: To validate that the entire system works as a whole and behaves as expected. All the functional and non-functional requirements should be tested in this phase.</a:t>
            </a:r>
          </a:p>
          <a:p>
            <a:pPr lvl="1" algn="just"/>
            <a:r>
              <a:rPr lang="en-US" sz="1600" dirty="0">
                <a:latin typeface="Times New Roman" panose="02020603050405020304" pitchFamily="18" charset="0"/>
                <a:cs typeface="Times New Roman" panose="02020603050405020304" pitchFamily="18" charset="0"/>
              </a:rPr>
              <a:t>When: After integration testing, when the complete system is ready.</a:t>
            </a:r>
          </a:p>
          <a:p>
            <a:pPr marL="0" indent="0" algn="just">
              <a:buNone/>
            </a:pPr>
            <a:r>
              <a:rPr lang="en-US" sz="2000" dirty="0">
                <a:latin typeface="Times New Roman" panose="02020603050405020304" pitchFamily="18" charset="0"/>
                <a:cs typeface="Times New Roman" panose="02020603050405020304" pitchFamily="18" charset="0"/>
              </a:rPr>
              <a:t>6. User Acceptance Testing (UAT)</a:t>
            </a:r>
          </a:p>
          <a:p>
            <a:pPr lvl="1" algn="just"/>
            <a:r>
              <a:rPr lang="en-US" sz="1600" dirty="0">
                <a:latin typeface="Times New Roman" panose="02020603050405020304" pitchFamily="18" charset="0"/>
                <a:cs typeface="Times New Roman" panose="02020603050405020304" pitchFamily="18" charset="0"/>
              </a:rPr>
              <a:t>Testing Activity: Acceptance Testing.</a:t>
            </a:r>
          </a:p>
          <a:p>
            <a:pPr lvl="1" algn="just"/>
            <a:r>
              <a:rPr lang="en-US" sz="1600" dirty="0">
                <a:latin typeface="Times New Roman" panose="02020603050405020304" pitchFamily="18" charset="0"/>
                <a:cs typeface="Times New Roman" panose="02020603050405020304" pitchFamily="18" charset="0"/>
              </a:rPr>
              <a:t>Why: To verify that the system meets the user’s expectations and the business requirements. This is usually the final step before releasing the product to the end-user.</a:t>
            </a:r>
          </a:p>
          <a:p>
            <a:pPr lvl="1" algn="just"/>
            <a:r>
              <a:rPr lang="en-US" sz="1600" dirty="0">
                <a:latin typeface="Times New Roman" panose="02020603050405020304" pitchFamily="18" charset="0"/>
                <a:cs typeface="Times New Roman" panose="02020603050405020304" pitchFamily="18" charset="0"/>
              </a:rPr>
              <a:t>When: After system testing, before deployment or release.</a:t>
            </a:r>
          </a:p>
          <a:p>
            <a:pPr marL="0" indent="0" algn="just">
              <a:buNone/>
            </a:pPr>
            <a:r>
              <a:rPr lang="en-US" sz="2000" dirty="0">
                <a:latin typeface="Times New Roman" panose="02020603050405020304" pitchFamily="18" charset="0"/>
                <a:cs typeface="Times New Roman" panose="02020603050405020304" pitchFamily="18" charset="0"/>
              </a:rPr>
              <a:t>7. Post-Deployment/Release</a:t>
            </a:r>
          </a:p>
          <a:p>
            <a:pPr lvl="1" algn="just"/>
            <a:r>
              <a:rPr lang="en-US" sz="1600" dirty="0">
                <a:latin typeface="Times New Roman" panose="02020603050405020304" pitchFamily="18" charset="0"/>
                <a:cs typeface="Times New Roman" panose="02020603050405020304" pitchFamily="18" charset="0"/>
              </a:rPr>
              <a:t>Testing Activity: Regression Testing, Maintenance Testing, and Performance Monitoring.</a:t>
            </a:r>
          </a:p>
          <a:p>
            <a:pPr lvl="1" algn="just"/>
            <a:r>
              <a:rPr lang="en-US" sz="1600" dirty="0">
                <a:latin typeface="Times New Roman" panose="02020603050405020304" pitchFamily="18" charset="0"/>
                <a:cs typeface="Times New Roman" panose="02020603050405020304" pitchFamily="18" charset="0"/>
              </a:rPr>
              <a:t>Why: After deployment, testing is required to ensure the system remains functional with any changes, updates, or enhancements. Regression testing ensures that the new changes haven’t broken existing functionality.</a:t>
            </a:r>
          </a:p>
          <a:p>
            <a:pPr lvl="1" algn="just"/>
            <a:r>
              <a:rPr lang="en-US" sz="1600" dirty="0">
                <a:latin typeface="Times New Roman" panose="02020603050405020304" pitchFamily="18" charset="0"/>
                <a:cs typeface="Times New Roman" panose="02020603050405020304" pitchFamily="18" charset="0"/>
              </a:rPr>
              <a:t>When: Ongoing after each update or as part of maintenance activities.</a:t>
            </a:r>
          </a:p>
        </p:txBody>
      </p:sp>
    </p:spTree>
    <p:extLst>
      <p:ext uri="{BB962C8B-B14F-4D97-AF65-F5344CB8AC3E}">
        <p14:creationId xmlns:p14="http://schemas.microsoft.com/office/powerpoint/2010/main" val="1951230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1911C-6947-1BAE-2FAF-0790FDC77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D5DD4-0ABD-F9DF-0392-C7FB3C92D8C6}"/>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When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52A1EC-6B57-3F55-55F2-D26BC8B9382B}"/>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Testing in Different Software Development Models:</a:t>
            </a:r>
          </a:p>
          <a:p>
            <a:pPr marL="0" indent="0" algn="just">
              <a:buNone/>
            </a:pPr>
            <a:r>
              <a:rPr lang="en-US" sz="2000" dirty="0">
                <a:latin typeface="Times New Roman" panose="02020603050405020304" pitchFamily="18" charset="0"/>
                <a:cs typeface="Times New Roman" panose="02020603050405020304" pitchFamily="18" charset="0"/>
              </a:rPr>
              <a:t>Waterfall Model:</a:t>
            </a:r>
          </a:p>
          <a:p>
            <a:pPr lvl="1" algn="just"/>
            <a:r>
              <a:rPr lang="en-US" sz="2000" dirty="0">
                <a:latin typeface="Times New Roman" panose="02020603050405020304" pitchFamily="18" charset="0"/>
                <a:cs typeface="Times New Roman" panose="02020603050405020304" pitchFamily="18" charset="0"/>
              </a:rPr>
              <a:t>Testing typically happens after the development phase.</a:t>
            </a:r>
          </a:p>
          <a:p>
            <a:pPr lvl="1" algn="just"/>
            <a:r>
              <a:rPr lang="en-US" sz="2000" dirty="0">
                <a:latin typeface="Times New Roman" panose="02020603050405020304" pitchFamily="18" charset="0"/>
                <a:cs typeface="Times New Roman" panose="02020603050405020304" pitchFamily="18" charset="0"/>
              </a:rPr>
              <a:t>Once coding is complete, testing is performed as a separate phase.</a:t>
            </a:r>
          </a:p>
          <a:p>
            <a:pPr marL="0" indent="0" algn="just">
              <a:buNone/>
            </a:pPr>
            <a:r>
              <a:rPr lang="en-US" sz="2000" dirty="0">
                <a:latin typeface="Times New Roman" panose="02020603050405020304" pitchFamily="18" charset="0"/>
                <a:cs typeface="Times New Roman" panose="02020603050405020304" pitchFamily="18" charset="0"/>
              </a:rPr>
              <a:t>Agile Model:</a:t>
            </a:r>
          </a:p>
          <a:p>
            <a:pPr lvl="1" algn="just"/>
            <a:r>
              <a:rPr lang="en-US" sz="1600" dirty="0">
                <a:latin typeface="Times New Roman" panose="02020603050405020304" pitchFamily="18" charset="0"/>
                <a:cs typeface="Times New Roman" panose="02020603050405020304" pitchFamily="18" charset="0"/>
              </a:rPr>
              <a:t>Testing is performed continuously throughout the development process.</a:t>
            </a:r>
          </a:p>
          <a:p>
            <a:pPr lvl="1" algn="just"/>
            <a:r>
              <a:rPr lang="en-US" sz="1600" dirty="0">
                <a:latin typeface="Times New Roman" panose="02020603050405020304" pitchFamily="18" charset="0"/>
                <a:cs typeface="Times New Roman" panose="02020603050405020304" pitchFamily="18" charset="0"/>
              </a:rPr>
              <a:t>Testing starts from day one, and developers and testers work together in short sprints to build and test increments of functionality.</a:t>
            </a:r>
          </a:p>
          <a:p>
            <a:pPr algn="just"/>
            <a:r>
              <a:rPr lang="en-US" sz="2000" dirty="0">
                <a:latin typeface="Times New Roman" panose="02020603050405020304" pitchFamily="18" charset="0"/>
                <a:cs typeface="Times New Roman" panose="02020603050405020304" pitchFamily="18" charset="0"/>
              </a:rPr>
              <a:t>Testing should be an ongoing activity throughout the entire development process to ensure quality, detect defects early, and validate that the system meets both technical and user requirements.</a:t>
            </a:r>
          </a:p>
        </p:txBody>
      </p:sp>
    </p:spTree>
    <p:extLst>
      <p:ext uri="{BB962C8B-B14F-4D97-AF65-F5344CB8AC3E}">
        <p14:creationId xmlns:p14="http://schemas.microsoft.com/office/powerpoint/2010/main" val="4081836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58C4-9BCA-CC0D-CFEB-8AC1416E7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42C5D-F591-558E-5DE6-5438E148DD7E}"/>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Types of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69B038-4256-5309-EB49-9F409CA6F8C0}"/>
              </a:ext>
            </a:extLst>
          </p:cNvPr>
          <p:cNvSpPr>
            <a:spLocks noGrp="1"/>
          </p:cNvSpPr>
          <p:nvPr>
            <p:ph idx="1"/>
          </p:nvPr>
        </p:nvSpPr>
        <p:spPr>
          <a:xfrm>
            <a:off x="609600" y="606752"/>
            <a:ext cx="10972800" cy="5922235"/>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Manual Testing: Testers manually execute test cases without using automation tools.</a:t>
            </a:r>
          </a:p>
          <a:p>
            <a:pPr marL="0" indent="0" algn="just">
              <a:buNone/>
            </a:pPr>
            <a:r>
              <a:rPr lang="en-IN" sz="2000" dirty="0">
                <a:latin typeface="Times New Roman" panose="02020603050405020304" pitchFamily="18" charset="0"/>
                <a:cs typeface="Times New Roman" panose="02020603050405020304" pitchFamily="18" charset="0"/>
              </a:rPr>
              <a:t>Automated Testing: </a:t>
            </a:r>
            <a:r>
              <a:rPr lang="en-US" sz="2000" dirty="0">
                <a:latin typeface="Times New Roman" panose="02020603050405020304" pitchFamily="18" charset="0"/>
                <a:cs typeface="Times New Roman" panose="02020603050405020304" pitchFamily="18" charset="0"/>
              </a:rPr>
              <a:t>Test cases are executed using automated tools (e.g., Selenium, JUnit).</a:t>
            </a:r>
          </a:p>
          <a:p>
            <a:pPr marL="0" indent="0" algn="just">
              <a:buNone/>
            </a:pPr>
            <a:r>
              <a:rPr lang="en-US" sz="2000" b="1" dirty="0">
                <a:latin typeface="Times New Roman" panose="02020603050405020304" pitchFamily="18" charset="0"/>
                <a:cs typeface="Times New Roman" panose="02020603050405020304" pitchFamily="18" charset="0"/>
              </a:rPr>
              <a:t>Levels of Testing:</a:t>
            </a:r>
          </a:p>
          <a:p>
            <a:pPr marL="0" indent="0" algn="just">
              <a:buNone/>
            </a:pPr>
            <a:r>
              <a:rPr lang="en-IN" sz="2000" dirty="0">
                <a:latin typeface="Times New Roman" panose="02020603050405020304" pitchFamily="18" charset="0"/>
                <a:cs typeface="Times New Roman" panose="02020603050405020304" pitchFamily="18" charset="0"/>
              </a:rPr>
              <a:t>1. Unit Testing</a:t>
            </a:r>
            <a:r>
              <a:rPr lang="en-US" sz="2000" dirty="0">
                <a:latin typeface="Times New Roman" panose="02020603050405020304" pitchFamily="18" charset="0"/>
                <a:cs typeface="Times New Roman" panose="02020603050405020304" pitchFamily="18" charset="0"/>
              </a:rPr>
              <a:t>: Test individual units (e.g., functions, methods) in isolation from the rest of the application.</a:t>
            </a:r>
          </a:p>
          <a:p>
            <a:pPr marL="400050" lvl="1" indent="0" algn="just">
              <a:buNone/>
            </a:pPr>
            <a:r>
              <a:rPr lang="en-US" sz="1600" dirty="0">
                <a:latin typeface="Times New Roman" panose="02020603050405020304" pitchFamily="18" charset="0"/>
                <a:cs typeface="Times New Roman" panose="02020603050405020304" pitchFamily="18" charset="0"/>
              </a:rPr>
              <a:t>Steps: </a:t>
            </a:r>
          </a:p>
          <a:p>
            <a:pPr marL="400050" lvl="1" indent="0" algn="just">
              <a:buNone/>
            </a:pPr>
            <a:r>
              <a:rPr lang="en-US" sz="1600" dirty="0">
                <a:latin typeface="Times New Roman" panose="02020603050405020304" pitchFamily="18" charset="0"/>
                <a:cs typeface="Times New Roman" panose="02020603050405020304" pitchFamily="18" charset="0"/>
              </a:rPr>
              <a:t>Write unit test cases for each function.</a:t>
            </a:r>
          </a:p>
          <a:p>
            <a:pPr marL="400050" lvl="1" indent="0" algn="just">
              <a:buNone/>
            </a:pPr>
            <a:r>
              <a:rPr lang="en-US" sz="1600" dirty="0">
                <a:latin typeface="Times New Roman" panose="02020603050405020304" pitchFamily="18" charset="0"/>
                <a:cs typeface="Times New Roman" panose="02020603050405020304" pitchFamily="18" charset="0"/>
              </a:rPr>
              <a:t>Isolate the unit from external dependencies (e.g., using mocks).</a:t>
            </a:r>
          </a:p>
          <a:p>
            <a:pPr marL="400050" lvl="1" indent="0" algn="just">
              <a:buNone/>
            </a:pPr>
            <a:r>
              <a:rPr lang="en-US" sz="1600" dirty="0">
                <a:latin typeface="Times New Roman" panose="02020603050405020304" pitchFamily="18" charset="0"/>
                <a:cs typeface="Times New Roman" panose="02020603050405020304" pitchFamily="18" charset="0"/>
              </a:rPr>
              <a:t>Execute the test cases.</a:t>
            </a:r>
          </a:p>
          <a:p>
            <a:pPr marL="400050" lvl="1" indent="0" algn="just">
              <a:buNone/>
            </a:pPr>
            <a:r>
              <a:rPr lang="en-US" sz="1600" dirty="0">
                <a:latin typeface="Times New Roman" panose="02020603050405020304" pitchFamily="18" charset="0"/>
                <a:cs typeface="Times New Roman" panose="02020603050405020304" pitchFamily="18" charset="0"/>
              </a:rPr>
              <a:t>Verify that the unit produces the expected output.</a:t>
            </a:r>
          </a:p>
          <a:p>
            <a:pPr marL="0" indent="0" algn="just">
              <a:buNone/>
            </a:pPr>
            <a:r>
              <a:rPr lang="en-IN" sz="2000" dirty="0">
                <a:latin typeface="Times New Roman" panose="02020603050405020304" pitchFamily="18" charset="0"/>
                <a:cs typeface="Times New Roman" panose="02020603050405020304" pitchFamily="18" charset="0"/>
              </a:rPr>
              <a:t>2. Integration Testing</a:t>
            </a:r>
            <a:r>
              <a:rPr lang="en-US" sz="2000" dirty="0">
                <a:latin typeface="Times New Roman" panose="02020603050405020304" pitchFamily="18" charset="0"/>
                <a:cs typeface="Times New Roman" panose="02020603050405020304" pitchFamily="18" charset="0"/>
              </a:rPr>
              <a:t>: Test multiple units or components together to ensure they work as a group.</a:t>
            </a:r>
          </a:p>
          <a:p>
            <a:pPr marL="400050" lvl="1" indent="0" algn="just">
              <a:buNone/>
            </a:pPr>
            <a:r>
              <a:rPr lang="en-US" sz="1600" dirty="0">
                <a:latin typeface="Times New Roman" panose="02020603050405020304" pitchFamily="18" charset="0"/>
                <a:cs typeface="Times New Roman" panose="02020603050405020304" pitchFamily="18" charset="0"/>
              </a:rPr>
              <a:t>Steps:</a:t>
            </a:r>
          </a:p>
          <a:p>
            <a:pPr marL="400050" lvl="1" indent="0" algn="just">
              <a:buNone/>
            </a:pPr>
            <a:r>
              <a:rPr lang="en-US" sz="1600" dirty="0">
                <a:latin typeface="Times New Roman" panose="02020603050405020304" pitchFamily="18" charset="0"/>
                <a:cs typeface="Times New Roman" panose="02020603050405020304" pitchFamily="18" charset="0"/>
              </a:rPr>
              <a:t>Identify interactions between modules.</a:t>
            </a:r>
          </a:p>
          <a:p>
            <a:pPr marL="400050" lvl="1" indent="0" algn="just">
              <a:buNone/>
            </a:pPr>
            <a:r>
              <a:rPr lang="en-US" sz="1600" dirty="0">
                <a:latin typeface="Times New Roman" panose="02020603050405020304" pitchFamily="18" charset="0"/>
                <a:cs typeface="Times New Roman" panose="02020603050405020304" pitchFamily="18" charset="0"/>
              </a:rPr>
              <a:t>Design test cases that validate data exchange between components.</a:t>
            </a:r>
          </a:p>
          <a:p>
            <a:pPr marL="400050" lvl="1" indent="0" algn="just">
              <a:buNone/>
            </a:pPr>
            <a:r>
              <a:rPr lang="en-US" sz="1600" dirty="0">
                <a:latin typeface="Times New Roman" panose="02020603050405020304" pitchFamily="18" charset="0"/>
                <a:cs typeface="Times New Roman" panose="02020603050405020304" pitchFamily="18" charset="0"/>
              </a:rPr>
              <a:t>Execute the tests and verify integration.</a:t>
            </a:r>
          </a:p>
          <a:p>
            <a:pPr marL="400050" lvl="1" indent="0" algn="just">
              <a:buNone/>
            </a:pPr>
            <a:r>
              <a:rPr lang="en-US" sz="1600" dirty="0">
                <a:latin typeface="Times New Roman" panose="02020603050405020304" pitchFamily="18" charset="0"/>
                <a:cs typeface="Times New Roman" panose="02020603050405020304" pitchFamily="18" charset="0"/>
              </a:rPr>
              <a:t>Fix issues with data handling or interface problems.</a:t>
            </a:r>
          </a:p>
        </p:txBody>
      </p:sp>
    </p:spTree>
    <p:extLst>
      <p:ext uri="{BB962C8B-B14F-4D97-AF65-F5344CB8AC3E}">
        <p14:creationId xmlns:p14="http://schemas.microsoft.com/office/powerpoint/2010/main" val="83527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71DA-178E-FBBA-CB61-AA03A8896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87500-D73A-326B-4D8A-DEF5FAA9B3CA}"/>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Types of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1ADEF7-5991-D603-B34D-B6BDED8DE8EB}"/>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3. </a:t>
            </a:r>
            <a:r>
              <a:rPr lang="en-IN" sz="2000" dirty="0">
                <a:latin typeface="Times New Roman" panose="02020603050405020304" pitchFamily="18" charset="0"/>
                <a:cs typeface="Times New Roman" panose="02020603050405020304" pitchFamily="18" charset="0"/>
              </a:rPr>
              <a:t>System Testing: System tested as a whole</a:t>
            </a:r>
          </a:p>
          <a:p>
            <a:pPr marL="400050" lvl="1" indent="0" algn="just">
              <a:buNone/>
            </a:pPr>
            <a:r>
              <a:rPr lang="en-US" sz="2000" dirty="0">
                <a:latin typeface="Times New Roman" panose="02020603050405020304" pitchFamily="18" charset="0"/>
                <a:cs typeface="Times New Roman" panose="02020603050405020304" pitchFamily="18" charset="0"/>
              </a:rPr>
              <a:t>Steps:</a:t>
            </a:r>
          </a:p>
          <a:p>
            <a:pPr marL="400050" lvl="1" indent="0" algn="just">
              <a:buNone/>
            </a:pPr>
            <a:r>
              <a:rPr lang="en-US" sz="2000" dirty="0">
                <a:latin typeface="Times New Roman" panose="02020603050405020304" pitchFamily="18" charset="0"/>
                <a:cs typeface="Times New Roman" panose="02020603050405020304" pitchFamily="18" charset="0"/>
              </a:rPr>
              <a:t>Execute test cases that simulate real-world usage.</a:t>
            </a:r>
          </a:p>
          <a:p>
            <a:pPr marL="400050" lvl="1" indent="0" algn="just">
              <a:buNone/>
            </a:pPr>
            <a:r>
              <a:rPr lang="en-US" sz="2000" dirty="0">
                <a:latin typeface="Times New Roman" panose="02020603050405020304" pitchFamily="18" charset="0"/>
                <a:cs typeface="Times New Roman" panose="02020603050405020304" pitchFamily="18" charset="0"/>
              </a:rPr>
              <a:t>Test all functional requirements (features, inputs, outputs).</a:t>
            </a:r>
          </a:p>
          <a:p>
            <a:pPr marL="400050" lvl="1" indent="0" algn="just">
              <a:buNone/>
            </a:pPr>
            <a:r>
              <a:rPr lang="en-US" sz="2000" dirty="0">
                <a:latin typeface="Times New Roman" panose="02020603050405020304" pitchFamily="18" charset="0"/>
                <a:cs typeface="Times New Roman" panose="02020603050405020304" pitchFamily="18" charset="0"/>
              </a:rPr>
              <a:t>Test non-functional requirements (performance, scalability, security).</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4. User Acceptance Testing (UAT): </a:t>
            </a:r>
            <a:r>
              <a:rPr lang="en-US" sz="2000" dirty="0">
                <a:latin typeface="Times New Roman" panose="02020603050405020304" pitchFamily="18" charset="0"/>
                <a:cs typeface="Times New Roman" panose="02020603050405020304" pitchFamily="18" charset="0"/>
              </a:rPr>
              <a:t>Users or stakeholders test the system in real-world scenarios to ensure it meets their needs.</a:t>
            </a:r>
            <a:endParaRPr lang="en-IN" sz="2000" dirty="0">
              <a:latin typeface="Times New Roman" panose="02020603050405020304" pitchFamily="18" charset="0"/>
              <a:cs typeface="Times New Roman" panose="02020603050405020304" pitchFamily="18" charset="0"/>
            </a:endParaRPr>
          </a:p>
          <a:p>
            <a:pPr marL="400050" lvl="1" indent="0" algn="just">
              <a:buNone/>
            </a:pPr>
            <a:r>
              <a:rPr lang="en-US" sz="2000" dirty="0">
                <a:latin typeface="Times New Roman" panose="02020603050405020304" pitchFamily="18" charset="0"/>
                <a:cs typeface="Times New Roman" panose="02020603050405020304" pitchFamily="18" charset="0"/>
              </a:rPr>
              <a:t>Steps:</a:t>
            </a:r>
          </a:p>
          <a:p>
            <a:pPr marL="400050" lvl="1" indent="0" algn="just">
              <a:buNone/>
            </a:pPr>
            <a:r>
              <a:rPr lang="en-US" sz="2000" dirty="0">
                <a:latin typeface="Times New Roman" panose="02020603050405020304" pitchFamily="18" charset="0"/>
                <a:cs typeface="Times New Roman" panose="02020603050405020304" pitchFamily="18" charset="0"/>
              </a:rPr>
              <a:t>Involve end-users or stakeholders in the testing process.</a:t>
            </a:r>
          </a:p>
          <a:p>
            <a:pPr marL="400050" lvl="1" indent="0" algn="just">
              <a:buNone/>
            </a:pPr>
            <a:r>
              <a:rPr lang="en-US" sz="2000" dirty="0">
                <a:latin typeface="Times New Roman" panose="02020603050405020304" pitchFamily="18" charset="0"/>
                <a:cs typeface="Times New Roman" panose="02020603050405020304" pitchFamily="18" charset="0"/>
              </a:rPr>
              <a:t>Execute real-life scenarios that reflect how the system will be used.</a:t>
            </a:r>
          </a:p>
          <a:p>
            <a:pPr marL="400050" lvl="1" indent="0" algn="just">
              <a:buNone/>
            </a:pPr>
            <a:r>
              <a:rPr lang="en-US" sz="2000" dirty="0">
                <a:latin typeface="Times New Roman" panose="02020603050405020304" pitchFamily="18" charset="0"/>
                <a:cs typeface="Times New Roman" panose="02020603050405020304" pitchFamily="18" charset="0"/>
              </a:rPr>
              <a:t>Verify if the system performs as expected from a business perspective.</a:t>
            </a:r>
          </a:p>
          <a:p>
            <a:pPr marL="400050" lvl="1" indent="0" algn="just">
              <a:buNone/>
            </a:pPr>
            <a:r>
              <a:rPr lang="en-US" sz="2000" dirty="0">
                <a:latin typeface="Times New Roman" panose="02020603050405020304" pitchFamily="18" charset="0"/>
                <a:cs typeface="Times New Roman" panose="02020603050405020304" pitchFamily="18" charset="0"/>
              </a:rPr>
              <a:t>Approve or reject the system for release based on the outcomes.</a:t>
            </a:r>
          </a:p>
        </p:txBody>
      </p:sp>
    </p:spTree>
    <p:extLst>
      <p:ext uri="{BB962C8B-B14F-4D97-AF65-F5344CB8AC3E}">
        <p14:creationId xmlns:p14="http://schemas.microsoft.com/office/powerpoint/2010/main" val="2044858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8AF4-BE22-96E3-8B64-67A6C93A3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ECAC9-5B3C-12B6-6743-407DCC8C7221}"/>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Testing Techniques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564ABC-2842-891B-20CC-0B6E5B48680C}"/>
              </a:ext>
            </a:extLst>
          </p:cNvPr>
          <p:cNvSpPr>
            <a:spLocks noGrp="1"/>
          </p:cNvSpPr>
          <p:nvPr>
            <p:ph idx="1"/>
          </p:nvPr>
        </p:nvSpPr>
        <p:spPr>
          <a:xfrm>
            <a:off x="609600" y="606752"/>
            <a:ext cx="10972800" cy="5922235"/>
          </a:xfrm>
        </p:spPr>
        <p:txBody>
          <a:bodyPr>
            <a:normAutofit fontScale="92500" lnSpcReduction="10000"/>
          </a:bodyPr>
          <a:lstStyle/>
          <a:p>
            <a:pPr marL="0" indent="0" algn="just">
              <a:buNone/>
            </a:pPr>
            <a:r>
              <a:rPr lang="en-IN" sz="2000" dirty="0">
                <a:latin typeface="Times New Roman" panose="02020603050405020304" pitchFamily="18" charset="0"/>
                <a:cs typeface="Times New Roman" panose="02020603050405020304" pitchFamily="18" charset="0"/>
              </a:rPr>
              <a:t>Black Box Testing: </a:t>
            </a:r>
            <a:r>
              <a:rPr lang="en-US" sz="2000" dirty="0">
                <a:latin typeface="Times New Roman" panose="02020603050405020304" pitchFamily="18" charset="0"/>
                <a:cs typeface="Times New Roman" panose="02020603050405020304" pitchFamily="18" charset="0"/>
              </a:rPr>
              <a:t>Test the functionality of the software without knowing the internal workings of the code. To verify that the software behaves as expected based on input and output.</a:t>
            </a:r>
          </a:p>
          <a:p>
            <a:pPr marL="400050" lvl="1" indent="0" algn="just">
              <a:buNone/>
            </a:pPr>
            <a:r>
              <a:rPr lang="en-US" sz="2000" dirty="0">
                <a:latin typeface="Times New Roman" panose="02020603050405020304" pitchFamily="18" charset="0"/>
                <a:cs typeface="Times New Roman" panose="02020603050405020304" pitchFamily="18" charset="0"/>
              </a:rPr>
              <a:t>Steps:</a:t>
            </a:r>
          </a:p>
          <a:p>
            <a:pPr marL="400050" lvl="1" indent="0" algn="just">
              <a:buNone/>
            </a:pPr>
            <a:r>
              <a:rPr lang="en-US" sz="2000" dirty="0">
                <a:latin typeface="Times New Roman" panose="02020603050405020304" pitchFamily="18" charset="0"/>
                <a:cs typeface="Times New Roman" panose="02020603050405020304" pitchFamily="18" charset="0"/>
              </a:rPr>
              <a:t>Define inputs based on the functional requirements.</a:t>
            </a:r>
          </a:p>
          <a:p>
            <a:pPr marL="400050" lvl="1" indent="0" algn="just">
              <a:buNone/>
            </a:pPr>
            <a:r>
              <a:rPr lang="en-US" sz="2000" dirty="0">
                <a:latin typeface="Times New Roman" panose="02020603050405020304" pitchFamily="18" charset="0"/>
                <a:cs typeface="Times New Roman" panose="02020603050405020304" pitchFamily="18" charset="0"/>
              </a:rPr>
              <a:t>Execute the software with these inputs.</a:t>
            </a:r>
          </a:p>
          <a:p>
            <a:pPr marL="400050" lvl="1" indent="0" algn="just">
              <a:buNone/>
            </a:pPr>
            <a:r>
              <a:rPr lang="en-US" sz="2000" dirty="0">
                <a:latin typeface="Times New Roman" panose="02020603050405020304" pitchFamily="18" charset="0"/>
                <a:cs typeface="Times New Roman" panose="02020603050405020304" pitchFamily="18" charset="0"/>
              </a:rPr>
              <a:t>Compare the output with the expected result.</a:t>
            </a:r>
          </a:p>
          <a:p>
            <a:pPr marL="400050" lvl="1" indent="0" algn="just">
              <a:buNone/>
            </a:pPr>
            <a:r>
              <a:rPr lang="en-US" sz="2000" dirty="0">
                <a:latin typeface="Times New Roman" panose="02020603050405020304" pitchFamily="18" charset="0"/>
                <a:cs typeface="Times New Roman" panose="02020603050405020304" pitchFamily="18" charset="0"/>
              </a:rPr>
              <a:t>Record any defects where the outputs differ.</a:t>
            </a:r>
          </a:p>
          <a:p>
            <a:pPr marL="0" indent="0" algn="just">
              <a:buNone/>
            </a:pPr>
            <a:r>
              <a:rPr lang="en-IN" sz="2000" dirty="0">
                <a:latin typeface="Times New Roman" panose="02020603050405020304" pitchFamily="18" charset="0"/>
                <a:cs typeface="Times New Roman" panose="02020603050405020304" pitchFamily="18" charset="0"/>
              </a:rPr>
              <a:t>White Box Testing</a:t>
            </a:r>
            <a:r>
              <a:rPr lang="en-US" sz="2000" dirty="0">
                <a:latin typeface="Times New Roman" panose="02020603050405020304" pitchFamily="18" charset="0"/>
                <a:cs typeface="Times New Roman" panose="02020603050405020304" pitchFamily="18" charset="0"/>
              </a:rPr>
              <a:t>: Test the internal workings of the system, such as code paths, loops, and logic.</a:t>
            </a:r>
          </a:p>
          <a:p>
            <a:pPr marL="400050" lvl="1" indent="0" algn="just">
              <a:buNone/>
            </a:pPr>
            <a:r>
              <a:rPr lang="en-US" sz="2000" dirty="0">
                <a:latin typeface="Times New Roman" panose="02020603050405020304" pitchFamily="18" charset="0"/>
                <a:cs typeface="Times New Roman" panose="02020603050405020304" pitchFamily="18" charset="0"/>
              </a:rPr>
              <a:t>Steps:</a:t>
            </a:r>
          </a:p>
          <a:p>
            <a:pPr marL="400050" lvl="1" indent="0" algn="just">
              <a:buNone/>
            </a:pPr>
            <a:r>
              <a:rPr lang="en-US" sz="2000" dirty="0">
                <a:latin typeface="Times New Roman" panose="02020603050405020304" pitchFamily="18" charset="0"/>
                <a:cs typeface="Times New Roman" panose="02020603050405020304" pitchFamily="18" charset="0"/>
              </a:rPr>
              <a:t>Identify internal components and code paths to be tested.</a:t>
            </a:r>
          </a:p>
          <a:p>
            <a:pPr marL="400050" lvl="1" indent="0" algn="just">
              <a:buNone/>
            </a:pPr>
            <a:r>
              <a:rPr lang="en-US" sz="2000" dirty="0">
                <a:latin typeface="Times New Roman" panose="02020603050405020304" pitchFamily="18" charset="0"/>
                <a:cs typeface="Times New Roman" panose="02020603050405020304" pitchFamily="18" charset="0"/>
              </a:rPr>
              <a:t>Write test cases that exercise specific code paths (e.g., conditionals, loops).</a:t>
            </a:r>
          </a:p>
          <a:p>
            <a:pPr marL="400050" lvl="1" indent="0" algn="just">
              <a:buNone/>
            </a:pPr>
            <a:r>
              <a:rPr lang="en-US" sz="2000" dirty="0">
                <a:latin typeface="Times New Roman" panose="02020603050405020304" pitchFamily="18" charset="0"/>
                <a:cs typeface="Times New Roman" panose="02020603050405020304" pitchFamily="18" charset="0"/>
              </a:rPr>
              <a:t>Execute tests with both valid and invalid inputs.</a:t>
            </a:r>
          </a:p>
          <a:p>
            <a:pPr marL="400050" lvl="1" indent="0" algn="just">
              <a:buNone/>
            </a:pPr>
            <a:r>
              <a:rPr lang="en-US" sz="2000" dirty="0">
                <a:latin typeface="Times New Roman" panose="02020603050405020304" pitchFamily="18" charset="0"/>
                <a:cs typeface="Times New Roman" panose="02020603050405020304" pitchFamily="18" charset="0"/>
              </a:rPr>
              <a:t>Verify that the internal logic produces the correct output.</a:t>
            </a:r>
          </a:p>
          <a:p>
            <a:pPr marL="0" indent="0" algn="just">
              <a:buNone/>
            </a:pPr>
            <a:r>
              <a:rPr lang="en-IN" sz="2000" dirty="0">
                <a:latin typeface="Times New Roman" panose="02020603050405020304" pitchFamily="18" charset="0"/>
                <a:cs typeface="Times New Roman" panose="02020603050405020304" pitchFamily="18" charset="0"/>
              </a:rPr>
              <a:t>Grey Box Testing</a:t>
            </a:r>
            <a:r>
              <a:rPr lang="en-US" sz="2000" dirty="0">
                <a:latin typeface="Times New Roman" panose="02020603050405020304" pitchFamily="18" charset="0"/>
                <a:cs typeface="Times New Roman" panose="02020603050405020304" pitchFamily="18" charset="0"/>
              </a:rPr>
              <a:t>: Combine both Black Box and White Box techniques by partially knowing the internal structure.</a:t>
            </a:r>
          </a:p>
        </p:txBody>
      </p:sp>
    </p:spTree>
    <p:extLst>
      <p:ext uri="{BB962C8B-B14F-4D97-AF65-F5344CB8AC3E}">
        <p14:creationId xmlns:p14="http://schemas.microsoft.com/office/powerpoint/2010/main" val="2663670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DC60-8CBA-55AF-BDAB-C7A295EC8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F0FDB-D288-0DCB-5B99-DC753A21C56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Black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C90919-F092-AECC-8A01-45CEFD1A7676}"/>
              </a:ext>
            </a:extLst>
          </p:cNvPr>
          <p:cNvSpPr>
            <a:spLocks noGrp="1"/>
          </p:cNvSpPr>
          <p:nvPr>
            <p:ph idx="1"/>
          </p:nvPr>
        </p:nvSpPr>
        <p:spPr>
          <a:xfrm>
            <a:off x="609600" y="606752"/>
            <a:ext cx="10972800" cy="5519413"/>
          </a:xfrm>
        </p:spPr>
        <p:txBody>
          <a:bodyPr>
            <a:normAutofit/>
          </a:bodyPr>
          <a:lstStyle/>
          <a:p>
            <a:pPr algn="just"/>
            <a:r>
              <a:rPr lang="en-US" sz="2000" dirty="0">
                <a:latin typeface="Times New Roman" panose="02020603050405020304" pitchFamily="18" charset="0"/>
                <a:cs typeface="Times New Roman" panose="02020603050405020304" pitchFamily="18" charset="0"/>
              </a:rPr>
              <a:t>Black box testing is a software testing method where the internal workings of the application are not known to the tester. The tester focuses on the input-output behavior of the system without knowing how the system processes the inputs internally. The goal is to ensure the system behaves as expected by providing different types of input and checking the corresponding output.</a:t>
            </a:r>
          </a:p>
          <a:p>
            <a:pPr algn="just"/>
            <a:r>
              <a:rPr lang="en-US" sz="2000" dirty="0">
                <a:latin typeface="Times New Roman" panose="02020603050405020304" pitchFamily="18" charset="0"/>
                <a:cs typeface="Times New Roman" panose="02020603050405020304" pitchFamily="18" charset="0"/>
              </a:rPr>
              <a:t>In black box testing, the tester doesn’t need to know the code, algorithms, or architecture of the system. The tester primarily checks whether the functionality of the system meets the requirements.</a:t>
            </a:r>
          </a:p>
          <a:p>
            <a:pPr marL="0" indent="0" algn="just">
              <a:buNone/>
            </a:pPr>
            <a:r>
              <a:rPr lang="en-US" sz="2000" dirty="0">
                <a:latin typeface="Times New Roman" panose="02020603050405020304" pitchFamily="18" charset="0"/>
                <a:cs typeface="Times New Roman" panose="02020603050405020304" pitchFamily="18" charset="0"/>
              </a:rPr>
              <a:t>Tester’s Perspective: Only cares about inputs and expected outputs, not how the result is achieved.</a:t>
            </a:r>
          </a:p>
          <a:p>
            <a:pPr marL="0" indent="0" algn="just">
              <a:buNone/>
            </a:pPr>
            <a:r>
              <a:rPr lang="en-US" sz="2000" dirty="0">
                <a:latin typeface="Times New Roman" panose="02020603050405020304" pitchFamily="18" charset="0"/>
                <a:cs typeface="Times New Roman" panose="02020603050405020304" pitchFamily="18" charset="0"/>
              </a:rPr>
              <a:t>Types of Testing: Functional testing, user acceptance testing (UAT), and system testing can all be black-box tests.</a:t>
            </a:r>
          </a:p>
          <a:p>
            <a:pPr marL="0" indent="0" algn="just">
              <a:buNone/>
            </a:pPr>
            <a:r>
              <a:rPr lang="en-US" sz="2000" dirty="0">
                <a:latin typeface="Times New Roman" panose="02020603050405020304" pitchFamily="18" charset="0"/>
                <a:cs typeface="Times New Roman" panose="02020603050405020304" pitchFamily="18" charset="0"/>
              </a:rPr>
              <a:t>Techniques Used:</a:t>
            </a:r>
          </a:p>
          <a:p>
            <a:pPr algn="just">
              <a:buFont typeface="+mj-lt"/>
              <a:buAutoNum type="arabicPeriod"/>
            </a:pPr>
            <a:r>
              <a:rPr lang="en-US" sz="2000" dirty="0">
                <a:latin typeface="Times New Roman" panose="02020603050405020304" pitchFamily="18" charset="0"/>
                <a:cs typeface="Times New Roman" panose="02020603050405020304" pitchFamily="18" charset="0"/>
              </a:rPr>
              <a:t>Equivalence Partitioning</a:t>
            </a:r>
          </a:p>
          <a:p>
            <a:pPr algn="just">
              <a:buFont typeface="+mj-lt"/>
              <a:buAutoNum type="arabicPeriod"/>
            </a:pPr>
            <a:r>
              <a:rPr lang="en-US" sz="2000" dirty="0">
                <a:latin typeface="Times New Roman" panose="02020603050405020304" pitchFamily="18" charset="0"/>
                <a:cs typeface="Times New Roman" panose="02020603050405020304" pitchFamily="18" charset="0"/>
              </a:rPr>
              <a:t>Boundary Value Analysis (BVA)</a:t>
            </a:r>
          </a:p>
          <a:p>
            <a:pPr algn="just">
              <a:buFont typeface="+mj-lt"/>
              <a:buAutoNum type="arabicPeriod"/>
            </a:pPr>
            <a:r>
              <a:rPr lang="en-US" sz="2000" dirty="0">
                <a:latin typeface="Times New Roman" panose="02020603050405020304" pitchFamily="18" charset="0"/>
                <a:cs typeface="Times New Roman" panose="02020603050405020304" pitchFamily="18" charset="0"/>
              </a:rPr>
              <a:t>Decision Table Testing</a:t>
            </a:r>
          </a:p>
          <a:p>
            <a:pPr algn="just">
              <a:buFont typeface="+mj-lt"/>
              <a:buAutoNum type="arabicPeriod"/>
            </a:pPr>
            <a:r>
              <a:rPr lang="en-US" sz="2000" dirty="0">
                <a:latin typeface="Times New Roman" panose="02020603050405020304" pitchFamily="18" charset="0"/>
                <a:cs typeface="Times New Roman" panose="02020603050405020304" pitchFamily="18" charset="0"/>
              </a:rPr>
              <a:t>State Transition Testing</a:t>
            </a:r>
          </a:p>
        </p:txBody>
      </p:sp>
    </p:spTree>
    <p:extLst>
      <p:ext uri="{BB962C8B-B14F-4D97-AF65-F5344CB8AC3E}">
        <p14:creationId xmlns:p14="http://schemas.microsoft.com/office/powerpoint/2010/main" val="1471018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DC60-8CBA-55AF-BDAB-C7A295EC8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F0FDB-D288-0DCB-5B99-DC753A21C56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Black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C90919-F092-AECC-8A01-45CEFD1A7676}"/>
              </a:ext>
            </a:extLst>
          </p:cNvPr>
          <p:cNvSpPr>
            <a:spLocks noGrp="1"/>
          </p:cNvSpPr>
          <p:nvPr>
            <p:ph idx="1"/>
          </p:nvPr>
        </p:nvSpPr>
        <p:spPr>
          <a:xfrm>
            <a:off x="609600" y="606752"/>
            <a:ext cx="10972800" cy="5519413"/>
          </a:xfrm>
        </p:spPr>
        <p:txBody>
          <a:bodyPr>
            <a:normAutofit/>
          </a:bodyPr>
          <a:lstStyle/>
          <a:p>
            <a:pPr algn="just"/>
            <a:r>
              <a:rPr lang="en-US" sz="2000" b="1" dirty="0">
                <a:latin typeface="Times New Roman" panose="02020603050405020304" pitchFamily="18" charset="0"/>
                <a:cs typeface="Times New Roman" panose="02020603050405020304" pitchFamily="18" charset="0"/>
              </a:rPr>
              <a:t>1. Equivalence Partitioning (EP)Definition: </a:t>
            </a:r>
          </a:p>
          <a:p>
            <a:pPr marL="0" indent="0" algn="just">
              <a:buNone/>
            </a:pPr>
            <a:r>
              <a:rPr lang="en-US" sz="2000" dirty="0">
                <a:latin typeface="Times New Roman" panose="02020603050405020304" pitchFamily="18" charset="0"/>
                <a:cs typeface="Times New Roman" panose="02020603050405020304" pitchFamily="18" charset="0"/>
              </a:rPr>
              <a:t>   Divides input data into equivalent classes (valid and invalid) so that only one test case is needed from each class.</a:t>
            </a:r>
          </a:p>
          <a:p>
            <a:pPr marL="0"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Purpose:Reduces</a:t>
            </a:r>
            <a:r>
              <a:rPr lang="en-US" sz="2000" dirty="0">
                <a:latin typeface="Times New Roman" panose="02020603050405020304" pitchFamily="18" charset="0"/>
                <a:cs typeface="Times New Roman" panose="02020603050405020304" pitchFamily="18" charset="0"/>
              </a:rPr>
              <a:t> the total number of test cases while still covering maximum functionality.</a:t>
            </a:r>
          </a:p>
          <a:p>
            <a:pPr marL="0"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Example:Requirement</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  Age input must be between 18–60.Partitions:Invalid: &lt;18, &gt;60Valid: 18–60Test Cases: 1 value from each partition (e.g., 10, 25, 65).</a:t>
            </a:r>
          </a:p>
          <a:p>
            <a:pPr marL="0" indent="0" algn="just">
              <a:buNone/>
            </a:pPr>
            <a:r>
              <a:rPr lang="en-US" sz="2000" b="1" dirty="0">
                <a:latin typeface="Times New Roman" panose="02020603050405020304" pitchFamily="18" charset="0"/>
                <a:cs typeface="Times New Roman" panose="02020603050405020304" pitchFamily="18" charset="0"/>
              </a:rPr>
              <a:t>2. Boundary Value Analysis (BVA)Definition: </a:t>
            </a:r>
          </a:p>
          <a:p>
            <a:pPr algn="just"/>
            <a:r>
              <a:rPr lang="en-US" sz="2000" dirty="0">
                <a:latin typeface="Times New Roman" panose="02020603050405020304" pitchFamily="18" charset="0"/>
                <a:cs typeface="Times New Roman" panose="02020603050405020304" pitchFamily="18" charset="0"/>
              </a:rPr>
              <a:t>Focuses on testing at the boundaries of input ranges where errors are most likely to occur.</a:t>
            </a:r>
          </a:p>
          <a:p>
            <a:pPr algn="just"/>
            <a:r>
              <a:rPr lang="en-US" sz="2000" dirty="0">
                <a:latin typeface="Times New Roman" panose="02020603050405020304" pitchFamily="18" charset="0"/>
                <a:cs typeface="Times New Roman" panose="02020603050405020304" pitchFamily="18" charset="0"/>
              </a:rPr>
              <a:t>Example:</a:t>
            </a:r>
          </a:p>
          <a:p>
            <a:pPr algn="just"/>
            <a:r>
              <a:rPr lang="en-US" sz="2000" dirty="0">
                <a:latin typeface="Times New Roman" panose="02020603050405020304" pitchFamily="18" charset="0"/>
                <a:cs typeface="Times New Roman" panose="02020603050405020304" pitchFamily="18" charset="0"/>
              </a:rPr>
              <a:t>Requirement: Age 18–60.</a:t>
            </a:r>
          </a:p>
          <a:p>
            <a:pPr algn="just"/>
            <a:r>
              <a:rPr lang="en-US" sz="2000" dirty="0">
                <a:latin typeface="Times New Roman" panose="02020603050405020304" pitchFamily="18" charset="0"/>
                <a:cs typeface="Times New Roman" panose="02020603050405020304" pitchFamily="18" charset="0"/>
              </a:rPr>
              <a:t>Boundary values: 17, 18, 60, 61.</a:t>
            </a:r>
          </a:p>
          <a:p>
            <a:pPr algn="just"/>
            <a:r>
              <a:rPr lang="en-US" sz="2000" dirty="0">
                <a:latin typeface="Times New Roman" panose="02020603050405020304" pitchFamily="18" charset="0"/>
                <a:cs typeface="Times New Roman" panose="02020603050405020304" pitchFamily="18" charset="0"/>
              </a:rPr>
              <a:t>Reason: Bugs often occur at edges of valid/invalid ranges.</a:t>
            </a:r>
          </a:p>
        </p:txBody>
      </p:sp>
    </p:spTree>
    <p:extLst>
      <p:ext uri="{BB962C8B-B14F-4D97-AF65-F5344CB8AC3E}">
        <p14:creationId xmlns:p14="http://schemas.microsoft.com/office/powerpoint/2010/main" val="3185987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DC60-8CBA-55AF-BDAB-C7A295EC8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F0FDB-D288-0DCB-5B99-DC753A21C56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Black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C90919-F092-AECC-8A01-45CEFD1A7676}"/>
              </a:ext>
            </a:extLst>
          </p:cNvPr>
          <p:cNvSpPr>
            <a:spLocks noGrp="1"/>
          </p:cNvSpPr>
          <p:nvPr>
            <p:ph idx="1"/>
          </p:nvPr>
        </p:nvSpPr>
        <p:spPr>
          <a:xfrm>
            <a:off x="609600" y="606752"/>
            <a:ext cx="10972800" cy="5519413"/>
          </a:xfrm>
        </p:spPr>
        <p:txBody>
          <a:bodyPr/>
          <a:lstStyle/>
          <a:p>
            <a:pPr algn="just"/>
            <a:r>
              <a:rPr lang="en-US" sz="2000" dirty="0">
                <a:latin typeface="Times New Roman" panose="02020603050405020304" pitchFamily="18" charset="0"/>
                <a:cs typeface="Times New Roman" panose="02020603050405020304" pitchFamily="18" charset="0"/>
              </a:rPr>
              <a:t>3. Decision Table Testing Definition: Uses a tabular format to represent combinations of inputs (conditions) and corresponding system actions (outputs).</a:t>
            </a:r>
          </a:p>
          <a:p>
            <a:pPr algn="just"/>
            <a:r>
              <a:rPr lang="en-US" sz="2000" dirty="0">
                <a:latin typeface="Times New Roman" panose="02020603050405020304" pitchFamily="18" charset="0"/>
                <a:cs typeface="Times New Roman" panose="02020603050405020304" pitchFamily="18" charset="0"/>
              </a:rPr>
              <a:t>Useful when: There are complex business rules with many input conditions.</a:t>
            </a:r>
          </a:p>
          <a:p>
            <a:pPr algn="just"/>
            <a:r>
              <a:rPr lang="en-US" sz="2000" dirty="0">
                <a:latin typeface="Times New Roman" panose="02020603050405020304" pitchFamily="18" charset="0"/>
                <a:cs typeface="Times New Roman" panose="02020603050405020304" pitchFamily="18" charset="0"/>
              </a:rPr>
              <a:t>Example: Online shopping discount:</a:t>
            </a:r>
          </a:p>
          <a:p>
            <a:pPr algn="just"/>
            <a:r>
              <a:rPr lang="en-US" sz="2000" dirty="0">
                <a:latin typeface="Times New Roman" panose="02020603050405020304" pitchFamily="18" charset="0"/>
                <a:cs typeface="Times New Roman" panose="02020603050405020304" pitchFamily="18" charset="0"/>
              </a:rPr>
              <a:t>If customer is Member and purchase is &gt; ₹5000 → 20% discount.</a:t>
            </a:r>
          </a:p>
          <a:p>
            <a:pPr algn="just"/>
            <a:r>
              <a:rPr lang="en-US" sz="2000" dirty="0">
                <a:latin typeface="Times New Roman" panose="02020603050405020304" pitchFamily="18" charset="0"/>
                <a:cs typeface="Times New Roman" panose="02020603050405020304" pitchFamily="18" charset="0"/>
              </a:rPr>
              <a:t>If Non-member and purchase is &gt; ₹5000 → 10% discount.</a:t>
            </a:r>
          </a:p>
          <a:p>
            <a:pPr algn="just"/>
            <a:r>
              <a:rPr lang="en-US" sz="2000" dirty="0">
                <a:latin typeface="Times New Roman" panose="02020603050405020304" pitchFamily="18" charset="0"/>
                <a:cs typeface="Times New Roman" panose="02020603050405020304" pitchFamily="18" charset="0"/>
              </a:rPr>
              <a:t>Decision table ensures all conditions are tested systematically.</a:t>
            </a:r>
          </a:p>
          <a:p>
            <a:pPr algn="just"/>
            <a:r>
              <a:rPr lang="en-US" sz="2000" dirty="0">
                <a:latin typeface="Times New Roman" panose="02020603050405020304" pitchFamily="18" charset="0"/>
                <a:cs typeface="Times New Roman" panose="02020603050405020304" pitchFamily="18" charset="0"/>
              </a:rPr>
              <a:t>4. State Transition Testing Definition: Tests system behavior when it moves from one state to another, based on events/inputs.</a:t>
            </a:r>
          </a:p>
          <a:p>
            <a:pPr algn="just"/>
            <a:r>
              <a:rPr lang="en-US" sz="2000" dirty="0">
                <a:latin typeface="Times New Roman" panose="02020603050405020304" pitchFamily="18" charset="0"/>
                <a:cs typeface="Times New Roman" panose="02020603050405020304" pitchFamily="18" charset="0"/>
              </a:rPr>
              <a:t>Useful for: Systems with finite states (like login/logout, ATM machines, traffic signals).</a:t>
            </a:r>
          </a:p>
          <a:p>
            <a:pPr algn="just"/>
            <a:r>
              <a:rPr lang="en-US" sz="2000" dirty="0">
                <a:latin typeface="Times New Roman" panose="02020603050405020304" pitchFamily="18" charset="0"/>
                <a:cs typeface="Times New Roman" panose="02020603050405020304" pitchFamily="18" charset="0"/>
              </a:rPr>
              <a:t>Example: ATM </a:t>
            </a:r>
            <a:r>
              <a:rPr lang="en-US" sz="2000" dirty="0" err="1">
                <a:latin typeface="Times New Roman" panose="02020603050405020304" pitchFamily="18" charset="0"/>
                <a:cs typeface="Times New Roman" panose="02020603050405020304" pitchFamily="18" charset="0"/>
              </a:rPr>
              <a:t>machine:State</a:t>
            </a:r>
            <a:r>
              <a:rPr lang="en-US" sz="2000" dirty="0">
                <a:latin typeface="Times New Roman" panose="02020603050405020304" pitchFamily="18" charset="0"/>
                <a:cs typeface="Times New Roman" panose="02020603050405020304" pitchFamily="18" charset="0"/>
              </a:rPr>
              <a:t>: “Card Inserted” → Input: Enter PIN → Next State: “PIN </a:t>
            </a:r>
            <a:r>
              <a:rPr lang="en-US" sz="2000" dirty="0" err="1">
                <a:latin typeface="Times New Roman" panose="02020603050405020304" pitchFamily="18" charset="0"/>
                <a:cs typeface="Times New Roman" panose="02020603050405020304" pitchFamily="18" charset="0"/>
              </a:rPr>
              <a:t>Verified”.Invalid</a:t>
            </a:r>
            <a:r>
              <a:rPr lang="en-US" sz="2000" dirty="0">
                <a:latin typeface="Times New Roman" panose="02020603050405020304" pitchFamily="18" charset="0"/>
                <a:cs typeface="Times New Roman" panose="02020603050405020304" pitchFamily="18" charset="0"/>
              </a:rPr>
              <a:t> transitions (like ejecting card before PIN) are also tested.</a:t>
            </a:r>
          </a:p>
        </p:txBody>
      </p:sp>
    </p:spTree>
    <p:extLst>
      <p:ext uri="{BB962C8B-B14F-4D97-AF65-F5344CB8AC3E}">
        <p14:creationId xmlns:p14="http://schemas.microsoft.com/office/powerpoint/2010/main" val="301071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1615A-C936-63FB-D091-29BB1501A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5EB9-AECD-60F1-AA95-CB8C7800A0B0}"/>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Regression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351266-045F-ABC3-56D7-E91FA992C96B}"/>
              </a:ext>
            </a:extLst>
          </p:cNvPr>
          <p:cNvSpPr>
            <a:spLocks noGrp="1"/>
          </p:cNvSpPr>
          <p:nvPr>
            <p:ph idx="1"/>
          </p:nvPr>
        </p:nvSpPr>
        <p:spPr>
          <a:xfrm>
            <a:off x="609600" y="606752"/>
            <a:ext cx="10972800" cy="5519413"/>
          </a:xfrm>
        </p:spPr>
        <p:txBody>
          <a:bodyPr/>
          <a:lstStyle/>
          <a:p>
            <a:pPr algn="l"/>
            <a:r>
              <a:rPr lang="en-US" sz="2000" b="0" i="0" dirty="0">
                <a:solidFill>
                  <a:srgbClr val="24292F"/>
                </a:solidFill>
                <a:effectLst/>
                <a:latin typeface="Times New Roman" panose="02020603050405020304" pitchFamily="18" charset="0"/>
                <a:cs typeface="Times New Roman" panose="02020603050405020304" pitchFamily="18" charset="0"/>
              </a:rPr>
              <a:t>Regression testing is a process that ensures that software still performs as expected, even after a change.</a:t>
            </a:r>
          </a:p>
          <a:p>
            <a:pPr algn="l"/>
            <a:r>
              <a:rPr lang="en-US" sz="2000" b="0" i="0" dirty="0">
                <a:solidFill>
                  <a:srgbClr val="24292F"/>
                </a:solidFill>
                <a:effectLst/>
                <a:latin typeface="Times New Roman" panose="02020603050405020304" pitchFamily="18" charset="0"/>
                <a:cs typeface="Times New Roman" panose="02020603050405020304" pitchFamily="18" charset="0"/>
              </a:rPr>
              <a:t>A regression is a specific type of bug or issue that occurs when new code changes, like software enhancements, patches, or configuration changes, introduce unintended side effects or break existing functionality that was working correctly before. This can happen when new code conflicts with existing code. Regression testing helps identify and fix these bugs and issues so that the reliability of the software and the quality of the product can be maintained.</a:t>
            </a:r>
          </a:p>
          <a:p>
            <a:pPr algn="just"/>
            <a:r>
              <a:rPr lang="en-US" sz="2000" b="0" i="0" dirty="0">
                <a:solidFill>
                  <a:srgbClr val="24292F"/>
                </a:solidFill>
                <a:effectLst/>
                <a:latin typeface="Times New Roman" panose="02020603050405020304" pitchFamily="18" charset="0"/>
                <a:cs typeface="Times New Roman" panose="02020603050405020304" pitchFamily="18" charset="0"/>
              </a:rPr>
              <a:t>Regression testing ensures that modifications not only behave as intended but also avoid unintended consequences in previously functional areas. Building a robust regression test suite from existing functional, unit, integration, and build verification tests developed throughout a project can help engineers catch unforeseen issues, and automated testing tools can help them efficiently execute these tests, even on complex projects with thousands of test cases. Using regression testing to retest relevant components after each source code modification is crucial for ensuring ongoing software stability.</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5878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35D14-6E6C-C029-6FC4-7ACCE9A62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59F97-1A49-634F-5BA3-9FB7D9C66D51}"/>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Regression testing – How?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DD979F-709B-3345-6168-D7F569D80790}"/>
              </a:ext>
            </a:extLst>
          </p:cNvPr>
          <p:cNvSpPr>
            <a:spLocks noGrp="1"/>
          </p:cNvSpPr>
          <p:nvPr>
            <p:ph idx="1"/>
          </p:nvPr>
        </p:nvSpPr>
        <p:spPr>
          <a:xfrm>
            <a:off x="609600" y="767751"/>
            <a:ext cx="10972800" cy="5358414"/>
          </a:xfrm>
        </p:spPr>
        <p:txBody>
          <a:bodyPr/>
          <a:lstStyle/>
          <a:p>
            <a:pPr algn="just">
              <a:buFont typeface="+mj-lt"/>
              <a:buAutoNum type="arabicPeriod"/>
            </a:pPr>
            <a:r>
              <a:rPr lang="en-US" sz="2000" b="1" i="0" dirty="0">
                <a:solidFill>
                  <a:srgbClr val="24292F"/>
                </a:solidFill>
                <a:effectLst/>
                <a:latin typeface="Times New Roman" panose="02020603050405020304" pitchFamily="18" charset="0"/>
                <a:cs typeface="Times New Roman" panose="02020603050405020304" pitchFamily="18" charset="0"/>
              </a:rPr>
              <a:t>Identify test cases</a:t>
            </a:r>
            <a:r>
              <a:rPr lang="en-US" sz="2000" b="0" i="0" dirty="0">
                <a:solidFill>
                  <a:srgbClr val="24292F"/>
                </a:solidFill>
                <a:effectLst/>
                <a:latin typeface="Times New Roman" panose="02020603050405020304" pitchFamily="18" charset="0"/>
                <a:cs typeface="Times New Roman" panose="02020603050405020304" pitchFamily="18" charset="0"/>
              </a:rPr>
              <a:t>: Identify the test cases that need to be executed. These could be functional, integration, or system tests that have been executed previously.</a:t>
            </a:r>
          </a:p>
          <a:p>
            <a:pPr algn="just">
              <a:buFont typeface="+mj-lt"/>
              <a:buAutoNum type="arabicPeriod"/>
            </a:pPr>
            <a:r>
              <a:rPr lang="en-US" sz="2000" b="1" i="0" dirty="0">
                <a:solidFill>
                  <a:srgbClr val="24292F"/>
                </a:solidFill>
                <a:effectLst/>
                <a:latin typeface="Times New Roman" panose="02020603050405020304" pitchFamily="18" charset="0"/>
                <a:cs typeface="Times New Roman" panose="02020603050405020304" pitchFamily="18" charset="0"/>
              </a:rPr>
              <a:t>Execute test cases</a:t>
            </a:r>
            <a:r>
              <a:rPr lang="en-US" sz="2000" b="0" i="0" dirty="0">
                <a:solidFill>
                  <a:srgbClr val="24292F"/>
                </a:solidFill>
                <a:effectLst/>
                <a:latin typeface="Times New Roman" panose="02020603050405020304" pitchFamily="18" charset="0"/>
                <a:cs typeface="Times New Roman" panose="02020603050405020304" pitchFamily="18" charset="0"/>
              </a:rPr>
              <a:t>: Run the selected test cases. This can be done manually or using automated testing tools, depending on the complexity of the test cases and the resources available.</a:t>
            </a:r>
          </a:p>
          <a:p>
            <a:pPr algn="just">
              <a:buFont typeface="+mj-lt"/>
              <a:buAutoNum type="arabicPeriod"/>
            </a:pPr>
            <a:r>
              <a:rPr lang="en-US" sz="2000" b="1" i="0" dirty="0">
                <a:solidFill>
                  <a:srgbClr val="24292F"/>
                </a:solidFill>
                <a:effectLst/>
                <a:latin typeface="Times New Roman" panose="02020603050405020304" pitchFamily="18" charset="0"/>
                <a:cs typeface="Times New Roman" panose="02020603050405020304" pitchFamily="18" charset="0"/>
              </a:rPr>
              <a:t>Analyze test results</a:t>
            </a:r>
            <a:r>
              <a:rPr lang="en-US" sz="2000" b="0" i="0" dirty="0">
                <a:solidFill>
                  <a:srgbClr val="24292F"/>
                </a:solidFill>
                <a:effectLst/>
                <a:latin typeface="Times New Roman" panose="02020603050405020304" pitchFamily="18" charset="0"/>
                <a:cs typeface="Times New Roman" panose="02020603050405020304" pitchFamily="18" charset="0"/>
              </a:rPr>
              <a:t>: Once the test cases have been executed, the results need to be analyzed to identify any failures or discrepancies.</a:t>
            </a:r>
          </a:p>
          <a:p>
            <a:pPr algn="just">
              <a:buFont typeface="+mj-lt"/>
              <a:buAutoNum type="arabicPeriod"/>
            </a:pPr>
            <a:r>
              <a:rPr lang="en-US" sz="2000" b="1" i="0" dirty="0">
                <a:solidFill>
                  <a:srgbClr val="24292F"/>
                </a:solidFill>
                <a:effectLst/>
                <a:latin typeface="Times New Roman" panose="02020603050405020304" pitchFamily="18" charset="0"/>
                <a:cs typeface="Times New Roman" panose="02020603050405020304" pitchFamily="18" charset="0"/>
              </a:rPr>
              <a:t>Fix failures</a:t>
            </a:r>
            <a:r>
              <a:rPr lang="en-US" sz="2000" b="0" i="0" dirty="0">
                <a:solidFill>
                  <a:srgbClr val="24292F"/>
                </a:solidFill>
                <a:effectLst/>
                <a:latin typeface="Times New Roman" panose="02020603050405020304" pitchFamily="18" charset="0"/>
                <a:cs typeface="Times New Roman" panose="02020603050405020304" pitchFamily="18" charset="0"/>
              </a:rPr>
              <a:t>: If any test case fails, the issue needs to be fixed. This could involve debugging the code, making necessary changes, and retesting.</a:t>
            </a:r>
          </a:p>
          <a:p>
            <a:pPr algn="just">
              <a:buFont typeface="+mj-lt"/>
              <a:buAutoNum type="arabicPeriod"/>
            </a:pPr>
            <a:r>
              <a:rPr lang="en-US" sz="2000" b="1" i="0" dirty="0">
                <a:solidFill>
                  <a:srgbClr val="24292F"/>
                </a:solidFill>
                <a:effectLst/>
                <a:latin typeface="Times New Roman" panose="02020603050405020304" pitchFamily="18" charset="0"/>
                <a:cs typeface="Times New Roman" panose="02020603050405020304" pitchFamily="18" charset="0"/>
              </a:rPr>
              <a:t>Document results</a:t>
            </a:r>
            <a:r>
              <a:rPr lang="en-US" sz="2000" b="0" i="0" dirty="0">
                <a:solidFill>
                  <a:srgbClr val="24292F"/>
                </a:solidFill>
                <a:effectLst/>
                <a:latin typeface="Times New Roman" panose="02020603050405020304" pitchFamily="18" charset="0"/>
                <a:cs typeface="Times New Roman" panose="02020603050405020304" pitchFamily="18" charset="0"/>
              </a:rPr>
              <a:t>: Finally, document the results of the regression testing. This includes the test cases executed, their results, any issues identified and fixed, and any observations or recommendations for future testing.</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196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0E01-3F1C-E579-62C5-4C2928E98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FF6D7-C26B-6C39-6632-D8F5D07729C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Regression testing vs Smoke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5A87F8-EFE3-CF42-1C46-519437A22C3B}"/>
              </a:ext>
            </a:extLst>
          </p:cNvPr>
          <p:cNvSpPr>
            <a:spLocks noGrp="1"/>
          </p:cNvSpPr>
          <p:nvPr>
            <p:ph idx="1"/>
          </p:nvPr>
        </p:nvSpPr>
        <p:spPr>
          <a:xfrm>
            <a:off x="609600" y="606752"/>
            <a:ext cx="10972800" cy="5519413"/>
          </a:xfrm>
        </p:spPr>
        <p:txBody>
          <a:bodyPr/>
          <a:lstStyle/>
          <a:p>
            <a:pPr algn="just"/>
            <a:r>
              <a:rPr lang="en-US" sz="2000" b="1" i="0" dirty="0">
                <a:solidFill>
                  <a:srgbClr val="24292F"/>
                </a:solidFill>
                <a:effectLst/>
                <a:latin typeface="Times New Roman" panose="02020603050405020304" pitchFamily="18" charset="0"/>
                <a:cs typeface="Times New Roman" panose="02020603050405020304" pitchFamily="18" charset="0"/>
              </a:rPr>
              <a:t>Regression testing</a:t>
            </a:r>
            <a:r>
              <a:rPr lang="en-US" sz="2000" b="0" i="0" dirty="0">
                <a:solidFill>
                  <a:srgbClr val="24292F"/>
                </a:solidFill>
                <a:effectLst/>
                <a:latin typeface="Times New Roman" panose="02020603050405020304" pitchFamily="18" charset="0"/>
                <a:cs typeface="Times New Roman" panose="02020603050405020304" pitchFamily="18" charset="0"/>
              </a:rPr>
              <a:t> and </a:t>
            </a:r>
            <a:r>
              <a:rPr lang="en-US" sz="2000" b="1" i="0" dirty="0">
                <a:solidFill>
                  <a:srgbClr val="24292F"/>
                </a:solidFill>
                <a:effectLst/>
                <a:latin typeface="Times New Roman" panose="02020603050405020304" pitchFamily="18" charset="0"/>
                <a:cs typeface="Times New Roman" panose="02020603050405020304" pitchFamily="18" charset="0"/>
              </a:rPr>
              <a:t>smoke testing</a:t>
            </a:r>
            <a:r>
              <a:rPr lang="en-US" sz="2000" b="0" i="0" dirty="0">
                <a:solidFill>
                  <a:srgbClr val="24292F"/>
                </a:solidFill>
                <a:effectLst/>
                <a:latin typeface="Times New Roman" panose="02020603050405020304" pitchFamily="18" charset="0"/>
                <a:cs typeface="Times New Roman" panose="02020603050405020304" pitchFamily="18" charset="0"/>
              </a:rPr>
              <a:t> are two distinct types of software testing, each serving a unique purpose in the SDLC.</a:t>
            </a:r>
          </a:p>
          <a:p>
            <a:pPr algn="just"/>
            <a:r>
              <a:rPr lang="en-US" sz="2000" b="1" i="0" dirty="0">
                <a:solidFill>
                  <a:srgbClr val="24292F"/>
                </a:solidFill>
                <a:effectLst/>
                <a:latin typeface="Times New Roman" panose="02020603050405020304" pitchFamily="18" charset="0"/>
                <a:cs typeface="Times New Roman" panose="02020603050405020304" pitchFamily="18" charset="0"/>
              </a:rPr>
              <a:t>Developers and software testers perform regression</a:t>
            </a:r>
            <a:r>
              <a:rPr lang="en-US" sz="2000" b="0" i="0" dirty="0">
                <a:solidFill>
                  <a:srgbClr val="24292F"/>
                </a:solidFill>
                <a:effectLst/>
                <a:latin typeface="Times New Roman" panose="02020603050405020304" pitchFamily="18" charset="0"/>
                <a:cs typeface="Times New Roman" panose="02020603050405020304" pitchFamily="18" charset="0"/>
              </a:rPr>
              <a:t> testing to ensure that software which has been developed and tested can still meet performance expectations after modifications or changes. It involves re-running functional and non-functional tests to ensure that the existing functionalities have not been affected by the recent changes.</a:t>
            </a:r>
          </a:p>
          <a:p>
            <a:pPr algn="just"/>
            <a:r>
              <a:rPr lang="en-US" sz="2000" b="0" i="0" dirty="0">
                <a:solidFill>
                  <a:srgbClr val="24292F"/>
                </a:solidFill>
                <a:effectLst/>
                <a:latin typeface="Times New Roman" panose="02020603050405020304" pitchFamily="18" charset="0"/>
                <a:cs typeface="Times New Roman" panose="02020603050405020304" pitchFamily="18" charset="0"/>
              </a:rPr>
              <a:t>On the other hand, </a:t>
            </a:r>
            <a:r>
              <a:rPr lang="en-US" sz="2000" b="1" i="0" dirty="0">
                <a:solidFill>
                  <a:srgbClr val="24292F"/>
                </a:solidFill>
                <a:effectLst/>
                <a:latin typeface="Times New Roman" panose="02020603050405020304" pitchFamily="18" charset="0"/>
                <a:cs typeface="Times New Roman" panose="02020603050405020304" pitchFamily="18" charset="0"/>
              </a:rPr>
              <a:t>smoke testing</a:t>
            </a:r>
            <a:r>
              <a:rPr lang="en-US" sz="2000" b="0" i="0" dirty="0">
                <a:solidFill>
                  <a:srgbClr val="24292F"/>
                </a:solidFill>
                <a:effectLst/>
                <a:latin typeface="Times New Roman" panose="02020603050405020304" pitchFamily="18" charset="0"/>
                <a:cs typeface="Times New Roman" panose="02020603050405020304" pitchFamily="18" charset="0"/>
              </a:rPr>
              <a:t> is a high-level type of software testing where the most crucial functions of a program are tested to ensure they work correctly. It is usually performed to determine if the most important software application is working properly.</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626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A4FA4-41FB-388D-635F-F17FA79E8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C337D-8B9C-B71D-4793-542FBE586AB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E219DE-45A3-56E7-11DF-7A2005E92DED}"/>
              </a:ext>
            </a:extLst>
          </p:cNvPr>
          <p:cNvSpPr>
            <a:spLocks noGrp="1"/>
          </p:cNvSpPr>
          <p:nvPr>
            <p:ph idx="1"/>
          </p:nvPr>
        </p:nvSpPr>
        <p:spPr>
          <a:xfrm>
            <a:off x="609600" y="606752"/>
            <a:ext cx="10972800" cy="5519413"/>
          </a:xfrm>
        </p:spPr>
        <p:txBody>
          <a:bodyPr/>
          <a:lstStyle/>
          <a:p>
            <a:pPr algn="just"/>
            <a:r>
              <a:rPr lang="en-US" sz="2000" dirty="0">
                <a:latin typeface="Times New Roman" panose="02020603050405020304" pitchFamily="18" charset="0"/>
                <a:cs typeface="Times New Roman" panose="02020603050405020304" pitchFamily="18" charset="0"/>
              </a:rPr>
              <a:t>White box testing, also known as </a:t>
            </a:r>
            <a:r>
              <a:rPr lang="en-US" sz="2000" b="1" dirty="0">
                <a:latin typeface="Times New Roman" panose="02020603050405020304" pitchFamily="18" charset="0"/>
                <a:cs typeface="Times New Roman" panose="02020603050405020304" pitchFamily="18" charset="0"/>
              </a:rPr>
              <a:t>clear box</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glass box</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structural testing</a:t>
            </a:r>
            <a:r>
              <a:rPr lang="en-US" sz="2000" dirty="0">
                <a:latin typeface="Times New Roman" panose="02020603050405020304" pitchFamily="18" charset="0"/>
                <a:cs typeface="Times New Roman" panose="02020603050405020304" pitchFamily="18" charset="0"/>
              </a:rPr>
              <a:t>, is a testing technique in which the internal structure, design, and implementation of the code are known and utilized by the tester. This method allows for a detailed examination of code, logic paths, and conditions, making it suitable for finding hidden bugs, logical errors, and testing all branches within the software.</a:t>
            </a:r>
          </a:p>
          <a:p>
            <a:pPr algn="just"/>
            <a:r>
              <a:rPr lang="en-US" sz="2000" dirty="0">
                <a:latin typeface="Times New Roman" panose="02020603050405020304" pitchFamily="18" charset="0"/>
                <a:cs typeface="Times New Roman" panose="02020603050405020304" pitchFamily="18" charset="0"/>
              </a:rPr>
              <a:t>Techniques:</a:t>
            </a:r>
          </a:p>
          <a:p>
            <a:pPr marL="0" indent="0" algn="just">
              <a:buNone/>
            </a:pPr>
            <a:r>
              <a:rPr lang="en-US" sz="2000" b="1" dirty="0">
                <a:latin typeface="Times New Roman" panose="02020603050405020304" pitchFamily="18" charset="0"/>
                <a:cs typeface="Times New Roman" panose="02020603050405020304" pitchFamily="18" charset="0"/>
              </a:rPr>
              <a:t>Statement coverage: </a:t>
            </a:r>
            <a:r>
              <a:rPr lang="en-US" sz="2000" dirty="0">
                <a:latin typeface="Times New Roman" panose="02020603050405020304" pitchFamily="18" charset="0"/>
                <a:cs typeface="Times New Roman" panose="02020603050405020304" pitchFamily="18" charset="0"/>
              </a:rPr>
              <a:t>Statement coverage aims to execute all executable statements in the code at least once. To verify that each line of code has been executed and checked. For a simple function that calculates the sum of two numbers, statement coverage would ensure that every line of code, including any variable initializations and assignments, is executed.</a:t>
            </a:r>
          </a:p>
          <a:p>
            <a:pPr algn="just"/>
            <a:r>
              <a:rPr lang="en-US" sz="2000" dirty="0">
                <a:latin typeface="Times New Roman" panose="02020603050405020304" pitchFamily="18" charset="0"/>
                <a:cs typeface="Times New Roman" panose="02020603050405020304" pitchFamily="18" charset="0"/>
              </a:rPr>
              <a:t>Statement coverage=( # of executed Statements / Total statements ) * 100</a:t>
            </a:r>
          </a:p>
          <a:p>
            <a:pPr algn="just"/>
            <a:r>
              <a:rPr lang="en-US" sz="2000" dirty="0">
                <a:latin typeface="Times New Roman" panose="02020603050405020304" pitchFamily="18" charset="0"/>
                <a:cs typeface="Times New Roman" panose="02020603050405020304" pitchFamily="18" charset="0"/>
              </a:rPr>
              <a:t>It helps ensure that all code lines are executed at least once.</a:t>
            </a:r>
          </a:p>
          <a:p>
            <a:pPr algn="just"/>
            <a:r>
              <a:rPr lang="en-US" sz="2000" dirty="0">
                <a:latin typeface="Times New Roman" panose="02020603050405020304" pitchFamily="18" charset="0"/>
                <a:cs typeface="Times New Roman" panose="02020603050405020304" pitchFamily="18" charset="0"/>
              </a:rPr>
              <a:t>However, it does not account for different conditions or branches within loops, which might leave some logic paths untested.</a:t>
            </a:r>
          </a:p>
          <a:p>
            <a:pPr algn="just"/>
            <a:endParaRPr lang="en-US" sz="2000" dirty="0">
              <a:latin typeface="Times New Roman" panose="02020603050405020304" pitchFamily="18" charset="0"/>
              <a:cs typeface="Times New Roman" panose="02020603050405020304" pitchFamily="18" charset="0"/>
            </a:endParaRPr>
          </a:p>
          <a:p>
            <a:pPr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999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77751-D48A-0972-3721-089387D48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78359-370C-9DC6-9244-221A67B5EE59}"/>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8A14FB-731D-B54E-39FD-41FFEE1FB92F}"/>
              </a:ext>
            </a:extLst>
          </p:cNvPr>
          <p:cNvSpPr>
            <a:spLocks noGrp="1"/>
          </p:cNvSpPr>
          <p:nvPr>
            <p:ph idx="1"/>
          </p:nvPr>
        </p:nvSpPr>
        <p:spPr>
          <a:xfrm>
            <a:off x="609600" y="606752"/>
            <a:ext cx="10972800" cy="5519413"/>
          </a:xfrm>
        </p:spPr>
        <p:txBody>
          <a:bodyPr/>
          <a:lstStyle/>
          <a:p>
            <a:pPr algn="just"/>
            <a:r>
              <a:rPr lang="en-US" sz="2000" b="1" dirty="0">
                <a:latin typeface="Times New Roman" panose="02020603050405020304" pitchFamily="18" charset="0"/>
                <a:cs typeface="Times New Roman" panose="02020603050405020304" pitchFamily="18" charset="0"/>
              </a:rPr>
              <a:t>Branch coverage</a:t>
            </a:r>
            <a:r>
              <a:rPr lang="en-US" sz="2000" dirty="0">
                <a:latin typeface="Times New Roman" panose="02020603050405020304" pitchFamily="18" charset="0"/>
                <a:cs typeface="Times New Roman" panose="02020603050405020304" pitchFamily="18" charset="0"/>
              </a:rPr>
              <a:t>, also known as decision coverage, ensures that every branch or decision point in the code is tested in both true and false directions. </a:t>
            </a:r>
          </a:p>
          <a:p>
            <a:pPr algn="just"/>
            <a:r>
              <a:rPr lang="en-US" sz="2000" dirty="0">
                <a:latin typeface="Times New Roman" panose="02020603050405020304" pitchFamily="18" charset="0"/>
                <a:cs typeface="Times New Roman" panose="02020603050405020304" pitchFamily="18" charset="0"/>
              </a:rPr>
              <a:t>To ensure all potential execution paths are covered, especially in conditional statements (e.g., if-else, switch). To ensure all potential execution paths are covered, especially in conditional statements (e.g., if-else, switch).</a:t>
            </a:r>
            <a:endParaRPr lang="en-US"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Branch coverage = ( # of executed branches / total branches) * 100</a:t>
            </a:r>
          </a:p>
          <a:p>
            <a:pPr algn="just"/>
            <a:r>
              <a:rPr lang="en-US" sz="2000" dirty="0">
                <a:latin typeface="Times New Roman" panose="02020603050405020304" pitchFamily="18" charset="0"/>
                <a:cs typeface="Times New Roman" panose="02020603050405020304" pitchFamily="18" charset="0"/>
              </a:rPr>
              <a:t>Branch coverage is more thorough than statement coverage as it checks each possible path in branching statements.</a:t>
            </a:r>
          </a:p>
          <a:p>
            <a:pPr algn="just"/>
            <a:r>
              <a:rPr lang="en-US" sz="2000" dirty="0">
                <a:latin typeface="Times New Roman" panose="02020603050405020304" pitchFamily="18" charset="0"/>
                <a:cs typeface="Times New Roman" panose="02020603050405020304" pitchFamily="18" charset="0"/>
              </a:rPr>
              <a:t>However, it might not cover all logical conditions within complex expressions (e.g., nested conditions).</a:t>
            </a:r>
          </a:p>
        </p:txBody>
      </p:sp>
    </p:spTree>
    <p:extLst>
      <p:ext uri="{BB962C8B-B14F-4D97-AF65-F5344CB8AC3E}">
        <p14:creationId xmlns:p14="http://schemas.microsoft.com/office/powerpoint/2010/main" val="220884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93576-0FE1-EC39-72E2-99C7D790F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D53FB-AB6E-1140-CDC1-75A72C5D8DED}"/>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91CA34-2FFB-10FE-EC5C-1695674EF3B8}"/>
              </a:ext>
            </a:extLst>
          </p:cNvPr>
          <p:cNvSpPr>
            <a:spLocks noGrp="1"/>
          </p:cNvSpPr>
          <p:nvPr>
            <p:ph idx="1"/>
          </p:nvPr>
        </p:nvSpPr>
        <p:spPr>
          <a:xfrm>
            <a:off x="609600" y="606752"/>
            <a:ext cx="10972800" cy="5519413"/>
          </a:xfrm>
        </p:spPr>
        <p:txBody>
          <a:bodyPr>
            <a:normAutofit lnSpcReduction="10000"/>
          </a:bodyPr>
          <a:lstStyle/>
          <a:p>
            <a:pPr algn="just"/>
            <a:r>
              <a:rPr lang="en-US" sz="1800" b="1" dirty="0">
                <a:latin typeface="Times New Roman" panose="02020603050405020304" pitchFamily="18" charset="0"/>
                <a:cs typeface="Times New Roman" panose="02020603050405020304" pitchFamily="18" charset="0"/>
              </a:rPr>
              <a:t>Path coverage </a:t>
            </a:r>
            <a:r>
              <a:rPr lang="en-US" sz="1800" dirty="0">
                <a:latin typeface="Times New Roman" panose="02020603050405020304" pitchFamily="18" charset="0"/>
                <a:cs typeface="Times New Roman" panose="02020603050405020304" pitchFamily="18" charset="0"/>
              </a:rPr>
              <a:t>is a technique that tests all possible paths within a module or program, focusing on every unique path from start to finish.</a:t>
            </a:r>
          </a:p>
          <a:p>
            <a:pPr algn="just"/>
            <a:r>
              <a:rPr lang="en-US" sz="1800" dirty="0">
                <a:latin typeface="Times New Roman" panose="02020603050405020304" pitchFamily="18" charset="0"/>
                <a:cs typeface="Times New Roman" panose="02020603050405020304" pitchFamily="18" charset="0"/>
              </a:rPr>
              <a:t>To ensure that every possible path (sequence of statements) is covered, which is especially useful for complex functions with multiple branches.</a:t>
            </a:r>
          </a:p>
          <a:p>
            <a:pPr algn="just"/>
            <a:r>
              <a:rPr lang="en-US" sz="1800" dirty="0">
                <a:latin typeface="Times New Roman" panose="02020603050405020304" pitchFamily="18" charset="0"/>
                <a:cs typeface="Times New Roman" panose="02020603050405020304" pitchFamily="18" charset="0"/>
              </a:rPr>
              <a:t>For a function with nested loops and conditionals, path coverage would test each possible path through these loops and branches. The number of paths increases with decision points, so calculating coverage requires:# of executed paths / total paths * 100</a:t>
            </a:r>
          </a:p>
          <a:p>
            <a:pPr algn="just"/>
            <a:r>
              <a:rPr lang="en-US" sz="1800" dirty="0">
                <a:latin typeface="Times New Roman" panose="02020603050405020304" pitchFamily="18" charset="0"/>
                <a:cs typeface="Times New Roman" panose="02020603050405020304" pitchFamily="18" charset="0"/>
              </a:rPr>
              <a:t>Control flow testing verifies the flow of control in the code by examining the execution sequence, especially through loops, branches, and decision points. To ensure that control moves through the code in a valid sequence without skipping or repeating critical operations. For a function that processes customer orders, control flow testing checks that all steps (validation, processing, finalizing) follow the correct order without unintended jumps or skips.</a:t>
            </a:r>
          </a:p>
          <a:p>
            <a:pPr algn="just"/>
            <a:r>
              <a:rPr lang="en-US" sz="1800" dirty="0">
                <a:latin typeface="Times New Roman" panose="02020603050405020304" pitchFamily="18" charset="0"/>
                <a:cs typeface="Times New Roman" panose="02020603050405020304" pitchFamily="18" charset="0"/>
              </a:rPr>
              <a:t>An </a:t>
            </a:r>
            <a:r>
              <a:rPr lang="en-US" sz="1800" b="1" dirty="0">
                <a:latin typeface="Times New Roman" panose="02020603050405020304" pitchFamily="18" charset="0"/>
                <a:cs typeface="Times New Roman" panose="02020603050405020304" pitchFamily="18" charset="0"/>
              </a:rPr>
              <a:t>independent path</a:t>
            </a:r>
            <a:r>
              <a:rPr lang="en-US" sz="1800" dirty="0">
                <a:latin typeface="Times New Roman" panose="02020603050405020304" pitchFamily="18" charset="0"/>
                <a:cs typeface="Times New Roman" panose="02020603050405020304" pitchFamily="18" charset="0"/>
              </a:rPr>
              <a:t> is a unique path through the program that introduces at least one new edge (control flow link) not included in any previously traversed path. Essentially, each independent path adds a new way through the code structure, covering different logic, branches, or statements.</a:t>
            </a:r>
          </a:p>
          <a:p>
            <a:pPr algn="just"/>
            <a:r>
              <a:rPr lang="en-US" sz="1800" dirty="0">
                <a:latin typeface="Times New Roman" panose="02020603050405020304" pitchFamily="18" charset="0"/>
                <a:cs typeface="Times New Roman" panose="02020603050405020304" pitchFamily="18" charset="0"/>
              </a:rPr>
              <a:t>The number of independent paths can be determined by calculating the </a:t>
            </a:r>
            <a:r>
              <a:rPr lang="en-US" sz="1800" b="1" dirty="0">
                <a:latin typeface="Times New Roman" panose="02020603050405020304" pitchFamily="18" charset="0"/>
                <a:cs typeface="Times New Roman" panose="02020603050405020304" pitchFamily="18" charset="0"/>
              </a:rPr>
              <a:t>Cyclomatic Complexity (V(G))</a:t>
            </a:r>
            <a:r>
              <a:rPr lang="en-US" sz="1800" dirty="0">
                <a:latin typeface="Times New Roman" panose="02020603050405020304" pitchFamily="18" charset="0"/>
                <a:cs typeface="Times New Roman" panose="02020603050405020304" pitchFamily="18" charset="0"/>
              </a:rPr>
              <a:t>, as each independent path corresponds to an edge in the control flow graph that must be covered to ensure complete testing.</a:t>
            </a:r>
          </a:p>
        </p:txBody>
      </p:sp>
    </p:spTree>
    <p:extLst>
      <p:ext uri="{BB962C8B-B14F-4D97-AF65-F5344CB8AC3E}">
        <p14:creationId xmlns:p14="http://schemas.microsoft.com/office/powerpoint/2010/main" val="55325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292F8-7894-45D1-F687-F1DE4A078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54B30-7C44-3F6A-F5D1-2C35155A176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C07B56-40D1-8590-1FA6-C04365D77F03}"/>
              </a:ext>
            </a:extLst>
          </p:cNvPr>
          <p:cNvSpPr>
            <a:spLocks noGrp="1"/>
          </p:cNvSpPr>
          <p:nvPr>
            <p:ph idx="1"/>
          </p:nvPr>
        </p:nvSpPr>
        <p:spPr>
          <a:xfrm>
            <a:off x="609600" y="606752"/>
            <a:ext cx="10972800" cy="5519413"/>
          </a:xfrm>
        </p:spPr>
        <p:txBody>
          <a:bodyPr/>
          <a:lstStyle/>
          <a:p>
            <a:pPr algn="just"/>
            <a:r>
              <a:rPr lang="en-US" sz="1800" b="1" dirty="0">
                <a:latin typeface="Times New Roman" panose="02020603050405020304" pitchFamily="18" charset="0"/>
                <a:cs typeface="Times New Roman" panose="02020603050405020304" pitchFamily="18" charset="0"/>
              </a:rPr>
              <a:t>Path testing </a:t>
            </a:r>
            <a:r>
              <a:rPr lang="en-US" sz="1800" dirty="0">
                <a:latin typeface="Times New Roman" panose="02020603050405020304" pitchFamily="18" charset="0"/>
                <a:cs typeface="Times New Roman" panose="02020603050405020304" pitchFamily="18" charset="0"/>
              </a:rPr>
              <a:t>is a systematic technique in which these independent paths are identified and covered in test cases to ensure all logical paths in the code are tested. The goal of path testing is to verify that:</a:t>
            </a:r>
          </a:p>
          <a:p>
            <a:pPr algn="just"/>
            <a:r>
              <a:rPr lang="en-US" sz="1800" dirty="0">
                <a:latin typeface="Times New Roman" panose="02020603050405020304" pitchFamily="18" charset="0"/>
                <a:cs typeface="Times New Roman" panose="02020603050405020304" pitchFamily="18" charset="0"/>
              </a:rPr>
              <a:t>All executable statements are covered in the test cases.</a:t>
            </a:r>
          </a:p>
          <a:p>
            <a:pPr algn="just"/>
            <a:r>
              <a:rPr lang="en-US" sz="1800" dirty="0">
                <a:latin typeface="Times New Roman" panose="02020603050405020304" pitchFamily="18" charset="0"/>
                <a:cs typeface="Times New Roman" panose="02020603050405020304" pitchFamily="18" charset="0"/>
              </a:rPr>
              <a:t>All control structures (such as loops, conditionals) are tested for each possible condition.</a:t>
            </a:r>
          </a:p>
          <a:p>
            <a:pPr algn="just"/>
            <a:r>
              <a:rPr lang="en-US" sz="1800" dirty="0">
                <a:latin typeface="Times New Roman" panose="02020603050405020304" pitchFamily="18" charset="0"/>
                <a:cs typeface="Times New Roman" panose="02020603050405020304" pitchFamily="18" charset="0"/>
              </a:rPr>
              <a:t>Path testing ensures comprehensive testing by focusing on every feasible route, especially useful for critical functions where logical correctness is essential, such as financial calculations or safety-critical operations.</a:t>
            </a:r>
          </a:p>
          <a:p>
            <a:pPr marL="0" indent="0" algn="just">
              <a:buNone/>
            </a:pPr>
            <a:r>
              <a:rPr lang="en-US" sz="1800" b="1" dirty="0">
                <a:latin typeface="Times New Roman" panose="02020603050405020304" pitchFamily="18" charset="0"/>
                <a:cs typeface="Times New Roman" panose="02020603050405020304" pitchFamily="18" charset="0"/>
              </a:rPr>
              <a:t>Steps in Path Testing</a:t>
            </a:r>
          </a:p>
          <a:p>
            <a:pPr algn="just"/>
            <a:r>
              <a:rPr lang="en-US" sz="1800" dirty="0">
                <a:latin typeface="Times New Roman" panose="02020603050405020304" pitchFamily="18" charset="0"/>
                <a:cs typeface="Times New Roman" panose="02020603050405020304" pitchFamily="18" charset="0"/>
              </a:rPr>
              <a:t>Create a Control Flow Graph (CFG): Identify nodes, edges, and decision points in the code to represent its flow.</a:t>
            </a:r>
          </a:p>
          <a:p>
            <a:pPr algn="just"/>
            <a:r>
              <a:rPr lang="en-US" sz="1800" dirty="0">
                <a:latin typeface="Times New Roman" panose="02020603050405020304" pitchFamily="18" charset="0"/>
                <a:cs typeface="Times New Roman" panose="02020603050405020304" pitchFamily="18" charset="0"/>
              </a:rPr>
              <a:t>Calculate Cyclomatic Complexity (CC): Use CC to determine the minimum number of paths for complete coverage.</a:t>
            </a:r>
          </a:p>
          <a:p>
            <a:pPr algn="just"/>
            <a:r>
              <a:rPr lang="en-US" sz="1800" dirty="0">
                <a:latin typeface="Times New Roman" panose="02020603050405020304" pitchFamily="18" charset="0"/>
                <a:cs typeface="Times New Roman" panose="02020603050405020304" pitchFamily="18" charset="0"/>
              </a:rPr>
              <a:t>Identify Independent Paths: Find all paths that introduce a new edge in the control flow.</a:t>
            </a:r>
          </a:p>
          <a:p>
            <a:pPr algn="just"/>
            <a:r>
              <a:rPr lang="en-US" sz="1800" dirty="0">
                <a:latin typeface="Times New Roman" panose="02020603050405020304" pitchFamily="18" charset="0"/>
                <a:cs typeface="Times New Roman" panose="02020603050405020304" pitchFamily="18" charset="0"/>
              </a:rPr>
              <a:t>Write Test Cases: Develop test cases that execute each independent path, ensuring all scenarios are covered.</a:t>
            </a:r>
          </a:p>
        </p:txBody>
      </p:sp>
    </p:spTree>
    <p:extLst>
      <p:ext uri="{BB962C8B-B14F-4D97-AF65-F5344CB8AC3E}">
        <p14:creationId xmlns:p14="http://schemas.microsoft.com/office/powerpoint/2010/main" val="909306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A7EDB-1E65-5F83-0889-B9B0DA12E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54804-364D-57E7-AF81-4794D702C316}"/>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254B8F-97B6-8AD4-C51B-6211BEB88D31}"/>
              </a:ext>
            </a:extLst>
          </p:cNvPr>
          <p:cNvSpPr>
            <a:spLocks noGrp="1"/>
          </p:cNvSpPr>
          <p:nvPr>
            <p:ph idx="1"/>
          </p:nvPr>
        </p:nvSpPr>
        <p:spPr>
          <a:xfrm>
            <a:off x="609600" y="606752"/>
            <a:ext cx="10972800" cy="5519413"/>
          </a:xfrm>
        </p:spPr>
        <p:txBody>
          <a:bodyPr>
            <a:normAutofit/>
          </a:bodyPr>
          <a:lstStyle/>
          <a:p>
            <a:pPr algn="just"/>
            <a:r>
              <a:rPr lang="en-US" sz="2000" dirty="0">
                <a:latin typeface="Times New Roman" panose="02020603050405020304" pitchFamily="18" charset="0"/>
                <a:cs typeface="Times New Roman" panose="02020603050405020304" pitchFamily="18" charset="0"/>
              </a:rPr>
              <a:t>McCabe's Cyclomatic Complexity is a metric that measures the complexity of a program by analyzing its control flow graph, specifically focusing on decision points in the code. This metric helps determine the minimum number of test cases needed to achieve complete path coverage, making it valuable for white box testing and particularly </a:t>
            </a:r>
            <a:r>
              <a:rPr lang="en-US" sz="2000" b="1" dirty="0">
                <a:latin typeface="Times New Roman" panose="02020603050405020304" pitchFamily="18" charset="0"/>
                <a:cs typeface="Times New Roman" panose="02020603050405020304" pitchFamily="18" charset="0"/>
              </a:rPr>
              <a:t>path testing</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Cyclomatic Complexity (CC) is calculated with the formula: </a:t>
            </a:r>
          </a:p>
          <a:p>
            <a:pPr algn="just"/>
            <a:r>
              <a:rPr lang="en-US" sz="2000" b="1" dirty="0">
                <a:latin typeface="Times New Roman" panose="02020603050405020304" pitchFamily="18" charset="0"/>
                <a:cs typeface="Times New Roman" panose="02020603050405020304" pitchFamily="18" charset="0"/>
              </a:rPr>
              <a:t>V(G) = E – N +2</a:t>
            </a:r>
          </a:p>
          <a:p>
            <a:pPr lvl="1" algn="just"/>
            <a:r>
              <a:rPr lang="en-US" sz="1600" dirty="0">
                <a:latin typeface="Times New Roman" panose="02020603050405020304" pitchFamily="18" charset="0"/>
                <a:cs typeface="Times New Roman" panose="02020603050405020304" pitchFamily="18" charset="0"/>
              </a:rPr>
              <a:t>Where E = # of edges in the CFG</a:t>
            </a:r>
          </a:p>
          <a:p>
            <a:pPr lvl="1" algn="just"/>
            <a:r>
              <a:rPr lang="en-US" sz="1600" dirty="0">
                <a:latin typeface="Times New Roman" panose="02020603050405020304" pitchFamily="18" charset="0"/>
                <a:cs typeface="Times New Roman" panose="02020603050405020304" pitchFamily="18" charset="0"/>
              </a:rPr>
              <a:t>N= # of nodes in the CFG</a:t>
            </a:r>
          </a:p>
          <a:p>
            <a:pPr lvl="1" algn="just"/>
            <a:r>
              <a:rPr lang="en-US" sz="1600" dirty="0">
                <a:latin typeface="Times New Roman" panose="02020603050405020304" pitchFamily="18" charset="0"/>
                <a:cs typeface="Times New Roman" panose="02020603050405020304" pitchFamily="18" charset="0"/>
              </a:rPr>
              <a:t>2 constant added to represent the starting and ending nodes</a:t>
            </a:r>
          </a:p>
          <a:p>
            <a:pPr algn="just"/>
            <a:r>
              <a:rPr lang="en-US" sz="2000" dirty="0">
                <a:latin typeface="Times New Roman" panose="02020603050405020304" pitchFamily="18" charset="0"/>
                <a:cs typeface="Times New Roman" panose="02020603050405020304" pitchFamily="18" charset="0"/>
              </a:rPr>
              <a:t>Alternatively, if only the number of decision points (branches) is known, you can use this simplified formula: </a:t>
            </a:r>
            <a:r>
              <a:rPr lang="en-US" sz="2000" b="1" dirty="0">
                <a:latin typeface="Times New Roman" panose="02020603050405020304" pitchFamily="18" charset="0"/>
                <a:cs typeface="Times New Roman" panose="02020603050405020304" pitchFamily="18" charset="0"/>
              </a:rPr>
              <a:t>V(G) = D + 1</a:t>
            </a:r>
          </a:p>
          <a:p>
            <a:pPr algn="just"/>
            <a:r>
              <a:rPr lang="en-US" sz="2000" dirty="0">
                <a:latin typeface="Times New Roman" panose="02020603050405020304" pitchFamily="18" charset="0"/>
                <a:cs typeface="Times New Roman" panose="02020603050405020304" pitchFamily="18" charset="0"/>
              </a:rPr>
              <a:t>D= # of predicate or condition nodes </a:t>
            </a:r>
          </a:p>
          <a:p>
            <a:pPr algn="just"/>
            <a:r>
              <a:rPr lang="en-US" sz="2000" dirty="0">
                <a:latin typeface="Times New Roman" panose="02020603050405020304" pitchFamily="18" charset="0"/>
                <a:cs typeface="Times New Roman" panose="02020603050405020304" pitchFamily="18" charset="0"/>
              </a:rPr>
              <a:t>The result, V(G), represents the minimum number of test cases required to cover all independent paths within the program, ensuring complete path testing.</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369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478AE-8ADC-32C2-BE2B-D93EB42EA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E04C9-D4E4-EF38-B15A-7D213F039CE8}"/>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1AC30F-5196-A320-2687-D8CC8EC971EF}"/>
              </a:ext>
            </a:extLst>
          </p:cNvPr>
          <p:cNvSpPr>
            <a:spLocks noGrp="1"/>
          </p:cNvSpPr>
          <p:nvPr>
            <p:ph idx="1"/>
          </p:nvPr>
        </p:nvSpPr>
        <p:spPr>
          <a:xfrm>
            <a:off x="609600" y="606752"/>
            <a:ext cx="10972800" cy="5519413"/>
          </a:xfrm>
        </p:spPr>
        <p:txBody>
          <a:bodyPr>
            <a:normAutofit/>
          </a:bodyPr>
          <a:lstStyle/>
          <a:p>
            <a:pPr algn="just"/>
            <a:r>
              <a:rPr lang="en-US" sz="2000" b="1" dirty="0">
                <a:latin typeface="Times New Roman" panose="02020603050405020304" pitchFamily="18" charset="0"/>
                <a:cs typeface="Times New Roman" panose="02020603050405020304" pitchFamily="18" charset="0"/>
              </a:rPr>
              <a:t>Condition coverage </a:t>
            </a:r>
            <a:r>
              <a:rPr lang="en-US" sz="2000" dirty="0">
                <a:latin typeface="Times New Roman" panose="02020603050405020304" pitchFamily="18" charset="0"/>
                <a:cs typeface="Times New Roman" panose="02020603050405020304" pitchFamily="18" charset="0"/>
              </a:rPr>
              <a:t>checks each condition in a decision statement independently to evaluate both true and false outcomes. To ensure that each logical condition has been tested for both true and false cases, providing better granularity in branch testing. In a complex conditional like if (A &amp;&amp; B), condition coverage would test both A and B independently.</a:t>
            </a:r>
          </a:p>
          <a:p>
            <a:pPr algn="just"/>
            <a:r>
              <a:rPr lang="en-US" sz="2000" dirty="0">
                <a:latin typeface="Times New Roman" panose="02020603050405020304" pitchFamily="18" charset="0"/>
                <a:cs typeface="Times New Roman" panose="02020603050405020304" pitchFamily="18" charset="0"/>
              </a:rPr>
              <a:t>It’s useful for conditions with multiple logical components.</a:t>
            </a:r>
          </a:p>
          <a:p>
            <a:pPr algn="just"/>
            <a:r>
              <a:rPr lang="en-US" sz="2000" dirty="0">
                <a:latin typeface="Times New Roman" panose="02020603050405020304" pitchFamily="18" charset="0"/>
                <a:cs typeface="Times New Roman" panose="02020603050405020304" pitchFamily="18" charset="0"/>
              </a:rPr>
              <a:t>It may not achieve full path coverage since it only evaluates individual conditions without covering all possible combinations of true/false outcomes in compound conditions.</a:t>
            </a:r>
          </a:p>
          <a:p>
            <a:pPr algn="just"/>
            <a:r>
              <a:rPr lang="en-US" sz="2000" b="1" dirty="0">
                <a:latin typeface="Times New Roman" panose="02020603050405020304" pitchFamily="18" charset="0"/>
                <a:cs typeface="Times New Roman" panose="02020603050405020304" pitchFamily="18" charset="0"/>
              </a:rPr>
              <a:t>Multiple Condition Coverage </a:t>
            </a:r>
            <a:r>
              <a:rPr lang="en-US" sz="2000" dirty="0">
                <a:latin typeface="Times New Roman" panose="02020603050405020304" pitchFamily="18" charset="0"/>
                <a:cs typeface="Times New Roman" panose="02020603050405020304" pitchFamily="18" charset="0"/>
              </a:rPr>
              <a:t>aims to test every possible combination of conditions within a decision statement. To cover all possible outcomes of compound conditions, providing the most exhaustive testing for logical expressions. For an expression if (A || B &amp;&amp; C), MCC requires testing all combinations of A, B, and C as true and false.</a:t>
            </a:r>
          </a:p>
          <a:p>
            <a:pPr algn="just"/>
            <a:r>
              <a:rPr lang="en-US" sz="2000" dirty="0">
                <a:latin typeface="Times New Roman" panose="02020603050405020304" pitchFamily="18" charset="0"/>
                <a:cs typeface="Times New Roman" panose="02020603050405020304" pitchFamily="18" charset="0"/>
              </a:rPr>
              <a:t>It provides the highest degree of testing for complex conditional expressions.</a:t>
            </a:r>
          </a:p>
          <a:p>
            <a:pPr algn="just"/>
            <a:r>
              <a:rPr lang="en-US" sz="2000" dirty="0">
                <a:latin typeface="Times New Roman" panose="02020603050405020304" pitchFamily="18" charset="0"/>
                <a:cs typeface="Times New Roman" panose="02020603050405020304" pitchFamily="18" charset="0"/>
              </a:rPr>
              <a:t>However, testing can be exhaustive and time-consuming for statements with many logical conditions due to the exponential increase in combinations.</a:t>
            </a:r>
          </a:p>
        </p:txBody>
      </p:sp>
    </p:spTree>
    <p:extLst>
      <p:ext uri="{BB962C8B-B14F-4D97-AF65-F5344CB8AC3E}">
        <p14:creationId xmlns:p14="http://schemas.microsoft.com/office/powerpoint/2010/main" val="553327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A0D65-BDF7-16DB-B68F-9C10E84B0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DC210-63F1-315B-FD21-11CC8F0B68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7FEFF5-8125-ED73-A161-B3258B27A428}"/>
              </a:ext>
            </a:extLst>
          </p:cNvPr>
          <p:cNvSpPr>
            <a:spLocks noGrp="1"/>
          </p:cNvSpPr>
          <p:nvPr>
            <p:ph idx="1"/>
          </p:nvPr>
        </p:nvSpPr>
        <p:spPr>
          <a:xfrm>
            <a:off x="609600" y="606752"/>
            <a:ext cx="10972800" cy="5519413"/>
          </a:xfrm>
        </p:spPr>
        <p:txBody>
          <a:bodyPr/>
          <a:lstStyle/>
          <a:p>
            <a:pPr algn="just"/>
            <a:r>
              <a:rPr lang="en-US" sz="2000" b="1" dirty="0">
                <a:latin typeface="Times New Roman" panose="02020603050405020304" pitchFamily="18" charset="0"/>
                <a:cs typeface="Times New Roman" panose="02020603050405020304" pitchFamily="18" charset="0"/>
              </a:rPr>
              <a:t>Loop testing </a:t>
            </a:r>
            <a:r>
              <a:rPr lang="en-US" sz="2000" dirty="0">
                <a:latin typeface="Times New Roman" panose="02020603050405020304" pitchFamily="18" charset="0"/>
                <a:cs typeface="Times New Roman" panose="02020603050405020304" pitchFamily="18" charset="0"/>
              </a:rPr>
              <a:t>focuses on validating loops within the code, ensuring they execute correctly and handle boundary conditions (start, middle, and end points).</a:t>
            </a:r>
          </a:p>
          <a:p>
            <a:pPr marL="0" indent="0" algn="just">
              <a:buNone/>
            </a:pPr>
            <a:r>
              <a:rPr lang="en-US" sz="2000" dirty="0">
                <a:latin typeface="Times New Roman" panose="02020603050405020304" pitchFamily="18" charset="0"/>
                <a:cs typeface="Times New Roman" panose="02020603050405020304" pitchFamily="18" charset="0"/>
              </a:rPr>
              <a:t>Types of Loop Testing:</a:t>
            </a:r>
          </a:p>
          <a:p>
            <a:pPr algn="just"/>
            <a:r>
              <a:rPr lang="en-US" sz="2000" dirty="0">
                <a:latin typeface="Times New Roman" panose="02020603050405020304" pitchFamily="18" charset="0"/>
                <a:cs typeface="Times New Roman" panose="02020603050405020304" pitchFamily="18" charset="0"/>
              </a:rPr>
              <a:t>Single Loop Testing: Checks the loop initialization, entry, and exit conditions for loops that iterate a set number of times.</a:t>
            </a:r>
          </a:p>
          <a:p>
            <a:pPr algn="just"/>
            <a:r>
              <a:rPr lang="en-US" sz="2000" dirty="0">
                <a:latin typeface="Times New Roman" panose="02020603050405020304" pitchFamily="18" charset="0"/>
                <a:cs typeface="Times New Roman" panose="02020603050405020304" pitchFamily="18" charset="0"/>
              </a:rPr>
              <a:t>Nested Loop Testing: Tests loops within loops, ensuring all levels are tested.</a:t>
            </a:r>
          </a:p>
          <a:p>
            <a:pPr algn="just"/>
            <a:r>
              <a:rPr lang="en-US" sz="2000" dirty="0">
                <a:latin typeface="Times New Roman" panose="02020603050405020304" pitchFamily="18" charset="0"/>
                <a:cs typeface="Times New Roman" panose="02020603050405020304" pitchFamily="18" charset="0"/>
              </a:rPr>
              <a:t>Concatenated Loop Testing: For sequential loops, each loop is treated individually to check initialization, boundary conditions, and interactions.</a:t>
            </a:r>
          </a:p>
          <a:p>
            <a:pPr algn="just"/>
            <a:r>
              <a:rPr lang="en-US" sz="2000" dirty="0">
                <a:latin typeface="Times New Roman" panose="02020603050405020304" pitchFamily="18" charset="0"/>
                <a:cs typeface="Times New Roman" panose="02020603050405020304" pitchFamily="18" charset="0"/>
              </a:rPr>
              <a:t>To ensure loops perform as expected and do not lead to infinite iterations, improper exits, or boundary issues.</a:t>
            </a:r>
          </a:p>
          <a:p>
            <a:pPr algn="just"/>
            <a:r>
              <a:rPr lang="en-US" sz="2000" dirty="0">
                <a:latin typeface="Times New Roman" panose="02020603050405020304" pitchFamily="18" charset="0"/>
                <a:cs typeface="Times New Roman" panose="02020603050405020304" pitchFamily="18" charset="0"/>
              </a:rPr>
              <a:t>For a loop that calculates the sum of an array, loop testing would verify correct operation with empty, one-element, and full arrays.</a:t>
            </a:r>
          </a:p>
        </p:txBody>
      </p:sp>
    </p:spTree>
    <p:extLst>
      <p:ext uri="{BB962C8B-B14F-4D97-AF65-F5344CB8AC3E}">
        <p14:creationId xmlns:p14="http://schemas.microsoft.com/office/powerpoint/2010/main" val="1753687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CA656-6B72-7C67-DAF5-954ED5427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43754-5AEB-6E32-B70C-0EA3C6EB8480}"/>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35669F-A2A2-8D0D-AB78-AC610371BDA2}"/>
              </a:ext>
            </a:extLst>
          </p:cNvPr>
          <p:cNvSpPr>
            <a:spLocks noGrp="1"/>
          </p:cNvSpPr>
          <p:nvPr>
            <p:ph idx="1"/>
          </p:nvPr>
        </p:nvSpPr>
        <p:spPr>
          <a:xfrm>
            <a:off x="609600" y="606752"/>
            <a:ext cx="10972800" cy="5519413"/>
          </a:xfrm>
        </p:spPr>
        <p:txBody>
          <a:bodyPr>
            <a:normAutofit fontScale="92500"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def </a:t>
            </a:r>
            <a:r>
              <a:rPr lang="en-US" sz="2000" dirty="0" err="1">
                <a:latin typeface="Times New Roman" panose="02020603050405020304" pitchFamily="18" charset="0"/>
                <a:cs typeface="Times New Roman" panose="02020603050405020304" pitchFamily="18" charset="0"/>
              </a:rPr>
              <a:t>process_order</a:t>
            </a:r>
            <a:r>
              <a:rPr lang="en-US" sz="2000" dirty="0">
                <a:latin typeface="Times New Roman" panose="02020603050405020304" pitchFamily="18" charset="0"/>
                <a:cs typeface="Times New Roman" panose="02020603050405020304" pitchFamily="18" charset="0"/>
              </a:rPr>
              <a:t>(amount, balance,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a:t>
            </a:r>
          </a:p>
          <a:p>
            <a:pPr marL="0" indent="0" algn="just">
              <a:buNone/>
            </a:pPr>
            <a:r>
              <a:rPr lang="en-US" sz="2000" dirty="0">
                <a:latin typeface="Times New Roman" panose="02020603050405020304" pitchFamily="18" charset="0"/>
                <a:cs typeface="Times New Roman" panose="02020603050405020304" pitchFamily="18" charset="0"/>
              </a:rPr>
              <a:t>    if balance &gt;= amount:</a:t>
            </a:r>
          </a:p>
          <a:p>
            <a:pPr marL="0" indent="0" algn="just">
              <a:buNone/>
            </a:pPr>
            <a:r>
              <a:rPr lang="en-US" sz="2000" dirty="0">
                <a:latin typeface="Times New Roman" panose="02020603050405020304" pitchFamily="18" charset="0"/>
                <a:cs typeface="Times New Roman" panose="02020603050405020304" pitchFamily="18" charset="0"/>
              </a:rPr>
              <a:t>        if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            amount *= 0.9</a:t>
            </a:r>
          </a:p>
          <a:p>
            <a:pPr marL="0" indent="0" algn="just">
              <a:buNone/>
            </a:pPr>
            <a:r>
              <a:rPr lang="en-US" sz="2000" dirty="0">
                <a:latin typeface="Times New Roman" panose="02020603050405020304" pitchFamily="18" charset="0"/>
                <a:cs typeface="Times New Roman" panose="02020603050405020304" pitchFamily="18" charset="0"/>
              </a:rPr>
              <a:t>        balance -= amount</a:t>
            </a:r>
          </a:p>
          <a:p>
            <a:pPr marL="0" indent="0" algn="just">
              <a:buNone/>
            </a:pPr>
            <a:r>
              <a:rPr lang="en-US" sz="2000" dirty="0">
                <a:latin typeface="Times New Roman" panose="02020603050405020304" pitchFamily="18" charset="0"/>
                <a:cs typeface="Times New Roman" panose="02020603050405020304" pitchFamily="18" charset="0"/>
              </a:rPr>
              <a:t>        return "Order processed"</a:t>
            </a:r>
          </a:p>
          <a:p>
            <a:pPr marL="0" indent="0" algn="just">
              <a:buNone/>
            </a:pPr>
            <a:r>
              <a:rPr lang="en-US" sz="2000" dirty="0">
                <a:latin typeface="Times New Roman" panose="02020603050405020304" pitchFamily="18" charset="0"/>
                <a:cs typeface="Times New Roman" panose="02020603050405020304" pitchFamily="18" charset="0"/>
              </a:rPr>
              <a:t>    else:</a:t>
            </a:r>
          </a:p>
          <a:p>
            <a:pPr marL="0" indent="0" algn="just">
              <a:buNone/>
            </a:pPr>
            <a:r>
              <a:rPr lang="en-US" sz="2000" dirty="0">
                <a:latin typeface="Times New Roman" panose="02020603050405020304" pitchFamily="18" charset="0"/>
                <a:cs typeface="Times New Roman" panose="02020603050405020304" pitchFamily="18" charset="0"/>
              </a:rPr>
              <a:t>        return "Insufficient balance“</a:t>
            </a:r>
          </a:p>
          <a:p>
            <a:pPr marL="0" indent="0" algn="just">
              <a:buNone/>
            </a:pPr>
            <a:r>
              <a:rPr lang="en-US" sz="2000" dirty="0">
                <a:latin typeface="Times New Roman" panose="02020603050405020304" pitchFamily="18" charset="0"/>
                <a:cs typeface="Times New Roman" panose="02020603050405020304" pitchFamily="18" charset="0"/>
              </a:rPr>
              <a:t>Statement coverage ensures that every line of code in the function is executed at least once. Here, we need at least two test cases: </a:t>
            </a:r>
          </a:p>
          <a:p>
            <a:pPr marL="0" indent="0" algn="just">
              <a:buNone/>
            </a:pPr>
            <a:r>
              <a:rPr lang="en-US" sz="2000" dirty="0">
                <a:latin typeface="Times New Roman" panose="02020603050405020304" pitchFamily="18" charset="0"/>
                <a:cs typeface="Times New Roman" panose="02020603050405020304" pitchFamily="18" charset="0"/>
              </a:rPr>
              <a:t>1. Test Case 1: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    Expected Result: "Order processed" with a 10% discount applied.</a:t>
            </a:r>
          </a:p>
          <a:p>
            <a:pPr marL="0" indent="0" algn="just">
              <a:buNone/>
            </a:pPr>
            <a:r>
              <a:rPr lang="en-US" sz="2000" dirty="0">
                <a:latin typeface="Times New Roman" panose="02020603050405020304" pitchFamily="18" charset="0"/>
                <a:cs typeface="Times New Roman" panose="02020603050405020304" pitchFamily="18" charset="0"/>
              </a:rPr>
              <a:t>2. Test Case 2: amount = 110,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    Expected Result: "Insufficient balance" as the balance is less than the amount.</a:t>
            </a:r>
          </a:p>
        </p:txBody>
      </p:sp>
    </p:spTree>
    <p:extLst>
      <p:ext uri="{BB962C8B-B14F-4D97-AF65-F5344CB8AC3E}">
        <p14:creationId xmlns:p14="http://schemas.microsoft.com/office/powerpoint/2010/main" val="4288581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6337-4E8C-B094-A0EE-53D3BF60B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C325D-C612-9BA6-77A7-ABFE85A77DF7}"/>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504249-BCC1-61EC-FB3B-44C0D365C268}"/>
              </a:ext>
            </a:extLst>
          </p:cNvPr>
          <p:cNvSpPr>
            <a:spLocks noGrp="1"/>
          </p:cNvSpPr>
          <p:nvPr>
            <p:ph idx="1"/>
          </p:nvPr>
        </p:nvSpPr>
        <p:spPr>
          <a:xfrm>
            <a:off x="609600" y="606752"/>
            <a:ext cx="10972800" cy="5519413"/>
          </a:xfrm>
        </p:spPr>
        <p:txBody>
          <a:bodyPr>
            <a:normAutofit fontScale="92500" lnSpcReduction="20000"/>
          </a:bodyPr>
          <a:lstStyle/>
          <a:p>
            <a:pPr marL="0" indent="0" algn="just">
              <a:buNone/>
            </a:pPr>
            <a:r>
              <a:rPr lang="en-US" sz="2000" dirty="0">
                <a:latin typeface="Times New Roman" panose="02020603050405020304" pitchFamily="18" charset="0"/>
                <a:cs typeface="Times New Roman" panose="02020603050405020304" pitchFamily="18" charset="0"/>
              </a:rPr>
              <a:t>Branch coverage ensures each decision (true/false) in the function is tested. Here, the primary branches are:</a:t>
            </a:r>
          </a:p>
          <a:p>
            <a:pPr marL="0" indent="0" algn="just">
              <a:buNone/>
            </a:pPr>
            <a:r>
              <a:rPr lang="en-US" sz="2000" dirty="0">
                <a:latin typeface="Times New Roman" panose="02020603050405020304" pitchFamily="18" charset="0"/>
                <a:cs typeface="Times New Roman" panose="02020603050405020304" pitchFamily="18" charset="0"/>
              </a:rPr>
              <a:t>if balance &gt;= amount: True and False</a:t>
            </a:r>
          </a:p>
          <a:p>
            <a:pPr marL="0" indent="0" algn="just">
              <a:buNone/>
            </a:pPr>
            <a:r>
              <a:rPr lang="en-US" sz="2000" dirty="0">
                <a:latin typeface="Times New Roman" panose="02020603050405020304" pitchFamily="18" charset="0"/>
                <a:cs typeface="Times New Roman" panose="02020603050405020304" pitchFamily="18" charset="0"/>
              </a:rPr>
              <a:t>if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 True and False when balance &gt;= amount is True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1: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"Order processed" with discount applied.</a:t>
            </a:r>
          </a:p>
          <a:p>
            <a:pPr marL="0" indent="0" algn="just">
              <a:buNone/>
            </a:pPr>
            <a:r>
              <a:rPr lang="en-US" sz="2000" dirty="0">
                <a:latin typeface="Times New Roman" panose="02020603050405020304" pitchFamily="18" charset="0"/>
                <a:cs typeface="Times New Roman" panose="02020603050405020304" pitchFamily="18" charset="0"/>
              </a:rPr>
              <a:t>Branch: balance &gt;= amount is True,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 is True.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2: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'NODISCOUNT'</a:t>
            </a:r>
          </a:p>
          <a:p>
            <a:pPr marL="0" indent="0" algn="just">
              <a:buNone/>
            </a:pPr>
            <a:r>
              <a:rPr lang="en-US" sz="2000" dirty="0">
                <a:latin typeface="Times New Roman" panose="02020603050405020304" pitchFamily="18" charset="0"/>
                <a:cs typeface="Times New Roman" panose="02020603050405020304" pitchFamily="18" charset="0"/>
              </a:rPr>
              <a:t>Expected: "Order processed" without discount.</a:t>
            </a:r>
          </a:p>
          <a:p>
            <a:pPr marL="0" indent="0" algn="just">
              <a:buNone/>
            </a:pPr>
            <a:r>
              <a:rPr lang="en-US" sz="2000" dirty="0">
                <a:latin typeface="Times New Roman" panose="02020603050405020304" pitchFamily="18" charset="0"/>
                <a:cs typeface="Times New Roman" panose="02020603050405020304" pitchFamily="18" charset="0"/>
              </a:rPr>
              <a:t>Branch: balance &gt;= amount is True,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 is False.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3: amount = 110,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"Insufficient balance."</a:t>
            </a:r>
          </a:p>
          <a:p>
            <a:pPr marL="0" indent="0" algn="just">
              <a:buNone/>
            </a:pPr>
            <a:r>
              <a:rPr lang="en-US" sz="2000" dirty="0">
                <a:latin typeface="Times New Roman" panose="02020603050405020304" pitchFamily="18" charset="0"/>
                <a:cs typeface="Times New Roman" panose="02020603050405020304" pitchFamily="18" charset="0"/>
              </a:rPr>
              <a:t>Branch: balance &gt;= amount is False,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is not checked due to balance insufficiency.</a:t>
            </a:r>
          </a:p>
        </p:txBody>
      </p:sp>
    </p:spTree>
    <p:extLst>
      <p:ext uri="{BB962C8B-B14F-4D97-AF65-F5344CB8AC3E}">
        <p14:creationId xmlns:p14="http://schemas.microsoft.com/office/powerpoint/2010/main" val="3271056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FFAFC-84CC-97F6-6404-8850152BC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063B-1D50-F329-58A1-3388AE736B88}"/>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FD8475-513B-683A-7EF2-2C3713BCBC01}"/>
              </a:ext>
            </a:extLst>
          </p:cNvPr>
          <p:cNvSpPr>
            <a:spLocks noGrp="1"/>
          </p:cNvSpPr>
          <p:nvPr>
            <p:ph idx="1"/>
          </p:nvPr>
        </p:nvSpPr>
        <p:spPr>
          <a:xfrm>
            <a:off x="609600" y="606752"/>
            <a:ext cx="10972800" cy="5519413"/>
          </a:xfrm>
        </p:spPr>
        <p:txBody>
          <a:bodyPr>
            <a:normAutofit fontScale="92500" lnSpcReduction="20000"/>
          </a:bodyPr>
          <a:lstStyle/>
          <a:p>
            <a:pPr marL="0" indent="0" algn="just">
              <a:buNone/>
            </a:pPr>
            <a:r>
              <a:rPr lang="en-US" sz="2000" dirty="0">
                <a:latin typeface="Times New Roman" panose="02020603050405020304" pitchFamily="18" charset="0"/>
                <a:cs typeface="Times New Roman" panose="02020603050405020304" pitchFamily="18" charset="0"/>
              </a:rPr>
              <a:t>To determine the paths to test, let’s calculate Cyclomatic Complexity (CC) using the formula:</a:t>
            </a:r>
          </a:p>
          <a:p>
            <a:pPr marL="0" indent="0" algn="just">
              <a:buNone/>
            </a:pPr>
            <a:r>
              <a:rPr lang="en-US" sz="2000" dirty="0">
                <a:latin typeface="Times New Roman" panose="02020603050405020304" pitchFamily="18" charset="0"/>
                <a:cs typeface="Times New Roman" panose="02020603050405020304" pitchFamily="18" charset="0"/>
              </a:rPr>
              <a:t>V(G)=E−N+2</a:t>
            </a:r>
          </a:p>
          <a:p>
            <a:pPr marL="0" indent="0" algn="just">
              <a:buNone/>
            </a:pPr>
            <a:r>
              <a:rPr lang="en-US" sz="2000" dirty="0">
                <a:latin typeface="Times New Roman" panose="02020603050405020304" pitchFamily="18" charset="0"/>
                <a:cs typeface="Times New Roman" panose="02020603050405020304" pitchFamily="18" charset="0"/>
              </a:rPr>
              <a:t>Where:  V(G)=7−6+2=3</a:t>
            </a:r>
          </a:p>
          <a:p>
            <a:pPr marL="0" indent="0" algn="just">
              <a:buNone/>
            </a:pPr>
            <a:r>
              <a:rPr lang="en-US" sz="2000" dirty="0">
                <a:latin typeface="Times New Roman" panose="02020603050405020304" pitchFamily="18" charset="0"/>
                <a:cs typeface="Times New Roman" panose="02020603050405020304" pitchFamily="18" charset="0"/>
              </a:rPr>
              <a:t>This means we need 3 independent paths.</a:t>
            </a:r>
          </a:p>
          <a:p>
            <a:pPr marL="0" indent="0" algn="just">
              <a:buNone/>
            </a:pPr>
            <a:r>
              <a:rPr lang="en-US" sz="2000" dirty="0">
                <a:latin typeface="Times New Roman" panose="02020603050405020304" pitchFamily="18" charset="0"/>
                <a:cs typeface="Times New Roman" panose="02020603050405020304" pitchFamily="18" charset="0"/>
              </a:rPr>
              <a:t>Paths and Corresponding Test Cases:</a:t>
            </a:r>
          </a:p>
          <a:p>
            <a:pPr marL="0" indent="0" algn="just">
              <a:buNone/>
            </a:pPr>
            <a:r>
              <a:rPr lang="en-US" sz="2000" dirty="0">
                <a:latin typeface="Times New Roman" panose="02020603050405020304" pitchFamily="18" charset="0"/>
                <a:cs typeface="Times New Roman" panose="02020603050405020304" pitchFamily="18" charset="0"/>
              </a:rPr>
              <a:t>Path 1: balance &gt;= amount is True, and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 is True.</a:t>
            </a:r>
          </a:p>
          <a:p>
            <a:pPr marL="0" indent="0" algn="just">
              <a:buNone/>
            </a:pPr>
            <a:r>
              <a:rPr lang="en-US" sz="2000" dirty="0">
                <a:latin typeface="Times New Roman" panose="02020603050405020304" pitchFamily="18" charset="0"/>
                <a:cs typeface="Times New Roman" panose="02020603050405020304" pitchFamily="18" charset="0"/>
              </a:rPr>
              <a:t>Test Case 1: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Result: "Order processed" with 10% discount applied.</a:t>
            </a:r>
          </a:p>
          <a:p>
            <a:pPr marL="0" indent="0" algn="just">
              <a:buNone/>
            </a:pPr>
            <a:r>
              <a:rPr lang="en-US" sz="2000" dirty="0">
                <a:latin typeface="Times New Roman" panose="02020603050405020304" pitchFamily="18" charset="0"/>
                <a:cs typeface="Times New Roman" panose="02020603050405020304" pitchFamily="18" charset="0"/>
              </a:rPr>
              <a:t>Path 2: balance &gt;= amount is True, but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Test Case 2: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'NODISCOUNT'</a:t>
            </a:r>
          </a:p>
          <a:p>
            <a:pPr marL="0" indent="0" algn="just">
              <a:buNone/>
            </a:pPr>
            <a:r>
              <a:rPr lang="en-US" sz="2000" dirty="0">
                <a:latin typeface="Times New Roman" panose="02020603050405020304" pitchFamily="18" charset="0"/>
                <a:cs typeface="Times New Roman" panose="02020603050405020304" pitchFamily="18" charset="0"/>
              </a:rPr>
              <a:t>Expected Result: "Order processed" without a discount.</a:t>
            </a:r>
          </a:p>
          <a:p>
            <a:pPr marL="0" indent="0" algn="just">
              <a:buNone/>
            </a:pPr>
            <a:r>
              <a:rPr lang="en-US" sz="2000" dirty="0">
                <a:latin typeface="Times New Roman" panose="02020603050405020304" pitchFamily="18" charset="0"/>
                <a:cs typeface="Times New Roman" panose="02020603050405020304" pitchFamily="18" charset="0"/>
              </a:rPr>
              <a:t>Path 3: balance &gt;= amount is False.</a:t>
            </a:r>
          </a:p>
          <a:p>
            <a:pPr marL="0" indent="0" algn="just">
              <a:buNone/>
            </a:pPr>
            <a:r>
              <a:rPr lang="en-US" sz="2000" dirty="0">
                <a:latin typeface="Times New Roman" panose="02020603050405020304" pitchFamily="18" charset="0"/>
                <a:cs typeface="Times New Roman" panose="02020603050405020304" pitchFamily="18" charset="0"/>
              </a:rPr>
              <a:t>Test Case 3: amount = 110,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Result: "Insufficient balance."</a:t>
            </a:r>
          </a:p>
          <a:p>
            <a:pPr marL="0" indent="0" algn="just">
              <a:buNone/>
            </a:pPr>
            <a:r>
              <a:rPr lang="en-US" sz="2000" dirty="0">
                <a:latin typeface="Times New Roman" panose="02020603050405020304" pitchFamily="18" charset="0"/>
                <a:cs typeface="Times New Roman" panose="02020603050405020304" pitchFamily="18" charset="0"/>
              </a:rPr>
              <a:t>These paths ensure full path testing based on the control flow structure.</a:t>
            </a:r>
          </a:p>
        </p:txBody>
      </p:sp>
    </p:spTree>
    <p:extLst>
      <p:ext uri="{BB962C8B-B14F-4D97-AF65-F5344CB8AC3E}">
        <p14:creationId xmlns:p14="http://schemas.microsoft.com/office/powerpoint/2010/main" val="3031705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EAED0-8A81-30C7-A7AA-9EF20ACE9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E83B1-E7D7-2949-9D52-396C3252535D}"/>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DF2CF0-E152-224E-BEC3-637911D2C51C}"/>
              </a:ext>
            </a:extLst>
          </p:cNvPr>
          <p:cNvSpPr>
            <a:spLocks noGrp="1"/>
          </p:cNvSpPr>
          <p:nvPr>
            <p:ph idx="1"/>
          </p:nvPr>
        </p:nvSpPr>
        <p:spPr>
          <a:xfrm>
            <a:off x="609600" y="606752"/>
            <a:ext cx="10972800" cy="5519413"/>
          </a:xfrm>
        </p:spPr>
        <p:txBody>
          <a:bodyPr>
            <a:normAutofit fontScale="92500" lnSpcReduction="20000"/>
          </a:bodyPr>
          <a:lstStyle/>
          <a:p>
            <a:pPr marL="0" indent="0" algn="just">
              <a:buNone/>
            </a:pPr>
            <a:r>
              <a:rPr lang="en-US" sz="2000" dirty="0">
                <a:latin typeface="Times New Roman" panose="02020603050405020304" pitchFamily="18" charset="0"/>
                <a:cs typeface="Times New Roman" panose="02020603050405020304" pitchFamily="18" charset="0"/>
              </a:rPr>
              <a:t>Boundary Value Analysis focuses on edge cases around the limits of conditions. Here, we consider boundaries around balance = amount and a discount scenario.</a:t>
            </a:r>
          </a:p>
          <a:p>
            <a:pPr marL="0" indent="0" algn="just">
              <a:buNone/>
            </a:pPr>
            <a:r>
              <a:rPr lang="en-US" sz="2000" dirty="0">
                <a:latin typeface="Times New Roman" panose="02020603050405020304" pitchFamily="18" charset="0"/>
                <a:cs typeface="Times New Roman" panose="02020603050405020304" pitchFamily="18" charset="0"/>
              </a:rPr>
              <a:t>Test Cases for BVA:</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1: amount = 100,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"Order processed" with a discount.</a:t>
            </a:r>
          </a:p>
          <a:p>
            <a:pPr marL="0" indent="0" algn="just">
              <a:buNone/>
            </a:pPr>
            <a:r>
              <a:rPr lang="en-US" sz="2000" dirty="0">
                <a:latin typeface="Times New Roman" panose="02020603050405020304" pitchFamily="18" charset="0"/>
                <a:cs typeface="Times New Roman" panose="02020603050405020304" pitchFamily="18" charset="0"/>
              </a:rPr>
              <a:t>Boundary: balance == amount, discount applied.</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2: amount = 99,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'NODISCOUNT'</a:t>
            </a:r>
          </a:p>
          <a:p>
            <a:pPr marL="0" indent="0" algn="just">
              <a:buNone/>
            </a:pPr>
            <a:r>
              <a:rPr lang="en-US" sz="2000" dirty="0">
                <a:latin typeface="Times New Roman" panose="02020603050405020304" pitchFamily="18" charset="0"/>
                <a:cs typeface="Times New Roman" panose="02020603050405020304" pitchFamily="18" charset="0"/>
              </a:rPr>
              <a:t>Expected: "Order processed" without a discount.</a:t>
            </a:r>
          </a:p>
          <a:p>
            <a:pPr marL="0" indent="0" algn="just">
              <a:buNone/>
            </a:pPr>
            <a:r>
              <a:rPr lang="en-US" sz="2000" dirty="0">
                <a:latin typeface="Times New Roman" panose="02020603050405020304" pitchFamily="18" charset="0"/>
                <a:cs typeface="Times New Roman" panose="02020603050405020304" pitchFamily="18" charset="0"/>
              </a:rPr>
              <a:t>Boundary: balance &gt; amount with no discount.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Case 3: amount = 101,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"Insufficient balance."</a:t>
            </a:r>
          </a:p>
          <a:p>
            <a:pPr marL="0" indent="0" algn="just">
              <a:buNone/>
            </a:pPr>
            <a:r>
              <a:rPr lang="en-US" sz="2000" dirty="0">
                <a:latin typeface="Times New Roman" panose="02020603050405020304" pitchFamily="18" charset="0"/>
                <a:cs typeface="Times New Roman" panose="02020603050405020304" pitchFamily="18" charset="0"/>
              </a:rPr>
              <a:t>Boundary: balance &lt; amount.</a:t>
            </a:r>
          </a:p>
        </p:txBody>
      </p:sp>
    </p:spTree>
    <p:extLst>
      <p:ext uri="{BB962C8B-B14F-4D97-AF65-F5344CB8AC3E}">
        <p14:creationId xmlns:p14="http://schemas.microsoft.com/office/powerpoint/2010/main" val="226895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8A70-9D47-E604-46F6-11EB61DB2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98F38-A7C5-D183-04ED-0E93889EFBE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White box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FCF94E-8527-6616-1DDC-992775277C6B}"/>
              </a:ext>
            </a:extLst>
          </p:cNvPr>
          <p:cNvSpPr>
            <a:spLocks noGrp="1"/>
          </p:cNvSpPr>
          <p:nvPr>
            <p:ph idx="1"/>
          </p:nvPr>
        </p:nvSpPr>
        <p:spPr>
          <a:xfrm>
            <a:off x="609600" y="606752"/>
            <a:ext cx="10972800" cy="551941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Equivalence Partitioning divides input data into equivalent partitions that should yield the same outcome, such as whether the discount is applied or if there are insufficient funds.</a:t>
            </a:r>
          </a:p>
          <a:p>
            <a:pPr marL="0" indent="0" algn="just">
              <a:buNone/>
            </a:pPr>
            <a:r>
              <a:rPr lang="en-US" sz="2000" dirty="0">
                <a:latin typeface="Times New Roman" panose="02020603050405020304" pitchFamily="18" charset="0"/>
                <a:cs typeface="Times New Roman" panose="02020603050405020304" pitchFamily="18" charset="0"/>
              </a:rPr>
              <a:t>Partitions and Test Cases:</a:t>
            </a:r>
          </a:p>
          <a:p>
            <a:pPr marL="0" indent="0" algn="just">
              <a:buNone/>
            </a:pPr>
            <a:r>
              <a:rPr lang="en-US" sz="2000" dirty="0">
                <a:latin typeface="Times New Roman" panose="02020603050405020304" pitchFamily="18" charset="0"/>
                <a:cs typeface="Times New Roman" panose="02020603050405020304" pitchFamily="18" charset="0"/>
              </a:rPr>
              <a:t>Partition 1: Sufficient balance, discount code valid.</a:t>
            </a:r>
          </a:p>
          <a:p>
            <a:pPr marL="0" indent="0" algn="just">
              <a:buNone/>
            </a:pPr>
            <a:r>
              <a:rPr lang="en-US" sz="2000" dirty="0">
                <a:latin typeface="Times New Roman" panose="02020603050405020304" pitchFamily="18" charset="0"/>
                <a:cs typeface="Times New Roman" panose="02020603050405020304" pitchFamily="18" charset="0"/>
              </a:rPr>
              <a:t>Test Case 1: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"Order processed" with discount.</a:t>
            </a:r>
          </a:p>
          <a:p>
            <a:pPr marL="0" indent="0" algn="just">
              <a:buNone/>
            </a:pPr>
            <a:r>
              <a:rPr lang="en-US" sz="2000" dirty="0">
                <a:latin typeface="Times New Roman" panose="02020603050405020304" pitchFamily="18" charset="0"/>
                <a:cs typeface="Times New Roman" panose="02020603050405020304" pitchFamily="18" charset="0"/>
              </a:rPr>
              <a:t>Partition 2: Sufficient balance, discount code invalid.</a:t>
            </a:r>
          </a:p>
          <a:p>
            <a:pPr marL="0" indent="0" algn="just">
              <a:buNone/>
            </a:pPr>
            <a:r>
              <a:rPr lang="en-US" sz="2000" dirty="0">
                <a:latin typeface="Times New Roman" panose="02020603050405020304" pitchFamily="18" charset="0"/>
                <a:cs typeface="Times New Roman" panose="02020603050405020304" pitchFamily="18" charset="0"/>
              </a:rPr>
              <a:t>Test Case 2: amount = 90,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'NODISCOUNT'</a:t>
            </a:r>
          </a:p>
          <a:p>
            <a:pPr marL="0" indent="0" algn="just">
              <a:buNone/>
            </a:pPr>
            <a:r>
              <a:rPr lang="en-US" sz="2000" dirty="0">
                <a:latin typeface="Times New Roman" panose="02020603050405020304" pitchFamily="18" charset="0"/>
                <a:cs typeface="Times New Roman" panose="02020603050405020304" pitchFamily="18" charset="0"/>
              </a:rPr>
              <a:t>Expected: "Order processed" without discount.</a:t>
            </a:r>
          </a:p>
          <a:p>
            <a:pPr marL="0" indent="0" algn="just">
              <a:buNone/>
            </a:pPr>
            <a:r>
              <a:rPr lang="en-US" sz="2000" dirty="0">
                <a:latin typeface="Times New Roman" panose="02020603050405020304" pitchFamily="18" charset="0"/>
                <a:cs typeface="Times New Roman" panose="02020603050405020304" pitchFamily="18" charset="0"/>
              </a:rPr>
              <a:t>Partition 3: Insufficient balance, discount code irrelevant.</a:t>
            </a:r>
          </a:p>
          <a:p>
            <a:pPr marL="0" indent="0" algn="just">
              <a:buNone/>
            </a:pPr>
            <a:r>
              <a:rPr lang="en-US" sz="2000" dirty="0">
                <a:latin typeface="Times New Roman" panose="02020603050405020304" pitchFamily="18" charset="0"/>
                <a:cs typeface="Times New Roman" panose="02020603050405020304" pitchFamily="18" charset="0"/>
              </a:rPr>
              <a:t>Test Case 3: amount = 110, balance = 100, </a:t>
            </a:r>
            <a:r>
              <a:rPr lang="en-US" sz="2000" dirty="0" err="1">
                <a:latin typeface="Times New Roman" panose="02020603050405020304" pitchFamily="18" charset="0"/>
                <a:cs typeface="Times New Roman" panose="02020603050405020304" pitchFamily="18" charset="0"/>
              </a:rPr>
              <a:t>discount_code</a:t>
            </a:r>
            <a:r>
              <a:rPr lang="en-US" sz="2000" dirty="0">
                <a:latin typeface="Times New Roman" panose="02020603050405020304" pitchFamily="18" charset="0"/>
                <a:cs typeface="Times New Roman" panose="02020603050405020304" pitchFamily="18" charset="0"/>
              </a:rPr>
              <a:t> = 'DISCOUNT10'</a:t>
            </a:r>
          </a:p>
          <a:p>
            <a:pPr marL="0" indent="0" algn="just">
              <a:buNone/>
            </a:pPr>
            <a:r>
              <a:rPr lang="en-US" sz="2000" dirty="0">
                <a:latin typeface="Times New Roman" panose="02020603050405020304" pitchFamily="18" charset="0"/>
                <a:cs typeface="Times New Roman" panose="02020603050405020304" pitchFamily="18" charset="0"/>
              </a:rPr>
              <a:t>Expected: "Insufficient balance."</a:t>
            </a:r>
          </a:p>
        </p:txBody>
      </p:sp>
    </p:spTree>
    <p:extLst>
      <p:ext uri="{BB962C8B-B14F-4D97-AF65-F5344CB8AC3E}">
        <p14:creationId xmlns:p14="http://schemas.microsoft.com/office/powerpoint/2010/main" val="3425400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5882B-2DEF-52C2-E6BE-CF35EE690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6269A-C344-1595-621D-F52DFC445E3B}"/>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System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240AC5-C6E3-54FA-A0EF-A446FAE5ACCA}"/>
              </a:ext>
            </a:extLst>
          </p:cNvPr>
          <p:cNvSpPr>
            <a:spLocks noGrp="1"/>
          </p:cNvSpPr>
          <p:nvPr>
            <p:ph idx="1"/>
          </p:nvPr>
        </p:nvSpPr>
        <p:spPr>
          <a:xfrm>
            <a:off x="609600" y="606752"/>
            <a:ext cx="10972800" cy="5519413"/>
          </a:xfrm>
        </p:spPr>
        <p:txBody>
          <a:bodyPr/>
          <a:lstStyle/>
          <a:p>
            <a:pPr algn="just"/>
            <a:r>
              <a:rPr lang="en-US" sz="2000" dirty="0">
                <a:latin typeface="Times New Roman" panose="02020603050405020304" pitchFamily="18" charset="0"/>
                <a:cs typeface="Times New Roman" panose="02020603050405020304" pitchFamily="18" charset="0"/>
              </a:rPr>
              <a:t>System Testing is a critical phase in software testing that evaluates the complete integrated system to ensure it meets the specified requirements and performs as expected in a real-world environment. It’s the first level of testing where the entire system is tested as a whole, rather than focusing on individual units or components.</a:t>
            </a:r>
          </a:p>
          <a:p>
            <a:pPr algn="just"/>
            <a:r>
              <a:rPr lang="en-US" sz="2000" dirty="0">
                <a:latin typeface="Times New Roman" panose="02020603050405020304" pitchFamily="18" charset="0"/>
                <a:cs typeface="Times New Roman" panose="02020603050405020304" pitchFamily="18" charset="0"/>
              </a:rPr>
              <a:t>System testing is particularly important because it validates both the functionality and non-functional aspects (like performance, usability, and security) of the system.</a:t>
            </a:r>
          </a:p>
          <a:p>
            <a:pPr marL="0" indent="0" algn="just">
              <a:buNone/>
            </a:pPr>
            <a:r>
              <a:rPr lang="en-US" sz="2000" dirty="0">
                <a:latin typeface="Times New Roman" panose="02020603050405020304" pitchFamily="18" charset="0"/>
                <a:cs typeface="Times New Roman" panose="02020603050405020304" pitchFamily="18" charset="0"/>
              </a:rPr>
              <a:t>Objectives of System Testing</a:t>
            </a:r>
          </a:p>
          <a:p>
            <a:pPr algn="just">
              <a:buFont typeface="+mj-lt"/>
              <a:buAutoNum type="arabicPeriod"/>
            </a:pPr>
            <a:r>
              <a:rPr lang="en-US" sz="2000" dirty="0">
                <a:latin typeface="Times New Roman" panose="02020603050405020304" pitchFamily="18" charset="0"/>
                <a:cs typeface="Times New Roman" panose="02020603050405020304" pitchFamily="18" charset="0"/>
              </a:rPr>
              <a:t>Validate End-to-End Functionality: Ensure the system operates as expected from start to finish.</a:t>
            </a:r>
          </a:p>
          <a:p>
            <a:pPr algn="just">
              <a:buFont typeface="+mj-lt"/>
              <a:buAutoNum type="arabicPeriod"/>
            </a:pPr>
            <a:r>
              <a:rPr lang="en-US" sz="2000" dirty="0">
                <a:latin typeface="Times New Roman" panose="02020603050405020304" pitchFamily="18" charset="0"/>
                <a:cs typeface="Times New Roman" panose="02020603050405020304" pitchFamily="18" charset="0"/>
              </a:rPr>
              <a:t>Identify and Resolve Issues: Detect issues that might not be apparent in individual components.</a:t>
            </a:r>
          </a:p>
          <a:p>
            <a:pPr algn="just">
              <a:buFont typeface="+mj-lt"/>
              <a:buAutoNum type="arabicPeriod"/>
            </a:pPr>
            <a:r>
              <a:rPr lang="en-US" sz="2000" dirty="0">
                <a:latin typeface="Times New Roman" panose="02020603050405020304" pitchFamily="18" charset="0"/>
                <a:cs typeface="Times New Roman" panose="02020603050405020304" pitchFamily="18" charset="0"/>
              </a:rPr>
              <a:t>Meet User Requirements: Verify that the system meets the user's needs and expectations.</a:t>
            </a:r>
          </a:p>
          <a:p>
            <a:pPr algn="just">
              <a:buFont typeface="+mj-lt"/>
              <a:buAutoNum type="arabicPeriod"/>
            </a:pPr>
            <a:r>
              <a:rPr lang="en-US" sz="2000" dirty="0">
                <a:latin typeface="Times New Roman" panose="02020603050405020304" pitchFamily="18" charset="0"/>
                <a:cs typeface="Times New Roman" panose="02020603050405020304" pitchFamily="18" charset="0"/>
              </a:rPr>
              <a:t>Assess Non-Functional Aspects: Evaluate attributes like performance, scalability, and security.</a:t>
            </a:r>
          </a:p>
        </p:txBody>
      </p:sp>
    </p:spTree>
    <p:extLst>
      <p:ext uri="{BB962C8B-B14F-4D97-AF65-F5344CB8AC3E}">
        <p14:creationId xmlns:p14="http://schemas.microsoft.com/office/powerpoint/2010/main" val="2673381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3DF4A-9AC1-425F-DF92-984EADC1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780FD-558B-C252-7B54-8FF2349915CC}"/>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System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567678-56CB-B285-95A5-114FB819E3A9}"/>
              </a:ext>
            </a:extLst>
          </p:cNvPr>
          <p:cNvSpPr>
            <a:spLocks noGrp="1"/>
          </p:cNvSpPr>
          <p:nvPr>
            <p:ph idx="1"/>
          </p:nvPr>
        </p:nvSpPr>
        <p:spPr>
          <a:xfrm>
            <a:off x="609600" y="606752"/>
            <a:ext cx="10972800" cy="5519413"/>
          </a:xfrm>
        </p:spPr>
        <p:txBody>
          <a:bodyPr>
            <a:normAutofit fontScale="92500" lnSpcReduction="20000"/>
          </a:bodyPr>
          <a:lstStyle/>
          <a:p>
            <a:pPr marL="0" indent="0" algn="just">
              <a:buNone/>
            </a:pPr>
            <a:r>
              <a:rPr lang="en-US" sz="1800" dirty="0">
                <a:latin typeface="Times New Roman" panose="02020603050405020304" pitchFamily="18" charset="0"/>
                <a:cs typeface="Times New Roman" panose="02020603050405020304" pitchFamily="18" charset="0"/>
              </a:rPr>
              <a:t>Types of System Testing</a:t>
            </a:r>
          </a:p>
          <a:p>
            <a:pPr algn="just"/>
            <a:r>
              <a:rPr lang="en-US" sz="1800" dirty="0">
                <a:latin typeface="Times New Roman" panose="02020603050405020304" pitchFamily="18" charset="0"/>
                <a:cs typeface="Times New Roman" panose="02020603050405020304" pitchFamily="18" charset="0"/>
              </a:rPr>
              <a:t>System testing comprises multiple types that cover various aspects of the system. Below are the most commonly used types, explained with examples:</a:t>
            </a:r>
          </a:p>
          <a:p>
            <a:pPr marL="0" indent="0" algn="just">
              <a:buNone/>
            </a:pPr>
            <a:r>
              <a:rPr lang="en-US" sz="1800" dirty="0">
                <a:latin typeface="Times New Roman" panose="02020603050405020304" pitchFamily="18" charset="0"/>
                <a:cs typeface="Times New Roman" panose="02020603050405020304" pitchFamily="18" charset="0"/>
              </a:rPr>
              <a:t>1. Functional Testing</a:t>
            </a:r>
          </a:p>
          <a:p>
            <a:pPr lvl="1" algn="just"/>
            <a:r>
              <a:rPr lang="en-US" sz="1800" dirty="0">
                <a:latin typeface="Times New Roman" panose="02020603050405020304" pitchFamily="18" charset="0"/>
                <a:cs typeface="Times New Roman" panose="02020603050405020304" pitchFamily="18" charset="0"/>
              </a:rPr>
              <a:t>Functional testing verifies that each function of the system operates according to the specifications. It focuses on what the system is supposed to do.</a:t>
            </a:r>
          </a:p>
          <a:p>
            <a:pPr lvl="1" algn="just"/>
            <a:r>
              <a:rPr lang="en-US" sz="1800" dirty="0">
                <a:latin typeface="Times New Roman" panose="02020603050405020304" pitchFamily="18" charset="0"/>
                <a:cs typeface="Times New Roman" panose="02020603050405020304" pitchFamily="18" charset="0"/>
              </a:rPr>
              <a:t>Example: In an e-commerce application, functional testing would ensure that users can successfully search for products, add items to their cart, and complete a purchase.</a:t>
            </a:r>
          </a:p>
          <a:p>
            <a:pPr marL="0" indent="0" algn="just">
              <a:buNone/>
            </a:pPr>
            <a:r>
              <a:rPr lang="en-US" sz="1800" dirty="0">
                <a:latin typeface="Times New Roman" panose="02020603050405020304" pitchFamily="18" charset="0"/>
                <a:cs typeface="Times New Roman" panose="02020603050405020304" pitchFamily="18" charset="0"/>
              </a:rPr>
              <a:t>2. Performance Testing</a:t>
            </a:r>
          </a:p>
          <a:p>
            <a:pPr lvl="1" algn="just"/>
            <a:r>
              <a:rPr lang="en-US" sz="1800" dirty="0">
                <a:latin typeface="Times New Roman" panose="02020603050405020304" pitchFamily="18" charset="0"/>
                <a:cs typeface="Times New Roman" panose="02020603050405020304" pitchFamily="18" charset="0"/>
              </a:rPr>
              <a:t>Performance testing assesses how the system performs under specific conditions. It includes testing for response time, load handling, and stability.</a:t>
            </a:r>
          </a:p>
          <a:p>
            <a:pPr lvl="1" algn="just"/>
            <a:r>
              <a:rPr lang="en-US" sz="1800" dirty="0">
                <a:latin typeface="Times New Roman" panose="02020603050405020304" pitchFamily="18" charset="0"/>
                <a:cs typeface="Times New Roman" panose="02020603050405020304" pitchFamily="18" charset="0"/>
              </a:rPr>
              <a:t>Example: In a banking system, performance testing might involve testing the response time for processing transactions during peak hours to ensure it can handle high volumes without delays.</a:t>
            </a:r>
          </a:p>
          <a:p>
            <a:pPr marL="0" indent="0" algn="just">
              <a:buNone/>
            </a:pPr>
            <a:r>
              <a:rPr lang="en-US" sz="1800" dirty="0">
                <a:latin typeface="Times New Roman" panose="02020603050405020304" pitchFamily="18" charset="0"/>
                <a:cs typeface="Times New Roman" panose="02020603050405020304" pitchFamily="18" charset="0"/>
              </a:rPr>
              <a:t>Subtypes of Performance Testing:</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Load Testing: Checks how the system performs under expected load.</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Stress Testing: Determines system behavior under extreme conditions, like high traffic.</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Spike Testing: Assesses system performance under sudden and extreme changes in load.</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Endurance Testing: Tests the system's stability over prolonged use.</a:t>
            </a:r>
          </a:p>
        </p:txBody>
      </p:sp>
    </p:spTree>
    <p:extLst>
      <p:ext uri="{BB962C8B-B14F-4D97-AF65-F5344CB8AC3E}">
        <p14:creationId xmlns:p14="http://schemas.microsoft.com/office/powerpoint/2010/main" val="2392421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C7DEC-7928-4F77-E7AD-06630A371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85F59-72B7-A2F0-48B0-399B864B426B}"/>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System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C35853-645A-9682-A7D5-27ED24EB6A18}"/>
              </a:ext>
            </a:extLst>
          </p:cNvPr>
          <p:cNvSpPr>
            <a:spLocks noGrp="1"/>
          </p:cNvSpPr>
          <p:nvPr>
            <p:ph idx="1"/>
          </p:nvPr>
        </p:nvSpPr>
        <p:spPr>
          <a:xfrm>
            <a:off x="609600" y="606752"/>
            <a:ext cx="10972800" cy="551941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3. Usability Testing</a:t>
            </a:r>
          </a:p>
          <a:p>
            <a:pPr lvl="1" algn="just"/>
            <a:r>
              <a:rPr lang="en-US" sz="1800" dirty="0">
                <a:latin typeface="Times New Roman" panose="02020603050405020304" pitchFamily="18" charset="0"/>
                <a:cs typeface="Times New Roman" panose="02020603050405020304" pitchFamily="18" charset="0"/>
              </a:rPr>
              <a:t>Usability testing evaluates how user-friendly the system is by assessing its layout, navigation, and overall design.</a:t>
            </a:r>
          </a:p>
          <a:p>
            <a:pPr lvl="1" algn="just"/>
            <a:r>
              <a:rPr lang="en-US" sz="1800" dirty="0">
                <a:latin typeface="Times New Roman" panose="02020603050405020304" pitchFamily="18" charset="0"/>
                <a:cs typeface="Times New Roman" panose="02020603050405020304" pitchFamily="18" charset="0"/>
              </a:rPr>
              <a:t>Example: For an educational portal, usability testing ensures that students can easily access course materials, submit assignments, and communicate with instructors, making sure the interface is intuitive and accessible.</a:t>
            </a:r>
          </a:p>
          <a:p>
            <a:pPr marL="0" indent="0" algn="just">
              <a:buNone/>
            </a:pPr>
            <a:r>
              <a:rPr lang="en-US" sz="1800" dirty="0">
                <a:latin typeface="Times New Roman" panose="02020603050405020304" pitchFamily="18" charset="0"/>
                <a:cs typeface="Times New Roman" panose="02020603050405020304" pitchFamily="18" charset="0"/>
              </a:rPr>
              <a:t>4. Security Testing</a:t>
            </a:r>
          </a:p>
          <a:p>
            <a:pPr lvl="1" algn="just"/>
            <a:r>
              <a:rPr lang="en-US" sz="1800" dirty="0">
                <a:latin typeface="Times New Roman" panose="02020603050405020304" pitchFamily="18" charset="0"/>
                <a:cs typeface="Times New Roman" panose="02020603050405020304" pitchFamily="18" charset="0"/>
              </a:rPr>
              <a:t>Security testing aims to identify vulnerabilities in the system to prevent unauthorized access and ensure data protection.</a:t>
            </a:r>
          </a:p>
          <a:p>
            <a:pPr lvl="1" algn="just"/>
            <a:r>
              <a:rPr lang="en-US" sz="1800" dirty="0">
                <a:latin typeface="Times New Roman" panose="02020603050405020304" pitchFamily="18" charset="0"/>
                <a:cs typeface="Times New Roman" panose="02020603050405020304" pitchFamily="18" charset="0"/>
              </a:rPr>
              <a:t>Example: In a healthcare application, security testing would involve verifying that only authorized users can access patient records and that data is encrypted to prevent breaches.</a:t>
            </a:r>
          </a:p>
          <a:p>
            <a:pPr marL="0" indent="0" algn="just">
              <a:buNone/>
            </a:pPr>
            <a:r>
              <a:rPr lang="en-US" sz="1800" dirty="0">
                <a:latin typeface="Times New Roman" panose="02020603050405020304" pitchFamily="18" charset="0"/>
                <a:cs typeface="Times New Roman" panose="02020603050405020304" pitchFamily="18" charset="0"/>
              </a:rPr>
              <a:t>Key Aspects:</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Authentication Testing: Checks login and authentication mechanisms.</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Authorization Testing: Ensures users have the appropriate permissions for various operations.</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Data Encryption: Tests if sensitive data is encrypted.</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Vulnerability Scanning: Detects potential weaknesses in the system.</a:t>
            </a:r>
          </a:p>
        </p:txBody>
      </p:sp>
    </p:spTree>
    <p:extLst>
      <p:ext uri="{BB962C8B-B14F-4D97-AF65-F5344CB8AC3E}">
        <p14:creationId xmlns:p14="http://schemas.microsoft.com/office/powerpoint/2010/main" val="329237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D11A-1BFE-05DF-2E23-EB4D3E4D4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91D45-480D-FDE5-CCB8-BD7A7043B1F5}"/>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System Testing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3A64A5-F986-F271-074E-21EE0B66A3EA}"/>
              </a:ext>
            </a:extLst>
          </p:cNvPr>
          <p:cNvSpPr>
            <a:spLocks noGrp="1"/>
          </p:cNvSpPr>
          <p:nvPr>
            <p:ph idx="1"/>
          </p:nvPr>
        </p:nvSpPr>
        <p:spPr>
          <a:xfrm>
            <a:off x="609600" y="606752"/>
            <a:ext cx="10972800" cy="551941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5. Compatibility Testing</a:t>
            </a:r>
          </a:p>
          <a:p>
            <a:pPr lvl="1" algn="just"/>
            <a:r>
              <a:rPr lang="en-US" sz="1800" dirty="0">
                <a:latin typeface="Times New Roman" panose="02020603050405020304" pitchFamily="18" charset="0"/>
                <a:cs typeface="Times New Roman" panose="02020603050405020304" pitchFamily="18" charset="0"/>
              </a:rPr>
              <a:t>Compatibility testing checks how well the software functions across different devices, browsers, operating systems, and networks.</a:t>
            </a:r>
          </a:p>
          <a:p>
            <a:pPr lvl="1" algn="just"/>
            <a:r>
              <a:rPr lang="en-US" sz="1800" dirty="0">
                <a:latin typeface="Times New Roman" panose="02020603050405020304" pitchFamily="18" charset="0"/>
                <a:cs typeface="Times New Roman" panose="02020603050405020304" pitchFamily="18" charset="0"/>
              </a:rPr>
              <a:t>Example: For a messaging app, compatibility testing would ensure that the app works across iOS, Android, and web platforms, as well as on different screen sizes.</a:t>
            </a:r>
          </a:p>
          <a:p>
            <a:pPr marL="0" indent="0" algn="just">
              <a:buNone/>
            </a:pPr>
            <a:r>
              <a:rPr lang="en-US" sz="1800" dirty="0">
                <a:latin typeface="Times New Roman" panose="02020603050405020304" pitchFamily="18" charset="0"/>
                <a:cs typeface="Times New Roman" panose="02020603050405020304" pitchFamily="18" charset="0"/>
              </a:rPr>
              <a:t>6. Reliability Testing</a:t>
            </a:r>
          </a:p>
          <a:p>
            <a:pPr lvl="1" algn="just"/>
            <a:r>
              <a:rPr lang="en-US" sz="1800" dirty="0">
                <a:latin typeface="Times New Roman" panose="02020603050405020304" pitchFamily="18" charset="0"/>
                <a:cs typeface="Times New Roman" panose="02020603050405020304" pitchFamily="18" charset="0"/>
              </a:rPr>
              <a:t>Reliability testing evaluates the system’s ability to perform consistently over time, detecting any potential issues that may affect its stability.</a:t>
            </a:r>
          </a:p>
          <a:p>
            <a:pPr lvl="1" algn="just"/>
            <a:r>
              <a:rPr lang="en-US" sz="1800" dirty="0">
                <a:latin typeface="Times New Roman" panose="02020603050405020304" pitchFamily="18" charset="0"/>
                <a:cs typeface="Times New Roman" panose="02020603050405020304" pitchFamily="18" charset="0"/>
              </a:rPr>
              <a:t>Example: In an airline reservation system, reliability testing would ensure that the system consistently performs correctly over long periods and can handle multiple booking requests without crashing.</a:t>
            </a:r>
          </a:p>
          <a:p>
            <a:pPr marL="0" indent="0" algn="just">
              <a:buNone/>
            </a:pPr>
            <a:r>
              <a:rPr lang="en-US" sz="1800" dirty="0">
                <a:latin typeface="Times New Roman" panose="02020603050405020304" pitchFamily="18" charset="0"/>
                <a:cs typeface="Times New Roman" panose="02020603050405020304" pitchFamily="18" charset="0"/>
              </a:rPr>
              <a:t>7. Recovery Testing</a:t>
            </a:r>
          </a:p>
          <a:p>
            <a:pPr lvl="1" algn="just"/>
            <a:r>
              <a:rPr lang="en-US" sz="1800" dirty="0">
                <a:latin typeface="Times New Roman" panose="02020603050405020304" pitchFamily="18" charset="0"/>
                <a:cs typeface="Times New Roman" panose="02020603050405020304" pitchFamily="18" charset="0"/>
              </a:rPr>
              <a:t>Recovery testing assesses the system's ability to recover from crashes, hardware failures, or network outages and return to normal operation.</a:t>
            </a:r>
          </a:p>
          <a:p>
            <a:pPr lvl="1" algn="just"/>
            <a:r>
              <a:rPr lang="en-US" sz="1800" dirty="0">
                <a:latin typeface="Times New Roman" panose="02020603050405020304" pitchFamily="18" charset="0"/>
                <a:cs typeface="Times New Roman" panose="02020603050405020304" pitchFamily="18" charset="0"/>
              </a:rPr>
              <a:t>Example: For a cloud-based data storage service, recovery testing would ensure data integrity and system stability if there’s a server crash, verifying that data is backed up and can be quickly restored.</a:t>
            </a:r>
          </a:p>
        </p:txBody>
      </p:sp>
    </p:spTree>
    <p:extLst>
      <p:ext uri="{BB962C8B-B14F-4D97-AF65-F5344CB8AC3E}">
        <p14:creationId xmlns:p14="http://schemas.microsoft.com/office/powerpoint/2010/main" val="24917814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6359</TotalTime>
  <Words>5029</Words>
  <Application>Microsoft Office PowerPoint</Application>
  <PresentationFormat>Widescreen</PresentationFormat>
  <Paragraphs>324</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Century Gothic</vt:lpstr>
      <vt:lpstr>Times New Roman</vt:lpstr>
      <vt:lpstr>Wingdings 3</vt:lpstr>
      <vt:lpstr>Ion</vt:lpstr>
      <vt:lpstr>Unit 4</vt:lpstr>
      <vt:lpstr>Testing</vt:lpstr>
      <vt:lpstr>When Testing?</vt:lpstr>
      <vt:lpstr>When Testing?</vt:lpstr>
      <vt:lpstr>When Testing?</vt:lpstr>
      <vt:lpstr>When Testing?</vt:lpstr>
      <vt:lpstr>Types of Testing</vt:lpstr>
      <vt:lpstr>Types of Testing</vt:lpstr>
      <vt:lpstr>Testing Techniques</vt:lpstr>
      <vt:lpstr>Black Box testing</vt:lpstr>
      <vt:lpstr>Black Box testing</vt:lpstr>
      <vt:lpstr>Black Box testing</vt:lpstr>
      <vt:lpstr>Regression testing</vt:lpstr>
      <vt:lpstr>Regression testing – How?</vt:lpstr>
      <vt:lpstr>Regression testing vs Smoke Testing</vt:lpstr>
      <vt:lpstr>White box Testing</vt:lpstr>
      <vt:lpstr>White box Testing</vt:lpstr>
      <vt:lpstr>White box Testing</vt:lpstr>
      <vt:lpstr>White box Testing</vt:lpstr>
      <vt:lpstr>White box Testing</vt:lpstr>
      <vt:lpstr>White box Testing</vt:lpstr>
      <vt:lpstr>White box Testing</vt:lpstr>
      <vt:lpstr>White box Testing</vt:lpstr>
      <vt:lpstr>White box Testing</vt:lpstr>
      <vt:lpstr>White box Testing</vt:lpstr>
      <vt:lpstr>White box Testing</vt:lpstr>
      <vt:lpstr>White box Testing</vt:lpstr>
      <vt:lpstr>System Testing</vt:lpstr>
      <vt:lpstr>System Testing</vt:lpstr>
      <vt:lpstr>System Testing</vt:lpstr>
      <vt:lpstr>System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Uthayan Kanni Rajendran</dc:creator>
  <cp:lastModifiedBy>Suganya Elavarasan</cp:lastModifiedBy>
  <cp:revision>203</cp:revision>
  <dcterms:created xsi:type="dcterms:W3CDTF">2024-02-19T06:23:27Z</dcterms:created>
  <dcterms:modified xsi:type="dcterms:W3CDTF">2025-09-29T11:25:18Z</dcterms:modified>
</cp:coreProperties>
</file>