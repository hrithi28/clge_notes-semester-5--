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1" r:id="rId4"/>
    <p:sldId id="272" r:id="rId5"/>
    <p:sldId id="273" r:id="rId6"/>
    <p:sldId id="260" r:id="rId7"/>
    <p:sldId id="281" r:id="rId8"/>
    <p:sldId id="282" r:id="rId9"/>
    <p:sldId id="283" r:id="rId10"/>
    <p:sldId id="284" r:id="rId11"/>
    <p:sldId id="258" r:id="rId12"/>
    <p:sldId id="259" r:id="rId13"/>
    <p:sldId id="261" r:id="rId14"/>
    <p:sldId id="262" r:id="rId15"/>
    <p:sldId id="285" r:id="rId16"/>
    <p:sldId id="286" r:id="rId17"/>
    <p:sldId id="287" r:id="rId18"/>
    <p:sldId id="263" r:id="rId19"/>
    <p:sldId id="288" r:id="rId20"/>
    <p:sldId id="289" r:id="rId21"/>
    <p:sldId id="264" r:id="rId22"/>
    <p:sldId id="265" r:id="rId23"/>
    <p:sldId id="290" r:id="rId24"/>
    <p:sldId id="266" r:id="rId25"/>
    <p:sldId id="291" r:id="rId26"/>
    <p:sldId id="274" r:id="rId27"/>
    <p:sldId id="280" r:id="rId28"/>
    <p:sldId id="275" r:id="rId29"/>
    <p:sldId id="276" r:id="rId30"/>
    <p:sldId id="277" r:id="rId31"/>
    <p:sldId id="278" r:id="rId32"/>
    <p:sldId id="296" r:id="rId33"/>
    <p:sldId id="267" r:id="rId34"/>
    <p:sldId id="268" r:id="rId35"/>
    <p:sldId id="269" r:id="rId36"/>
    <p:sldId id="292" r:id="rId37"/>
    <p:sldId id="293" r:id="rId38"/>
    <p:sldId id="294" r:id="rId39"/>
    <p:sldId id="295" r:id="rId40"/>
    <p:sldId id="298" r:id="rId41"/>
    <p:sldId id="297" r:id="rId42"/>
    <p:sldId id="301" r:id="rId43"/>
    <p:sldId id="299" r:id="rId44"/>
    <p:sldId id="300" r:id="rId45"/>
    <p:sldId id="270" r:id="rId46"/>
  </p:sldIdLst>
  <p:sldSz cx="12192000" cy="6858000"/>
  <p:notesSz cx="6858000" cy="9144000"/>
  <p:defaultTextStyle>
    <a:defPPr>
      <a:defRPr lang="en-US"/>
    </a:defPPr>
    <a:lvl1pPr algn="l" rtl="0" fontAlgn="base">
      <a:spcBef>
        <a:spcPct val="0"/>
      </a:spcBef>
      <a:spcAft>
        <a:spcPct val="0"/>
      </a:spcAft>
      <a:defRPr sz="20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0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0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0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000" kern="1200">
        <a:solidFill>
          <a:schemeClr val="tx1"/>
        </a:solidFill>
        <a:latin typeface="Arial" panose="020B0604020202020204" pitchFamily="34" charset="0"/>
        <a:ea typeface="+mn-ea"/>
        <a:cs typeface="+mn-cs"/>
      </a:defRPr>
    </a:lvl5pPr>
    <a:lvl6pPr marL="2286000" algn="l" defTabSz="914400" rtl="0" eaLnBrk="1" latinLnBrk="0" hangingPunct="1">
      <a:defRPr sz="2000" kern="1200">
        <a:solidFill>
          <a:schemeClr val="tx1"/>
        </a:solidFill>
        <a:latin typeface="Arial" panose="020B0604020202020204" pitchFamily="34" charset="0"/>
        <a:ea typeface="+mn-ea"/>
        <a:cs typeface="+mn-cs"/>
      </a:defRPr>
    </a:lvl6pPr>
    <a:lvl7pPr marL="2743200" algn="l" defTabSz="914400" rtl="0" eaLnBrk="1" latinLnBrk="0" hangingPunct="1">
      <a:defRPr sz="2000" kern="1200">
        <a:solidFill>
          <a:schemeClr val="tx1"/>
        </a:solidFill>
        <a:latin typeface="Arial" panose="020B0604020202020204" pitchFamily="34" charset="0"/>
        <a:ea typeface="+mn-ea"/>
        <a:cs typeface="+mn-cs"/>
      </a:defRPr>
    </a:lvl7pPr>
    <a:lvl8pPr marL="3200400" algn="l" defTabSz="914400" rtl="0" eaLnBrk="1" latinLnBrk="0" hangingPunct="1">
      <a:defRPr sz="2000" kern="1200">
        <a:solidFill>
          <a:schemeClr val="tx1"/>
        </a:solidFill>
        <a:latin typeface="Arial" panose="020B0604020202020204" pitchFamily="34" charset="0"/>
        <a:ea typeface="+mn-ea"/>
        <a:cs typeface="+mn-cs"/>
      </a:defRPr>
    </a:lvl8pPr>
    <a:lvl9pPr marL="3657600" algn="l" defTabSz="914400" rtl="0" eaLnBrk="1" latinLnBrk="0" hangingPunct="1">
      <a:defRPr sz="20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2" name="Picture 11" descr="band">
            <a:extLst>
              <a:ext uri="{FF2B5EF4-FFF2-40B4-BE49-F238E27FC236}">
                <a16:creationId xmlns:a16="http://schemas.microsoft.com/office/drawing/2014/main" id="{2BE5AE0D-3B0E-6C4F-F4EA-AA675246FD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589588"/>
            <a:ext cx="11988800" cy="126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2" name="Rectangle 2"/>
          <p:cNvSpPr>
            <a:spLocks noGrp="1" noChangeArrowheads="1"/>
          </p:cNvSpPr>
          <p:nvPr>
            <p:ph type="ctrTitle"/>
          </p:nvPr>
        </p:nvSpPr>
        <p:spPr>
          <a:xfrm>
            <a:off x="914400" y="2286000"/>
            <a:ext cx="10363200" cy="1143000"/>
          </a:xfrm>
        </p:spPr>
        <p:txBody>
          <a:bodyPr/>
          <a:lstStyle>
            <a:lvl1pPr>
              <a:defRPr>
                <a:solidFill>
                  <a:srgbClr val="1B57B5"/>
                </a:solidFill>
              </a:defRPr>
            </a:lvl1pPr>
          </a:lstStyle>
          <a:p>
            <a:pPr lvl="0"/>
            <a:r>
              <a:rPr lang="en-US" noProof="0"/>
              <a:t>Click to edit Master title style</a:t>
            </a:r>
          </a:p>
        </p:txBody>
      </p:sp>
      <p:sp>
        <p:nvSpPr>
          <p:cNvPr id="5123" name="Rectangle 3"/>
          <p:cNvSpPr>
            <a:spLocks noGrp="1" noChangeArrowheads="1"/>
          </p:cNvSpPr>
          <p:nvPr>
            <p:ph type="subTitle" idx="1"/>
          </p:nvPr>
        </p:nvSpPr>
        <p:spPr>
          <a:xfrm>
            <a:off x="1828800" y="3810000"/>
            <a:ext cx="8534400" cy="1752600"/>
          </a:xfrm>
        </p:spPr>
        <p:txBody>
          <a:bodyPr/>
          <a:lstStyle>
            <a:lvl1pPr marL="0" indent="0" algn="ctr">
              <a:buFontTx/>
              <a:buNone/>
              <a:defRPr>
                <a:solidFill>
                  <a:schemeClr val="bg2"/>
                </a:solidFill>
              </a:defRPr>
            </a:lvl1pPr>
          </a:lstStyle>
          <a:p>
            <a:pPr lvl="0"/>
            <a:r>
              <a:rPr lang="en-US" noProof="0"/>
              <a:t>Click to edit Master subtitle style</a:t>
            </a:r>
          </a:p>
        </p:txBody>
      </p:sp>
    </p:spTree>
    <p:extLst>
      <p:ext uri="{BB962C8B-B14F-4D97-AF65-F5344CB8AC3E}">
        <p14:creationId xmlns:p14="http://schemas.microsoft.com/office/powerpoint/2010/main" val="3945653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61616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279657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84097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94311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12464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1994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129314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1432132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2344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87071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1" descr="band">
            <a:extLst>
              <a:ext uri="{FF2B5EF4-FFF2-40B4-BE49-F238E27FC236}">
                <a16:creationId xmlns:a16="http://schemas.microsoft.com/office/drawing/2014/main" id="{0DE7D10E-2EFF-28C2-1FEB-2F9C7F877EB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5589588"/>
            <a:ext cx="11988800" cy="126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a:extLst>
              <a:ext uri="{FF2B5EF4-FFF2-40B4-BE49-F238E27FC236}">
                <a16:creationId xmlns:a16="http://schemas.microsoft.com/office/drawing/2014/main" id="{BE40A5F1-34A6-08AE-5F30-D52C156BB758}"/>
              </a:ext>
            </a:extLst>
          </p:cNvPr>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3">
            <a:extLst>
              <a:ext uri="{FF2B5EF4-FFF2-40B4-BE49-F238E27FC236}">
                <a16:creationId xmlns:a16="http://schemas.microsoft.com/office/drawing/2014/main" id="{0B667351-0BEF-F115-E5B6-9DA98657987F}"/>
              </a:ext>
            </a:extLst>
          </p:cNvPr>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extLst>
      <p:ext uri="{BB962C8B-B14F-4D97-AF65-F5344CB8AC3E}">
        <p14:creationId xmlns:p14="http://schemas.microsoft.com/office/powerpoint/2010/main" val="11818367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fontAlgn="base" hangingPunct="1">
        <a:spcBef>
          <a:spcPct val="0"/>
        </a:spcBef>
        <a:spcAft>
          <a:spcPct val="0"/>
        </a:spcAft>
        <a:defRPr sz="4000">
          <a:solidFill>
            <a:schemeClr val="tx2"/>
          </a:solidFill>
          <a:latin typeface="+mj-lt"/>
          <a:ea typeface="+mj-ea"/>
          <a:cs typeface="+mj-cs"/>
        </a:defRPr>
      </a:lvl1pPr>
      <a:lvl2pPr algn="ctr" rtl="0" eaLnBrk="1" fontAlgn="base" hangingPunct="1">
        <a:spcBef>
          <a:spcPct val="0"/>
        </a:spcBef>
        <a:spcAft>
          <a:spcPct val="0"/>
        </a:spcAft>
        <a:defRPr sz="4000">
          <a:solidFill>
            <a:schemeClr val="tx2"/>
          </a:solidFill>
          <a:latin typeface="Verdana" pitchFamily="34" charset="0"/>
        </a:defRPr>
      </a:lvl2pPr>
      <a:lvl3pPr algn="ctr" rtl="0" eaLnBrk="1" fontAlgn="base" hangingPunct="1">
        <a:spcBef>
          <a:spcPct val="0"/>
        </a:spcBef>
        <a:spcAft>
          <a:spcPct val="0"/>
        </a:spcAft>
        <a:defRPr sz="4000">
          <a:solidFill>
            <a:schemeClr val="tx2"/>
          </a:solidFill>
          <a:latin typeface="Verdana" pitchFamily="34" charset="0"/>
        </a:defRPr>
      </a:lvl3pPr>
      <a:lvl4pPr algn="ctr" rtl="0" eaLnBrk="1" fontAlgn="base" hangingPunct="1">
        <a:spcBef>
          <a:spcPct val="0"/>
        </a:spcBef>
        <a:spcAft>
          <a:spcPct val="0"/>
        </a:spcAft>
        <a:defRPr sz="4000">
          <a:solidFill>
            <a:schemeClr val="tx2"/>
          </a:solidFill>
          <a:latin typeface="Verdana" pitchFamily="34" charset="0"/>
        </a:defRPr>
      </a:lvl4pPr>
      <a:lvl5pPr algn="ctr" rtl="0" eaLnBrk="1" fontAlgn="base" hangingPunct="1">
        <a:spcBef>
          <a:spcPct val="0"/>
        </a:spcBef>
        <a:spcAft>
          <a:spcPct val="0"/>
        </a:spcAft>
        <a:defRPr sz="4000">
          <a:solidFill>
            <a:schemeClr val="tx2"/>
          </a:solidFill>
          <a:latin typeface="Verdana" pitchFamily="34" charset="0"/>
        </a:defRPr>
      </a:lvl5pPr>
      <a:lvl6pPr marL="457200" algn="ctr" rtl="0" eaLnBrk="1" fontAlgn="base" hangingPunct="1">
        <a:spcBef>
          <a:spcPct val="0"/>
        </a:spcBef>
        <a:spcAft>
          <a:spcPct val="0"/>
        </a:spcAft>
        <a:defRPr sz="4000">
          <a:solidFill>
            <a:schemeClr val="tx2"/>
          </a:solidFill>
          <a:latin typeface="Verdana" pitchFamily="34" charset="0"/>
        </a:defRPr>
      </a:lvl6pPr>
      <a:lvl7pPr marL="914400" algn="ctr" rtl="0" eaLnBrk="1" fontAlgn="base" hangingPunct="1">
        <a:spcBef>
          <a:spcPct val="0"/>
        </a:spcBef>
        <a:spcAft>
          <a:spcPct val="0"/>
        </a:spcAft>
        <a:defRPr sz="4000">
          <a:solidFill>
            <a:schemeClr val="tx2"/>
          </a:solidFill>
          <a:latin typeface="Verdana" pitchFamily="34" charset="0"/>
        </a:defRPr>
      </a:lvl7pPr>
      <a:lvl8pPr marL="1371600" algn="ctr" rtl="0" eaLnBrk="1" fontAlgn="base" hangingPunct="1">
        <a:spcBef>
          <a:spcPct val="0"/>
        </a:spcBef>
        <a:spcAft>
          <a:spcPct val="0"/>
        </a:spcAft>
        <a:defRPr sz="4000">
          <a:solidFill>
            <a:schemeClr val="tx2"/>
          </a:solidFill>
          <a:latin typeface="Verdana" pitchFamily="34" charset="0"/>
        </a:defRPr>
      </a:lvl8pPr>
      <a:lvl9pPr marL="1828800" algn="ctr" rtl="0" eaLnBrk="1" fontAlgn="base" hangingPunct="1">
        <a:spcBef>
          <a:spcPct val="0"/>
        </a:spcBef>
        <a:spcAft>
          <a:spcPct val="0"/>
        </a:spcAft>
        <a:defRPr sz="4000">
          <a:solidFill>
            <a:schemeClr val="tx2"/>
          </a:solidFill>
          <a:latin typeface="Verdana" pitchFamily="34"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2A9A3-79CD-DD1C-5025-7EDCB21E5CD8}"/>
              </a:ext>
            </a:extLst>
          </p:cNvPr>
          <p:cNvSpPr>
            <a:spLocks noGrp="1"/>
          </p:cNvSpPr>
          <p:nvPr>
            <p:ph type="ctrTitle"/>
          </p:nvPr>
        </p:nvSpPr>
        <p:spPr/>
        <p:txBody>
          <a:bodyPr/>
          <a:lstStyle/>
          <a:p>
            <a:r>
              <a:rPr lang="en-US" dirty="0"/>
              <a:t>Unit 1</a:t>
            </a:r>
            <a:endParaRPr lang="en-IN" dirty="0"/>
          </a:p>
        </p:txBody>
      </p:sp>
      <p:sp>
        <p:nvSpPr>
          <p:cNvPr id="3" name="Subtitle 2">
            <a:extLst>
              <a:ext uri="{FF2B5EF4-FFF2-40B4-BE49-F238E27FC236}">
                <a16:creationId xmlns:a16="http://schemas.microsoft.com/office/drawing/2014/main" id="{5490DE1D-DFA0-D492-A69E-7C0AF0AB9757}"/>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104480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SE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828942"/>
            <a:ext cx="10972800" cy="5297223"/>
          </a:xfrm>
        </p:spPr>
        <p:txBody>
          <a:bodyPr/>
          <a:lstStyle/>
          <a:p>
            <a:pPr algn="just"/>
            <a:r>
              <a:rPr lang="en-US" sz="2200" b="0" i="1" u="none" strike="noStrike" baseline="0" dirty="0">
                <a:latin typeface="Times New Roman" panose="02020603050405020304" pitchFamily="18" charset="0"/>
                <a:cs typeface="Times New Roman" panose="02020603050405020304" pitchFamily="18" charset="0"/>
              </a:rPr>
              <a:t>Software Engineering is the application of a systematic, disciplined, quantifiable approach to the development, operation and maintenance of software; i.e., the application of engineering to software</a:t>
            </a:r>
          </a:p>
          <a:p>
            <a:pPr algn="just"/>
            <a:r>
              <a:rPr lang="en-US" sz="2200" i="1" dirty="0">
                <a:latin typeface="Times New Roman" panose="02020603050405020304" pitchFamily="18" charset="0"/>
                <a:cs typeface="Times New Roman" panose="02020603050405020304" pitchFamily="18" charset="0"/>
              </a:rPr>
              <a:t>SE uses Processes, Methods, and tools</a:t>
            </a:r>
          </a:p>
          <a:p>
            <a:pPr algn="just"/>
            <a:r>
              <a:rPr lang="en-US" sz="2200" b="0" i="0" u="none" strike="noStrike" baseline="0" dirty="0">
                <a:solidFill>
                  <a:srgbClr val="000000"/>
                </a:solidFill>
                <a:latin typeface="Times New Roman" panose="02020603050405020304" pitchFamily="18" charset="0"/>
                <a:cs typeface="Times New Roman" panose="02020603050405020304" pitchFamily="18" charset="0"/>
              </a:rPr>
              <a:t>A software life cycle model (also called process model) is a descriptive and diagrammatic representation of the software life cycle. </a:t>
            </a:r>
          </a:p>
          <a:p>
            <a:pPr algn="just"/>
            <a:r>
              <a:rPr lang="en-US" sz="2200" b="0" i="0" u="none" strike="noStrike" baseline="0" dirty="0">
                <a:solidFill>
                  <a:srgbClr val="000000"/>
                </a:solidFill>
                <a:latin typeface="Times New Roman" panose="02020603050405020304" pitchFamily="18" charset="0"/>
                <a:cs typeface="Times New Roman" panose="02020603050405020304" pitchFamily="18" charset="0"/>
              </a:rPr>
              <a:t>A life cycle model maps the different activities performed on a software product from its inception to retirement. </a:t>
            </a:r>
          </a:p>
          <a:p>
            <a:pPr algn="just"/>
            <a:r>
              <a:rPr lang="en-US" sz="2200" b="0" i="0" u="none" strike="noStrike" baseline="0" dirty="0">
                <a:solidFill>
                  <a:srgbClr val="000000"/>
                </a:solidFill>
                <a:latin typeface="Times New Roman" panose="02020603050405020304" pitchFamily="18" charset="0"/>
                <a:cs typeface="Times New Roman" panose="02020603050405020304" pitchFamily="18" charset="0"/>
              </a:rPr>
              <a:t>Different life cycle models may map the basic development activities to phases in different ways. Thus, no matter which life cycle model is followed, the basic activities are included in all life cycle models though the activities may be carried out in different orders in different life cycle models. During any life cycle phase, more than one activity may also be carried out. </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9208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07996-88AC-6B92-9DA7-B179EC604EBD}"/>
              </a:ext>
            </a:extLst>
          </p:cNvPr>
          <p:cNvSpPr>
            <a:spLocks noGrp="1"/>
          </p:cNvSpPr>
          <p:nvPr>
            <p:ph type="title"/>
          </p:nvPr>
        </p:nvSpPr>
        <p:spPr>
          <a:xfrm>
            <a:off x="609600" y="240132"/>
            <a:ext cx="10972800" cy="1143000"/>
          </a:xfrm>
        </p:spPr>
        <p:txBody>
          <a:bodyPr/>
          <a:lstStyle/>
          <a:p>
            <a:r>
              <a:rPr lang="en-US" altLang="en-US" sz="4000" dirty="0">
                <a:latin typeface="Times New Roman" panose="02020603050405020304" pitchFamily="18" charset="0"/>
                <a:cs typeface="Times New Roman" panose="02020603050405020304" pitchFamily="18" charset="0"/>
              </a:rPr>
              <a:t>Questions About Software Haven't Changed Over the Decades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96AA3B8-94C6-7DB6-49D7-6B30AFCF09C3}"/>
              </a:ext>
            </a:extLst>
          </p:cNvPr>
          <p:cNvSpPr>
            <a:spLocks noGrp="1"/>
          </p:cNvSpPr>
          <p:nvPr>
            <p:ph idx="1"/>
          </p:nvPr>
        </p:nvSpPr>
        <p:spPr/>
        <p:txBody>
          <a:bodyPr/>
          <a:lstStyle/>
          <a:p>
            <a:pPr>
              <a:lnSpc>
                <a:spcPct val="90000"/>
              </a:lnSpc>
            </a:pPr>
            <a:r>
              <a:rPr lang="en-US" altLang="en-US" sz="2400" dirty="0">
                <a:latin typeface="Times New Roman" panose="02020603050405020304" pitchFamily="18" charset="0"/>
                <a:cs typeface="Times New Roman" panose="02020603050405020304" pitchFamily="18" charset="0"/>
              </a:rPr>
              <a:t>Why does it take so long to get software finished?</a:t>
            </a:r>
          </a:p>
          <a:p>
            <a:pPr>
              <a:lnSpc>
                <a:spcPct val="90000"/>
              </a:lnSpc>
            </a:pPr>
            <a:r>
              <a:rPr lang="en-US" altLang="en-US" sz="2400" dirty="0">
                <a:latin typeface="Times New Roman" panose="02020603050405020304" pitchFamily="18" charset="0"/>
                <a:cs typeface="Times New Roman" panose="02020603050405020304" pitchFamily="18" charset="0"/>
              </a:rPr>
              <a:t>Why are development costs so high?</a:t>
            </a:r>
          </a:p>
          <a:p>
            <a:pPr>
              <a:lnSpc>
                <a:spcPct val="90000"/>
              </a:lnSpc>
            </a:pPr>
            <a:r>
              <a:rPr lang="en-US" altLang="en-US" sz="2400" dirty="0">
                <a:latin typeface="Times New Roman" panose="02020603050405020304" pitchFamily="18" charset="0"/>
                <a:cs typeface="Times New Roman" panose="02020603050405020304" pitchFamily="18" charset="0"/>
              </a:rPr>
              <a:t>Why can't we find all errors before we give the software to our customers?</a:t>
            </a:r>
          </a:p>
          <a:p>
            <a:pPr>
              <a:lnSpc>
                <a:spcPct val="90000"/>
              </a:lnSpc>
            </a:pPr>
            <a:r>
              <a:rPr lang="en-US" altLang="en-US" sz="2400" dirty="0">
                <a:latin typeface="Times New Roman" panose="02020603050405020304" pitchFamily="18" charset="0"/>
                <a:cs typeface="Times New Roman" panose="02020603050405020304" pitchFamily="18" charset="0"/>
              </a:rPr>
              <a:t>Why do we spend so much time and effort maintaining existing programs?</a:t>
            </a:r>
          </a:p>
          <a:p>
            <a:pPr>
              <a:lnSpc>
                <a:spcPct val="90000"/>
              </a:lnSpc>
            </a:pPr>
            <a:r>
              <a:rPr lang="en-US" altLang="en-US" sz="2400" dirty="0">
                <a:latin typeface="Times New Roman" panose="02020603050405020304" pitchFamily="18" charset="0"/>
                <a:cs typeface="Times New Roman" panose="02020603050405020304" pitchFamily="18" charset="0"/>
              </a:rPr>
              <a:t>Why do we continue to have difficulty in measuring progress as software is being developed and maintained?</a:t>
            </a:r>
          </a:p>
          <a:p>
            <a:endParaRPr lang="en-IN" dirty="0"/>
          </a:p>
        </p:txBody>
      </p:sp>
    </p:spTree>
    <p:extLst>
      <p:ext uri="{BB962C8B-B14F-4D97-AF65-F5344CB8AC3E}">
        <p14:creationId xmlns:p14="http://schemas.microsoft.com/office/powerpoint/2010/main" val="2207272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1EB8E-28BE-03DF-68F1-837484A81949}"/>
              </a:ext>
            </a:extLst>
          </p:cNvPr>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A Definition of Software </a:t>
            </a:r>
            <a:br>
              <a:rPr lang="en-US" altLang="en-US" dirty="0"/>
            </a:br>
            <a:endParaRPr lang="en-IN" dirty="0"/>
          </a:p>
        </p:txBody>
      </p:sp>
      <p:sp>
        <p:nvSpPr>
          <p:cNvPr id="3" name="Content Placeholder 2">
            <a:extLst>
              <a:ext uri="{FF2B5EF4-FFF2-40B4-BE49-F238E27FC236}">
                <a16:creationId xmlns:a16="http://schemas.microsoft.com/office/drawing/2014/main" id="{AB690BBE-6AC7-0C39-9110-EA9AB0542C9C}"/>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Instructions (computer programs) that when executed provide desired features, function, and performance.</a:t>
            </a:r>
          </a:p>
          <a:p>
            <a:r>
              <a:rPr lang="en-US" dirty="0">
                <a:latin typeface="Times New Roman" panose="02020603050405020304" pitchFamily="18" charset="0"/>
                <a:cs typeface="Times New Roman" panose="02020603050405020304" pitchFamily="18" charset="0"/>
              </a:rPr>
              <a:t>Data structures that enable the programs to adequately manipulate information.</a:t>
            </a:r>
          </a:p>
          <a:p>
            <a:r>
              <a:rPr lang="en-US" dirty="0">
                <a:latin typeface="Times New Roman" panose="02020603050405020304" pitchFamily="18" charset="0"/>
                <a:cs typeface="Times New Roman" panose="02020603050405020304" pitchFamily="18" charset="0"/>
              </a:rPr>
              <a:t>Documents that describe the operation and use of the programs.</a:t>
            </a:r>
          </a:p>
          <a:p>
            <a:endParaRPr lang="en-IN" dirty="0"/>
          </a:p>
        </p:txBody>
      </p:sp>
    </p:spTree>
    <p:extLst>
      <p:ext uri="{BB962C8B-B14F-4D97-AF65-F5344CB8AC3E}">
        <p14:creationId xmlns:p14="http://schemas.microsoft.com/office/powerpoint/2010/main" val="1229032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C5356-F72E-B8E5-549D-EF4EF0075912}"/>
              </a:ext>
            </a:extLst>
          </p:cNvPr>
          <p:cNvSpPr>
            <a:spLocks noGrp="1"/>
          </p:cNvSpPr>
          <p:nvPr>
            <p:ph type="title"/>
          </p:nvPr>
        </p:nvSpPr>
        <p:spPr>
          <a:xfrm>
            <a:off x="609600" y="129397"/>
            <a:ext cx="10972800" cy="319178"/>
          </a:xfrm>
        </p:spPr>
        <p:txBody>
          <a:bodyPr/>
          <a:lstStyle/>
          <a:p>
            <a:r>
              <a:rPr lang="en-US" altLang="en-US" dirty="0">
                <a:latin typeface="Times New Roman" panose="02020603050405020304" pitchFamily="18" charset="0"/>
                <a:cs typeface="Times New Roman" panose="02020603050405020304" pitchFamily="18" charset="0"/>
              </a:rPr>
              <a:t>Changing Nature of Software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C950BD6-7955-3118-FFCB-669675FEA677}"/>
              </a:ext>
            </a:extLst>
          </p:cNvPr>
          <p:cNvSpPr>
            <a:spLocks noGrp="1"/>
          </p:cNvSpPr>
          <p:nvPr>
            <p:ph idx="1"/>
          </p:nvPr>
        </p:nvSpPr>
        <p:spPr>
          <a:xfrm>
            <a:off x="609600" y="646981"/>
            <a:ext cx="10972800" cy="5479184"/>
          </a:xfrm>
        </p:spPr>
        <p:txBody>
          <a:bodyPr/>
          <a:lstStyle/>
          <a:p>
            <a:pPr>
              <a:lnSpc>
                <a:spcPct val="90000"/>
              </a:lnSpc>
            </a:pPr>
            <a:r>
              <a:rPr lang="en-US" altLang="en-US" sz="2800" dirty="0">
                <a:latin typeface="Times New Roman" panose="02020603050405020304" pitchFamily="18" charset="0"/>
                <a:cs typeface="Times New Roman" panose="02020603050405020304" pitchFamily="18" charset="0"/>
              </a:rPr>
              <a:t>System software</a:t>
            </a:r>
          </a:p>
          <a:p>
            <a:pPr>
              <a:lnSpc>
                <a:spcPct val="90000"/>
              </a:lnSpc>
            </a:pPr>
            <a:r>
              <a:rPr lang="en-US" altLang="en-US" sz="2800" dirty="0">
                <a:latin typeface="Times New Roman" panose="02020603050405020304" pitchFamily="18" charset="0"/>
                <a:cs typeface="Times New Roman" panose="02020603050405020304" pitchFamily="18" charset="0"/>
              </a:rPr>
              <a:t>Application software</a:t>
            </a:r>
          </a:p>
          <a:p>
            <a:pPr>
              <a:lnSpc>
                <a:spcPct val="90000"/>
              </a:lnSpc>
            </a:pPr>
            <a:r>
              <a:rPr lang="en-US" altLang="en-US" sz="2800" dirty="0">
                <a:latin typeface="Times New Roman" panose="02020603050405020304" pitchFamily="18" charset="0"/>
                <a:cs typeface="Times New Roman" panose="02020603050405020304" pitchFamily="18" charset="0"/>
              </a:rPr>
              <a:t>Engineering/scientific software</a:t>
            </a:r>
          </a:p>
          <a:p>
            <a:pPr>
              <a:lnSpc>
                <a:spcPct val="90000"/>
              </a:lnSpc>
            </a:pPr>
            <a:r>
              <a:rPr lang="en-US" altLang="en-US" sz="2800" dirty="0">
                <a:latin typeface="Times New Roman" panose="02020603050405020304" pitchFamily="18" charset="0"/>
                <a:cs typeface="Times New Roman" panose="02020603050405020304" pitchFamily="18" charset="0"/>
              </a:rPr>
              <a:t>Embedded software</a:t>
            </a:r>
          </a:p>
          <a:p>
            <a:pPr>
              <a:lnSpc>
                <a:spcPct val="90000"/>
              </a:lnSpc>
            </a:pPr>
            <a:r>
              <a:rPr lang="en-US" altLang="en-US" sz="2800" dirty="0">
                <a:latin typeface="Times New Roman" panose="02020603050405020304" pitchFamily="18" charset="0"/>
                <a:cs typeface="Times New Roman" panose="02020603050405020304" pitchFamily="18" charset="0"/>
              </a:rPr>
              <a:t>Product-line software (e.g., inventory control, word processing, multimedia)</a:t>
            </a:r>
          </a:p>
          <a:p>
            <a:pPr>
              <a:lnSpc>
                <a:spcPct val="90000"/>
              </a:lnSpc>
            </a:pPr>
            <a:r>
              <a:rPr lang="en-US" altLang="en-US" sz="2800" dirty="0">
                <a:latin typeface="Times New Roman" panose="02020603050405020304" pitchFamily="18" charset="0"/>
                <a:cs typeface="Times New Roman" panose="02020603050405020304" pitchFamily="18" charset="0"/>
              </a:rPr>
              <a:t>Web applications</a:t>
            </a:r>
          </a:p>
          <a:p>
            <a:pPr>
              <a:lnSpc>
                <a:spcPct val="90000"/>
              </a:lnSpc>
            </a:pPr>
            <a:r>
              <a:rPr lang="en-US" altLang="en-US" sz="2800" dirty="0">
                <a:latin typeface="Times New Roman" panose="02020603050405020304" pitchFamily="18" charset="0"/>
                <a:cs typeface="Times New Roman" panose="02020603050405020304" pitchFamily="18" charset="0"/>
              </a:rPr>
              <a:t>Artificial intelligence software</a:t>
            </a:r>
          </a:p>
          <a:p>
            <a:pPr>
              <a:lnSpc>
                <a:spcPct val="90000"/>
              </a:lnSpc>
            </a:pPr>
            <a:r>
              <a:rPr lang="en-US" altLang="en-US" sz="2800" dirty="0">
                <a:latin typeface="Times New Roman" panose="02020603050405020304" pitchFamily="18" charset="0"/>
                <a:cs typeface="Times New Roman" panose="02020603050405020304" pitchFamily="18" charset="0"/>
              </a:rPr>
              <a:t>Ubiquitous computing (small, wireless devices)</a:t>
            </a:r>
          </a:p>
          <a:p>
            <a:pPr>
              <a:lnSpc>
                <a:spcPct val="90000"/>
              </a:lnSpc>
            </a:pPr>
            <a:r>
              <a:rPr lang="en-US" altLang="en-US" sz="2800" dirty="0">
                <a:latin typeface="Times New Roman" panose="02020603050405020304" pitchFamily="18" charset="0"/>
                <a:cs typeface="Times New Roman" panose="02020603050405020304" pitchFamily="18" charset="0"/>
              </a:rPr>
              <a:t>Net sourcing (net-wide computing)</a:t>
            </a:r>
          </a:p>
          <a:p>
            <a:pPr>
              <a:lnSpc>
                <a:spcPct val="90000"/>
              </a:lnSpc>
            </a:pPr>
            <a:r>
              <a:rPr lang="en-US" altLang="en-US" sz="2800" dirty="0">
                <a:latin typeface="Times New Roman" panose="02020603050405020304" pitchFamily="18" charset="0"/>
                <a:cs typeface="Times New Roman" panose="02020603050405020304" pitchFamily="18" charset="0"/>
              </a:rPr>
              <a:t>Open source (operating systems, databases, development environments)</a:t>
            </a:r>
          </a:p>
          <a:p>
            <a:pPr>
              <a:lnSpc>
                <a:spcPct val="90000"/>
              </a:lnSpc>
            </a:pPr>
            <a:r>
              <a:rPr lang="en-US" altLang="en-US" sz="2800" dirty="0">
                <a:latin typeface="Times New Roman" panose="02020603050405020304" pitchFamily="18" charset="0"/>
                <a:cs typeface="Times New Roman" panose="02020603050405020304" pitchFamily="18" charset="0"/>
              </a:rPr>
              <a:t>The ".com" marketing applications</a:t>
            </a:r>
          </a:p>
          <a:p>
            <a:endParaRPr lang="en-IN" dirty="0"/>
          </a:p>
        </p:txBody>
      </p:sp>
    </p:spTree>
    <p:extLst>
      <p:ext uri="{BB962C8B-B14F-4D97-AF65-F5344CB8AC3E}">
        <p14:creationId xmlns:p14="http://schemas.microsoft.com/office/powerpoint/2010/main" val="8432814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Process?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828942"/>
            <a:ext cx="10972800" cy="5297223"/>
          </a:xfrm>
        </p:spPr>
        <p:txBody>
          <a:bodyPr/>
          <a:lstStyle/>
          <a:p>
            <a:pPr algn="just"/>
            <a:r>
              <a:rPr lang="en-US" sz="2000" b="0" i="0" u="none" strike="noStrike" baseline="0" dirty="0">
                <a:latin typeface="Times New Roman" panose="02020603050405020304" pitchFamily="18" charset="0"/>
                <a:cs typeface="Times New Roman" panose="02020603050405020304" pitchFamily="18" charset="0"/>
              </a:rPr>
              <a:t>A Process is a series of definable, repeatable, and measurable tasks leading to a useful result. </a:t>
            </a:r>
          </a:p>
          <a:p>
            <a:pPr algn="just"/>
            <a:r>
              <a:rPr lang="en-US" sz="2000" b="0" i="0" u="none" strike="noStrike" baseline="0" dirty="0">
                <a:latin typeface="Times New Roman" panose="02020603050405020304" pitchFamily="18" charset="0"/>
                <a:cs typeface="Times New Roman" panose="02020603050405020304" pitchFamily="18" charset="0"/>
              </a:rPr>
              <a:t>Verify means to check if the task has been executed correctly, while validate means to check if the correct task has been executed. In the context of software, the process of checking if an algorithm has been implemented correctly, is verification, while the process of checking if the result of the algorithm execution is the solution to the desired problem, is </a:t>
            </a:r>
            <a:r>
              <a:rPr lang="en-IN" sz="2000" b="0" i="0" u="none" strike="noStrike" baseline="0" dirty="0">
                <a:latin typeface="Times New Roman" panose="02020603050405020304" pitchFamily="18" charset="0"/>
                <a:cs typeface="Times New Roman" panose="02020603050405020304" pitchFamily="18" charset="0"/>
              </a:rPr>
              <a:t>validation.</a:t>
            </a:r>
          </a:p>
          <a:p>
            <a:pPr algn="just"/>
            <a:r>
              <a:rPr lang="en-US" sz="2000" b="0" i="0" u="none" strike="noStrike" baseline="0" dirty="0">
                <a:latin typeface="Times New Roman" panose="02020603050405020304" pitchFamily="18" charset="0"/>
                <a:cs typeface="Times New Roman" panose="02020603050405020304" pitchFamily="18" charset="0"/>
              </a:rPr>
              <a:t>The generic phases that are normally used in a software development process are:</a:t>
            </a:r>
          </a:p>
          <a:p>
            <a:pPr algn="just"/>
            <a:r>
              <a:rPr lang="en-US" sz="2000" b="0" i="0" u="none" strike="noStrike" baseline="0" dirty="0">
                <a:latin typeface="Times New Roman" panose="02020603050405020304" pitchFamily="18" charset="0"/>
                <a:cs typeface="Times New Roman" panose="02020603050405020304" pitchFamily="18" charset="0"/>
              </a:rPr>
              <a:t>Analysis: In this phase user needs are gathered and converted into software requirements. For example, if the user need is to generate the trajectory of a missile, the software requirement is to solve the governing equations. This phase should answer the question: what is to be done to meet </a:t>
            </a:r>
            <a:r>
              <a:rPr lang="en-IN" sz="2000" b="0" i="0" u="none" strike="noStrike" baseline="0" dirty="0">
                <a:latin typeface="Times New Roman" panose="02020603050405020304" pitchFamily="18" charset="0"/>
                <a:cs typeface="Times New Roman" panose="02020603050405020304" pitchFamily="18" charset="0"/>
              </a:rPr>
              <a:t>user needs?</a:t>
            </a:r>
          </a:p>
          <a:p>
            <a:pPr algn="just"/>
            <a:r>
              <a:rPr lang="en-US" sz="2000" b="0" i="0" u="none" strike="noStrike" baseline="0" dirty="0">
                <a:latin typeface="Times New Roman" panose="02020603050405020304" pitchFamily="18" charset="0"/>
                <a:cs typeface="Times New Roman" panose="02020603050405020304" pitchFamily="18" charset="0"/>
              </a:rPr>
              <a:t>Design: This phase answers the question: How to meet the user needs? Design consists of deciding the algorithm to be used to solve the governing equations. The choice of the algorithm depends on design objectives like execution time, accuracy, etc. In this phase we determine organization of various modules in the software system.</a:t>
            </a:r>
          </a:p>
          <a:p>
            <a:pPr algn="just"/>
            <a:r>
              <a:rPr lang="en-US" sz="2000" b="0" i="0" u="none" strike="noStrike" baseline="0" dirty="0">
                <a:latin typeface="Times New Roman" panose="02020603050405020304" pitchFamily="18" charset="0"/>
                <a:cs typeface="Times New Roman" panose="02020603050405020304" pitchFamily="18" charset="0"/>
              </a:rPr>
              <a:t>Implementation: Coding is the main activity in this phase</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Testing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2999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a:latin typeface="Times New Roman" panose="02020603050405020304" pitchFamily="18" charset="0"/>
                <a:cs typeface="Times New Roman" panose="02020603050405020304" pitchFamily="18" charset="0"/>
              </a:rPr>
              <a:t>Process?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828942"/>
            <a:ext cx="10972800" cy="5297223"/>
          </a:xfrm>
        </p:spPr>
        <p:txBody>
          <a:bodyPr/>
          <a:lstStyle/>
          <a:p>
            <a:pPr marL="0" indent="0" algn="just">
              <a:buNone/>
            </a:pPr>
            <a:r>
              <a:rPr lang="en-US" sz="2000" dirty="0">
                <a:latin typeface="Times New Roman" panose="02020603050405020304" pitchFamily="18" charset="0"/>
                <a:cs typeface="Times New Roman" panose="02020603050405020304" pitchFamily="18" charset="0"/>
              </a:rPr>
              <a:t>A software process is a framework for the tasks that are required to build high-quality software.</a:t>
            </a:r>
          </a:p>
          <a:p>
            <a:pPr marL="0" indent="0" algn="just">
              <a:buNone/>
            </a:pPr>
            <a:r>
              <a:rPr lang="en-US" sz="2000" dirty="0">
                <a:latin typeface="Times New Roman" panose="02020603050405020304" pitchFamily="18" charset="0"/>
                <a:cs typeface="Times New Roman" panose="02020603050405020304" pitchFamily="18" charset="0"/>
              </a:rPr>
              <a:t>It includes:</a:t>
            </a:r>
          </a:p>
          <a:p>
            <a:pPr algn="just"/>
            <a:r>
              <a:rPr lang="en-US" sz="2000" dirty="0">
                <a:latin typeface="Times New Roman" panose="02020603050405020304" pitchFamily="18" charset="0"/>
                <a:cs typeface="Times New Roman" panose="02020603050405020304" pitchFamily="18" charset="0"/>
              </a:rPr>
              <a:t>Methods</a:t>
            </a:r>
          </a:p>
          <a:p>
            <a:pPr algn="just"/>
            <a:r>
              <a:rPr lang="en-US" sz="2000" dirty="0">
                <a:latin typeface="Times New Roman" panose="02020603050405020304" pitchFamily="18" charset="0"/>
                <a:cs typeface="Times New Roman" panose="02020603050405020304" pitchFamily="18" charset="0"/>
              </a:rPr>
              <a:t>Tools</a:t>
            </a:r>
          </a:p>
          <a:p>
            <a:pPr algn="just"/>
            <a:r>
              <a:rPr lang="en-US" sz="2000" dirty="0">
                <a:latin typeface="Times New Roman" panose="02020603050405020304" pitchFamily="18" charset="0"/>
                <a:cs typeface="Times New Roman" panose="02020603050405020304" pitchFamily="18" charset="0"/>
              </a:rPr>
              <a:t>Techniques</a:t>
            </a:r>
          </a:p>
          <a:p>
            <a:pPr algn="just"/>
            <a:r>
              <a:rPr lang="en-US" sz="2000" dirty="0">
                <a:latin typeface="Times New Roman" panose="02020603050405020304" pitchFamily="18" charset="0"/>
                <a:cs typeface="Times New Roman" panose="02020603050405020304" pitchFamily="18" charset="0"/>
              </a:rPr>
              <a:t>Roles</a:t>
            </a:r>
          </a:p>
          <a:p>
            <a:pPr algn="just"/>
            <a:r>
              <a:rPr lang="en-US" sz="2000" dirty="0">
                <a:latin typeface="Times New Roman" panose="02020603050405020304" pitchFamily="18" charset="0"/>
                <a:cs typeface="Times New Roman" panose="02020603050405020304" pitchFamily="18" charset="0"/>
              </a:rPr>
              <a:t>Deliverables</a:t>
            </a:r>
          </a:p>
          <a:p>
            <a:pPr algn="just"/>
            <a:endParaRPr lang="en-IN" sz="2000" dirty="0">
              <a:latin typeface="Times New Roman" panose="02020603050405020304" pitchFamily="18" charset="0"/>
              <a:cs typeface="Times New Roman" panose="02020603050405020304" pitchFamily="18" charset="0"/>
            </a:endParaRPr>
          </a:p>
        </p:txBody>
      </p:sp>
      <p:graphicFrame>
        <p:nvGraphicFramePr>
          <p:cNvPr id="13" name="Table 12">
            <a:extLst>
              <a:ext uri="{FF2B5EF4-FFF2-40B4-BE49-F238E27FC236}">
                <a16:creationId xmlns:a16="http://schemas.microsoft.com/office/drawing/2014/main" id="{F2CE64A4-B897-EE78-3099-1025B2B58B47}"/>
              </a:ext>
            </a:extLst>
          </p:cNvPr>
          <p:cNvGraphicFramePr>
            <a:graphicFrameLocks noGrp="1"/>
          </p:cNvGraphicFramePr>
          <p:nvPr>
            <p:extLst>
              <p:ext uri="{D42A27DB-BD31-4B8C-83A1-F6EECF244321}">
                <p14:modId xmlns:p14="http://schemas.microsoft.com/office/powerpoint/2010/main" val="633752790"/>
              </p:ext>
            </p:extLst>
          </p:nvPr>
        </p:nvGraphicFramePr>
        <p:xfrm>
          <a:off x="609600" y="3510951"/>
          <a:ext cx="10972800" cy="2642337"/>
        </p:xfrm>
        <a:graphic>
          <a:graphicData uri="http://schemas.openxmlformats.org/drawingml/2006/table">
            <a:tbl>
              <a:tblPr/>
              <a:tblGrid>
                <a:gridCol w="4104640">
                  <a:extLst>
                    <a:ext uri="{9D8B030D-6E8A-4147-A177-3AD203B41FA5}">
                      <a16:colId xmlns:a16="http://schemas.microsoft.com/office/drawing/2014/main" val="3808182125"/>
                    </a:ext>
                  </a:extLst>
                </a:gridCol>
                <a:gridCol w="6868160">
                  <a:extLst>
                    <a:ext uri="{9D8B030D-6E8A-4147-A177-3AD203B41FA5}">
                      <a16:colId xmlns:a16="http://schemas.microsoft.com/office/drawing/2014/main" val="468960160"/>
                    </a:ext>
                  </a:extLst>
                </a:gridCol>
              </a:tblGrid>
              <a:tr h="352354">
                <a:tc>
                  <a:txBody>
                    <a:bodyPr/>
                    <a:lstStyle/>
                    <a:p>
                      <a:r>
                        <a:rPr lang="en-IN" sz="2000" b="1" dirty="0">
                          <a:latin typeface="Times New Roman" panose="02020603050405020304" pitchFamily="18" charset="0"/>
                          <a:cs typeface="Times New Roman" panose="02020603050405020304" pitchFamily="18" charset="0"/>
                        </a:rPr>
                        <a:t>Activity</a:t>
                      </a:r>
                    </a:p>
                  </a:txBody>
                  <a:tcPr anchor="ctr">
                    <a:lnL>
                      <a:noFill/>
                    </a:lnL>
                    <a:lnR>
                      <a:noFill/>
                    </a:lnR>
                    <a:lnT>
                      <a:noFill/>
                    </a:lnT>
                    <a:lnB>
                      <a:noFill/>
                    </a:lnB>
                  </a:tcPr>
                </a:tc>
                <a:tc>
                  <a:txBody>
                    <a:bodyPr/>
                    <a:lstStyle/>
                    <a:p>
                      <a:r>
                        <a:rPr lang="en-IN" sz="2000" b="1" dirty="0">
                          <a:latin typeface="Times New Roman" panose="02020603050405020304" pitchFamily="18" charset="0"/>
                          <a:cs typeface="Times New Roman" panose="02020603050405020304" pitchFamily="18" charset="0"/>
                        </a:rPr>
                        <a:t>Description</a:t>
                      </a:r>
                    </a:p>
                  </a:txBody>
                  <a:tcPr anchor="ctr">
                    <a:lnL>
                      <a:noFill/>
                    </a:lnL>
                    <a:lnR>
                      <a:noFill/>
                    </a:lnR>
                    <a:lnT>
                      <a:noFill/>
                    </a:lnT>
                    <a:lnB>
                      <a:noFill/>
                    </a:lnB>
                  </a:tcPr>
                </a:tc>
                <a:extLst>
                  <a:ext uri="{0D108BD9-81ED-4DB2-BD59-A6C34878D82A}">
                    <a16:rowId xmlns:a16="http://schemas.microsoft.com/office/drawing/2014/main" val="2596446457"/>
                  </a:ext>
                </a:extLst>
              </a:tr>
              <a:tr h="616619">
                <a:tc>
                  <a:txBody>
                    <a:bodyPr/>
                    <a:lstStyle/>
                    <a:p>
                      <a:r>
                        <a:rPr lang="en-IN" sz="2000" b="1" dirty="0">
                          <a:latin typeface="Times New Roman" panose="02020603050405020304" pitchFamily="18" charset="0"/>
                          <a:cs typeface="Times New Roman" panose="02020603050405020304" pitchFamily="18" charset="0"/>
                        </a:rPr>
                        <a:t>1. Specification</a:t>
                      </a:r>
                      <a:endParaRPr lang="en-IN" sz="20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2000">
                          <a:latin typeface="Times New Roman" panose="02020603050405020304" pitchFamily="18" charset="0"/>
                          <a:cs typeface="Times New Roman" panose="02020603050405020304" pitchFamily="18" charset="0"/>
                        </a:rPr>
                        <a:t>Define what the software should do (requirements)</a:t>
                      </a:r>
                    </a:p>
                  </a:txBody>
                  <a:tcPr anchor="ctr">
                    <a:lnL>
                      <a:noFill/>
                    </a:lnL>
                    <a:lnR>
                      <a:noFill/>
                    </a:lnR>
                    <a:lnT>
                      <a:noFill/>
                    </a:lnT>
                    <a:lnB>
                      <a:noFill/>
                    </a:lnB>
                  </a:tcPr>
                </a:tc>
                <a:extLst>
                  <a:ext uri="{0D108BD9-81ED-4DB2-BD59-A6C34878D82A}">
                    <a16:rowId xmlns:a16="http://schemas.microsoft.com/office/drawing/2014/main" val="3137047748"/>
                  </a:ext>
                </a:extLst>
              </a:tr>
              <a:tr h="352354">
                <a:tc>
                  <a:txBody>
                    <a:bodyPr/>
                    <a:lstStyle/>
                    <a:p>
                      <a:r>
                        <a:rPr lang="en-IN" sz="2000" b="1">
                          <a:latin typeface="Times New Roman" panose="02020603050405020304" pitchFamily="18" charset="0"/>
                          <a:cs typeface="Times New Roman" panose="02020603050405020304" pitchFamily="18" charset="0"/>
                        </a:rPr>
                        <a:t>2. Design &amp; Development</a:t>
                      </a:r>
                      <a:endParaRPr lang="en-IN" sz="200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2000" dirty="0">
                          <a:latin typeface="Times New Roman" panose="02020603050405020304" pitchFamily="18" charset="0"/>
                          <a:cs typeface="Times New Roman" panose="02020603050405020304" pitchFamily="18" charset="0"/>
                        </a:rPr>
                        <a:t>Design structure and build the software</a:t>
                      </a:r>
                    </a:p>
                  </a:txBody>
                  <a:tcPr anchor="ctr">
                    <a:lnL>
                      <a:noFill/>
                    </a:lnL>
                    <a:lnR>
                      <a:noFill/>
                    </a:lnR>
                    <a:lnT>
                      <a:noFill/>
                    </a:lnT>
                    <a:lnB>
                      <a:noFill/>
                    </a:lnB>
                  </a:tcPr>
                </a:tc>
                <a:extLst>
                  <a:ext uri="{0D108BD9-81ED-4DB2-BD59-A6C34878D82A}">
                    <a16:rowId xmlns:a16="http://schemas.microsoft.com/office/drawing/2014/main" val="1430124172"/>
                  </a:ext>
                </a:extLst>
              </a:tr>
              <a:tr h="616619">
                <a:tc>
                  <a:txBody>
                    <a:bodyPr/>
                    <a:lstStyle/>
                    <a:p>
                      <a:r>
                        <a:rPr lang="en-IN" sz="2000" b="1">
                          <a:latin typeface="Times New Roman" panose="02020603050405020304" pitchFamily="18" charset="0"/>
                          <a:cs typeface="Times New Roman" panose="02020603050405020304" pitchFamily="18" charset="0"/>
                        </a:rPr>
                        <a:t>3. Validation</a:t>
                      </a:r>
                      <a:endParaRPr lang="en-IN" sz="200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2000" dirty="0">
                          <a:latin typeface="Times New Roman" panose="02020603050405020304" pitchFamily="18" charset="0"/>
                          <a:cs typeface="Times New Roman" panose="02020603050405020304" pitchFamily="18" charset="0"/>
                        </a:rPr>
                        <a:t>Test and ensure the software meets user needs</a:t>
                      </a:r>
                    </a:p>
                  </a:txBody>
                  <a:tcPr anchor="ctr">
                    <a:lnL>
                      <a:noFill/>
                    </a:lnL>
                    <a:lnR>
                      <a:noFill/>
                    </a:lnR>
                    <a:lnT>
                      <a:noFill/>
                    </a:lnT>
                    <a:lnB>
                      <a:noFill/>
                    </a:lnB>
                  </a:tcPr>
                </a:tc>
                <a:extLst>
                  <a:ext uri="{0D108BD9-81ED-4DB2-BD59-A6C34878D82A}">
                    <a16:rowId xmlns:a16="http://schemas.microsoft.com/office/drawing/2014/main" val="1641944710"/>
                  </a:ext>
                </a:extLst>
              </a:tr>
              <a:tr h="616619">
                <a:tc>
                  <a:txBody>
                    <a:bodyPr/>
                    <a:lstStyle/>
                    <a:p>
                      <a:r>
                        <a:rPr lang="en-IN" sz="2000" b="1" dirty="0">
                          <a:latin typeface="Times New Roman" panose="02020603050405020304" pitchFamily="18" charset="0"/>
                          <a:cs typeface="Times New Roman" panose="02020603050405020304" pitchFamily="18" charset="0"/>
                        </a:rPr>
                        <a:t>4. Evolution</a:t>
                      </a:r>
                      <a:endParaRPr lang="en-IN" sz="20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2000" dirty="0">
                          <a:latin typeface="Times New Roman" panose="02020603050405020304" pitchFamily="18" charset="0"/>
                          <a:cs typeface="Times New Roman" panose="02020603050405020304" pitchFamily="18" charset="0"/>
                        </a:rPr>
                        <a:t>Modify software to meet changing requirements</a:t>
                      </a:r>
                    </a:p>
                  </a:txBody>
                  <a:tcPr anchor="ctr">
                    <a:lnL>
                      <a:noFill/>
                    </a:lnL>
                    <a:lnR>
                      <a:noFill/>
                    </a:lnR>
                    <a:lnT>
                      <a:noFill/>
                    </a:lnT>
                    <a:lnB>
                      <a:noFill/>
                    </a:lnB>
                  </a:tcPr>
                </a:tc>
                <a:extLst>
                  <a:ext uri="{0D108BD9-81ED-4DB2-BD59-A6C34878D82A}">
                    <a16:rowId xmlns:a16="http://schemas.microsoft.com/office/drawing/2014/main" val="387376923"/>
                  </a:ext>
                </a:extLst>
              </a:tr>
            </a:tbl>
          </a:graphicData>
        </a:graphic>
      </p:graphicFrame>
    </p:spTree>
    <p:extLst>
      <p:ext uri="{BB962C8B-B14F-4D97-AF65-F5344CB8AC3E}">
        <p14:creationId xmlns:p14="http://schemas.microsoft.com/office/powerpoint/2010/main" val="2567418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5AB14-900E-12BA-0795-5131C743D0CE}"/>
              </a:ext>
            </a:extLst>
          </p:cNvPr>
          <p:cNvSpPr>
            <a:spLocks noGrp="1"/>
          </p:cNvSpPr>
          <p:nvPr>
            <p:ph type="title"/>
          </p:nvPr>
        </p:nvSpPr>
        <p:spPr>
          <a:xfrm>
            <a:off x="609600" y="274638"/>
            <a:ext cx="10972800" cy="820917"/>
          </a:xfrm>
        </p:spPr>
        <p:txBody>
          <a:bodyPr/>
          <a:lstStyle/>
          <a:p>
            <a:r>
              <a:rPr lang="en-IN" dirty="0">
                <a:latin typeface="Times New Roman" panose="02020603050405020304" pitchFamily="18" charset="0"/>
                <a:cs typeface="Times New Roman" panose="02020603050405020304" pitchFamily="18" charset="0"/>
              </a:rPr>
              <a:t>Generic Process Framework</a:t>
            </a:r>
          </a:p>
        </p:txBody>
      </p:sp>
      <p:sp>
        <p:nvSpPr>
          <p:cNvPr id="3" name="Content Placeholder 2">
            <a:extLst>
              <a:ext uri="{FF2B5EF4-FFF2-40B4-BE49-F238E27FC236}">
                <a16:creationId xmlns:a16="http://schemas.microsoft.com/office/drawing/2014/main" id="{D3912B52-8B4B-F7FA-DEB8-FA5D04706479}"/>
              </a:ext>
            </a:extLst>
          </p:cNvPr>
          <p:cNvSpPr>
            <a:spLocks noGrp="1"/>
          </p:cNvSpPr>
          <p:nvPr>
            <p:ph idx="1"/>
          </p:nvPr>
        </p:nvSpPr>
        <p:spPr>
          <a:xfrm>
            <a:off x="609600" y="1130060"/>
            <a:ext cx="10972800" cy="5141343"/>
          </a:xfrm>
        </p:spPr>
        <p:txBody>
          <a:bodyPr/>
          <a:lstStyle/>
          <a:p>
            <a:pPr>
              <a:lnSpc>
                <a:spcPct val="90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200" dirty="0">
                <a:latin typeface="Times New Roman" panose="02020603050405020304" pitchFamily="18" charset="0"/>
                <a:cs typeface="Times New Roman" panose="02020603050405020304" pitchFamily="18" charset="0"/>
              </a:rPr>
              <a:t>Communication</a:t>
            </a:r>
          </a:p>
          <a:p>
            <a:pPr lvl="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200" dirty="0">
                <a:latin typeface="Times New Roman" panose="02020603050405020304" pitchFamily="18" charset="0"/>
                <a:cs typeface="Times New Roman" panose="02020603050405020304" pitchFamily="18" charset="0"/>
              </a:rPr>
              <a:t>Involves communication among the customer and other stake holders; encompasses requirements gathering</a:t>
            </a:r>
          </a:p>
          <a:p>
            <a:pPr>
              <a:lnSpc>
                <a:spcPct val="90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200" dirty="0">
                <a:latin typeface="Times New Roman" panose="02020603050405020304" pitchFamily="18" charset="0"/>
                <a:cs typeface="Times New Roman" panose="02020603050405020304" pitchFamily="18" charset="0"/>
              </a:rPr>
              <a:t>Planning</a:t>
            </a:r>
          </a:p>
          <a:p>
            <a:pPr lvl="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200" dirty="0">
                <a:latin typeface="Times New Roman" panose="02020603050405020304" pitchFamily="18" charset="0"/>
                <a:cs typeface="Times New Roman" panose="02020603050405020304" pitchFamily="18" charset="0"/>
              </a:rPr>
              <a:t>Establishes a plan for software engineering work; addresses technical tasks, resources, work products, and work schedule</a:t>
            </a:r>
          </a:p>
          <a:p>
            <a:pPr>
              <a:lnSpc>
                <a:spcPct val="90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200" dirty="0" err="1">
                <a:latin typeface="Times New Roman" panose="02020603050405020304" pitchFamily="18" charset="0"/>
                <a:cs typeface="Times New Roman" panose="02020603050405020304" pitchFamily="18" charset="0"/>
              </a:rPr>
              <a:t>Modeling</a:t>
            </a:r>
            <a:r>
              <a:rPr lang="en-GB" altLang="en-US" sz="2200" dirty="0">
                <a:latin typeface="Times New Roman" panose="02020603050405020304" pitchFamily="18" charset="0"/>
                <a:cs typeface="Times New Roman" panose="02020603050405020304" pitchFamily="18" charset="0"/>
              </a:rPr>
              <a:t> (</a:t>
            </a:r>
            <a:r>
              <a:rPr lang="en-GB" altLang="en-US" sz="2200" dirty="0" err="1">
                <a:latin typeface="Times New Roman" panose="02020603050405020304" pitchFamily="18" charset="0"/>
                <a:cs typeface="Times New Roman" panose="02020603050405020304" pitchFamily="18" charset="0"/>
              </a:rPr>
              <a:t>Analyze</a:t>
            </a:r>
            <a:r>
              <a:rPr lang="en-GB" altLang="en-US" sz="2200" dirty="0">
                <a:latin typeface="Times New Roman" panose="02020603050405020304" pitchFamily="18" charset="0"/>
                <a:cs typeface="Times New Roman" panose="02020603050405020304" pitchFamily="18" charset="0"/>
              </a:rPr>
              <a:t>, Design)</a:t>
            </a:r>
          </a:p>
          <a:p>
            <a:pPr lvl="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200" dirty="0">
                <a:latin typeface="Times New Roman" panose="02020603050405020304" pitchFamily="18" charset="0"/>
                <a:cs typeface="Times New Roman" panose="02020603050405020304" pitchFamily="18" charset="0"/>
              </a:rPr>
              <a:t>Encompasses the creation of models to better under the requirements and the design</a:t>
            </a:r>
          </a:p>
          <a:p>
            <a:pPr>
              <a:lnSpc>
                <a:spcPct val="90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200" dirty="0">
                <a:latin typeface="Times New Roman" panose="02020603050405020304" pitchFamily="18" charset="0"/>
                <a:cs typeface="Times New Roman" panose="02020603050405020304" pitchFamily="18" charset="0"/>
              </a:rPr>
              <a:t>Construction (Code, Test)</a:t>
            </a:r>
          </a:p>
          <a:p>
            <a:pPr lvl="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200" dirty="0">
                <a:latin typeface="Times New Roman" panose="02020603050405020304" pitchFamily="18" charset="0"/>
                <a:cs typeface="Times New Roman" panose="02020603050405020304" pitchFamily="18" charset="0"/>
              </a:rPr>
              <a:t>Combines code generation and testing to uncover errors</a:t>
            </a:r>
          </a:p>
          <a:p>
            <a:pPr>
              <a:lnSpc>
                <a:spcPct val="90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200" dirty="0">
                <a:latin typeface="Times New Roman" panose="02020603050405020304" pitchFamily="18" charset="0"/>
                <a:cs typeface="Times New Roman" panose="02020603050405020304" pitchFamily="18" charset="0"/>
              </a:rPr>
              <a:t>Deployment</a:t>
            </a:r>
          </a:p>
          <a:p>
            <a:pPr lvl="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200" dirty="0">
                <a:latin typeface="Times New Roman" panose="02020603050405020304" pitchFamily="18" charset="0"/>
                <a:cs typeface="Times New Roman" panose="02020603050405020304" pitchFamily="18" charset="0"/>
              </a:rPr>
              <a:t>Involves delivery of software to the customer for evaluation and feedback</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564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B8FD1-C7E9-D6BC-5AD1-71AD551547C5}"/>
              </a:ext>
            </a:extLst>
          </p:cNvPr>
          <p:cNvSpPr>
            <a:spLocks noGrp="1"/>
          </p:cNvSpPr>
          <p:nvPr>
            <p:ph type="title"/>
          </p:nvPr>
        </p:nvSpPr>
        <p:spPr/>
        <p:txBody>
          <a:bodyPr/>
          <a:lstStyle/>
          <a:p>
            <a:r>
              <a:rPr lang="en-GB" altLang="en-US" sz="4000" dirty="0" err="1">
                <a:latin typeface="Times New Roman" panose="02020603050405020304" pitchFamily="18" charset="0"/>
                <a:cs typeface="Times New Roman" panose="02020603050405020304" pitchFamily="18" charset="0"/>
              </a:rPr>
              <a:t>Modeling</a:t>
            </a:r>
            <a:r>
              <a:rPr lang="en-GB" altLang="en-US" sz="4000" dirty="0">
                <a:latin typeface="Times New Roman" panose="02020603050405020304" pitchFamily="18" charset="0"/>
                <a:cs typeface="Times New Roman" panose="02020603050405020304" pitchFamily="18" charset="0"/>
              </a:rPr>
              <a:t>: Software Requirements Analysis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9BDC6AB-50E2-E2EC-55BE-26A30A2BD6C0}"/>
              </a:ext>
            </a:extLst>
          </p:cNvPr>
          <p:cNvSpPr>
            <a:spLocks noGrp="1"/>
          </p:cNvSpPr>
          <p:nvPr>
            <p:ph idx="1"/>
          </p:nvPr>
        </p:nvSpPr>
        <p:spPr/>
        <p:txBody>
          <a:bodyPr/>
          <a:lstStyle/>
          <a:p>
            <a:pPr algn="just">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dirty="0">
                <a:latin typeface="Times New Roman" panose="02020603050405020304" pitchFamily="18" charset="0"/>
                <a:cs typeface="Times New Roman" panose="02020603050405020304" pitchFamily="18" charset="0"/>
              </a:rPr>
              <a:t>Helps software engineers to better understand the </a:t>
            </a:r>
            <a:r>
              <a:rPr lang="en-GB" altLang="en-US" sz="2400" u="sng" dirty="0">
                <a:latin typeface="Times New Roman" panose="02020603050405020304" pitchFamily="18" charset="0"/>
                <a:cs typeface="Times New Roman" panose="02020603050405020304" pitchFamily="18" charset="0"/>
              </a:rPr>
              <a:t>problem</a:t>
            </a:r>
            <a:r>
              <a:rPr lang="en-GB" altLang="en-US" sz="2400" dirty="0">
                <a:latin typeface="Times New Roman" panose="02020603050405020304" pitchFamily="18" charset="0"/>
                <a:cs typeface="Times New Roman" panose="02020603050405020304" pitchFamily="18" charset="0"/>
              </a:rPr>
              <a:t> they will work to solve</a:t>
            </a:r>
          </a:p>
          <a:p>
            <a:pPr algn="just">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dirty="0">
                <a:latin typeface="Times New Roman" panose="02020603050405020304" pitchFamily="18" charset="0"/>
                <a:cs typeface="Times New Roman" panose="02020603050405020304" pitchFamily="18" charset="0"/>
              </a:rPr>
              <a:t>Encompasses the set of tasks that lead to an understanding of what the business impact of the software will be, what the customer wants, and how end-users will interact with the software</a:t>
            </a:r>
          </a:p>
          <a:p>
            <a:pPr algn="just">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dirty="0">
                <a:latin typeface="Times New Roman" panose="02020603050405020304" pitchFamily="18" charset="0"/>
                <a:cs typeface="Times New Roman" panose="02020603050405020304" pitchFamily="18" charset="0"/>
              </a:rPr>
              <a:t>Uses a combination of text and diagrams to depict requirements for data, function, and behaviour</a:t>
            </a:r>
          </a:p>
          <a:p>
            <a:pPr lvl="1" algn="just">
              <a:lnSpc>
                <a:spcPct val="90000"/>
              </a:lnSpc>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dirty="0">
                <a:latin typeface="Times New Roman" panose="02020603050405020304" pitchFamily="18" charset="0"/>
                <a:cs typeface="Times New Roman" panose="02020603050405020304" pitchFamily="18" charset="0"/>
              </a:rPr>
              <a:t>Provides a relatively easy way to understand and review requirements for correctness, completeness and consistency</a:t>
            </a:r>
          </a:p>
          <a:p>
            <a:pPr>
              <a:lnSpc>
                <a:spcPct val="90000"/>
              </a:lnSpc>
              <a:spcBef>
                <a:spcPts val="6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24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300969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E7726-E57A-4E1D-B10E-E7F07BE84BBC}"/>
              </a:ext>
            </a:extLst>
          </p:cNvPr>
          <p:cNvSpPr>
            <a:spLocks noGrp="1"/>
          </p:cNvSpPr>
          <p:nvPr>
            <p:ph type="title"/>
          </p:nvPr>
        </p:nvSpPr>
        <p:spPr>
          <a:xfrm>
            <a:off x="609600" y="274638"/>
            <a:ext cx="10972800" cy="475860"/>
          </a:xfrm>
        </p:spPr>
        <p:txBody>
          <a:bodyPr/>
          <a:lstStyle/>
          <a:p>
            <a:r>
              <a:rPr lang="en-GB" altLang="en-US" sz="4000" dirty="0" err="1">
                <a:latin typeface="Times New Roman" panose="02020603050405020304" pitchFamily="18" charset="0"/>
                <a:cs typeface="Times New Roman" panose="02020603050405020304" pitchFamily="18" charset="0"/>
              </a:rPr>
              <a:t>Modeling</a:t>
            </a:r>
            <a:r>
              <a:rPr lang="en-GB" altLang="en-US" sz="4000" dirty="0">
                <a:latin typeface="Times New Roman" panose="02020603050405020304" pitchFamily="18" charset="0"/>
                <a:cs typeface="Times New Roman" panose="02020603050405020304" pitchFamily="18" charset="0"/>
              </a:rPr>
              <a:t>: Software Design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3AD4BB9-5993-3D1C-AC3D-5B9953ACD542}"/>
              </a:ext>
            </a:extLst>
          </p:cNvPr>
          <p:cNvSpPr>
            <a:spLocks noGrp="1"/>
          </p:cNvSpPr>
          <p:nvPr>
            <p:ph idx="1"/>
          </p:nvPr>
        </p:nvSpPr>
        <p:spPr>
          <a:xfrm>
            <a:off x="609600" y="957532"/>
            <a:ext cx="10972800" cy="5391509"/>
          </a:xfrm>
        </p:spPr>
        <p:txBody>
          <a:bodyPr/>
          <a:lstStyle/>
          <a:p>
            <a:pPr>
              <a:lnSpc>
                <a:spcPct val="80000"/>
              </a:lnSpc>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200" dirty="0">
                <a:latin typeface="Times New Roman" panose="02020603050405020304" pitchFamily="18" charset="0"/>
                <a:cs typeface="Times New Roman" panose="02020603050405020304" pitchFamily="18" charset="0"/>
              </a:rPr>
              <a:t>Brings together customer requirements, business needs, and technical considerations to form the “blueprint” for a product</a:t>
            </a:r>
          </a:p>
          <a:p>
            <a:pPr>
              <a:lnSpc>
                <a:spcPct val="80000"/>
              </a:lnSpc>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200" dirty="0">
                <a:latin typeface="Times New Roman" panose="02020603050405020304" pitchFamily="18" charset="0"/>
                <a:cs typeface="Times New Roman" panose="02020603050405020304" pitchFamily="18" charset="0"/>
              </a:rPr>
              <a:t>Creates a model  that provides detail about software data structures, software architecture, interfaces, and components that are necessary to implement the system</a:t>
            </a:r>
          </a:p>
          <a:p>
            <a:pPr>
              <a:lnSpc>
                <a:spcPct val="80000"/>
              </a:lnSpc>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200" dirty="0">
                <a:latin typeface="Times New Roman" panose="02020603050405020304" pitchFamily="18" charset="0"/>
                <a:cs typeface="Times New Roman" panose="02020603050405020304" pitchFamily="18" charset="0"/>
              </a:rPr>
              <a:t>Architectural design </a:t>
            </a:r>
          </a:p>
          <a:p>
            <a:pPr lvl="1">
              <a:lnSpc>
                <a:spcPct val="80000"/>
              </a:lnSpc>
              <a:spcBef>
                <a:spcPts val="45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200" dirty="0">
                <a:latin typeface="Times New Roman" panose="02020603050405020304" pitchFamily="18" charset="0"/>
                <a:cs typeface="Times New Roman" panose="02020603050405020304" pitchFamily="18" charset="0"/>
              </a:rPr>
              <a:t>Represents the structure of data and program components that are required to build the software</a:t>
            </a:r>
          </a:p>
          <a:p>
            <a:pPr lvl="1">
              <a:lnSpc>
                <a:spcPct val="80000"/>
              </a:lnSpc>
              <a:spcBef>
                <a:spcPts val="45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200" dirty="0">
                <a:latin typeface="Times New Roman" panose="02020603050405020304" pitchFamily="18" charset="0"/>
                <a:cs typeface="Times New Roman" panose="02020603050405020304" pitchFamily="18" charset="0"/>
              </a:rPr>
              <a:t>Considers the architectural style, the structure and properties of components that constitute the system, and interrelationships that occur among all architectural components</a:t>
            </a:r>
          </a:p>
          <a:p>
            <a:pPr>
              <a:lnSpc>
                <a:spcPct val="80000"/>
              </a:lnSpc>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200" dirty="0">
                <a:latin typeface="Times New Roman" panose="02020603050405020304" pitchFamily="18" charset="0"/>
                <a:cs typeface="Times New Roman" panose="02020603050405020304" pitchFamily="18" charset="0"/>
              </a:rPr>
              <a:t>User Interface Design</a:t>
            </a:r>
          </a:p>
          <a:p>
            <a:pPr lvl="1">
              <a:lnSpc>
                <a:spcPct val="80000"/>
              </a:lnSpc>
              <a:spcBef>
                <a:spcPts val="45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200" dirty="0">
                <a:latin typeface="Times New Roman" panose="02020603050405020304" pitchFamily="18" charset="0"/>
                <a:cs typeface="Times New Roman" panose="02020603050405020304" pitchFamily="18" charset="0"/>
              </a:rPr>
              <a:t>Creates an effective communication medium between a human and a computer</a:t>
            </a:r>
          </a:p>
          <a:p>
            <a:pPr lvl="1">
              <a:lnSpc>
                <a:spcPct val="80000"/>
              </a:lnSpc>
              <a:spcBef>
                <a:spcPts val="45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200" dirty="0">
                <a:latin typeface="Times New Roman" panose="02020603050405020304" pitchFamily="18" charset="0"/>
                <a:cs typeface="Times New Roman" panose="02020603050405020304" pitchFamily="18" charset="0"/>
              </a:rPr>
              <a:t>Identifies interface objects and actions and then creates a screen layout that forms the basis for a user interface prototype</a:t>
            </a:r>
          </a:p>
          <a:p>
            <a:pPr>
              <a:lnSpc>
                <a:spcPct val="80000"/>
              </a:lnSpc>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200" dirty="0">
                <a:latin typeface="Times New Roman" panose="02020603050405020304" pitchFamily="18" charset="0"/>
                <a:cs typeface="Times New Roman" panose="02020603050405020304" pitchFamily="18" charset="0"/>
              </a:rPr>
              <a:t>Component-level Design</a:t>
            </a:r>
          </a:p>
          <a:p>
            <a:pPr lvl="1">
              <a:lnSpc>
                <a:spcPct val="80000"/>
              </a:lnSpc>
              <a:spcBef>
                <a:spcPts val="45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200" dirty="0">
                <a:latin typeface="Times New Roman" panose="02020603050405020304" pitchFamily="18" charset="0"/>
                <a:cs typeface="Times New Roman" panose="02020603050405020304" pitchFamily="18" charset="0"/>
              </a:rPr>
              <a:t>Defines the data structures, algorithms, interface characteristics, and communication mechanisms allocated to each software component</a:t>
            </a:r>
          </a:p>
          <a:p>
            <a:endParaRPr lang="en-IN" dirty="0"/>
          </a:p>
        </p:txBody>
      </p:sp>
    </p:spTree>
    <p:extLst>
      <p:ext uri="{BB962C8B-B14F-4D97-AF65-F5344CB8AC3E}">
        <p14:creationId xmlns:p14="http://schemas.microsoft.com/office/powerpoint/2010/main" val="1077243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Need for life cycle model</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828942"/>
            <a:ext cx="10972800" cy="5297223"/>
          </a:xfrm>
        </p:spPr>
        <p:txBody>
          <a:bodyPr/>
          <a:lstStyle/>
          <a:p>
            <a:pPr algn="just"/>
            <a:r>
              <a:rPr lang="en-US" sz="2200" b="0" i="0" u="none" strike="noStrike" baseline="0" dirty="0">
                <a:solidFill>
                  <a:srgbClr val="000000"/>
                </a:solidFill>
                <a:latin typeface="Times New Roman" panose="02020603050405020304" pitchFamily="18" charset="0"/>
                <a:cs typeface="Times New Roman" panose="02020603050405020304" pitchFamily="18" charset="0"/>
              </a:rPr>
              <a:t>The development team must identify a suitable life cycle model for the particular project and then adhere to it. </a:t>
            </a:r>
          </a:p>
          <a:p>
            <a:pPr algn="just"/>
            <a:r>
              <a:rPr lang="en-US" sz="2200" b="0" i="0" u="none" strike="noStrike" baseline="0" dirty="0">
                <a:solidFill>
                  <a:srgbClr val="000000"/>
                </a:solidFill>
                <a:latin typeface="Times New Roman" panose="02020603050405020304" pitchFamily="18" charset="0"/>
                <a:cs typeface="Times New Roman" panose="02020603050405020304" pitchFamily="18" charset="0"/>
              </a:rPr>
              <a:t>Without using of a particular life cycle model the development of a software product would not be in a systematic and disciplined manner. </a:t>
            </a:r>
          </a:p>
          <a:p>
            <a:pPr algn="just"/>
            <a:r>
              <a:rPr lang="en-US" sz="2200" b="0" i="0" u="none" strike="noStrike" baseline="0" dirty="0">
                <a:solidFill>
                  <a:srgbClr val="000000"/>
                </a:solidFill>
                <a:latin typeface="Times New Roman" panose="02020603050405020304" pitchFamily="18" charset="0"/>
                <a:cs typeface="Times New Roman" panose="02020603050405020304" pitchFamily="18" charset="0"/>
              </a:rPr>
              <a:t>When a software product is being developed by a team there must be a clear understanding among team members about when and what to do. Otherwise it would lead to chaos and project failure. </a:t>
            </a:r>
          </a:p>
          <a:p>
            <a:pPr algn="just"/>
            <a:r>
              <a:rPr lang="en-US" sz="2200" b="0" i="0" u="none" strike="noStrike" baseline="0" dirty="0">
                <a:solidFill>
                  <a:srgbClr val="000000"/>
                </a:solidFill>
                <a:latin typeface="Times New Roman" panose="02020603050405020304" pitchFamily="18" charset="0"/>
                <a:cs typeface="Times New Roman" panose="02020603050405020304" pitchFamily="18" charset="0"/>
              </a:rPr>
              <a:t>A software life cycle model defines entry and exit criteria for every phase. A phase can start only if its phase-entry criteria have been satisfied. So without software life cycle model the entry and exit criteria for a phase cannot be recognized.</a:t>
            </a:r>
          </a:p>
          <a:p>
            <a:pPr algn="just"/>
            <a:r>
              <a:rPr lang="en-US" sz="2200" b="0" i="0" u="none" strike="noStrike" baseline="0" dirty="0">
                <a:solidFill>
                  <a:srgbClr val="000000"/>
                </a:solidFill>
                <a:latin typeface="Times New Roman" panose="02020603050405020304" pitchFamily="18" charset="0"/>
                <a:cs typeface="Times New Roman" panose="02020603050405020304" pitchFamily="18" charset="0"/>
              </a:rPr>
              <a:t>Without software life cycle models (such as classical waterfall model, iterative waterfall model, prototyping model, evolutionary model, spiral model etc.) it becomes difficult for software project managers to monitor the progress of the project. </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93700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Different life cycle models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828942"/>
            <a:ext cx="10972800" cy="5297223"/>
          </a:xfrm>
        </p:spPr>
        <p:txBody>
          <a:bodyPr/>
          <a:lstStyle/>
          <a:p>
            <a:pPr marR="0" algn="just"/>
            <a:r>
              <a:rPr lang="en-US" sz="2000" b="0" i="0" u="none" strike="noStrike" baseline="0" dirty="0">
                <a:solidFill>
                  <a:srgbClr val="000000"/>
                </a:solidFill>
                <a:latin typeface="Times New Roman" panose="02020603050405020304" pitchFamily="18" charset="0"/>
                <a:cs typeface="Times New Roman" panose="02020603050405020304" pitchFamily="18" charset="0"/>
              </a:rPr>
              <a:t>Many life cycle models have been proposed so far. Each of them has some advantages as well as some disadvantages. A few important and commonly used life cycle models are as follows: </a:t>
            </a:r>
          </a:p>
          <a:p>
            <a:pPr algn="just"/>
            <a:r>
              <a:rPr lang="en-IN" sz="2000" b="0" i="0" u="none" strike="noStrike" baseline="0" dirty="0">
                <a:solidFill>
                  <a:srgbClr val="000000"/>
                </a:solidFill>
                <a:latin typeface="Times New Roman" panose="02020603050405020304" pitchFamily="18" charset="0"/>
                <a:cs typeface="Times New Roman" panose="02020603050405020304" pitchFamily="18" charset="0"/>
              </a:rPr>
              <a:t>Classical Waterfall Model </a:t>
            </a:r>
          </a:p>
          <a:p>
            <a:pPr algn="just"/>
            <a:r>
              <a:rPr lang="en-IN" sz="2000" b="0" i="0" u="none" strike="noStrike" baseline="0" dirty="0">
                <a:solidFill>
                  <a:srgbClr val="000000"/>
                </a:solidFill>
                <a:latin typeface="Times New Roman" panose="02020603050405020304" pitchFamily="18" charset="0"/>
                <a:cs typeface="Times New Roman" panose="02020603050405020304" pitchFamily="18" charset="0"/>
              </a:rPr>
              <a:t>Iterative Waterfall Model </a:t>
            </a:r>
          </a:p>
          <a:p>
            <a:pPr algn="just"/>
            <a:r>
              <a:rPr lang="en-IN" sz="2000" b="0" i="0" u="none" strike="noStrike" baseline="0" dirty="0">
                <a:solidFill>
                  <a:srgbClr val="000000"/>
                </a:solidFill>
                <a:latin typeface="Times New Roman" panose="02020603050405020304" pitchFamily="18" charset="0"/>
                <a:cs typeface="Times New Roman" panose="02020603050405020304" pitchFamily="18" charset="0"/>
              </a:rPr>
              <a:t>Prototyping Model </a:t>
            </a:r>
          </a:p>
          <a:p>
            <a:pPr algn="just"/>
            <a:r>
              <a:rPr lang="en-IN" sz="2000" b="0" i="0" u="none" strike="noStrike" baseline="0" dirty="0">
                <a:solidFill>
                  <a:srgbClr val="000000"/>
                </a:solidFill>
                <a:latin typeface="Times New Roman" panose="02020603050405020304" pitchFamily="18" charset="0"/>
                <a:cs typeface="Times New Roman" panose="02020603050405020304" pitchFamily="18" charset="0"/>
              </a:rPr>
              <a:t>Evolutionary Model </a:t>
            </a:r>
          </a:p>
          <a:p>
            <a:pPr algn="just"/>
            <a:r>
              <a:rPr lang="en-IN" sz="2000" b="0" i="0" u="none" strike="noStrike" baseline="0" dirty="0">
                <a:solidFill>
                  <a:srgbClr val="000000"/>
                </a:solidFill>
                <a:latin typeface="Times New Roman" panose="02020603050405020304" pitchFamily="18" charset="0"/>
                <a:cs typeface="Times New Roman" panose="02020603050405020304" pitchFamily="18" charset="0"/>
              </a:rPr>
              <a:t>Spiral Model </a:t>
            </a:r>
          </a:p>
          <a:p>
            <a:pPr algn="just"/>
            <a:r>
              <a:rPr lang="en-IN" sz="2000" dirty="0">
                <a:solidFill>
                  <a:srgbClr val="000000"/>
                </a:solidFill>
                <a:latin typeface="Times New Roman" panose="02020603050405020304" pitchFamily="18" charset="0"/>
                <a:cs typeface="Times New Roman" panose="02020603050405020304" pitchFamily="18" charset="0"/>
              </a:rPr>
              <a:t>Agile </a:t>
            </a:r>
            <a:endParaRPr lang="en-IN" sz="2000" b="0" i="0" u="none" strike="noStrike" baseline="0" dirty="0">
              <a:solidFill>
                <a:srgbClr val="000000"/>
              </a:solidFill>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2818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Waterfall Model</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DD7FC-F20E-878F-3CC9-98068E0A86D8}"/>
              </a:ext>
            </a:extLst>
          </p:cNvPr>
          <p:cNvSpPr>
            <a:spLocks noGrp="1"/>
          </p:cNvSpPr>
          <p:nvPr>
            <p:ph idx="1"/>
          </p:nvPr>
        </p:nvSpPr>
        <p:spPr>
          <a:xfrm>
            <a:off x="609600" y="828942"/>
            <a:ext cx="10972800" cy="5297223"/>
          </a:xfrm>
        </p:spPr>
        <p:txBody>
          <a:bodyPr/>
          <a:lstStyle/>
          <a:p>
            <a:pPr algn="just"/>
            <a:r>
              <a:rPr lang="en-US" sz="2200" b="0" i="0" u="none" strike="noStrike" baseline="0" dirty="0">
                <a:latin typeface="Times New Roman" panose="02020603050405020304" pitchFamily="18" charset="0"/>
                <a:cs typeface="Times New Roman" panose="02020603050405020304" pitchFamily="18" charset="0"/>
              </a:rPr>
              <a:t>Sequential model, also known as water fall model.</a:t>
            </a:r>
          </a:p>
          <a:p>
            <a:pPr algn="just"/>
            <a:r>
              <a:rPr lang="en-US" sz="2200" b="0" i="0" u="none" strike="noStrike" baseline="0" dirty="0">
                <a:latin typeface="Times New Roman" panose="02020603050405020304" pitchFamily="18" charset="0"/>
                <a:cs typeface="Times New Roman" panose="02020603050405020304" pitchFamily="18" charset="0"/>
              </a:rPr>
              <a:t>It represents the development process as a sequence of steps (phases). It requires that a phase is complete before the next phase is started. Because of the explicit recognition of phases and sequencing, it helps in contract </a:t>
            </a:r>
            <a:r>
              <a:rPr lang="en-US" sz="2200" b="0" i="0" u="none" strike="noStrike" baseline="0" dirty="0" err="1">
                <a:latin typeface="Times New Roman" panose="02020603050405020304" pitchFamily="18" charset="0"/>
                <a:cs typeface="Times New Roman" panose="02020603050405020304" pitchFamily="18" charset="0"/>
              </a:rPr>
              <a:t>finalisation</a:t>
            </a:r>
            <a:r>
              <a:rPr lang="en-US" sz="2200" b="0" i="0" u="none" strike="noStrike" baseline="0" dirty="0">
                <a:latin typeface="Times New Roman" panose="02020603050405020304" pitchFamily="18" charset="0"/>
                <a:cs typeface="Times New Roman" panose="02020603050405020304" pitchFamily="18" charset="0"/>
              </a:rPr>
              <a:t> with reference to delivery and payment schedules.</a:t>
            </a:r>
          </a:p>
          <a:p>
            <a:pPr algn="just"/>
            <a:r>
              <a:rPr lang="en-US" sz="2200" b="0" i="0" u="none" strike="noStrike" baseline="0" dirty="0">
                <a:latin typeface="Times New Roman" panose="02020603050405020304" pitchFamily="18" charset="0"/>
                <a:cs typeface="Times New Roman" panose="02020603050405020304" pitchFamily="18" charset="0"/>
              </a:rPr>
              <a:t>In practice it is difficult to use this model as it is, because of the </a:t>
            </a:r>
            <a:r>
              <a:rPr lang="en-US" sz="2200" b="0" i="0" u="none" strike="noStrike" baseline="0" dirty="0" err="1">
                <a:latin typeface="Times New Roman" panose="02020603050405020304" pitchFamily="18" charset="0"/>
                <a:cs typeface="Times New Roman" panose="02020603050405020304" pitchFamily="18" charset="0"/>
              </a:rPr>
              <a:t>uncertainity</a:t>
            </a:r>
            <a:r>
              <a:rPr lang="en-US" sz="2200" b="0" i="0" u="none" strike="noStrike" baseline="0" dirty="0">
                <a:latin typeface="Times New Roman" panose="02020603050405020304" pitchFamily="18" charset="0"/>
                <a:cs typeface="Times New Roman" panose="02020603050405020304" pitchFamily="18" charset="0"/>
              </a:rPr>
              <a:t> in the software requirements.</a:t>
            </a:r>
          </a:p>
          <a:p>
            <a:pPr algn="just"/>
            <a:r>
              <a:rPr lang="en-US" sz="2200" b="0" i="0" u="none" strike="noStrike" baseline="0" dirty="0">
                <a:latin typeface="Times New Roman" panose="02020603050405020304" pitchFamily="18" charset="0"/>
                <a:cs typeface="Times New Roman" panose="02020603050405020304" pitchFamily="18" charset="0"/>
              </a:rPr>
              <a:t>It is often difficult to envisage all the requirements a priori. If a mistake in understanding the requirements gets detected during the coding phase, then the whole process has to be started all over again.</a:t>
            </a:r>
          </a:p>
          <a:p>
            <a:pPr algn="just"/>
            <a:r>
              <a:rPr lang="en-US" sz="2200" b="0" i="0" u="none" strike="noStrike" baseline="0" dirty="0">
                <a:latin typeface="Times New Roman" panose="02020603050405020304" pitchFamily="18" charset="0"/>
                <a:cs typeface="Times New Roman" panose="02020603050405020304" pitchFamily="18" charset="0"/>
              </a:rPr>
              <a:t> A working version of the software will not be available until late in the project life cycle. So, iteration both within a phase and across phases is a necessity.</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21831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Waterfall Model</a:t>
            </a:r>
            <a:endParaRPr lang="en-IN"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F38BAAA9-5B25-72ED-5069-1A0192B23067}"/>
              </a:ext>
            </a:extLst>
          </p:cNvPr>
          <p:cNvPicPr>
            <a:picLocks noGrp="1" noChangeAspect="1"/>
          </p:cNvPicPr>
          <p:nvPr>
            <p:ph idx="1"/>
          </p:nvPr>
        </p:nvPicPr>
        <p:blipFill>
          <a:blip r:embed="rId2"/>
          <a:stretch>
            <a:fillRect/>
          </a:stretch>
        </p:blipFill>
        <p:spPr>
          <a:xfrm>
            <a:off x="1788160" y="1473200"/>
            <a:ext cx="8788400" cy="4136321"/>
          </a:xfrm>
        </p:spPr>
      </p:pic>
    </p:spTree>
    <p:extLst>
      <p:ext uri="{BB962C8B-B14F-4D97-AF65-F5344CB8AC3E}">
        <p14:creationId xmlns:p14="http://schemas.microsoft.com/office/powerpoint/2010/main" val="11089845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F7459-4346-3A06-89CA-BA82E8248DF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Iterative Waterfall Model</a:t>
            </a:r>
          </a:p>
        </p:txBody>
      </p:sp>
      <p:sp>
        <p:nvSpPr>
          <p:cNvPr id="3" name="Content Placeholder 2">
            <a:extLst>
              <a:ext uri="{FF2B5EF4-FFF2-40B4-BE49-F238E27FC236}">
                <a16:creationId xmlns:a16="http://schemas.microsoft.com/office/drawing/2014/main" id="{BBF864F4-047B-1D0B-DB7D-A08A7759A5CE}"/>
              </a:ext>
            </a:extLst>
          </p:cNvPr>
          <p:cNvSpPr>
            <a:spLocks noGrp="1"/>
          </p:cNvSpPr>
          <p:nvPr>
            <p:ph idx="1"/>
          </p:nvPr>
        </p:nvSpPr>
        <p:spPr/>
        <p:txBody>
          <a:bodyPr/>
          <a:lstStyle/>
          <a:p>
            <a:pPr algn="just"/>
            <a:r>
              <a:rPr lang="en-US" sz="2400" dirty="0">
                <a:latin typeface="Times New Roman" panose="02020603050405020304" pitchFamily="18" charset="0"/>
                <a:cs typeface="Times New Roman" panose="02020603050405020304" pitchFamily="18" charset="0"/>
              </a:rPr>
              <a:t>The Iterative Waterfall Model is a modified version of the classic Waterfall Model, where feedback loops are added to allow going back and revisiting previous phases when needed.</a:t>
            </a:r>
          </a:p>
          <a:p>
            <a:pPr algn="just"/>
            <a:r>
              <a:rPr lang="en-US" sz="2400" dirty="0">
                <a:latin typeface="Times New Roman" panose="02020603050405020304" pitchFamily="18" charset="0"/>
                <a:cs typeface="Times New Roman" panose="02020603050405020304" pitchFamily="18" charset="0"/>
              </a:rPr>
              <a:t>Unlike the pure waterfall model (which is strictly linear), the iterative version allows corrections — making it more flexible and realistic for software development.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87919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F7459-4346-3A06-89CA-BA82E8248DF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Iterative Waterfall Model</a:t>
            </a:r>
          </a:p>
        </p:txBody>
      </p:sp>
      <p:sp>
        <p:nvSpPr>
          <p:cNvPr id="3" name="Content Placeholder 2">
            <a:extLst>
              <a:ext uri="{FF2B5EF4-FFF2-40B4-BE49-F238E27FC236}">
                <a16:creationId xmlns:a16="http://schemas.microsoft.com/office/drawing/2014/main" id="{BBF864F4-047B-1D0B-DB7D-A08A7759A5CE}"/>
              </a:ext>
            </a:extLst>
          </p:cNvPr>
          <p:cNvSpPr>
            <a:spLocks noGrp="1"/>
          </p:cNvSpPr>
          <p:nvPr>
            <p:ph idx="1"/>
          </p:nvPr>
        </p:nvSpPr>
        <p:spPr>
          <a:xfrm>
            <a:off x="609600" y="1406107"/>
            <a:ext cx="10972800" cy="4720058"/>
          </a:xfrm>
        </p:spPr>
        <p:txBody>
          <a:bodyPr/>
          <a:lstStyle/>
          <a:p>
            <a:r>
              <a:rPr lang="en-US" sz="2400" b="1" dirty="0">
                <a:latin typeface="Times New Roman" panose="02020603050405020304" pitchFamily="18" charset="0"/>
                <a:cs typeface="Times New Roman" panose="02020603050405020304" pitchFamily="18" charset="0"/>
              </a:rPr>
              <a:t>Phases of the Iterative Waterfall Model:</a:t>
            </a:r>
          </a:p>
          <a:p>
            <a:pPr>
              <a:buFont typeface="+mj-lt"/>
              <a:buAutoNum type="arabicPeriod"/>
            </a:pPr>
            <a:r>
              <a:rPr lang="en-US" sz="2400" dirty="0">
                <a:latin typeface="Times New Roman" panose="02020603050405020304" pitchFamily="18" charset="0"/>
                <a:cs typeface="Times New Roman" panose="02020603050405020304" pitchFamily="18" charset="0"/>
              </a:rPr>
              <a:t>Requirements Analysis</a:t>
            </a:r>
          </a:p>
          <a:p>
            <a:pPr>
              <a:buFont typeface="+mj-lt"/>
              <a:buAutoNum type="arabicPeriod"/>
            </a:pPr>
            <a:r>
              <a:rPr lang="en-US" sz="2400" dirty="0">
                <a:latin typeface="Times New Roman" panose="02020603050405020304" pitchFamily="18" charset="0"/>
                <a:cs typeface="Times New Roman" panose="02020603050405020304" pitchFamily="18" charset="0"/>
              </a:rPr>
              <a:t>System Design</a:t>
            </a:r>
          </a:p>
          <a:p>
            <a:pPr>
              <a:buFont typeface="+mj-lt"/>
              <a:buAutoNum type="arabicPeriod"/>
            </a:pPr>
            <a:r>
              <a:rPr lang="en-US" sz="2400" dirty="0">
                <a:latin typeface="Times New Roman" panose="02020603050405020304" pitchFamily="18" charset="0"/>
                <a:cs typeface="Times New Roman" panose="02020603050405020304" pitchFamily="18" charset="0"/>
              </a:rPr>
              <a:t>Implementation (Coding)</a:t>
            </a:r>
          </a:p>
          <a:p>
            <a:pPr>
              <a:buFont typeface="+mj-lt"/>
              <a:buAutoNum type="arabicPeriod"/>
            </a:pPr>
            <a:r>
              <a:rPr lang="en-US" sz="2400" dirty="0">
                <a:latin typeface="Times New Roman" panose="02020603050405020304" pitchFamily="18" charset="0"/>
                <a:cs typeface="Times New Roman" panose="02020603050405020304" pitchFamily="18" charset="0"/>
              </a:rPr>
              <a:t>Integration &amp; Testing</a:t>
            </a:r>
          </a:p>
          <a:p>
            <a:pPr>
              <a:buFont typeface="+mj-lt"/>
              <a:buAutoNum type="arabicPeriod"/>
            </a:pPr>
            <a:r>
              <a:rPr lang="en-US" sz="2400" dirty="0">
                <a:latin typeface="Times New Roman" panose="02020603050405020304" pitchFamily="18" charset="0"/>
                <a:cs typeface="Times New Roman" panose="02020603050405020304" pitchFamily="18" charset="0"/>
              </a:rPr>
              <a:t>Deployment (Installation)</a:t>
            </a:r>
          </a:p>
          <a:p>
            <a:pPr>
              <a:buFont typeface="+mj-lt"/>
              <a:buAutoNum type="arabicPeriod"/>
            </a:pPr>
            <a:r>
              <a:rPr lang="en-US" sz="2400" dirty="0">
                <a:latin typeface="Times New Roman" panose="02020603050405020304" pitchFamily="18" charset="0"/>
                <a:cs typeface="Times New Roman" panose="02020603050405020304" pitchFamily="18" charset="0"/>
              </a:rPr>
              <a:t>Maintenance</a:t>
            </a:r>
          </a:p>
          <a:p>
            <a:r>
              <a:rPr lang="en-US" sz="2400" b="1" dirty="0">
                <a:latin typeface="Times New Roman" panose="02020603050405020304" pitchFamily="18" charset="0"/>
                <a:cs typeface="Times New Roman" panose="02020603050405020304" pitchFamily="18" charset="0"/>
              </a:rPr>
              <a:t>Key Feature</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At any stage, </a:t>
            </a:r>
            <a:r>
              <a:rPr lang="en-US" sz="2400" b="1" dirty="0">
                <a:latin typeface="Times New Roman" panose="02020603050405020304" pitchFamily="18" charset="0"/>
                <a:cs typeface="Times New Roman" panose="02020603050405020304" pitchFamily="18" charset="0"/>
              </a:rPr>
              <a:t>feedback</a:t>
            </a:r>
            <a:r>
              <a:rPr lang="en-US" sz="2400" dirty="0">
                <a:latin typeface="Times New Roman" panose="02020603050405020304" pitchFamily="18" charset="0"/>
                <a:cs typeface="Times New Roman" panose="02020603050405020304" pitchFamily="18" charset="0"/>
              </a:rPr>
              <a:t> can lead the team to </a:t>
            </a:r>
            <a:r>
              <a:rPr lang="en-US" sz="2400" b="1" dirty="0">
                <a:latin typeface="Times New Roman" panose="02020603050405020304" pitchFamily="18" charset="0"/>
                <a:cs typeface="Times New Roman" panose="02020603050405020304" pitchFamily="18" charset="0"/>
              </a:rPr>
              <a:t>revisit a previous phase</a:t>
            </a:r>
            <a:r>
              <a:rPr lang="en-US" sz="2400" dirty="0">
                <a:latin typeface="Times New Roman" panose="02020603050405020304" pitchFamily="18" charset="0"/>
                <a:cs typeface="Times New Roman" panose="02020603050405020304" pitchFamily="18" charset="0"/>
              </a:rPr>
              <a:t> and make changes before proceeding.</a:t>
            </a:r>
          </a:p>
        </p:txBody>
      </p:sp>
    </p:spTree>
    <p:extLst>
      <p:ext uri="{BB962C8B-B14F-4D97-AF65-F5344CB8AC3E}">
        <p14:creationId xmlns:p14="http://schemas.microsoft.com/office/powerpoint/2010/main" val="6984904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F7459-4346-3A06-89CA-BA82E8248DF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Iterative Waterfall Model</a:t>
            </a:r>
          </a:p>
        </p:txBody>
      </p:sp>
      <p:pic>
        <p:nvPicPr>
          <p:cNvPr id="6" name="Content Placeholder 5">
            <a:extLst>
              <a:ext uri="{FF2B5EF4-FFF2-40B4-BE49-F238E27FC236}">
                <a16:creationId xmlns:a16="http://schemas.microsoft.com/office/drawing/2014/main" id="{1421261F-D1CA-BFFC-B1C9-66C36117799B}"/>
              </a:ext>
            </a:extLst>
          </p:cNvPr>
          <p:cNvPicPr>
            <a:picLocks noGrp="1" noChangeAspect="1"/>
          </p:cNvPicPr>
          <p:nvPr>
            <p:ph idx="1"/>
          </p:nvPr>
        </p:nvPicPr>
        <p:blipFill>
          <a:blip r:embed="rId2"/>
          <a:stretch>
            <a:fillRect/>
          </a:stretch>
        </p:blipFill>
        <p:spPr>
          <a:xfrm>
            <a:off x="1452880" y="1645920"/>
            <a:ext cx="9530080" cy="3973126"/>
          </a:xfrm>
        </p:spPr>
      </p:pic>
    </p:spTree>
    <p:extLst>
      <p:ext uri="{BB962C8B-B14F-4D97-AF65-F5344CB8AC3E}">
        <p14:creationId xmlns:p14="http://schemas.microsoft.com/office/powerpoint/2010/main" val="23995167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Prototyping Model</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1367772-B29E-F159-F724-8F8E55AD9D19}"/>
              </a:ext>
            </a:extLst>
          </p:cNvPr>
          <p:cNvSpPr>
            <a:spLocks noGrp="1"/>
          </p:cNvSpPr>
          <p:nvPr>
            <p:ph idx="1"/>
          </p:nvPr>
        </p:nvSpPr>
        <p:spPr>
          <a:xfrm>
            <a:off x="609600" y="931493"/>
            <a:ext cx="10972800" cy="5194672"/>
          </a:xfrm>
        </p:spPr>
        <p:txBody>
          <a:bodyPr/>
          <a:lstStyle/>
          <a:p>
            <a:pPr algn="just"/>
            <a:r>
              <a:rPr lang="en-US" sz="2200" b="0" i="0" u="none" strike="noStrike" baseline="0" dirty="0">
                <a:latin typeface="Times New Roman" panose="02020603050405020304" pitchFamily="18" charset="0"/>
                <a:cs typeface="Times New Roman" panose="02020603050405020304" pitchFamily="18" charset="0"/>
              </a:rPr>
              <a:t>Prototyping is discussed in the literature as a separate approach to software development. Prototyping as the name suggests, requires that a working version of the software is built early in the project life. There are two types of prototyping models, namely:</a:t>
            </a:r>
          </a:p>
          <a:p>
            <a:pPr algn="just">
              <a:buFont typeface="+mj-lt"/>
              <a:buAutoNum type="arabicPeriod"/>
            </a:pPr>
            <a:r>
              <a:rPr lang="en-IN" sz="2200" b="0" i="0" u="none" strike="noStrike" baseline="0" dirty="0">
                <a:latin typeface="Times New Roman" panose="02020603050405020304" pitchFamily="18" charset="0"/>
                <a:cs typeface="Times New Roman" panose="02020603050405020304" pitchFamily="18" charset="0"/>
              </a:rPr>
              <a:t>Throw away prototype and</a:t>
            </a:r>
          </a:p>
          <a:p>
            <a:pPr algn="just">
              <a:buFont typeface="+mj-lt"/>
              <a:buAutoNum type="arabicPeriod"/>
            </a:pPr>
            <a:r>
              <a:rPr lang="en-IN" sz="2200" b="0" i="0" u="none" strike="noStrike" baseline="0" dirty="0">
                <a:latin typeface="Times New Roman" panose="02020603050405020304" pitchFamily="18" charset="0"/>
                <a:cs typeface="Times New Roman" panose="02020603050405020304" pitchFamily="18" charset="0"/>
              </a:rPr>
              <a:t> Evolutionary prototype</a:t>
            </a:r>
          </a:p>
          <a:p>
            <a:pPr algn="just"/>
            <a:r>
              <a:rPr lang="en-US" sz="2200" b="0" i="0" u="none" strike="noStrike" baseline="0" dirty="0">
                <a:latin typeface="Times New Roman" panose="02020603050405020304" pitchFamily="18" charset="0"/>
                <a:cs typeface="Times New Roman" panose="02020603050405020304" pitchFamily="18" charset="0"/>
              </a:rPr>
              <a:t>The objective of the throw away prototyping model is to understand the requirements and solution methodologies better. The essence is speed. Hence, an ad-hoc and quick development approach with no thought to quality, is resorted to. It is akin to 'code and test'. However, once the objective is met, the code is discarded and fresh development is started, ensuring that quality standards are met. Since the requirements are now well understood, one could use the sequential approach. This model suffers from wastage of effort, in the sense that developed code is discarded, because it does not meet the quality </a:t>
            </a:r>
            <a:r>
              <a:rPr lang="en-IN" sz="2200" b="0" i="0" u="none" strike="noStrike" baseline="0" dirty="0">
                <a:latin typeface="Times New Roman" panose="02020603050405020304" pitchFamily="18" charset="0"/>
                <a:cs typeface="Times New Roman" panose="02020603050405020304" pitchFamily="18" charset="0"/>
              </a:rPr>
              <a:t>standards.</a:t>
            </a:r>
          </a:p>
        </p:txBody>
      </p:sp>
    </p:spTree>
    <p:extLst>
      <p:ext uri="{BB962C8B-B14F-4D97-AF65-F5344CB8AC3E}">
        <p14:creationId xmlns:p14="http://schemas.microsoft.com/office/powerpoint/2010/main" val="30876781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76672-2193-67CF-6CFC-38DE1217BC0C}"/>
              </a:ext>
            </a:extLst>
          </p:cNvPr>
          <p:cNvSpPr>
            <a:spLocks noGrp="1"/>
          </p:cNvSpPr>
          <p:nvPr>
            <p:ph type="title"/>
          </p:nvPr>
        </p:nvSpPr>
        <p:spPr>
          <a:xfrm>
            <a:off x="609600" y="274638"/>
            <a:ext cx="10972800" cy="588962"/>
          </a:xfrm>
        </p:spPr>
        <p:txBody>
          <a:bodyPr/>
          <a:lstStyle/>
          <a:p>
            <a:r>
              <a:rPr lang="en-GB" altLang="en-US" dirty="0">
                <a:latin typeface="Times New Roman" panose="02020603050405020304" pitchFamily="18" charset="0"/>
                <a:cs typeface="Times New Roman" panose="02020603050405020304" pitchFamily="18" charset="0"/>
              </a:rPr>
              <a:t>Prototyping Model</a:t>
            </a:r>
            <a:endParaRPr lang="en-IN"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4562DCB5-3290-1019-6CDC-DDDA2F5704EE}"/>
              </a:ext>
            </a:extLst>
          </p:cNvPr>
          <p:cNvPicPr>
            <a:picLocks noGrp="1" noChangeAspect="1"/>
          </p:cNvPicPr>
          <p:nvPr>
            <p:ph idx="1"/>
          </p:nvPr>
        </p:nvPicPr>
        <p:blipFill>
          <a:blip r:embed="rId2"/>
          <a:stretch>
            <a:fillRect/>
          </a:stretch>
        </p:blipFill>
        <p:spPr>
          <a:xfrm>
            <a:off x="2042160" y="1239520"/>
            <a:ext cx="7467600" cy="4379526"/>
          </a:xfrm>
        </p:spPr>
      </p:pic>
    </p:spTree>
    <p:extLst>
      <p:ext uri="{BB962C8B-B14F-4D97-AF65-F5344CB8AC3E}">
        <p14:creationId xmlns:p14="http://schemas.microsoft.com/office/powerpoint/2010/main" val="986576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28266-5EFB-D544-9E89-CC748A83906A}"/>
              </a:ext>
            </a:extLst>
          </p:cNvPr>
          <p:cNvSpPr>
            <a:spLocks noGrp="1"/>
          </p:cNvSpPr>
          <p:nvPr>
            <p:ph type="title"/>
          </p:nvPr>
        </p:nvSpPr>
        <p:spPr>
          <a:xfrm>
            <a:off x="609600" y="274638"/>
            <a:ext cx="10972800" cy="726026"/>
          </a:xfrm>
        </p:spPr>
        <p:txBody>
          <a:bodyPr/>
          <a:lstStyle/>
          <a:p>
            <a:r>
              <a:rPr lang="en-GB" altLang="en-US" dirty="0">
                <a:latin typeface="Times New Roman" panose="02020603050405020304" pitchFamily="18" charset="0"/>
                <a:cs typeface="Times New Roman" panose="02020603050405020304" pitchFamily="18" charset="0"/>
              </a:rPr>
              <a:t>Incremental Model</a:t>
            </a:r>
            <a:endParaRPr lang="en-IN"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C4629F9A-0DF3-51B0-90AC-66693485C1F2}"/>
              </a:ext>
            </a:extLst>
          </p:cNvPr>
          <p:cNvPicPr>
            <a:picLocks noGrp="1" noChangeAspect="1"/>
          </p:cNvPicPr>
          <p:nvPr>
            <p:ph idx="1"/>
          </p:nvPr>
        </p:nvPicPr>
        <p:blipFill>
          <a:blip r:embed="rId2"/>
          <a:stretch>
            <a:fillRect/>
          </a:stretch>
        </p:blipFill>
        <p:spPr>
          <a:xfrm>
            <a:off x="1717040" y="1270000"/>
            <a:ext cx="8554719" cy="4027573"/>
          </a:xfrm>
        </p:spPr>
      </p:pic>
    </p:spTree>
    <p:extLst>
      <p:ext uri="{BB962C8B-B14F-4D97-AF65-F5344CB8AC3E}">
        <p14:creationId xmlns:p14="http://schemas.microsoft.com/office/powerpoint/2010/main" val="14561289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Prototyping Model</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1367772-B29E-F159-F724-8F8E55AD9D19}"/>
              </a:ext>
            </a:extLst>
          </p:cNvPr>
          <p:cNvSpPr>
            <a:spLocks noGrp="1"/>
          </p:cNvSpPr>
          <p:nvPr>
            <p:ph idx="1"/>
          </p:nvPr>
        </p:nvSpPr>
        <p:spPr>
          <a:xfrm>
            <a:off x="609600" y="931493"/>
            <a:ext cx="10972800" cy="5194672"/>
          </a:xfrm>
        </p:spPr>
        <p:txBody>
          <a:bodyPr/>
          <a:lstStyle/>
          <a:p>
            <a:pPr algn="just"/>
            <a:r>
              <a:rPr lang="en-US" sz="2200" b="0" i="0" u="none" strike="noStrike" baseline="0" dirty="0">
                <a:latin typeface="Times New Roman" panose="02020603050405020304" pitchFamily="18" charset="0"/>
                <a:cs typeface="Times New Roman" panose="02020603050405020304" pitchFamily="18" charset="0"/>
              </a:rPr>
              <a:t>Evolutionary prototyping takes a different approach. The requirements are </a:t>
            </a:r>
            <a:r>
              <a:rPr lang="en-US" sz="2200" b="0" i="0" u="none" strike="noStrike" baseline="0" dirty="0" err="1">
                <a:latin typeface="Times New Roman" panose="02020603050405020304" pitchFamily="18" charset="0"/>
                <a:cs typeface="Times New Roman" panose="02020603050405020304" pitchFamily="18" charset="0"/>
              </a:rPr>
              <a:t>prioritised</a:t>
            </a:r>
            <a:r>
              <a:rPr lang="en-US" sz="2200" b="0" i="0" u="none" strike="noStrike" baseline="0" dirty="0">
                <a:latin typeface="Times New Roman" panose="02020603050405020304" pitchFamily="18" charset="0"/>
                <a:cs typeface="Times New Roman" panose="02020603050405020304" pitchFamily="18" charset="0"/>
              </a:rPr>
              <a:t> and the code is developed for the most important requirements first, always with an eye on quality. Software is continuously refined and expanded with feedback from the client. The chief advantage of prototyping is that the client gets a feel of the product early in the project life cycle.</a:t>
            </a:r>
          </a:p>
          <a:p>
            <a:pPr algn="just"/>
            <a:r>
              <a:rPr lang="en-US" sz="2200" b="0" i="0" u="none" strike="noStrike" baseline="0" dirty="0">
                <a:latin typeface="Times New Roman" panose="02020603050405020304" pitchFamily="18" charset="0"/>
                <a:cs typeface="Times New Roman" panose="02020603050405020304" pitchFamily="18" charset="0"/>
              </a:rPr>
              <a:t>As can be seen, evolutionary prototyping is an iterative model. Such a model can be </a:t>
            </a:r>
            <a:r>
              <a:rPr lang="en-US" sz="2200" b="0" i="0" u="none" strike="noStrike" baseline="0" dirty="0" err="1">
                <a:latin typeface="Times New Roman" panose="02020603050405020304" pitchFamily="18" charset="0"/>
                <a:cs typeface="Times New Roman" panose="02020603050405020304" pitchFamily="18" charset="0"/>
              </a:rPr>
              <a:t>characterised</a:t>
            </a:r>
            <a:r>
              <a:rPr lang="en-US" sz="2200" b="0" i="0" u="none" strike="noStrike" baseline="0" dirty="0">
                <a:latin typeface="Times New Roman" panose="02020603050405020304" pitchFamily="18" charset="0"/>
                <a:cs typeface="Times New Roman" panose="02020603050405020304" pitchFamily="18" charset="0"/>
              </a:rPr>
              <a:t> by doing a little analysis, design, code, test and repeat the process till the product is complete</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5184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526564"/>
            <a:ext cx="10972800" cy="554304"/>
          </a:xfrm>
        </p:spPr>
        <p:txBody>
          <a:bodyPr/>
          <a:lstStyle/>
          <a:p>
            <a:r>
              <a:rPr lang="en-US" dirty="0">
                <a:latin typeface="Times New Roman" panose="02020603050405020304" pitchFamily="18" charset="0"/>
                <a:cs typeface="Times New Roman" panose="02020603050405020304" pitchFamily="18" charset="0"/>
              </a:rPr>
              <a:t>Spiral Model</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1367772-B29E-F159-F724-8F8E55AD9D19}"/>
              </a:ext>
            </a:extLst>
          </p:cNvPr>
          <p:cNvSpPr>
            <a:spLocks noGrp="1"/>
          </p:cNvSpPr>
          <p:nvPr>
            <p:ph idx="1"/>
          </p:nvPr>
        </p:nvSpPr>
        <p:spPr>
          <a:xfrm>
            <a:off x="609600" y="1388690"/>
            <a:ext cx="10972800" cy="5194672"/>
          </a:xfrm>
        </p:spPr>
        <p:txBody>
          <a:bodyPr/>
          <a:lstStyle/>
          <a:p>
            <a:pPr algn="just"/>
            <a:r>
              <a:rPr lang="en-US" sz="2200" b="0" i="0" u="none" strike="noStrike" baseline="0" dirty="0">
                <a:latin typeface="Times New Roman" panose="02020603050405020304" pitchFamily="18" charset="0"/>
                <a:cs typeface="Times New Roman" panose="02020603050405020304" pitchFamily="18" charset="0"/>
              </a:rPr>
              <a:t>Barry Boehm has suggested another iterative model called the spiral model. It is more in the nature of a framework, which needs to be adapted to specific projects.</a:t>
            </a:r>
          </a:p>
          <a:p>
            <a:pPr algn="just"/>
            <a:r>
              <a:rPr lang="en-US" sz="2200" b="0" i="0" u="none" strike="noStrike" baseline="0" dirty="0">
                <a:latin typeface="Times New Roman" panose="02020603050405020304" pitchFamily="18" charset="0"/>
                <a:cs typeface="Times New Roman" panose="02020603050405020304" pitchFamily="18" charset="0"/>
              </a:rPr>
              <a:t>It allows best mix of other approaches and focusses on eliminating errors and unattractive alternatives early. </a:t>
            </a:r>
          </a:p>
          <a:p>
            <a:pPr algn="just"/>
            <a:r>
              <a:rPr lang="en-US" sz="2200" b="0" i="0" u="none" strike="noStrike" baseline="0" dirty="0">
                <a:latin typeface="Times New Roman" panose="02020603050405020304" pitchFamily="18" charset="0"/>
                <a:cs typeface="Times New Roman" panose="02020603050405020304" pitchFamily="18" charset="0"/>
              </a:rPr>
              <a:t>An important feature of this model is the stress on risk analysis. Once the objectives, alternatives, and constraints for a phase are identified, the risks involved in carrying out the phase are evaluated, which is expected to result in a 'go, no go' decision. For evaluation purposes, one could use prototyping, simulations, etc. This model is best suited for projects, which involve new technology development. </a:t>
            </a:r>
          </a:p>
          <a:p>
            <a:pPr algn="just"/>
            <a:r>
              <a:rPr lang="en-US" sz="2200" b="0" i="0" u="none" strike="noStrike" baseline="0" dirty="0">
                <a:latin typeface="Times New Roman" panose="02020603050405020304" pitchFamily="18" charset="0"/>
                <a:cs typeface="Times New Roman" panose="02020603050405020304" pitchFamily="18" charset="0"/>
              </a:rPr>
              <a:t>Risk analysis expertise is most critical for such projects.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56669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18A34-324F-1DF0-19D2-92CBF5C750B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Spiral Model</a:t>
            </a:r>
            <a:endParaRPr lang="en-IN" dirty="0"/>
          </a:p>
        </p:txBody>
      </p:sp>
      <p:pic>
        <p:nvPicPr>
          <p:cNvPr id="5" name="Content Placeholder 4">
            <a:extLst>
              <a:ext uri="{FF2B5EF4-FFF2-40B4-BE49-F238E27FC236}">
                <a16:creationId xmlns:a16="http://schemas.microsoft.com/office/drawing/2014/main" id="{76FE72C2-7981-E493-5158-7A7AC75CD00D}"/>
              </a:ext>
            </a:extLst>
          </p:cNvPr>
          <p:cNvPicPr>
            <a:picLocks noGrp="1" noChangeAspect="1"/>
          </p:cNvPicPr>
          <p:nvPr>
            <p:ph idx="1"/>
          </p:nvPr>
        </p:nvPicPr>
        <p:blipFill>
          <a:blip r:embed="rId2"/>
          <a:stretch>
            <a:fillRect/>
          </a:stretch>
        </p:blipFill>
        <p:spPr>
          <a:xfrm>
            <a:off x="1414733" y="1621766"/>
            <a:ext cx="8367622" cy="3994105"/>
          </a:xfrm>
        </p:spPr>
      </p:pic>
    </p:spTree>
    <p:extLst>
      <p:ext uri="{BB962C8B-B14F-4D97-AF65-F5344CB8AC3E}">
        <p14:creationId xmlns:p14="http://schemas.microsoft.com/office/powerpoint/2010/main" val="9963894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Spiral Model</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1367772-B29E-F159-F724-8F8E55AD9D19}"/>
              </a:ext>
            </a:extLst>
          </p:cNvPr>
          <p:cNvSpPr>
            <a:spLocks noGrp="1"/>
          </p:cNvSpPr>
          <p:nvPr>
            <p:ph idx="1"/>
          </p:nvPr>
        </p:nvSpPr>
        <p:spPr>
          <a:xfrm>
            <a:off x="609600" y="931493"/>
            <a:ext cx="10972800" cy="5194672"/>
          </a:xfrm>
        </p:spPr>
        <p:txBody>
          <a:bodyPr/>
          <a:lstStyle/>
          <a:p>
            <a:pPr marL="0" indent="0" algn="just">
              <a:buNone/>
            </a:pPr>
            <a:endParaRPr lang="en-IN" sz="2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28F15C9-6566-6836-7B10-15EFBBC94F34}"/>
              </a:ext>
            </a:extLst>
          </p:cNvPr>
          <p:cNvPicPr>
            <a:picLocks noChangeAspect="1"/>
          </p:cNvPicPr>
          <p:nvPr/>
        </p:nvPicPr>
        <p:blipFill>
          <a:blip r:embed="rId2"/>
          <a:stretch>
            <a:fillRect/>
          </a:stretch>
        </p:blipFill>
        <p:spPr>
          <a:xfrm>
            <a:off x="3209364" y="1559859"/>
            <a:ext cx="5773271" cy="3738282"/>
          </a:xfrm>
          <a:prstGeom prst="rect">
            <a:avLst/>
          </a:prstGeom>
        </p:spPr>
      </p:pic>
    </p:spTree>
    <p:extLst>
      <p:ext uri="{BB962C8B-B14F-4D97-AF65-F5344CB8AC3E}">
        <p14:creationId xmlns:p14="http://schemas.microsoft.com/office/powerpoint/2010/main" val="18442924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86DD7-75F9-2E42-039B-2F7638553A00}"/>
              </a:ext>
            </a:extLst>
          </p:cNvPr>
          <p:cNvSpPr>
            <a:spLocks noGrp="1"/>
          </p:cNvSpPr>
          <p:nvPr>
            <p:ph type="title"/>
          </p:nvPr>
        </p:nvSpPr>
        <p:spPr>
          <a:xfrm>
            <a:off x="609600" y="274638"/>
            <a:ext cx="10972800" cy="518992"/>
          </a:xfrm>
        </p:spPr>
        <p:txBody>
          <a:bodyPr/>
          <a:lstStyle/>
          <a:p>
            <a:r>
              <a:rPr lang="en-US" dirty="0">
                <a:latin typeface="Times New Roman" panose="02020603050405020304" pitchFamily="18" charset="0"/>
                <a:cs typeface="Times New Roman" panose="02020603050405020304" pitchFamily="18" charset="0"/>
              </a:rPr>
              <a:t>Phases of Each Spiral Cycle</a:t>
            </a:r>
            <a:endParaRPr lang="en-IN"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69FC9B2B-68E1-FCAA-93C9-DB19580F227E}"/>
              </a:ext>
            </a:extLst>
          </p:cNvPr>
          <p:cNvSpPr>
            <a:spLocks noGrp="1" noChangeArrowheads="1"/>
          </p:cNvSpPr>
          <p:nvPr>
            <p:ph idx="1"/>
          </p:nvPr>
        </p:nvSpPr>
        <p:spPr bwMode="auto">
          <a:xfrm>
            <a:off x="609599" y="1153756"/>
            <a:ext cx="10423585"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Objective Setting</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goals, deliverables, and constraints for this iteration.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Define what features or functions will be addressed.</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Risk Assessment &amp; Reduction</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key risks (technical, cost, schedule,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 prototyping, simulations, or analyses to mitigate those risks.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&amp; Validation</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 code, and test the features scoped for this cycle.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Can follow lightweight waterfall, prototyping, or any suitable model.</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Planning the Next Iteration</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Review progress, update requirements, and plan the next spiral loop.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Estimate costs and timelines for upcoming cycles.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023234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B9188-9137-8450-4CC7-69FE67099686}"/>
              </a:ext>
            </a:extLst>
          </p:cNvPr>
          <p:cNvSpPr>
            <a:spLocks noGrp="1"/>
          </p:cNvSpPr>
          <p:nvPr>
            <p:ph type="title"/>
          </p:nvPr>
        </p:nvSpPr>
        <p:spPr>
          <a:xfrm>
            <a:off x="609600" y="274638"/>
            <a:ext cx="10972800" cy="449981"/>
          </a:xfrm>
        </p:spPr>
        <p:txBody>
          <a:bodyPr/>
          <a:lstStyle/>
          <a:p>
            <a:br>
              <a:rPr lang="en-US" i="0" dirty="0">
                <a:solidFill>
                  <a:srgbClr val="273239"/>
                </a:solidFill>
                <a:effectLst/>
                <a:latin typeface="Times New Roman" panose="02020603050405020304" pitchFamily="18" charset="0"/>
                <a:cs typeface="Times New Roman" panose="02020603050405020304" pitchFamily="18" charset="0"/>
              </a:rPr>
            </a:br>
            <a:r>
              <a:rPr lang="en-US" sz="3600" i="0" dirty="0">
                <a:solidFill>
                  <a:srgbClr val="273239"/>
                </a:solidFill>
                <a:effectLst/>
                <a:latin typeface="Times New Roman" panose="02020603050405020304" pitchFamily="18" charset="0"/>
                <a:cs typeface="Times New Roman" panose="02020603050405020304" pitchFamily="18" charset="0"/>
              </a:rPr>
              <a:t>Rapid Application Development Model (RAD)</a:t>
            </a:r>
            <a:br>
              <a:rPr lang="en-US" sz="3600" i="0" dirty="0">
                <a:solidFill>
                  <a:srgbClr val="273239"/>
                </a:solidFill>
                <a:effectLst/>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E55059C-5586-9209-85F6-664DA3A898F8}"/>
              </a:ext>
            </a:extLst>
          </p:cNvPr>
          <p:cNvSpPr>
            <a:spLocks noGrp="1"/>
          </p:cNvSpPr>
          <p:nvPr>
            <p:ph idx="1"/>
          </p:nvPr>
        </p:nvSpPr>
        <p:spPr>
          <a:xfrm>
            <a:off x="609600" y="992039"/>
            <a:ext cx="10972800" cy="5134126"/>
          </a:xfrm>
        </p:spPr>
        <p:txBody>
          <a:bodyPr/>
          <a:lstStyle/>
          <a:p>
            <a:pPr algn="just"/>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RAD model</a:t>
            </a:r>
            <a:r>
              <a:rPr lang="en-US" sz="2400" dirty="0">
                <a:latin typeface="Times New Roman" panose="02020603050405020304" pitchFamily="18" charset="0"/>
                <a:cs typeface="Times New Roman" panose="02020603050405020304" pitchFamily="18" charset="0"/>
              </a:rPr>
              <a:t> (Rapid Application Development) is a type of </a:t>
            </a:r>
            <a:r>
              <a:rPr lang="en-US" sz="2400" b="1" dirty="0">
                <a:latin typeface="Times New Roman" panose="02020603050405020304" pitchFamily="18" charset="0"/>
                <a:cs typeface="Times New Roman" panose="02020603050405020304" pitchFamily="18" charset="0"/>
              </a:rPr>
              <a:t>software development lifecycle (SDLC) model</a:t>
            </a:r>
            <a:r>
              <a:rPr lang="en-US" sz="2400" dirty="0">
                <a:latin typeface="Times New Roman" panose="02020603050405020304" pitchFamily="18" charset="0"/>
                <a:cs typeface="Times New Roman" panose="02020603050405020304" pitchFamily="18" charset="0"/>
              </a:rPr>
              <a:t> that emphasizes </a:t>
            </a:r>
            <a:r>
              <a:rPr lang="en-US" sz="2400" b="1" dirty="0">
                <a:latin typeface="Times New Roman" panose="02020603050405020304" pitchFamily="18" charset="0"/>
                <a:cs typeface="Times New Roman" panose="02020603050405020304" pitchFamily="18" charset="0"/>
              </a:rPr>
              <a:t>quick development and iteration</a:t>
            </a:r>
            <a:r>
              <a:rPr lang="en-US" sz="2400" dirty="0">
                <a:latin typeface="Times New Roman" panose="02020603050405020304" pitchFamily="18" charset="0"/>
                <a:cs typeface="Times New Roman" panose="02020603050405020304" pitchFamily="18" charset="0"/>
              </a:rPr>
              <a:t> through </a:t>
            </a:r>
            <a:r>
              <a:rPr lang="en-US" sz="2400" b="1" dirty="0">
                <a:latin typeface="Times New Roman" panose="02020603050405020304" pitchFamily="18" charset="0"/>
                <a:cs typeface="Times New Roman" panose="02020603050405020304" pitchFamily="18" charset="0"/>
              </a:rPr>
              <a:t>prototyping</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user feedback</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reuse of components</a:t>
            </a:r>
            <a:r>
              <a:rPr lang="en-US" sz="2400" dirty="0">
                <a:latin typeface="Times New Roman" panose="02020603050405020304" pitchFamily="18" charset="0"/>
                <a:cs typeface="Times New Roman" panose="02020603050405020304" pitchFamily="18" charset="0"/>
              </a:rPr>
              <a:t>.</a:t>
            </a:r>
          </a:p>
          <a:p>
            <a:r>
              <a:rPr lang="en-US" sz="2400" b="1" dirty="0">
                <a:solidFill>
                  <a:srgbClr val="FF0000"/>
                </a:solidFill>
                <a:latin typeface="Times New Roman" panose="02020603050405020304" pitchFamily="18" charset="0"/>
                <a:cs typeface="Times New Roman" panose="02020603050405020304" pitchFamily="18" charset="0"/>
              </a:rPr>
              <a:t>What is the RAD Model?</a:t>
            </a:r>
          </a:p>
          <a:p>
            <a:r>
              <a:rPr lang="en-US" sz="2400" b="1" dirty="0">
                <a:latin typeface="Times New Roman" panose="02020603050405020304" pitchFamily="18" charset="0"/>
                <a:cs typeface="Times New Roman" panose="02020603050405020304" pitchFamily="18" charset="0"/>
              </a:rPr>
              <a:t>RAD (Rapid Application Development)</a:t>
            </a:r>
            <a:r>
              <a:rPr lang="en-US" sz="2400" dirty="0">
                <a:latin typeface="Times New Roman" panose="02020603050405020304" pitchFamily="18" charset="0"/>
                <a:cs typeface="Times New Roman" panose="02020603050405020304" pitchFamily="18" charset="0"/>
              </a:rPr>
              <a:t> is a </a:t>
            </a:r>
            <a:r>
              <a:rPr lang="en-US" sz="2400" b="1" dirty="0">
                <a:latin typeface="Times New Roman" panose="02020603050405020304" pitchFamily="18" charset="0"/>
                <a:cs typeface="Times New Roman" panose="02020603050405020304" pitchFamily="18" charset="0"/>
              </a:rPr>
              <a:t>linear sequential software development process model</a:t>
            </a:r>
            <a:r>
              <a:rPr lang="en-US" sz="2400" dirty="0">
                <a:latin typeface="Times New Roman" panose="02020603050405020304" pitchFamily="18" charset="0"/>
                <a:cs typeface="Times New Roman" panose="02020603050405020304" pitchFamily="18" charset="0"/>
              </a:rPr>
              <a:t> that emphasizes:</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Minimal planning</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Rapid prototyping</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Early user involvement</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Component-based construction</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It is ideal for projects where requirements are well understood and changes are expected during development.</a:t>
            </a:r>
          </a:p>
          <a:p>
            <a:pPr algn="just"/>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68061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EC31E-8125-6838-F74A-CD2D629E7DE3}"/>
              </a:ext>
            </a:extLst>
          </p:cNvPr>
          <p:cNvSpPr>
            <a:spLocks noGrp="1"/>
          </p:cNvSpPr>
          <p:nvPr>
            <p:ph type="title"/>
          </p:nvPr>
        </p:nvSpPr>
        <p:spPr>
          <a:xfrm>
            <a:off x="609600" y="274638"/>
            <a:ext cx="10972800" cy="493113"/>
          </a:xfrm>
        </p:spPr>
        <p:txBody>
          <a:bodyPr/>
          <a:lstStyle/>
          <a:p>
            <a:br>
              <a:rPr lang="en-US" sz="4000" i="0" dirty="0">
                <a:solidFill>
                  <a:srgbClr val="273239"/>
                </a:solidFill>
                <a:effectLst/>
                <a:latin typeface="Times New Roman" panose="02020603050405020304" pitchFamily="18" charset="0"/>
                <a:cs typeface="Times New Roman" panose="02020603050405020304" pitchFamily="18" charset="0"/>
              </a:rPr>
            </a:br>
            <a:r>
              <a:rPr lang="en-US" sz="4000" i="0" dirty="0">
                <a:solidFill>
                  <a:srgbClr val="273239"/>
                </a:solidFill>
                <a:effectLst/>
                <a:latin typeface="Times New Roman" panose="02020603050405020304" pitchFamily="18" charset="0"/>
                <a:cs typeface="Times New Roman" panose="02020603050405020304" pitchFamily="18" charset="0"/>
              </a:rPr>
              <a:t>Rapid Application Development Model (RAD)</a:t>
            </a:r>
            <a:br>
              <a:rPr lang="en-US" sz="4000" i="0" dirty="0">
                <a:solidFill>
                  <a:srgbClr val="273239"/>
                </a:solidFill>
                <a:effectLst/>
                <a:latin typeface="Times New Roman" panose="02020603050405020304" pitchFamily="18" charset="0"/>
                <a:cs typeface="Times New Roman" panose="02020603050405020304" pitchFamily="18" charset="0"/>
              </a:rPr>
            </a:br>
            <a:endParaRPr lang="en-IN" dirty="0"/>
          </a:p>
        </p:txBody>
      </p:sp>
      <p:pic>
        <p:nvPicPr>
          <p:cNvPr id="3074" name="Picture 2" descr="rapid-application-developement">
            <a:extLst>
              <a:ext uri="{FF2B5EF4-FFF2-40B4-BE49-F238E27FC236}">
                <a16:creationId xmlns:a16="http://schemas.microsoft.com/office/drawing/2014/main" id="{7C2AD764-AEC9-8F02-1606-5F9EF6276AE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99920" y="1280160"/>
            <a:ext cx="7914640" cy="48460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19222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3E03E-3228-C634-C162-CB99ED678DDB}"/>
              </a:ext>
            </a:extLst>
          </p:cNvPr>
          <p:cNvSpPr>
            <a:spLocks noGrp="1"/>
          </p:cNvSpPr>
          <p:nvPr>
            <p:ph type="title"/>
          </p:nvPr>
        </p:nvSpPr>
        <p:spPr/>
        <p:txBody>
          <a:bodyPr/>
          <a:lstStyle/>
          <a:p>
            <a:r>
              <a:rPr lang="en-US" sz="4000" i="0" dirty="0">
                <a:solidFill>
                  <a:srgbClr val="273239"/>
                </a:solidFill>
                <a:effectLst/>
                <a:latin typeface="Times New Roman" panose="02020603050405020304" pitchFamily="18" charset="0"/>
                <a:cs typeface="Times New Roman" panose="02020603050405020304" pitchFamily="18" charset="0"/>
              </a:rPr>
              <a:t>Rapid Application Development Model (RAD)</a:t>
            </a:r>
            <a:br>
              <a:rPr lang="en-US" sz="4000" i="0" dirty="0">
                <a:solidFill>
                  <a:srgbClr val="273239"/>
                </a:solidFill>
                <a:effectLst/>
                <a:latin typeface="Times New Roman" panose="02020603050405020304" pitchFamily="18" charset="0"/>
                <a:cs typeface="Times New Roman" panose="02020603050405020304" pitchFamily="18" charset="0"/>
              </a:rPr>
            </a:br>
            <a:endParaRPr lang="en-IN" dirty="0"/>
          </a:p>
        </p:txBody>
      </p:sp>
      <p:graphicFrame>
        <p:nvGraphicFramePr>
          <p:cNvPr id="5" name="Content Placeholder 4">
            <a:extLst>
              <a:ext uri="{FF2B5EF4-FFF2-40B4-BE49-F238E27FC236}">
                <a16:creationId xmlns:a16="http://schemas.microsoft.com/office/drawing/2014/main" id="{319C5F28-F028-32E6-D20A-8986AB2AED88}"/>
              </a:ext>
            </a:extLst>
          </p:cNvPr>
          <p:cNvGraphicFramePr>
            <a:graphicFrameLocks noGrp="1"/>
          </p:cNvGraphicFramePr>
          <p:nvPr>
            <p:ph idx="1"/>
            <p:extLst>
              <p:ext uri="{D42A27DB-BD31-4B8C-83A1-F6EECF244321}">
                <p14:modId xmlns:p14="http://schemas.microsoft.com/office/powerpoint/2010/main" val="4183518388"/>
              </p:ext>
            </p:extLst>
          </p:nvPr>
        </p:nvGraphicFramePr>
        <p:xfrm>
          <a:off x="609600" y="1483360"/>
          <a:ext cx="10972800" cy="4391499"/>
        </p:xfrm>
        <a:graphic>
          <a:graphicData uri="http://schemas.openxmlformats.org/drawingml/2006/table">
            <a:tbl>
              <a:tblPr/>
              <a:tblGrid>
                <a:gridCol w="4048664">
                  <a:extLst>
                    <a:ext uri="{9D8B030D-6E8A-4147-A177-3AD203B41FA5}">
                      <a16:colId xmlns:a16="http://schemas.microsoft.com/office/drawing/2014/main" val="3035388695"/>
                    </a:ext>
                  </a:extLst>
                </a:gridCol>
                <a:gridCol w="6924136">
                  <a:extLst>
                    <a:ext uri="{9D8B030D-6E8A-4147-A177-3AD203B41FA5}">
                      <a16:colId xmlns:a16="http://schemas.microsoft.com/office/drawing/2014/main" val="2190504683"/>
                    </a:ext>
                  </a:extLst>
                </a:gridCol>
              </a:tblGrid>
              <a:tr h="399227">
                <a:tc>
                  <a:txBody>
                    <a:bodyPr/>
                    <a:lstStyle/>
                    <a:p>
                      <a:r>
                        <a:rPr lang="en-IN" sz="2000" b="1" dirty="0">
                          <a:latin typeface="Times New Roman" panose="02020603050405020304" pitchFamily="18" charset="0"/>
                          <a:cs typeface="Times New Roman" panose="02020603050405020304" pitchFamily="18" charset="0"/>
                        </a:rPr>
                        <a:t>Phase</a:t>
                      </a:r>
                    </a:p>
                  </a:txBody>
                  <a:tcPr anchor="ctr">
                    <a:lnL>
                      <a:noFill/>
                    </a:lnL>
                    <a:lnR>
                      <a:noFill/>
                    </a:lnR>
                    <a:lnT>
                      <a:noFill/>
                    </a:lnT>
                    <a:lnB>
                      <a:noFill/>
                    </a:lnB>
                  </a:tcPr>
                </a:tc>
                <a:tc>
                  <a:txBody>
                    <a:bodyPr/>
                    <a:lstStyle/>
                    <a:p>
                      <a:r>
                        <a:rPr lang="en-IN" sz="2000" b="1" dirty="0">
                          <a:latin typeface="Times New Roman" panose="02020603050405020304" pitchFamily="18" charset="0"/>
                          <a:cs typeface="Times New Roman" panose="02020603050405020304" pitchFamily="18" charset="0"/>
                        </a:rPr>
                        <a:t>Description</a:t>
                      </a:r>
                    </a:p>
                  </a:txBody>
                  <a:tcPr anchor="ctr">
                    <a:lnL>
                      <a:noFill/>
                    </a:lnL>
                    <a:lnR>
                      <a:noFill/>
                    </a:lnR>
                    <a:lnT>
                      <a:noFill/>
                    </a:lnT>
                    <a:lnB>
                      <a:noFill/>
                    </a:lnB>
                  </a:tcPr>
                </a:tc>
                <a:extLst>
                  <a:ext uri="{0D108BD9-81ED-4DB2-BD59-A6C34878D82A}">
                    <a16:rowId xmlns:a16="http://schemas.microsoft.com/office/drawing/2014/main" val="1614877212"/>
                  </a:ext>
                </a:extLst>
              </a:tr>
              <a:tr h="998068">
                <a:tc>
                  <a:txBody>
                    <a:bodyPr/>
                    <a:lstStyle/>
                    <a:p>
                      <a:r>
                        <a:rPr lang="en-IN" sz="2000" b="1" dirty="0">
                          <a:latin typeface="Times New Roman" panose="02020603050405020304" pitchFamily="18" charset="0"/>
                          <a:cs typeface="Times New Roman" panose="02020603050405020304" pitchFamily="18" charset="0"/>
                        </a:rPr>
                        <a:t>1. Requirements Planning</a:t>
                      </a:r>
                      <a:endParaRPr lang="en-IN" sz="20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2000" dirty="0">
                          <a:latin typeface="Times New Roman" panose="02020603050405020304" pitchFamily="18" charset="0"/>
                          <a:cs typeface="Times New Roman" panose="02020603050405020304" pitchFamily="18" charset="0"/>
                        </a:rPr>
                        <a:t>Stakeholders, developers, and users discuss business needs, project scope, and requirements.</a:t>
                      </a:r>
                    </a:p>
                  </a:txBody>
                  <a:tcPr anchor="ctr">
                    <a:lnL>
                      <a:noFill/>
                    </a:lnL>
                    <a:lnR>
                      <a:noFill/>
                    </a:lnR>
                    <a:lnT>
                      <a:noFill/>
                    </a:lnT>
                    <a:lnB>
                      <a:noFill/>
                    </a:lnB>
                  </a:tcPr>
                </a:tc>
                <a:extLst>
                  <a:ext uri="{0D108BD9-81ED-4DB2-BD59-A6C34878D82A}">
                    <a16:rowId xmlns:a16="http://schemas.microsoft.com/office/drawing/2014/main" val="1730853955"/>
                  </a:ext>
                </a:extLst>
              </a:tr>
              <a:tr h="998068">
                <a:tc>
                  <a:txBody>
                    <a:bodyPr/>
                    <a:lstStyle/>
                    <a:p>
                      <a:r>
                        <a:rPr lang="en-IN" sz="2000" b="1" dirty="0">
                          <a:latin typeface="Times New Roman" panose="02020603050405020304" pitchFamily="18" charset="0"/>
                          <a:cs typeface="Times New Roman" panose="02020603050405020304" pitchFamily="18" charset="0"/>
                        </a:rPr>
                        <a:t>2. User Design</a:t>
                      </a:r>
                      <a:endParaRPr lang="en-IN" sz="20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2000">
                          <a:latin typeface="Times New Roman" panose="02020603050405020304" pitchFamily="18" charset="0"/>
                          <a:cs typeface="Times New Roman" panose="02020603050405020304" pitchFamily="18" charset="0"/>
                        </a:rPr>
                        <a:t>Users and developers work together to create mockups and prototypes. Feedback is collected in real-time.</a:t>
                      </a:r>
                    </a:p>
                  </a:txBody>
                  <a:tcPr anchor="ctr">
                    <a:lnL>
                      <a:noFill/>
                    </a:lnL>
                    <a:lnR>
                      <a:noFill/>
                    </a:lnR>
                    <a:lnT>
                      <a:noFill/>
                    </a:lnT>
                    <a:lnB>
                      <a:noFill/>
                    </a:lnB>
                  </a:tcPr>
                </a:tc>
                <a:extLst>
                  <a:ext uri="{0D108BD9-81ED-4DB2-BD59-A6C34878D82A}">
                    <a16:rowId xmlns:a16="http://schemas.microsoft.com/office/drawing/2014/main" val="2255570416"/>
                  </a:ext>
                </a:extLst>
              </a:tr>
              <a:tr h="998068">
                <a:tc>
                  <a:txBody>
                    <a:bodyPr/>
                    <a:lstStyle/>
                    <a:p>
                      <a:r>
                        <a:rPr lang="en-IN" sz="2000" b="1">
                          <a:latin typeface="Times New Roman" panose="02020603050405020304" pitchFamily="18" charset="0"/>
                          <a:cs typeface="Times New Roman" panose="02020603050405020304" pitchFamily="18" charset="0"/>
                        </a:rPr>
                        <a:t>3. Rapid Construction</a:t>
                      </a:r>
                      <a:endParaRPr lang="en-IN" sz="200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2000">
                          <a:latin typeface="Times New Roman" panose="02020603050405020304" pitchFamily="18" charset="0"/>
                          <a:cs typeface="Times New Roman" panose="02020603050405020304" pitchFamily="18" charset="0"/>
                        </a:rPr>
                        <a:t>Actual development begins. Reusable components and code generators are used to speed up the process.</a:t>
                      </a:r>
                    </a:p>
                  </a:txBody>
                  <a:tcPr anchor="ctr">
                    <a:lnL>
                      <a:noFill/>
                    </a:lnL>
                    <a:lnR>
                      <a:noFill/>
                    </a:lnR>
                    <a:lnT>
                      <a:noFill/>
                    </a:lnT>
                    <a:lnB>
                      <a:noFill/>
                    </a:lnB>
                  </a:tcPr>
                </a:tc>
                <a:extLst>
                  <a:ext uri="{0D108BD9-81ED-4DB2-BD59-A6C34878D82A}">
                    <a16:rowId xmlns:a16="http://schemas.microsoft.com/office/drawing/2014/main" val="1412886986"/>
                  </a:ext>
                </a:extLst>
              </a:tr>
              <a:tr h="998068">
                <a:tc>
                  <a:txBody>
                    <a:bodyPr/>
                    <a:lstStyle/>
                    <a:p>
                      <a:r>
                        <a:rPr lang="en-IN" sz="2000" b="1">
                          <a:latin typeface="Times New Roman" panose="02020603050405020304" pitchFamily="18" charset="0"/>
                          <a:cs typeface="Times New Roman" panose="02020603050405020304" pitchFamily="18" charset="0"/>
                        </a:rPr>
                        <a:t>4. Cutover</a:t>
                      </a:r>
                      <a:endParaRPr lang="en-IN" sz="200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2000" dirty="0">
                          <a:latin typeface="Times New Roman" panose="02020603050405020304" pitchFamily="18" charset="0"/>
                          <a:cs typeface="Times New Roman" panose="02020603050405020304" pitchFamily="18" charset="0"/>
                        </a:rPr>
                        <a:t>Final testing, user training, data conversion, and system implementation happen in this phase.</a:t>
                      </a:r>
                    </a:p>
                  </a:txBody>
                  <a:tcPr anchor="ctr">
                    <a:lnL>
                      <a:noFill/>
                    </a:lnL>
                    <a:lnR>
                      <a:noFill/>
                    </a:lnR>
                    <a:lnT>
                      <a:noFill/>
                    </a:lnT>
                    <a:lnB>
                      <a:noFill/>
                    </a:lnB>
                  </a:tcPr>
                </a:tc>
                <a:extLst>
                  <a:ext uri="{0D108BD9-81ED-4DB2-BD59-A6C34878D82A}">
                    <a16:rowId xmlns:a16="http://schemas.microsoft.com/office/drawing/2014/main" val="3465187740"/>
                  </a:ext>
                </a:extLst>
              </a:tr>
            </a:tbl>
          </a:graphicData>
        </a:graphic>
      </p:graphicFrame>
    </p:spTree>
    <p:extLst>
      <p:ext uri="{BB962C8B-B14F-4D97-AF65-F5344CB8AC3E}">
        <p14:creationId xmlns:p14="http://schemas.microsoft.com/office/powerpoint/2010/main" val="39725811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D5548-1985-A1B8-56CF-A3946ECCDF44}"/>
              </a:ext>
            </a:extLst>
          </p:cNvPr>
          <p:cNvSpPr>
            <a:spLocks noGrp="1"/>
          </p:cNvSpPr>
          <p:nvPr>
            <p:ph type="title"/>
          </p:nvPr>
        </p:nvSpPr>
        <p:spPr/>
        <p:txBody>
          <a:bodyPr/>
          <a:lstStyle/>
          <a:p>
            <a:r>
              <a:rPr lang="en-US" sz="4000" i="0" dirty="0">
                <a:solidFill>
                  <a:srgbClr val="273239"/>
                </a:solidFill>
                <a:effectLst/>
                <a:latin typeface="Times New Roman" panose="02020603050405020304" pitchFamily="18" charset="0"/>
                <a:cs typeface="Times New Roman" panose="02020603050405020304" pitchFamily="18" charset="0"/>
              </a:rPr>
              <a:t>Rapid Application Development Model (RAD)</a:t>
            </a:r>
            <a:br>
              <a:rPr lang="en-US" sz="4000" i="0" dirty="0">
                <a:solidFill>
                  <a:srgbClr val="273239"/>
                </a:solidFill>
                <a:effectLst/>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4E61ACB4-0656-F1E5-22BB-DA2B6AB3D668}"/>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Key Characteristics: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Time-boxed delivery</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Continuous user feedback</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Iterative prototyping</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Emphasis on reuse of software components</a:t>
            </a:r>
          </a:p>
          <a:p>
            <a:endParaRPr lang="en-IN" dirty="0"/>
          </a:p>
        </p:txBody>
      </p:sp>
    </p:spTree>
    <p:extLst>
      <p:ext uri="{BB962C8B-B14F-4D97-AF65-F5344CB8AC3E}">
        <p14:creationId xmlns:p14="http://schemas.microsoft.com/office/powerpoint/2010/main" val="20311652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D5548-1985-A1B8-56CF-A3946ECCDF44}"/>
              </a:ext>
            </a:extLst>
          </p:cNvPr>
          <p:cNvSpPr>
            <a:spLocks noGrp="1"/>
          </p:cNvSpPr>
          <p:nvPr>
            <p:ph type="title"/>
          </p:nvPr>
        </p:nvSpPr>
        <p:spPr/>
        <p:txBody>
          <a:bodyPr/>
          <a:lstStyle/>
          <a:p>
            <a:r>
              <a:rPr lang="en-US" sz="4000" i="0" dirty="0">
                <a:solidFill>
                  <a:srgbClr val="273239"/>
                </a:solidFill>
                <a:effectLst/>
                <a:latin typeface="Times New Roman" panose="02020603050405020304" pitchFamily="18" charset="0"/>
                <a:cs typeface="Times New Roman" panose="02020603050405020304" pitchFamily="18" charset="0"/>
              </a:rPr>
              <a:t>Rapid Application Development Model (RAD)</a:t>
            </a:r>
            <a:br>
              <a:rPr lang="en-US" sz="4000" i="0" dirty="0">
                <a:solidFill>
                  <a:srgbClr val="273239"/>
                </a:solidFill>
                <a:effectLst/>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4E61ACB4-0656-F1E5-22BB-DA2B6AB3D668}"/>
              </a:ext>
            </a:extLst>
          </p:cNvPr>
          <p:cNvSpPr>
            <a:spLocks noGrp="1"/>
          </p:cNvSpPr>
          <p:nvPr>
            <p:ph idx="1"/>
          </p:nvPr>
        </p:nvSpPr>
        <p:spPr>
          <a:xfrm>
            <a:off x="609600" y="1121435"/>
            <a:ext cx="10972800" cy="5004730"/>
          </a:xfrm>
        </p:spPr>
        <p:txBody>
          <a:bodyPr/>
          <a:lstStyle/>
          <a:p>
            <a:r>
              <a:rPr lang="en-US" b="1" dirty="0">
                <a:latin typeface="Times New Roman" panose="02020603050405020304" pitchFamily="18" charset="0"/>
                <a:cs typeface="Times New Roman" panose="02020603050405020304" pitchFamily="18" charset="0"/>
              </a:rPr>
              <a:t>When to Use RAD:</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When you need </a:t>
            </a:r>
            <a:r>
              <a:rPr lang="en-US" b="1" dirty="0">
                <a:latin typeface="Times New Roman" panose="02020603050405020304" pitchFamily="18" charset="0"/>
                <a:cs typeface="Times New Roman" panose="02020603050405020304" pitchFamily="18" charset="0"/>
              </a:rPr>
              <a:t>fast delivery</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When users are </a:t>
            </a:r>
            <a:r>
              <a:rPr lang="en-US" b="1" dirty="0">
                <a:latin typeface="Times New Roman" panose="02020603050405020304" pitchFamily="18" charset="0"/>
                <a:cs typeface="Times New Roman" panose="02020603050405020304" pitchFamily="18" charset="0"/>
              </a:rPr>
              <a:t>available and actively involved</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When the </a:t>
            </a:r>
            <a:r>
              <a:rPr lang="en-US" b="1" dirty="0">
                <a:latin typeface="Times New Roman" panose="02020603050405020304" pitchFamily="18" charset="0"/>
                <a:cs typeface="Times New Roman" panose="02020603050405020304" pitchFamily="18" charset="0"/>
              </a:rPr>
              <a:t>project scope is clear</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For </a:t>
            </a:r>
            <a:r>
              <a:rPr lang="en-US" b="1" dirty="0">
                <a:latin typeface="Times New Roman" panose="02020603050405020304" pitchFamily="18" charset="0"/>
                <a:cs typeface="Times New Roman" panose="02020603050405020304" pitchFamily="18" charset="0"/>
              </a:rPr>
              <a:t>small to medium-sized projects</a:t>
            </a:r>
            <a:r>
              <a:rPr lang="en-US" dirty="0">
                <a:latin typeface="Times New Roman" panose="02020603050405020304" pitchFamily="18" charset="0"/>
                <a:cs typeface="Times New Roman" panose="02020603050405020304" pitchFamily="18" charset="0"/>
              </a:rPr>
              <a:t> that require </a:t>
            </a:r>
            <a:r>
              <a:rPr lang="en-US" b="1" dirty="0">
                <a:latin typeface="Times New Roman" panose="02020603050405020304" pitchFamily="18" charset="0"/>
                <a:cs typeface="Times New Roman" panose="02020603050405020304" pitchFamily="18" charset="0"/>
              </a:rPr>
              <a:t>short development cycles</a:t>
            </a:r>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5415158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D5548-1985-A1B8-56CF-A3946ECCDF44}"/>
              </a:ext>
            </a:extLst>
          </p:cNvPr>
          <p:cNvSpPr>
            <a:spLocks noGrp="1"/>
          </p:cNvSpPr>
          <p:nvPr>
            <p:ph type="title"/>
          </p:nvPr>
        </p:nvSpPr>
        <p:spPr/>
        <p:txBody>
          <a:bodyPr/>
          <a:lstStyle/>
          <a:p>
            <a:r>
              <a:rPr lang="en-US" sz="4000" i="0" dirty="0">
                <a:solidFill>
                  <a:srgbClr val="273239"/>
                </a:solidFill>
                <a:effectLst/>
                <a:latin typeface="Times New Roman" panose="02020603050405020304" pitchFamily="18" charset="0"/>
                <a:cs typeface="Times New Roman" panose="02020603050405020304" pitchFamily="18" charset="0"/>
              </a:rPr>
              <a:t>Rapid Application Development Model (RAD)</a:t>
            </a:r>
            <a:br>
              <a:rPr lang="en-US" sz="4000" i="0" dirty="0">
                <a:solidFill>
                  <a:srgbClr val="273239"/>
                </a:solidFill>
                <a:effectLst/>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4E61ACB4-0656-F1E5-22BB-DA2B6AB3D668}"/>
              </a:ext>
            </a:extLst>
          </p:cNvPr>
          <p:cNvSpPr>
            <a:spLocks noGrp="1"/>
          </p:cNvSpPr>
          <p:nvPr>
            <p:ph idx="1"/>
          </p:nvPr>
        </p:nvSpPr>
        <p:spPr>
          <a:xfrm>
            <a:off x="609600" y="1121435"/>
            <a:ext cx="10972800" cy="5004730"/>
          </a:xfrm>
        </p:spPr>
        <p:txBody>
          <a:bodyPr/>
          <a:lstStyle/>
          <a:p>
            <a:r>
              <a:rPr lang="en-US" b="1" dirty="0">
                <a:latin typeface="Times New Roman" panose="02020603050405020304" pitchFamily="18" charset="0"/>
                <a:cs typeface="Times New Roman" panose="02020603050405020304" pitchFamily="18" charset="0"/>
              </a:rPr>
              <a:t>Disadvantages: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Not suitable for large-scale or complex systems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Requires frequent user interaction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Poor documentation due to fast iterations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Not ideal if technical risk is high</a:t>
            </a:r>
          </a:p>
          <a:p>
            <a:endParaRPr lang="en-IN" dirty="0"/>
          </a:p>
        </p:txBody>
      </p:sp>
    </p:spTree>
    <p:extLst>
      <p:ext uri="{BB962C8B-B14F-4D97-AF65-F5344CB8AC3E}">
        <p14:creationId xmlns:p14="http://schemas.microsoft.com/office/powerpoint/2010/main" val="15323472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FC3D3-0619-B587-22F5-B398C5E97B2B}"/>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Case study</a:t>
            </a:r>
          </a:p>
        </p:txBody>
      </p:sp>
      <p:sp>
        <p:nvSpPr>
          <p:cNvPr id="3" name="Content Placeholder 2">
            <a:extLst>
              <a:ext uri="{FF2B5EF4-FFF2-40B4-BE49-F238E27FC236}">
                <a16:creationId xmlns:a16="http://schemas.microsoft.com/office/drawing/2014/main" id="{11155A90-59D7-320D-07F3-E92859A7076B}"/>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A student team is developing </a:t>
            </a:r>
            <a:r>
              <a:rPr lang="en-US" dirty="0" err="1">
                <a:latin typeface="Times New Roman" panose="02020603050405020304" pitchFamily="18" charset="0"/>
                <a:cs typeface="Times New Roman" panose="02020603050405020304" pitchFamily="18" charset="0"/>
              </a:rPr>
              <a:t>Gizmoball</a:t>
            </a:r>
            <a:r>
              <a:rPr lang="en-US" dirty="0">
                <a:latin typeface="Times New Roman" panose="02020603050405020304" pitchFamily="18" charset="0"/>
                <a:cs typeface="Times New Roman" panose="02020603050405020304" pitchFamily="18" charset="0"/>
              </a:rPr>
              <a:t>, a physics-based pinball game that lets users create, simulate, and play custom pinball boards. To ensure structured development, the team selects and applies a suitable SDLC model — Waterfall, Agile, or RAD — based on the project's timeline, complexity, and user feedback needs.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44870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366297"/>
          </a:xfrm>
        </p:spPr>
        <p:txBody>
          <a:bodyPr/>
          <a:lstStyle/>
          <a:p>
            <a:r>
              <a:rPr lang="en-US" dirty="0">
                <a:latin typeface="Times New Roman" panose="02020603050405020304" pitchFamily="18" charset="0"/>
                <a:cs typeface="Times New Roman" panose="02020603050405020304" pitchFamily="18" charset="0"/>
              </a:rPr>
              <a:t>Agile Methodologies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1367772-B29E-F159-F724-8F8E55AD9D19}"/>
              </a:ext>
            </a:extLst>
          </p:cNvPr>
          <p:cNvSpPr>
            <a:spLocks noGrp="1"/>
          </p:cNvSpPr>
          <p:nvPr>
            <p:ph idx="1"/>
          </p:nvPr>
        </p:nvSpPr>
        <p:spPr>
          <a:xfrm>
            <a:off x="609600" y="741872"/>
            <a:ext cx="10972800" cy="5384293"/>
          </a:xfrm>
        </p:spPr>
        <p:txBody>
          <a:bodyPr/>
          <a:lstStyle/>
          <a:p>
            <a:pPr algn="just"/>
            <a:r>
              <a:rPr lang="en-US" sz="2000" b="0" i="0" u="none" strike="noStrike" baseline="0" dirty="0">
                <a:latin typeface="Times New Roman" panose="02020603050405020304" pitchFamily="18" charset="0"/>
                <a:cs typeface="Times New Roman" panose="02020603050405020304" pitchFamily="18" charset="0"/>
              </a:rPr>
              <a:t>All the methodologies described before are based on the premise that any software development process should be predictable and repeatable. One of the criticisms against these methodologies is that there is more emphasis on following procedures and preparing documentation. </a:t>
            </a:r>
          </a:p>
          <a:p>
            <a:pPr algn="just"/>
            <a:r>
              <a:rPr lang="en-US" sz="2000" b="0" i="0" u="none" strike="noStrike" baseline="0" dirty="0">
                <a:latin typeface="Times New Roman" panose="02020603050405020304" pitchFamily="18" charset="0"/>
                <a:cs typeface="Times New Roman" panose="02020603050405020304" pitchFamily="18" charset="0"/>
              </a:rPr>
              <a:t>They are considered to be heavyweight or rigorous. They are also </a:t>
            </a:r>
            <a:r>
              <a:rPr lang="en-US" sz="2000" b="0" i="0" u="none" strike="noStrike" baseline="0" dirty="0" err="1">
                <a:latin typeface="Times New Roman" panose="02020603050405020304" pitchFamily="18" charset="0"/>
                <a:cs typeface="Times New Roman" panose="02020603050405020304" pitchFamily="18" charset="0"/>
              </a:rPr>
              <a:t>criticised</a:t>
            </a:r>
            <a:r>
              <a:rPr lang="en-US" sz="2000" b="0" i="0" u="none" strike="noStrike" baseline="0" dirty="0">
                <a:latin typeface="Times New Roman" panose="02020603050405020304" pitchFamily="18" charset="0"/>
                <a:cs typeface="Times New Roman" panose="02020603050405020304" pitchFamily="18" charset="0"/>
              </a:rPr>
              <a:t> for their excessive emphasis on structure. There is a movement called Agile Software Movement, questioning this premise. </a:t>
            </a:r>
          </a:p>
          <a:p>
            <a:pPr algn="just"/>
            <a:r>
              <a:rPr lang="en-US" sz="2000" b="0" i="0" u="none" strike="noStrike" baseline="0" dirty="0">
                <a:latin typeface="Times New Roman" panose="02020603050405020304" pitchFamily="18" charset="0"/>
                <a:cs typeface="Times New Roman" panose="02020603050405020304" pitchFamily="18" charset="0"/>
              </a:rPr>
              <a:t>The proponents argue that software development being essentially a human activity, there will always have variations in processes and inputs and the model should be flexible enough to handle the variations. </a:t>
            </a:r>
          </a:p>
          <a:p>
            <a:pPr algn="just"/>
            <a:r>
              <a:rPr lang="en-US" sz="2000" b="0" i="0" u="none" strike="noStrike" baseline="0" dirty="0">
                <a:latin typeface="Times New Roman" panose="02020603050405020304" pitchFamily="18" charset="0"/>
                <a:cs typeface="Times New Roman" panose="02020603050405020304" pitchFamily="18" charset="0"/>
              </a:rPr>
              <a:t>For example: the entire set of software requirements cannot be known at the </a:t>
            </a:r>
            <a:r>
              <a:rPr lang="en-US" sz="2000" b="0" i="0" u="none" strike="noStrike" baseline="0" dirty="0" err="1">
                <a:latin typeface="Times New Roman" panose="02020603050405020304" pitchFamily="18" charset="0"/>
                <a:cs typeface="Times New Roman" panose="02020603050405020304" pitchFamily="18" charset="0"/>
              </a:rPr>
              <a:t>begining</a:t>
            </a:r>
            <a:r>
              <a:rPr lang="en-US" sz="2000" b="0" i="0" u="none" strike="noStrike" baseline="0" dirty="0">
                <a:latin typeface="Times New Roman" panose="02020603050405020304" pitchFamily="18" charset="0"/>
                <a:cs typeface="Times New Roman" panose="02020603050405020304" pitchFamily="18" charset="0"/>
              </a:rPr>
              <a:t> of the project nor do they remain static. If the model cannot handle this dynamism, then there can be lot of wastage of effort or the final product may not meet the customer's needs. </a:t>
            </a:r>
          </a:p>
          <a:p>
            <a:pPr algn="just"/>
            <a:r>
              <a:rPr lang="en-US" sz="2000" b="0" i="0" u="none" strike="noStrike" baseline="0" dirty="0">
                <a:latin typeface="Times New Roman" panose="02020603050405020304" pitchFamily="18" charset="0"/>
                <a:cs typeface="Times New Roman" panose="02020603050405020304" pitchFamily="18" charset="0"/>
              </a:rPr>
              <a:t>Hence the agile </a:t>
            </a:r>
            <a:r>
              <a:rPr lang="en-US" sz="2000" b="0" i="0" u="none" strike="noStrike" baseline="0" dirty="0" err="1">
                <a:latin typeface="Times New Roman" panose="02020603050405020304" pitchFamily="18" charset="0"/>
                <a:cs typeface="Times New Roman" panose="02020603050405020304" pitchFamily="18" charset="0"/>
              </a:rPr>
              <a:t>methodolgies</a:t>
            </a:r>
            <a:r>
              <a:rPr lang="en-US" sz="2000" b="0" i="0" u="none" strike="noStrike" baseline="0" dirty="0">
                <a:latin typeface="Times New Roman" panose="02020603050405020304" pitchFamily="18" charset="0"/>
                <a:cs typeface="Times New Roman" panose="02020603050405020304" pitchFamily="18" charset="0"/>
              </a:rPr>
              <a:t> advocate the principle "build short, build often". That is the given project is broken up in to subprojects and each subproject is developed and integrated in to the already delivered system. </a:t>
            </a:r>
          </a:p>
          <a:p>
            <a:pPr algn="just"/>
            <a:r>
              <a:rPr lang="en-US" sz="2000" b="0" i="0" u="none" strike="noStrike" baseline="0" dirty="0">
                <a:latin typeface="Times New Roman" panose="02020603050405020304" pitchFamily="18" charset="0"/>
                <a:cs typeface="Times New Roman" panose="02020603050405020304" pitchFamily="18" charset="0"/>
              </a:rPr>
              <a:t>This way the customer gets continuous delivery of useful and usable systems. The subprojects are chosen so that they have short delivery cycles, usually of the order of 3 to 4 weeks.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17740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Agile Methodologies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1367772-B29E-F159-F724-8F8E55AD9D19}"/>
              </a:ext>
            </a:extLst>
          </p:cNvPr>
          <p:cNvSpPr>
            <a:spLocks noGrp="1"/>
          </p:cNvSpPr>
          <p:nvPr>
            <p:ph idx="1"/>
          </p:nvPr>
        </p:nvSpPr>
        <p:spPr>
          <a:xfrm>
            <a:off x="609600" y="931493"/>
            <a:ext cx="10972800" cy="5926507"/>
          </a:xfrm>
        </p:spPr>
        <p:txBody>
          <a:bodyPr/>
          <a:lstStyle/>
          <a:p>
            <a:pPr algn="l"/>
            <a:r>
              <a:rPr lang="en-US" sz="2000" b="0" i="0" u="none" strike="noStrike" baseline="0" dirty="0">
                <a:latin typeface="Times New Roman" panose="02020603050405020304" pitchFamily="18" charset="0"/>
                <a:cs typeface="Times New Roman" panose="02020603050405020304" pitchFamily="18" charset="0"/>
              </a:rPr>
              <a:t>The development team also gets continuous feedback. A number of agile methodologies have been proposed. The more popular among them are SCRUM, DYNAMIC SYSTEMS DEVELOPMENT METHOD (DSDM), CRYSTAL METHODS, FEATURE-DRIVEN DEVELOPMENT, LEAN DEVELOPMENT (LD), EXTREME </a:t>
            </a:r>
            <a:r>
              <a:rPr lang="en-IN" sz="2000" b="0" i="0" u="none" strike="noStrike" baseline="0" dirty="0">
                <a:latin typeface="Times New Roman" panose="02020603050405020304" pitchFamily="18" charset="0"/>
                <a:cs typeface="Times New Roman" panose="02020603050405020304" pitchFamily="18" charset="0"/>
              </a:rPr>
              <a:t>PROGRAMMING (XP).</a:t>
            </a:r>
          </a:p>
          <a:p>
            <a:pPr algn="l"/>
            <a:r>
              <a:rPr lang="en-US" sz="2000" b="1" i="0" u="none" strike="noStrike" baseline="0" dirty="0">
                <a:latin typeface="Times New Roman" panose="02020603050405020304" pitchFamily="18" charset="0"/>
                <a:cs typeface="Times New Roman" panose="02020603050405020304" pitchFamily="18" charset="0"/>
              </a:rPr>
              <a:t>SCRUM</a:t>
            </a:r>
            <a:r>
              <a:rPr lang="en-US" sz="2000" b="0" i="0" u="none" strike="noStrike" baseline="0" dirty="0">
                <a:latin typeface="Times New Roman" panose="02020603050405020304" pitchFamily="18" charset="0"/>
                <a:cs typeface="Times New Roman" panose="02020603050405020304" pitchFamily="18" charset="0"/>
              </a:rPr>
              <a:t>: It is a project management framework. It divides the development in to short cycles called sprint cycles in which a specified set of features are delivered. It advocates daily team meetings for coordination and integration.</a:t>
            </a:r>
          </a:p>
          <a:p>
            <a:r>
              <a:rPr lang="en-US" sz="2000" b="1" i="0" u="none" strike="noStrike" baseline="0" dirty="0">
                <a:latin typeface="Times New Roman" panose="02020603050405020304" pitchFamily="18" charset="0"/>
                <a:cs typeface="Times New Roman" panose="02020603050405020304" pitchFamily="18" charset="0"/>
              </a:rPr>
              <a:t>DYNAMIC SYSTEMS DEVELOPMENT METHOD (DSDM): </a:t>
            </a:r>
            <a:r>
              <a:rPr lang="en-US" sz="2000" b="0" i="0" u="none" strike="noStrike" baseline="0" dirty="0">
                <a:latin typeface="Times New Roman" panose="02020603050405020304" pitchFamily="18" charset="0"/>
                <a:cs typeface="Times New Roman" panose="02020603050405020304" pitchFamily="18" charset="0"/>
              </a:rPr>
              <a:t>It is </a:t>
            </a:r>
            <a:r>
              <a:rPr lang="en-US" sz="2000" b="0" i="0" u="none" strike="noStrike" baseline="0" dirty="0" err="1">
                <a:latin typeface="Times New Roman" panose="02020603050405020304" pitchFamily="18" charset="0"/>
                <a:cs typeface="Times New Roman" panose="02020603050405020304" pitchFamily="18" charset="0"/>
              </a:rPr>
              <a:t>characterised</a:t>
            </a:r>
            <a:r>
              <a:rPr lang="en-US" sz="2000" b="0" i="0" u="none" strike="noStrike" baseline="0" dirty="0">
                <a:latin typeface="Times New Roman" panose="02020603050405020304" pitchFamily="18" charset="0"/>
                <a:cs typeface="Times New Roman" panose="02020603050405020304" pitchFamily="18" charset="0"/>
              </a:rPr>
              <a:t> by nine principles:</a:t>
            </a:r>
          </a:p>
          <a:p>
            <a:pPr algn="l"/>
            <a:r>
              <a:rPr lang="en-IN" sz="2000" b="0" i="0" u="none" strike="noStrike" baseline="0" dirty="0">
                <a:latin typeface="Times New Roman" panose="02020603050405020304" pitchFamily="18" charset="0"/>
                <a:cs typeface="Times New Roman" panose="02020603050405020304" pitchFamily="18" charset="0"/>
              </a:rPr>
              <a:t>1. Active user involvement</a:t>
            </a:r>
          </a:p>
          <a:p>
            <a:pPr algn="l"/>
            <a:r>
              <a:rPr lang="en-IN" sz="2000" b="0" i="0" u="none" strike="noStrike" baseline="0" dirty="0">
                <a:latin typeface="Times New Roman" panose="02020603050405020304" pitchFamily="18" charset="0"/>
                <a:cs typeface="Times New Roman" panose="02020603050405020304" pitchFamily="18" charset="0"/>
              </a:rPr>
              <a:t>2. Team empowerment</a:t>
            </a:r>
          </a:p>
          <a:p>
            <a:pPr algn="l"/>
            <a:r>
              <a:rPr lang="en-US" sz="2000" b="0" i="0" u="none" strike="noStrike" baseline="0" dirty="0">
                <a:latin typeface="Times New Roman" panose="02020603050405020304" pitchFamily="18" charset="0"/>
                <a:cs typeface="Times New Roman" panose="02020603050405020304" pitchFamily="18" charset="0"/>
              </a:rPr>
              <a:t>3. Frequent delivery of products</a:t>
            </a:r>
          </a:p>
          <a:p>
            <a:pPr algn="l"/>
            <a:r>
              <a:rPr lang="en-US" sz="2000" b="0" i="0" u="none" strike="noStrike" baseline="0" dirty="0">
                <a:latin typeface="Times New Roman" panose="02020603050405020304" pitchFamily="18" charset="0"/>
                <a:cs typeface="Times New Roman" panose="02020603050405020304" pitchFamily="18" charset="0"/>
              </a:rPr>
              <a:t>4. Fitness for business purpose</a:t>
            </a:r>
          </a:p>
          <a:p>
            <a:pPr algn="l"/>
            <a:r>
              <a:rPr lang="en-US" sz="2000" b="0" i="0" u="none" strike="noStrike" baseline="0" dirty="0">
                <a:latin typeface="Times New Roman" panose="02020603050405020304" pitchFamily="18" charset="0"/>
                <a:cs typeface="Times New Roman" panose="02020603050405020304" pitchFamily="18" charset="0"/>
              </a:rPr>
              <a:t>5. Iterative and incremental development</a:t>
            </a:r>
          </a:p>
          <a:p>
            <a:pPr algn="l"/>
            <a:r>
              <a:rPr lang="en-US" sz="2000" b="0" i="0" u="none" strike="noStrike" baseline="0" dirty="0">
                <a:latin typeface="Times New Roman" panose="02020603050405020304" pitchFamily="18" charset="0"/>
                <a:cs typeface="Times New Roman" panose="02020603050405020304" pitchFamily="18" charset="0"/>
              </a:rPr>
              <a:t>6. All changes during development are reversible</a:t>
            </a:r>
          </a:p>
          <a:p>
            <a:pPr algn="l"/>
            <a:r>
              <a:rPr lang="en-US" sz="2000" b="0" i="0" u="none" strike="noStrike" baseline="0" dirty="0">
                <a:latin typeface="Times New Roman" panose="02020603050405020304" pitchFamily="18" charset="0"/>
                <a:cs typeface="Times New Roman" panose="02020603050405020304" pitchFamily="18" charset="0"/>
              </a:rPr>
              <a:t>7. Baselining of requirements at a high level</a:t>
            </a:r>
          </a:p>
          <a:p>
            <a:pPr algn="just"/>
            <a:r>
              <a:rPr lang="en-IN" sz="2000" b="0" i="0" u="none" strike="noStrike" baseline="0" dirty="0">
                <a:latin typeface="Times New Roman" panose="02020603050405020304" pitchFamily="18" charset="0"/>
                <a:cs typeface="Times New Roman" panose="02020603050405020304" pitchFamily="18" charset="0"/>
              </a:rPr>
              <a:t>8. Integrated testing</a:t>
            </a:r>
          </a:p>
          <a:p>
            <a:pPr marL="0" indent="0" algn="l">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35098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Agile Methodologies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1367772-B29E-F159-F724-8F8E55AD9D19}"/>
              </a:ext>
            </a:extLst>
          </p:cNvPr>
          <p:cNvSpPr>
            <a:spLocks noGrp="1"/>
          </p:cNvSpPr>
          <p:nvPr>
            <p:ph idx="1"/>
          </p:nvPr>
        </p:nvSpPr>
        <p:spPr>
          <a:xfrm>
            <a:off x="609600" y="931493"/>
            <a:ext cx="10972800" cy="5194672"/>
          </a:xfrm>
        </p:spPr>
        <p:txBody>
          <a:bodyPr/>
          <a:lstStyle/>
          <a:p>
            <a:pPr algn="just"/>
            <a:r>
              <a:rPr lang="en-US" sz="2000" b="0" i="0" u="none" strike="noStrike" baseline="0" dirty="0">
                <a:latin typeface="Times New Roman" panose="02020603050405020304" pitchFamily="18" charset="0"/>
                <a:cs typeface="Times New Roman" panose="02020603050405020304" pitchFamily="18" charset="0"/>
              </a:rPr>
              <a:t>CRYSTAL METHODOLOGIES: They are a set of configurable methodologies. They focus on the people aspects of development. The configuration is carried out based on project size, criticality and objectives. Some of the names used for the methodologies are Clear, Yellow, Orange, Orange </a:t>
            </a:r>
            <a:r>
              <a:rPr lang="en-IN" sz="2000" b="0" i="0" u="none" strike="noStrike" baseline="0" dirty="0">
                <a:latin typeface="Times New Roman" panose="02020603050405020304" pitchFamily="18" charset="0"/>
                <a:cs typeface="Times New Roman" panose="02020603050405020304" pitchFamily="18" charset="0"/>
              </a:rPr>
              <a:t>web, , Red , etc.</a:t>
            </a:r>
          </a:p>
          <a:p>
            <a:pPr algn="just"/>
            <a:r>
              <a:rPr lang="en-US" sz="2000" b="0" i="0" u="none" strike="noStrike" baseline="0" dirty="0">
                <a:latin typeface="Times New Roman" panose="02020603050405020304" pitchFamily="18" charset="0"/>
                <a:cs typeface="Times New Roman" panose="02020603050405020304" pitchFamily="18" charset="0"/>
              </a:rPr>
              <a:t>FEATURE DRIVEN DEVELOPMENT (FDD): It is a short iteration framework for software development. It focuses on building an object model, build feature list, plan by feature, design by feature, and build by feature.</a:t>
            </a:r>
          </a:p>
          <a:p>
            <a:pPr algn="just"/>
            <a:r>
              <a:rPr lang="en-US" sz="2000" b="0" i="0" u="none" strike="noStrike" baseline="0" dirty="0">
                <a:latin typeface="Times New Roman" panose="02020603050405020304" pitchFamily="18" charset="0"/>
                <a:cs typeface="Times New Roman" panose="02020603050405020304" pitchFamily="18" charset="0"/>
              </a:rPr>
              <a:t>LEAN DEVELOPMENT (LD): This methodology is derived from the principles of lean production, the restructuring of the Japanese automobile manufacturing industry that occurred in the 1980s. It is based on the following principles of lean thinking: Eliminate waste, Amplify learning, Decide as late as possible, Deliver as fast as possible, Empower the team, Build the integrity in, See the </a:t>
            </a:r>
            <a:r>
              <a:rPr lang="en-IN" sz="2000" b="0" i="0" u="none" strike="noStrike" baseline="0" dirty="0">
                <a:latin typeface="Times New Roman" panose="02020603050405020304" pitchFamily="18" charset="0"/>
                <a:cs typeface="Times New Roman" panose="02020603050405020304" pitchFamily="18" charset="0"/>
              </a:rPr>
              <a:t>whole.</a:t>
            </a:r>
          </a:p>
          <a:p>
            <a:pPr algn="just"/>
            <a:r>
              <a:rPr lang="en-US" sz="2000" b="0" i="0" u="none" strike="noStrike" baseline="0" dirty="0">
                <a:latin typeface="Times New Roman" panose="02020603050405020304" pitchFamily="18" charset="0"/>
                <a:cs typeface="Times New Roman" panose="02020603050405020304" pitchFamily="18" charset="0"/>
              </a:rPr>
              <a:t>EXTREME PROGRAMMING (XP): This methodology is probably the most popular among the agile methodologies. It is based on three important principles, viz., test first, continuous refactoring, and </a:t>
            </a:r>
            <a:r>
              <a:rPr lang="en-IN" sz="2000" b="0" i="0" u="none" strike="noStrike" baseline="0" dirty="0">
                <a:latin typeface="Times New Roman" panose="02020603050405020304" pitchFamily="18" charset="0"/>
                <a:cs typeface="Times New Roman" panose="02020603050405020304" pitchFamily="18" charset="0"/>
              </a:rPr>
              <a:t>pair programming.</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40451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EB223-829C-1EF8-B5E9-7EB223D88216}"/>
              </a:ext>
            </a:extLst>
          </p:cNvPr>
          <p:cNvSpPr>
            <a:spLocks noGrp="1"/>
          </p:cNvSpPr>
          <p:nvPr>
            <p:ph type="title"/>
          </p:nvPr>
        </p:nvSpPr>
        <p:spPr>
          <a:xfrm>
            <a:off x="609600" y="274638"/>
            <a:ext cx="10972800" cy="631136"/>
          </a:xfrm>
        </p:spPr>
        <p:txBody>
          <a:bodyPr/>
          <a:lstStyle/>
          <a:p>
            <a:r>
              <a:rPr lang="en-US" sz="4000" b="0" i="0" u="none" strike="noStrike" baseline="0" dirty="0">
                <a:latin typeface="Times New Roman" panose="02020603050405020304" pitchFamily="18" charset="0"/>
                <a:cs typeface="Times New Roman" panose="02020603050405020304" pitchFamily="18" charset="0"/>
              </a:rPr>
              <a:t>CRYSTAL METHODOLOGIES</a:t>
            </a:r>
            <a:endParaRPr lang="en-IN" dirty="0"/>
          </a:p>
        </p:txBody>
      </p:sp>
      <p:graphicFrame>
        <p:nvGraphicFramePr>
          <p:cNvPr id="4" name="Table 4">
            <a:extLst>
              <a:ext uri="{FF2B5EF4-FFF2-40B4-BE49-F238E27FC236}">
                <a16:creationId xmlns:a16="http://schemas.microsoft.com/office/drawing/2014/main" id="{692E067E-23B6-2826-21FC-5214383D66D6}"/>
              </a:ext>
            </a:extLst>
          </p:cNvPr>
          <p:cNvGraphicFramePr>
            <a:graphicFrameLocks noGrp="1"/>
          </p:cNvGraphicFramePr>
          <p:nvPr>
            <p:ph idx="1"/>
            <p:extLst>
              <p:ext uri="{D42A27DB-BD31-4B8C-83A1-F6EECF244321}">
                <p14:modId xmlns:p14="http://schemas.microsoft.com/office/powerpoint/2010/main" val="1354611897"/>
              </p:ext>
            </p:extLst>
          </p:nvPr>
        </p:nvGraphicFramePr>
        <p:xfrm>
          <a:off x="609600" y="948906"/>
          <a:ext cx="11363864" cy="5690651"/>
        </p:xfrm>
        <a:graphic>
          <a:graphicData uri="http://schemas.openxmlformats.org/drawingml/2006/table">
            <a:tbl>
              <a:tblPr firstRow="1" bandRow="1">
                <a:tableStyleId>{5C22544A-7EE6-4342-B048-85BDC9FD1C3A}</a:tableStyleId>
              </a:tblPr>
              <a:tblGrid>
                <a:gridCol w="1909313">
                  <a:extLst>
                    <a:ext uri="{9D8B030D-6E8A-4147-A177-3AD203B41FA5}">
                      <a16:colId xmlns:a16="http://schemas.microsoft.com/office/drawing/2014/main" val="2440845790"/>
                    </a:ext>
                  </a:extLst>
                </a:gridCol>
                <a:gridCol w="2743200">
                  <a:extLst>
                    <a:ext uri="{9D8B030D-6E8A-4147-A177-3AD203B41FA5}">
                      <a16:colId xmlns:a16="http://schemas.microsoft.com/office/drawing/2014/main" val="3494787240"/>
                    </a:ext>
                  </a:extLst>
                </a:gridCol>
                <a:gridCol w="3870385">
                  <a:extLst>
                    <a:ext uri="{9D8B030D-6E8A-4147-A177-3AD203B41FA5}">
                      <a16:colId xmlns:a16="http://schemas.microsoft.com/office/drawing/2014/main" val="3551903"/>
                    </a:ext>
                  </a:extLst>
                </a:gridCol>
                <a:gridCol w="2840966">
                  <a:extLst>
                    <a:ext uri="{9D8B030D-6E8A-4147-A177-3AD203B41FA5}">
                      <a16:colId xmlns:a16="http://schemas.microsoft.com/office/drawing/2014/main" val="557875867"/>
                    </a:ext>
                  </a:extLst>
                </a:gridCol>
              </a:tblGrid>
              <a:tr h="418767">
                <a:tc>
                  <a:txBody>
                    <a:bodyPr/>
                    <a:lstStyle/>
                    <a:p>
                      <a:r>
                        <a:rPr lang="en-IN" b="1" dirty="0">
                          <a:solidFill>
                            <a:schemeClr val="tx1"/>
                          </a:solidFill>
                          <a:latin typeface="Times New Roman" panose="02020603050405020304" pitchFamily="18" charset="0"/>
                          <a:cs typeface="Times New Roman" panose="02020603050405020304" pitchFamily="18" charset="0"/>
                        </a:rPr>
                        <a:t>Name</a:t>
                      </a:r>
                    </a:p>
                  </a:txBody>
                  <a:tcPr anchor="ctr"/>
                </a:tc>
                <a:tc>
                  <a:txBody>
                    <a:bodyPr/>
                    <a:lstStyle/>
                    <a:p>
                      <a:r>
                        <a:rPr lang="en-IN" b="1" dirty="0">
                          <a:solidFill>
                            <a:schemeClr val="tx1"/>
                          </a:solidFill>
                          <a:latin typeface="Times New Roman" panose="02020603050405020304" pitchFamily="18" charset="0"/>
                          <a:cs typeface="Times New Roman" panose="02020603050405020304" pitchFamily="18" charset="0"/>
                        </a:rPr>
                        <a:t>Team Size</a:t>
                      </a:r>
                    </a:p>
                  </a:txBody>
                  <a:tcPr anchor="ctr"/>
                </a:tc>
                <a:tc>
                  <a:txBody>
                    <a:bodyPr/>
                    <a:lstStyle/>
                    <a:p>
                      <a:r>
                        <a:rPr lang="en-IN" b="1" dirty="0">
                          <a:solidFill>
                            <a:schemeClr val="tx1"/>
                          </a:solidFill>
                          <a:latin typeface="Times New Roman" panose="02020603050405020304" pitchFamily="18" charset="0"/>
                          <a:cs typeface="Times New Roman" panose="02020603050405020304" pitchFamily="18" charset="0"/>
                        </a:rPr>
                        <a:t>Criticality Level</a:t>
                      </a:r>
                    </a:p>
                  </a:txBody>
                  <a:tcPr anchor="ctr"/>
                </a:tc>
                <a:tc>
                  <a:txBody>
                    <a:bodyPr/>
                    <a:lstStyle/>
                    <a:p>
                      <a:r>
                        <a:rPr lang="en-IN" b="1" dirty="0">
                          <a:solidFill>
                            <a:schemeClr val="tx1"/>
                          </a:solidFill>
                          <a:latin typeface="Times New Roman" panose="02020603050405020304" pitchFamily="18" charset="0"/>
                          <a:cs typeface="Times New Roman" panose="02020603050405020304" pitchFamily="18" charset="0"/>
                        </a:rPr>
                        <a:t>Typical Use Case</a:t>
                      </a:r>
                    </a:p>
                  </a:txBody>
                  <a:tcPr anchor="ctr"/>
                </a:tc>
                <a:extLst>
                  <a:ext uri="{0D108BD9-81ED-4DB2-BD59-A6C34878D82A}">
                    <a16:rowId xmlns:a16="http://schemas.microsoft.com/office/drawing/2014/main" val="519814439"/>
                  </a:ext>
                </a:extLst>
              </a:tr>
              <a:tr h="722805">
                <a:tc>
                  <a:txBody>
                    <a:bodyPr/>
                    <a:lstStyle/>
                    <a:p>
                      <a:r>
                        <a:rPr lang="en-IN" b="1" dirty="0">
                          <a:latin typeface="Times New Roman" panose="02020603050405020304" pitchFamily="18" charset="0"/>
                          <a:cs typeface="Times New Roman" panose="02020603050405020304" pitchFamily="18" charset="0"/>
                        </a:rPr>
                        <a:t>Crystal Clear</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dirty="0">
                          <a:latin typeface="Times New Roman" panose="02020603050405020304" pitchFamily="18" charset="0"/>
                          <a:cs typeface="Times New Roman" panose="02020603050405020304" pitchFamily="18" charset="0"/>
                        </a:rPr>
                        <a:t>1–6 people</a:t>
                      </a:r>
                    </a:p>
                  </a:txBody>
                  <a:tcPr anchor="ctr"/>
                </a:tc>
                <a:tc>
                  <a:txBody>
                    <a:bodyPr/>
                    <a:lstStyle/>
                    <a:p>
                      <a:r>
                        <a:rPr lang="en-IN">
                          <a:latin typeface="Times New Roman" panose="02020603050405020304" pitchFamily="18" charset="0"/>
                          <a:cs typeface="Times New Roman" panose="02020603050405020304" pitchFamily="18" charset="0"/>
                        </a:rPr>
                        <a:t>C – Comfort (non-life-threatening)</a:t>
                      </a:r>
                    </a:p>
                  </a:txBody>
                  <a:tcPr anchor="ctr"/>
                </a:tc>
                <a:tc>
                  <a:txBody>
                    <a:bodyPr/>
                    <a:lstStyle/>
                    <a:p>
                      <a:r>
                        <a:rPr lang="en-US">
                          <a:latin typeface="Times New Roman" panose="02020603050405020304" pitchFamily="18" charset="0"/>
                          <a:cs typeface="Times New Roman" panose="02020603050405020304" pitchFamily="18" charset="0"/>
                        </a:rPr>
                        <a:t>Internal tools, utilities, small apps</a:t>
                      </a:r>
                    </a:p>
                  </a:txBody>
                  <a:tcPr anchor="ctr"/>
                </a:tc>
                <a:extLst>
                  <a:ext uri="{0D108BD9-81ED-4DB2-BD59-A6C34878D82A}">
                    <a16:rowId xmlns:a16="http://schemas.microsoft.com/office/drawing/2014/main" val="3606033313"/>
                  </a:ext>
                </a:extLst>
              </a:tr>
              <a:tr h="1032578">
                <a:tc>
                  <a:txBody>
                    <a:bodyPr/>
                    <a:lstStyle/>
                    <a:p>
                      <a:r>
                        <a:rPr lang="en-IN" b="1">
                          <a:latin typeface="Times New Roman" panose="02020603050405020304" pitchFamily="18" charset="0"/>
                          <a:cs typeface="Times New Roman" panose="02020603050405020304" pitchFamily="18" charset="0"/>
                        </a:rPr>
                        <a:t>Crystal Yellow</a:t>
                      </a:r>
                      <a:endParaRPr lang="en-IN">
                        <a:latin typeface="Times New Roman" panose="02020603050405020304" pitchFamily="18" charset="0"/>
                        <a:cs typeface="Times New Roman" panose="02020603050405020304" pitchFamily="18" charset="0"/>
                      </a:endParaRPr>
                    </a:p>
                  </a:txBody>
                  <a:tcPr anchor="ctr"/>
                </a:tc>
                <a:tc>
                  <a:txBody>
                    <a:bodyPr/>
                    <a:lstStyle/>
                    <a:p>
                      <a:r>
                        <a:rPr lang="en-IN" dirty="0">
                          <a:latin typeface="Times New Roman" panose="02020603050405020304" pitchFamily="18" charset="0"/>
                          <a:cs typeface="Times New Roman" panose="02020603050405020304" pitchFamily="18" charset="0"/>
                        </a:rPr>
                        <a:t>6–20 people</a:t>
                      </a:r>
                    </a:p>
                  </a:txBody>
                  <a:tcPr anchor="ctr"/>
                </a:tc>
                <a:tc>
                  <a:txBody>
                    <a:bodyPr/>
                    <a:lstStyle/>
                    <a:p>
                      <a:r>
                        <a:rPr lang="en-US" dirty="0">
                          <a:latin typeface="Times New Roman" panose="02020603050405020304" pitchFamily="18" charset="0"/>
                          <a:cs typeface="Times New Roman" panose="02020603050405020304" pitchFamily="18" charset="0"/>
                        </a:rPr>
                        <a:t>D – Discretionary money (can lose money)</a:t>
                      </a:r>
                    </a:p>
                  </a:txBody>
                  <a:tcPr anchor="ctr"/>
                </a:tc>
                <a:tc>
                  <a:txBody>
                    <a:bodyPr/>
                    <a:lstStyle/>
                    <a:p>
                      <a:r>
                        <a:rPr lang="en-IN" dirty="0">
                          <a:latin typeface="Times New Roman" panose="02020603050405020304" pitchFamily="18" charset="0"/>
                          <a:cs typeface="Times New Roman" panose="02020603050405020304" pitchFamily="18" charset="0"/>
                        </a:rPr>
                        <a:t>Medium-sized business apps</a:t>
                      </a:r>
                    </a:p>
                  </a:txBody>
                  <a:tcPr anchor="ctr"/>
                </a:tc>
                <a:extLst>
                  <a:ext uri="{0D108BD9-81ED-4DB2-BD59-A6C34878D82A}">
                    <a16:rowId xmlns:a16="http://schemas.microsoft.com/office/drawing/2014/main" val="1059342655"/>
                  </a:ext>
                </a:extLst>
              </a:tr>
              <a:tr h="1032578">
                <a:tc>
                  <a:txBody>
                    <a:bodyPr/>
                    <a:lstStyle/>
                    <a:p>
                      <a:r>
                        <a:rPr lang="en-IN" b="1">
                          <a:latin typeface="Times New Roman" panose="02020603050405020304" pitchFamily="18" charset="0"/>
                          <a:cs typeface="Times New Roman" panose="02020603050405020304" pitchFamily="18" charset="0"/>
                        </a:rPr>
                        <a:t>Crystal Orange</a:t>
                      </a:r>
                      <a:endParaRPr lang="en-IN">
                        <a:latin typeface="Times New Roman" panose="02020603050405020304" pitchFamily="18" charset="0"/>
                        <a:cs typeface="Times New Roman" panose="02020603050405020304" pitchFamily="18" charset="0"/>
                      </a:endParaRPr>
                    </a:p>
                  </a:txBody>
                  <a:tcPr anchor="ctr"/>
                </a:tc>
                <a:tc>
                  <a:txBody>
                    <a:bodyPr/>
                    <a:lstStyle/>
                    <a:p>
                      <a:r>
                        <a:rPr lang="en-IN">
                          <a:latin typeface="Times New Roman" panose="02020603050405020304" pitchFamily="18" charset="0"/>
                          <a:cs typeface="Times New Roman" panose="02020603050405020304" pitchFamily="18" charset="0"/>
                        </a:rPr>
                        <a:t>20–50 people</a:t>
                      </a:r>
                    </a:p>
                  </a:txBody>
                  <a:tcPr anchor="ctr"/>
                </a:tc>
                <a:tc>
                  <a:txBody>
                    <a:bodyPr/>
                    <a:lstStyle/>
                    <a:p>
                      <a:r>
                        <a:rPr lang="en-US" dirty="0">
                          <a:latin typeface="Times New Roman" panose="02020603050405020304" pitchFamily="18" charset="0"/>
                          <a:cs typeface="Times New Roman" panose="02020603050405020304" pitchFamily="18" charset="0"/>
                        </a:rPr>
                        <a:t>E – Essential money (can’t afford to fail)</a:t>
                      </a:r>
                    </a:p>
                  </a:txBody>
                  <a:tcPr anchor="ctr"/>
                </a:tc>
                <a:tc>
                  <a:txBody>
                    <a:bodyPr/>
                    <a:lstStyle/>
                    <a:p>
                      <a:r>
                        <a:rPr lang="en-US">
                          <a:latin typeface="Times New Roman" panose="02020603050405020304" pitchFamily="18" charset="0"/>
                          <a:cs typeface="Times New Roman" panose="02020603050405020304" pitchFamily="18" charset="0"/>
                        </a:rPr>
                        <a:t>Large business systems, multi-team projects</a:t>
                      </a:r>
                    </a:p>
                  </a:txBody>
                  <a:tcPr anchor="ctr"/>
                </a:tc>
                <a:extLst>
                  <a:ext uri="{0D108BD9-81ED-4DB2-BD59-A6C34878D82A}">
                    <a16:rowId xmlns:a16="http://schemas.microsoft.com/office/drawing/2014/main" val="3772108947"/>
                  </a:ext>
                </a:extLst>
              </a:tr>
              <a:tr h="1032578">
                <a:tc>
                  <a:txBody>
                    <a:bodyPr/>
                    <a:lstStyle/>
                    <a:p>
                      <a:r>
                        <a:rPr lang="en-IN" b="1">
                          <a:latin typeface="Times New Roman" panose="02020603050405020304" pitchFamily="18" charset="0"/>
                          <a:cs typeface="Times New Roman" panose="02020603050405020304" pitchFamily="18" charset="0"/>
                        </a:rPr>
                        <a:t>Crystal Orange Web</a:t>
                      </a:r>
                      <a:endParaRPr lang="en-IN">
                        <a:latin typeface="Times New Roman" panose="02020603050405020304" pitchFamily="18" charset="0"/>
                        <a:cs typeface="Times New Roman" panose="02020603050405020304" pitchFamily="18" charset="0"/>
                      </a:endParaRPr>
                    </a:p>
                  </a:txBody>
                  <a:tcPr anchor="ctr"/>
                </a:tc>
                <a:tc>
                  <a:txBody>
                    <a:bodyPr/>
                    <a:lstStyle/>
                    <a:p>
                      <a:r>
                        <a:rPr lang="en-IN">
                          <a:latin typeface="Times New Roman" panose="02020603050405020304" pitchFamily="18" charset="0"/>
                          <a:cs typeface="Times New Roman" panose="02020603050405020304" pitchFamily="18" charset="0"/>
                        </a:rPr>
                        <a:t>20–40 web developers</a:t>
                      </a:r>
                    </a:p>
                  </a:txBody>
                  <a:tcPr anchor="ctr"/>
                </a:tc>
                <a:tc>
                  <a:txBody>
                    <a:bodyPr/>
                    <a:lstStyle/>
                    <a:p>
                      <a:r>
                        <a:rPr lang="en-US" dirty="0">
                          <a:latin typeface="Times New Roman" panose="02020603050405020304" pitchFamily="18" charset="0"/>
                          <a:cs typeface="Times New Roman" panose="02020603050405020304" pitchFamily="18" charset="0"/>
                        </a:rPr>
                        <a:t>E – Essential money, </a:t>
                      </a:r>
                      <a:r>
                        <a:rPr lang="en-US" b="1" dirty="0">
                          <a:latin typeface="Times New Roman" panose="02020603050405020304" pitchFamily="18" charset="0"/>
                          <a:cs typeface="Times New Roman" panose="02020603050405020304" pitchFamily="18" charset="0"/>
                        </a:rPr>
                        <a:t>web-based systems</a:t>
                      </a:r>
                      <a:endParaRPr lang="en-US" dirty="0">
                        <a:latin typeface="Times New Roman" panose="02020603050405020304" pitchFamily="18" charset="0"/>
                        <a:cs typeface="Times New Roman" panose="02020603050405020304" pitchFamily="18" charset="0"/>
                      </a:endParaRPr>
                    </a:p>
                  </a:txBody>
                  <a:tcPr anchor="ctr"/>
                </a:tc>
                <a:tc>
                  <a:txBody>
                    <a:bodyPr/>
                    <a:lstStyle/>
                    <a:p>
                      <a:r>
                        <a:rPr lang="en-US" dirty="0">
                          <a:latin typeface="Times New Roman" panose="02020603050405020304" pitchFamily="18" charset="0"/>
                          <a:cs typeface="Times New Roman" panose="02020603050405020304" pitchFamily="18" charset="0"/>
                        </a:rPr>
                        <a:t>Large web applications with reliability needs</a:t>
                      </a:r>
                    </a:p>
                  </a:txBody>
                  <a:tcPr anchor="ctr"/>
                </a:tc>
                <a:extLst>
                  <a:ext uri="{0D108BD9-81ED-4DB2-BD59-A6C34878D82A}">
                    <a16:rowId xmlns:a16="http://schemas.microsoft.com/office/drawing/2014/main" val="1051452968"/>
                  </a:ext>
                </a:extLst>
              </a:tr>
              <a:tr h="1032578">
                <a:tc>
                  <a:txBody>
                    <a:bodyPr/>
                    <a:lstStyle/>
                    <a:p>
                      <a:r>
                        <a:rPr lang="en-IN" b="1">
                          <a:latin typeface="Times New Roman" panose="02020603050405020304" pitchFamily="18" charset="0"/>
                          <a:cs typeface="Times New Roman" panose="02020603050405020304" pitchFamily="18" charset="0"/>
                        </a:rPr>
                        <a:t>Crystal Red</a:t>
                      </a:r>
                      <a:endParaRPr lang="en-IN">
                        <a:latin typeface="Times New Roman" panose="02020603050405020304" pitchFamily="18" charset="0"/>
                        <a:cs typeface="Times New Roman" panose="02020603050405020304" pitchFamily="18" charset="0"/>
                      </a:endParaRPr>
                    </a:p>
                  </a:txBody>
                  <a:tcPr anchor="ctr"/>
                </a:tc>
                <a:tc>
                  <a:txBody>
                    <a:bodyPr/>
                    <a:lstStyle/>
                    <a:p>
                      <a:r>
                        <a:rPr lang="en-IN">
                          <a:latin typeface="Times New Roman" panose="02020603050405020304" pitchFamily="18" charset="0"/>
                          <a:cs typeface="Times New Roman" panose="02020603050405020304" pitchFamily="18" charset="0"/>
                        </a:rPr>
                        <a:t>50–100+ people</a:t>
                      </a:r>
                    </a:p>
                  </a:txBody>
                  <a:tcPr anchor="ctr"/>
                </a:tc>
                <a:tc>
                  <a:txBody>
                    <a:bodyPr/>
                    <a:lstStyle/>
                    <a:p>
                      <a:r>
                        <a:rPr lang="en-US">
                          <a:latin typeface="Times New Roman" panose="02020603050405020304" pitchFamily="18" charset="0"/>
                          <a:cs typeface="Times New Roman" panose="02020603050405020304" pitchFamily="18" charset="0"/>
                        </a:rPr>
                        <a:t>L – Life (risk to human life)</a:t>
                      </a:r>
                    </a:p>
                  </a:txBody>
                  <a:tcPr anchor="ctr"/>
                </a:tc>
                <a:tc>
                  <a:txBody>
                    <a:bodyPr/>
                    <a:lstStyle/>
                    <a:p>
                      <a:r>
                        <a:rPr lang="en-IN" dirty="0">
                          <a:latin typeface="Times New Roman" panose="02020603050405020304" pitchFamily="18" charset="0"/>
                          <a:cs typeface="Times New Roman" panose="02020603050405020304" pitchFamily="18" charset="0"/>
                        </a:rPr>
                        <a:t>Aerospace, healthcare, safety-critical systems</a:t>
                      </a:r>
                    </a:p>
                  </a:txBody>
                  <a:tcPr anchor="ctr"/>
                </a:tc>
                <a:extLst>
                  <a:ext uri="{0D108BD9-81ED-4DB2-BD59-A6C34878D82A}">
                    <a16:rowId xmlns:a16="http://schemas.microsoft.com/office/drawing/2014/main" val="2342531787"/>
                  </a:ext>
                </a:extLst>
              </a:tr>
              <a:tr h="418767">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3914347253"/>
                  </a:ext>
                </a:extLst>
              </a:tr>
            </a:tbl>
          </a:graphicData>
        </a:graphic>
      </p:graphicFrame>
    </p:spTree>
    <p:extLst>
      <p:ext uri="{BB962C8B-B14F-4D97-AF65-F5344CB8AC3E}">
        <p14:creationId xmlns:p14="http://schemas.microsoft.com/office/powerpoint/2010/main" val="35283755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52DAD-5EAE-B50B-D374-CC45944FC175}"/>
              </a:ext>
            </a:extLst>
          </p:cNvPr>
          <p:cNvSpPr>
            <a:spLocks noGrp="1"/>
          </p:cNvSpPr>
          <p:nvPr>
            <p:ph type="title"/>
          </p:nvPr>
        </p:nvSpPr>
        <p:spPr>
          <a:xfrm>
            <a:off x="609600" y="274638"/>
            <a:ext cx="10972800" cy="588004"/>
          </a:xfrm>
        </p:spPr>
        <p:txBody>
          <a:bodyPr/>
          <a:lstStyle/>
          <a:p>
            <a:r>
              <a:rPr lang="en-US" sz="4000" b="0" i="0" u="none" strike="noStrike" baseline="0" dirty="0">
                <a:latin typeface="Times New Roman" panose="02020603050405020304" pitchFamily="18" charset="0"/>
                <a:cs typeface="Times New Roman" panose="02020603050405020304" pitchFamily="18" charset="0"/>
              </a:rPr>
              <a:t>FEATURE DRIVEN DEVELOPMENT (FDD):</a:t>
            </a:r>
            <a:endParaRPr lang="en-IN" dirty="0"/>
          </a:p>
        </p:txBody>
      </p:sp>
      <p:graphicFrame>
        <p:nvGraphicFramePr>
          <p:cNvPr id="4" name="Table 4">
            <a:extLst>
              <a:ext uri="{FF2B5EF4-FFF2-40B4-BE49-F238E27FC236}">
                <a16:creationId xmlns:a16="http://schemas.microsoft.com/office/drawing/2014/main" id="{795DB274-E932-AA3E-AD13-35667142EAB8}"/>
              </a:ext>
            </a:extLst>
          </p:cNvPr>
          <p:cNvGraphicFramePr>
            <a:graphicFrameLocks noGrp="1"/>
          </p:cNvGraphicFramePr>
          <p:nvPr>
            <p:ph idx="1"/>
            <p:extLst>
              <p:ext uri="{D42A27DB-BD31-4B8C-83A1-F6EECF244321}">
                <p14:modId xmlns:p14="http://schemas.microsoft.com/office/powerpoint/2010/main" val="1492803394"/>
              </p:ext>
            </p:extLst>
          </p:nvPr>
        </p:nvGraphicFramePr>
        <p:xfrm>
          <a:off x="609600" y="1311215"/>
          <a:ext cx="10380453" cy="4986066"/>
        </p:xfrm>
        <a:graphic>
          <a:graphicData uri="http://schemas.openxmlformats.org/drawingml/2006/table">
            <a:tbl>
              <a:tblPr firstRow="1" bandRow="1">
                <a:tableStyleId>{5C22544A-7EE6-4342-B048-85BDC9FD1C3A}</a:tableStyleId>
              </a:tblPr>
              <a:tblGrid>
                <a:gridCol w="3211902">
                  <a:extLst>
                    <a:ext uri="{9D8B030D-6E8A-4147-A177-3AD203B41FA5}">
                      <a16:colId xmlns:a16="http://schemas.microsoft.com/office/drawing/2014/main" val="2654164689"/>
                    </a:ext>
                  </a:extLst>
                </a:gridCol>
                <a:gridCol w="7168551">
                  <a:extLst>
                    <a:ext uri="{9D8B030D-6E8A-4147-A177-3AD203B41FA5}">
                      <a16:colId xmlns:a16="http://schemas.microsoft.com/office/drawing/2014/main" val="1573767116"/>
                    </a:ext>
                  </a:extLst>
                </a:gridCol>
              </a:tblGrid>
              <a:tr h="480823">
                <a:tc>
                  <a:txBody>
                    <a:bodyPr/>
                    <a:lstStyle/>
                    <a:p>
                      <a:r>
                        <a:rPr lang="en-IN" sz="2000" dirty="0">
                          <a:solidFill>
                            <a:schemeClr val="tx1"/>
                          </a:solidFill>
                          <a:latin typeface="Times New Roman" panose="02020603050405020304" pitchFamily="18" charset="0"/>
                          <a:cs typeface="Times New Roman" panose="02020603050405020304" pitchFamily="18" charset="0"/>
                        </a:rPr>
                        <a:t>Activity</a:t>
                      </a:r>
                    </a:p>
                  </a:txBody>
                  <a:tcPr anchor="ctr"/>
                </a:tc>
                <a:tc>
                  <a:txBody>
                    <a:bodyPr/>
                    <a:lstStyle/>
                    <a:p>
                      <a:r>
                        <a:rPr lang="en-IN" sz="2000" dirty="0">
                          <a:solidFill>
                            <a:schemeClr val="tx1"/>
                          </a:solidFill>
                          <a:latin typeface="Times New Roman" panose="02020603050405020304" pitchFamily="18" charset="0"/>
                          <a:cs typeface="Times New Roman" panose="02020603050405020304" pitchFamily="18" charset="0"/>
                        </a:rPr>
                        <a:t>Description</a:t>
                      </a:r>
                    </a:p>
                  </a:txBody>
                  <a:tcPr anchor="ctr"/>
                </a:tc>
                <a:extLst>
                  <a:ext uri="{0D108BD9-81ED-4DB2-BD59-A6C34878D82A}">
                    <a16:rowId xmlns:a16="http://schemas.microsoft.com/office/drawing/2014/main" val="3672589879"/>
                  </a:ext>
                </a:extLst>
              </a:tr>
              <a:tr h="1185591">
                <a:tc>
                  <a:txBody>
                    <a:bodyPr/>
                    <a:lstStyle/>
                    <a:p>
                      <a:r>
                        <a:rPr lang="en-IN" sz="2000" b="1" dirty="0">
                          <a:latin typeface="Times New Roman" panose="02020603050405020304" pitchFamily="18" charset="0"/>
                          <a:cs typeface="Times New Roman" panose="02020603050405020304" pitchFamily="18" charset="0"/>
                        </a:rPr>
                        <a:t>Develop an Overall Model</a:t>
                      </a:r>
                      <a:endParaRPr lang="en-IN" sz="2000" dirty="0">
                        <a:latin typeface="Times New Roman" panose="02020603050405020304" pitchFamily="18" charset="0"/>
                        <a:cs typeface="Times New Roman" panose="02020603050405020304" pitchFamily="18" charset="0"/>
                      </a:endParaRPr>
                    </a:p>
                  </a:txBody>
                  <a:tcPr anchor="ctr"/>
                </a:tc>
                <a:tc>
                  <a:txBody>
                    <a:bodyPr/>
                    <a:lstStyle/>
                    <a:p>
                      <a:r>
                        <a:rPr lang="en-US" sz="2200" dirty="0">
                          <a:latin typeface="Times New Roman" panose="02020603050405020304" pitchFamily="18" charset="0"/>
                          <a:cs typeface="Times New Roman" panose="02020603050405020304" pitchFamily="18" charset="0"/>
                        </a:rPr>
                        <a:t>Understand domain and define a high-level object model</a:t>
                      </a:r>
                    </a:p>
                  </a:txBody>
                  <a:tcPr anchor="ctr"/>
                </a:tc>
                <a:extLst>
                  <a:ext uri="{0D108BD9-81ED-4DB2-BD59-A6C34878D82A}">
                    <a16:rowId xmlns:a16="http://schemas.microsoft.com/office/drawing/2014/main" val="923345862"/>
                  </a:ext>
                </a:extLst>
              </a:tr>
              <a:tr h="829913">
                <a:tc>
                  <a:txBody>
                    <a:bodyPr/>
                    <a:lstStyle/>
                    <a:p>
                      <a:r>
                        <a:rPr lang="en-IN" sz="2000" b="1" dirty="0">
                          <a:latin typeface="Times New Roman" panose="02020603050405020304" pitchFamily="18" charset="0"/>
                          <a:cs typeface="Times New Roman" panose="02020603050405020304" pitchFamily="18" charset="0"/>
                        </a:rPr>
                        <a:t>Build a Features List</a:t>
                      </a:r>
                      <a:endParaRPr lang="en-IN" sz="2000" dirty="0">
                        <a:latin typeface="Times New Roman" panose="02020603050405020304" pitchFamily="18" charset="0"/>
                        <a:cs typeface="Times New Roman" panose="02020603050405020304" pitchFamily="18" charset="0"/>
                      </a:endParaRPr>
                    </a:p>
                  </a:txBody>
                  <a:tcPr anchor="ctr"/>
                </a:tc>
                <a:tc>
                  <a:txBody>
                    <a:bodyPr/>
                    <a:lstStyle/>
                    <a:p>
                      <a:r>
                        <a:rPr lang="en-US" sz="2200" dirty="0">
                          <a:latin typeface="Times New Roman" panose="02020603050405020304" pitchFamily="18" charset="0"/>
                          <a:cs typeface="Times New Roman" panose="02020603050405020304" pitchFamily="18" charset="0"/>
                        </a:rPr>
                        <a:t>Break system requirements into a list of features</a:t>
                      </a:r>
                    </a:p>
                  </a:txBody>
                  <a:tcPr anchor="ctr"/>
                </a:tc>
                <a:extLst>
                  <a:ext uri="{0D108BD9-81ED-4DB2-BD59-A6C34878D82A}">
                    <a16:rowId xmlns:a16="http://schemas.microsoft.com/office/drawing/2014/main" val="1304732135"/>
                  </a:ext>
                </a:extLst>
              </a:tr>
              <a:tr h="829913">
                <a:tc>
                  <a:txBody>
                    <a:bodyPr/>
                    <a:lstStyle/>
                    <a:p>
                      <a:r>
                        <a:rPr lang="en-IN" sz="2000" b="1">
                          <a:latin typeface="Times New Roman" panose="02020603050405020304" pitchFamily="18" charset="0"/>
                          <a:cs typeface="Times New Roman" panose="02020603050405020304" pitchFamily="18" charset="0"/>
                        </a:rPr>
                        <a:t>Plan by Feature</a:t>
                      </a:r>
                      <a:endParaRPr lang="en-IN" sz="2000">
                        <a:latin typeface="Times New Roman" panose="02020603050405020304" pitchFamily="18" charset="0"/>
                        <a:cs typeface="Times New Roman" panose="02020603050405020304" pitchFamily="18" charset="0"/>
                      </a:endParaRPr>
                    </a:p>
                  </a:txBody>
                  <a:tcPr anchor="ctr"/>
                </a:tc>
                <a:tc>
                  <a:txBody>
                    <a:bodyPr/>
                    <a:lstStyle/>
                    <a:p>
                      <a:r>
                        <a:rPr lang="en-US" sz="2200" dirty="0">
                          <a:latin typeface="Times New Roman" panose="02020603050405020304" pitchFamily="18" charset="0"/>
                          <a:cs typeface="Times New Roman" panose="02020603050405020304" pitchFamily="18" charset="0"/>
                        </a:rPr>
                        <a:t>Prioritize and schedule feature development</a:t>
                      </a:r>
                    </a:p>
                  </a:txBody>
                  <a:tcPr anchor="ctr"/>
                </a:tc>
                <a:extLst>
                  <a:ext uri="{0D108BD9-81ED-4DB2-BD59-A6C34878D82A}">
                    <a16:rowId xmlns:a16="http://schemas.microsoft.com/office/drawing/2014/main" val="448452046"/>
                  </a:ext>
                </a:extLst>
              </a:tr>
              <a:tr h="829913">
                <a:tc>
                  <a:txBody>
                    <a:bodyPr/>
                    <a:lstStyle/>
                    <a:p>
                      <a:r>
                        <a:rPr lang="en-IN" sz="2000" b="1">
                          <a:latin typeface="Times New Roman" panose="02020603050405020304" pitchFamily="18" charset="0"/>
                          <a:cs typeface="Times New Roman" panose="02020603050405020304" pitchFamily="18" charset="0"/>
                        </a:rPr>
                        <a:t>Design by Feature</a:t>
                      </a:r>
                      <a:endParaRPr lang="en-IN" sz="2000">
                        <a:latin typeface="Times New Roman" panose="02020603050405020304" pitchFamily="18" charset="0"/>
                        <a:cs typeface="Times New Roman" panose="02020603050405020304" pitchFamily="18" charset="0"/>
                      </a:endParaRPr>
                    </a:p>
                  </a:txBody>
                  <a:tcPr anchor="ctr"/>
                </a:tc>
                <a:tc>
                  <a:txBody>
                    <a:bodyPr/>
                    <a:lstStyle/>
                    <a:p>
                      <a:r>
                        <a:rPr lang="en-US" sz="2200" dirty="0">
                          <a:latin typeface="Times New Roman" panose="02020603050405020304" pitchFamily="18" charset="0"/>
                          <a:cs typeface="Times New Roman" panose="02020603050405020304" pitchFamily="18" charset="0"/>
                        </a:rPr>
                        <a:t>Small teams design each feature in detail</a:t>
                      </a:r>
                    </a:p>
                  </a:txBody>
                  <a:tcPr anchor="ctr"/>
                </a:tc>
                <a:extLst>
                  <a:ext uri="{0D108BD9-81ED-4DB2-BD59-A6C34878D82A}">
                    <a16:rowId xmlns:a16="http://schemas.microsoft.com/office/drawing/2014/main" val="795207201"/>
                  </a:ext>
                </a:extLst>
              </a:tr>
              <a:tr h="829913">
                <a:tc>
                  <a:txBody>
                    <a:bodyPr/>
                    <a:lstStyle/>
                    <a:p>
                      <a:r>
                        <a:rPr lang="en-IN" sz="2000" b="1" dirty="0">
                          <a:latin typeface="Times New Roman" panose="02020603050405020304" pitchFamily="18" charset="0"/>
                          <a:cs typeface="Times New Roman" panose="02020603050405020304" pitchFamily="18" charset="0"/>
                        </a:rPr>
                        <a:t>Build by Feature</a:t>
                      </a:r>
                      <a:endParaRPr lang="en-IN" sz="2000" dirty="0">
                        <a:latin typeface="Times New Roman" panose="02020603050405020304" pitchFamily="18" charset="0"/>
                        <a:cs typeface="Times New Roman" panose="02020603050405020304" pitchFamily="18" charset="0"/>
                      </a:endParaRPr>
                    </a:p>
                  </a:txBody>
                  <a:tcPr anchor="ctr"/>
                </a:tc>
                <a:tc>
                  <a:txBody>
                    <a:bodyPr/>
                    <a:lstStyle/>
                    <a:p>
                      <a:r>
                        <a:rPr lang="en-US" sz="2200" dirty="0">
                          <a:latin typeface="Times New Roman" panose="02020603050405020304" pitchFamily="18" charset="0"/>
                          <a:cs typeface="Times New Roman" panose="02020603050405020304" pitchFamily="18" charset="0"/>
                        </a:rPr>
                        <a:t>Code, test, and integrate each feature individually</a:t>
                      </a:r>
                    </a:p>
                  </a:txBody>
                  <a:tcPr anchor="ctr"/>
                </a:tc>
                <a:extLst>
                  <a:ext uri="{0D108BD9-81ED-4DB2-BD59-A6C34878D82A}">
                    <a16:rowId xmlns:a16="http://schemas.microsoft.com/office/drawing/2014/main" val="3248842320"/>
                  </a:ext>
                </a:extLst>
              </a:tr>
            </a:tbl>
          </a:graphicData>
        </a:graphic>
      </p:graphicFrame>
    </p:spTree>
    <p:extLst>
      <p:ext uri="{BB962C8B-B14F-4D97-AF65-F5344CB8AC3E}">
        <p14:creationId xmlns:p14="http://schemas.microsoft.com/office/powerpoint/2010/main" val="7884161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9DFD6-2157-D410-265C-B92E06839C80}"/>
              </a:ext>
            </a:extLst>
          </p:cNvPr>
          <p:cNvSpPr>
            <a:spLocks noGrp="1"/>
          </p:cNvSpPr>
          <p:nvPr>
            <p:ph type="title"/>
          </p:nvPr>
        </p:nvSpPr>
        <p:spPr>
          <a:xfrm>
            <a:off x="609600" y="181155"/>
            <a:ext cx="10972800" cy="517585"/>
          </a:xfrm>
        </p:spPr>
        <p:txBody>
          <a:bodyPr/>
          <a:lstStyle/>
          <a:p>
            <a:r>
              <a:rPr lang="en-IN" sz="3200" b="1" dirty="0">
                <a:latin typeface="Times New Roman" panose="02020603050405020304" pitchFamily="18" charset="0"/>
                <a:cs typeface="Times New Roman" panose="02020603050405020304" pitchFamily="18" charset="0"/>
              </a:rPr>
              <a:t>Lean Software Development (LSD)</a:t>
            </a:r>
            <a:endParaRPr lang="en-IN" sz="3200" dirty="0">
              <a:latin typeface="Times New Roman" panose="02020603050405020304" pitchFamily="18" charset="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947C2440-6B60-D405-3671-A3BEE92A09C2}"/>
              </a:ext>
            </a:extLst>
          </p:cNvPr>
          <p:cNvGraphicFramePr>
            <a:graphicFrameLocks noGrp="1"/>
          </p:cNvGraphicFramePr>
          <p:nvPr>
            <p:ph idx="1"/>
            <p:extLst>
              <p:ext uri="{D42A27DB-BD31-4B8C-83A1-F6EECF244321}">
                <p14:modId xmlns:p14="http://schemas.microsoft.com/office/powerpoint/2010/main" val="2410451545"/>
              </p:ext>
            </p:extLst>
          </p:nvPr>
        </p:nvGraphicFramePr>
        <p:xfrm>
          <a:off x="293298" y="845389"/>
          <a:ext cx="11326483" cy="5684810"/>
        </p:xfrm>
        <a:graphic>
          <a:graphicData uri="http://schemas.openxmlformats.org/drawingml/2006/table">
            <a:tbl>
              <a:tblPr firstRow="1" bandRow="1">
                <a:tableStyleId>{5C22544A-7EE6-4342-B048-85BDC9FD1C3A}</a:tableStyleId>
              </a:tblPr>
              <a:tblGrid>
                <a:gridCol w="3290663">
                  <a:extLst>
                    <a:ext uri="{9D8B030D-6E8A-4147-A177-3AD203B41FA5}">
                      <a16:colId xmlns:a16="http://schemas.microsoft.com/office/drawing/2014/main" val="4098564110"/>
                    </a:ext>
                  </a:extLst>
                </a:gridCol>
                <a:gridCol w="8035820">
                  <a:extLst>
                    <a:ext uri="{9D8B030D-6E8A-4147-A177-3AD203B41FA5}">
                      <a16:colId xmlns:a16="http://schemas.microsoft.com/office/drawing/2014/main" val="3056690761"/>
                    </a:ext>
                  </a:extLst>
                </a:gridCol>
              </a:tblGrid>
              <a:tr h="411290">
                <a:tc>
                  <a:txBody>
                    <a:bodyPr/>
                    <a:lstStyle/>
                    <a:p>
                      <a:r>
                        <a:rPr lang="en-IN" sz="1800" dirty="0">
                          <a:solidFill>
                            <a:schemeClr val="tx1"/>
                          </a:solidFill>
                          <a:latin typeface="Times New Roman" panose="02020603050405020304" pitchFamily="18" charset="0"/>
                          <a:cs typeface="Times New Roman" panose="02020603050405020304" pitchFamily="18" charset="0"/>
                        </a:rPr>
                        <a:t>Principle</a:t>
                      </a:r>
                    </a:p>
                  </a:txBody>
                  <a:tcPr anchor="ctr"/>
                </a:tc>
                <a:tc>
                  <a:txBody>
                    <a:bodyPr/>
                    <a:lstStyle/>
                    <a:p>
                      <a:r>
                        <a:rPr lang="en-IN" sz="1800" dirty="0">
                          <a:solidFill>
                            <a:schemeClr val="tx1"/>
                          </a:solidFill>
                          <a:latin typeface="Times New Roman" panose="02020603050405020304" pitchFamily="18" charset="0"/>
                          <a:cs typeface="Times New Roman" panose="02020603050405020304" pitchFamily="18" charset="0"/>
                        </a:rPr>
                        <a:t>Description</a:t>
                      </a:r>
                    </a:p>
                  </a:txBody>
                  <a:tcPr anchor="ctr"/>
                </a:tc>
                <a:extLst>
                  <a:ext uri="{0D108BD9-81ED-4DB2-BD59-A6C34878D82A}">
                    <a16:rowId xmlns:a16="http://schemas.microsoft.com/office/drawing/2014/main" val="2894105621"/>
                  </a:ext>
                </a:extLst>
              </a:tr>
              <a:tr h="1014138">
                <a:tc>
                  <a:txBody>
                    <a:bodyPr/>
                    <a:lstStyle/>
                    <a:p>
                      <a:r>
                        <a:rPr lang="en-IN" sz="1800" b="1" dirty="0">
                          <a:latin typeface="Times New Roman" panose="02020603050405020304" pitchFamily="18" charset="0"/>
                          <a:cs typeface="Times New Roman" panose="02020603050405020304" pitchFamily="18" charset="0"/>
                        </a:rPr>
                        <a:t>Eliminate Waste</a:t>
                      </a:r>
                      <a:endParaRPr lang="en-IN" sz="1800" dirty="0">
                        <a:latin typeface="Times New Roman" panose="02020603050405020304" pitchFamily="18" charset="0"/>
                        <a:cs typeface="Times New Roman" panose="02020603050405020304" pitchFamily="18" charset="0"/>
                      </a:endParaRPr>
                    </a:p>
                  </a:txBody>
                  <a:tcPr anchor="ctr"/>
                </a:tc>
                <a:tc>
                  <a:txBody>
                    <a:bodyPr/>
                    <a:lstStyle/>
                    <a:p>
                      <a:r>
                        <a:rPr lang="en-US" sz="2000" dirty="0">
                          <a:latin typeface="Times New Roman" panose="02020603050405020304" pitchFamily="18" charset="0"/>
                          <a:cs typeface="Times New Roman" panose="02020603050405020304" pitchFamily="18" charset="0"/>
                        </a:rPr>
                        <a:t>Remove anything that doesn’t add customer value (e.g., unused code, extra features, delays)</a:t>
                      </a:r>
                    </a:p>
                  </a:txBody>
                  <a:tcPr anchor="ctr"/>
                </a:tc>
                <a:extLst>
                  <a:ext uri="{0D108BD9-81ED-4DB2-BD59-A6C34878D82A}">
                    <a16:rowId xmlns:a16="http://schemas.microsoft.com/office/drawing/2014/main" val="3510761527"/>
                  </a:ext>
                </a:extLst>
              </a:tr>
              <a:tr h="709897">
                <a:tc>
                  <a:txBody>
                    <a:bodyPr/>
                    <a:lstStyle/>
                    <a:p>
                      <a:r>
                        <a:rPr lang="en-IN" sz="1800" b="1" dirty="0">
                          <a:latin typeface="Times New Roman" panose="02020603050405020304" pitchFamily="18" charset="0"/>
                          <a:cs typeface="Times New Roman" panose="02020603050405020304" pitchFamily="18" charset="0"/>
                        </a:rPr>
                        <a:t>Build Quality In</a:t>
                      </a:r>
                      <a:endParaRPr lang="en-IN" sz="1800" dirty="0">
                        <a:latin typeface="Times New Roman" panose="02020603050405020304" pitchFamily="18" charset="0"/>
                        <a:cs typeface="Times New Roman" panose="02020603050405020304" pitchFamily="18" charset="0"/>
                      </a:endParaRPr>
                    </a:p>
                  </a:txBody>
                  <a:tcPr anchor="ctr"/>
                </a:tc>
                <a:tc>
                  <a:txBody>
                    <a:bodyPr/>
                    <a:lstStyle/>
                    <a:p>
                      <a:r>
                        <a:rPr lang="en-US" sz="2000" dirty="0">
                          <a:latin typeface="Times New Roman" panose="02020603050405020304" pitchFamily="18" charset="0"/>
                          <a:cs typeface="Times New Roman" panose="02020603050405020304" pitchFamily="18" charset="0"/>
                        </a:rPr>
                        <a:t>Prevent defects through good design, code reviews, testing, and automation</a:t>
                      </a:r>
                    </a:p>
                  </a:txBody>
                  <a:tcPr anchor="ctr"/>
                </a:tc>
                <a:extLst>
                  <a:ext uri="{0D108BD9-81ED-4DB2-BD59-A6C34878D82A}">
                    <a16:rowId xmlns:a16="http://schemas.microsoft.com/office/drawing/2014/main" val="2015655406"/>
                  </a:ext>
                </a:extLst>
              </a:tr>
              <a:tr h="709897">
                <a:tc>
                  <a:txBody>
                    <a:bodyPr/>
                    <a:lstStyle/>
                    <a:p>
                      <a:r>
                        <a:rPr lang="en-IN" sz="1800" b="1" dirty="0">
                          <a:latin typeface="Times New Roman" panose="02020603050405020304" pitchFamily="18" charset="0"/>
                          <a:cs typeface="Times New Roman" panose="02020603050405020304" pitchFamily="18" charset="0"/>
                        </a:rPr>
                        <a:t>Create Knowledge</a:t>
                      </a:r>
                      <a:endParaRPr lang="en-IN" sz="1800" dirty="0">
                        <a:latin typeface="Times New Roman" panose="02020603050405020304" pitchFamily="18" charset="0"/>
                        <a:cs typeface="Times New Roman" panose="02020603050405020304" pitchFamily="18" charset="0"/>
                      </a:endParaRPr>
                    </a:p>
                  </a:txBody>
                  <a:tcPr anchor="ctr"/>
                </a:tc>
                <a:tc>
                  <a:txBody>
                    <a:bodyPr/>
                    <a:lstStyle/>
                    <a:p>
                      <a:r>
                        <a:rPr lang="en-US" sz="2000" dirty="0">
                          <a:latin typeface="Times New Roman" panose="02020603050405020304" pitchFamily="18" charset="0"/>
                          <a:cs typeface="Times New Roman" panose="02020603050405020304" pitchFamily="18" charset="0"/>
                        </a:rPr>
                        <a:t>Learn continuously through feedback, documentation, and prototyping</a:t>
                      </a:r>
                    </a:p>
                  </a:txBody>
                  <a:tcPr anchor="ctr"/>
                </a:tc>
                <a:extLst>
                  <a:ext uri="{0D108BD9-81ED-4DB2-BD59-A6C34878D82A}">
                    <a16:rowId xmlns:a16="http://schemas.microsoft.com/office/drawing/2014/main" val="412082153"/>
                  </a:ext>
                </a:extLst>
              </a:tr>
              <a:tr h="709897">
                <a:tc>
                  <a:txBody>
                    <a:bodyPr/>
                    <a:lstStyle/>
                    <a:p>
                      <a:r>
                        <a:rPr lang="en-IN" sz="1800" b="1">
                          <a:latin typeface="Times New Roman" panose="02020603050405020304" pitchFamily="18" charset="0"/>
                          <a:cs typeface="Times New Roman" panose="02020603050405020304" pitchFamily="18" charset="0"/>
                        </a:rPr>
                        <a:t>Defer Commitment</a:t>
                      </a:r>
                      <a:endParaRPr lang="en-IN" sz="1800">
                        <a:latin typeface="Times New Roman" panose="02020603050405020304" pitchFamily="18" charset="0"/>
                        <a:cs typeface="Times New Roman" panose="02020603050405020304" pitchFamily="18" charset="0"/>
                      </a:endParaRPr>
                    </a:p>
                  </a:txBody>
                  <a:tcPr anchor="ctr"/>
                </a:tc>
                <a:tc>
                  <a:txBody>
                    <a:bodyPr/>
                    <a:lstStyle/>
                    <a:p>
                      <a:r>
                        <a:rPr lang="en-US" sz="2000" dirty="0">
                          <a:latin typeface="Times New Roman" panose="02020603050405020304" pitchFamily="18" charset="0"/>
                          <a:cs typeface="Times New Roman" panose="02020603050405020304" pitchFamily="18" charset="0"/>
                        </a:rPr>
                        <a:t>Make decisions at the </a:t>
                      </a:r>
                      <a:r>
                        <a:rPr lang="en-US" sz="2000" b="1" dirty="0">
                          <a:latin typeface="Times New Roman" panose="02020603050405020304" pitchFamily="18" charset="0"/>
                          <a:cs typeface="Times New Roman" panose="02020603050405020304" pitchFamily="18" charset="0"/>
                        </a:rPr>
                        <a:t>last responsible moment</a:t>
                      </a:r>
                      <a:r>
                        <a:rPr lang="en-US" sz="2000" dirty="0">
                          <a:latin typeface="Times New Roman" panose="02020603050405020304" pitchFamily="18" charset="0"/>
                          <a:cs typeface="Times New Roman" panose="02020603050405020304" pitchFamily="18" charset="0"/>
                        </a:rPr>
                        <a:t> to stay flexible</a:t>
                      </a:r>
                    </a:p>
                  </a:txBody>
                  <a:tcPr anchor="ctr"/>
                </a:tc>
                <a:extLst>
                  <a:ext uri="{0D108BD9-81ED-4DB2-BD59-A6C34878D82A}">
                    <a16:rowId xmlns:a16="http://schemas.microsoft.com/office/drawing/2014/main" val="1746535172"/>
                  </a:ext>
                </a:extLst>
              </a:tr>
              <a:tr h="709897">
                <a:tc>
                  <a:txBody>
                    <a:bodyPr/>
                    <a:lstStyle/>
                    <a:p>
                      <a:r>
                        <a:rPr lang="en-IN" sz="1800" b="1">
                          <a:latin typeface="Times New Roman" panose="02020603050405020304" pitchFamily="18" charset="0"/>
                          <a:cs typeface="Times New Roman" panose="02020603050405020304" pitchFamily="18" charset="0"/>
                        </a:rPr>
                        <a:t>Deliver Fast</a:t>
                      </a:r>
                      <a:endParaRPr lang="en-IN" sz="1800">
                        <a:latin typeface="Times New Roman" panose="02020603050405020304" pitchFamily="18" charset="0"/>
                        <a:cs typeface="Times New Roman" panose="02020603050405020304" pitchFamily="18" charset="0"/>
                      </a:endParaRPr>
                    </a:p>
                  </a:txBody>
                  <a:tcPr anchor="ctr"/>
                </a:tc>
                <a:tc>
                  <a:txBody>
                    <a:bodyPr/>
                    <a:lstStyle/>
                    <a:p>
                      <a:r>
                        <a:rPr lang="en-US" sz="2000" dirty="0">
                          <a:latin typeface="Times New Roman" panose="02020603050405020304" pitchFamily="18" charset="0"/>
                          <a:cs typeface="Times New Roman" panose="02020603050405020304" pitchFamily="18" charset="0"/>
                        </a:rPr>
                        <a:t>Use small batches, short iterations, and continuous delivery</a:t>
                      </a:r>
                    </a:p>
                  </a:txBody>
                  <a:tcPr anchor="ctr"/>
                </a:tc>
                <a:extLst>
                  <a:ext uri="{0D108BD9-81ED-4DB2-BD59-A6C34878D82A}">
                    <a16:rowId xmlns:a16="http://schemas.microsoft.com/office/drawing/2014/main" val="2136274351"/>
                  </a:ext>
                </a:extLst>
              </a:tr>
              <a:tr h="709897">
                <a:tc>
                  <a:txBody>
                    <a:bodyPr/>
                    <a:lstStyle/>
                    <a:p>
                      <a:r>
                        <a:rPr lang="en-IN" sz="1800" b="1">
                          <a:latin typeface="Times New Roman" panose="02020603050405020304" pitchFamily="18" charset="0"/>
                          <a:cs typeface="Times New Roman" panose="02020603050405020304" pitchFamily="18" charset="0"/>
                        </a:rPr>
                        <a:t>Respect People</a:t>
                      </a:r>
                      <a:endParaRPr lang="en-IN" sz="1800">
                        <a:latin typeface="Times New Roman" panose="02020603050405020304" pitchFamily="18" charset="0"/>
                        <a:cs typeface="Times New Roman" panose="02020603050405020304" pitchFamily="18" charset="0"/>
                      </a:endParaRPr>
                    </a:p>
                  </a:txBody>
                  <a:tcPr anchor="ctr"/>
                </a:tc>
                <a:tc>
                  <a:txBody>
                    <a:bodyPr/>
                    <a:lstStyle/>
                    <a:p>
                      <a:r>
                        <a:rPr lang="en-US" sz="2000" dirty="0">
                          <a:latin typeface="Times New Roman" panose="02020603050405020304" pitchFamily="18" charset="0"/>
                          <a:cs typeface="Times New Roman" panose="02020603050405020304" pitchFamily="18" charset="0"/>
                        </a:rPr>
                        <a:t>Empower teams, trust developers, encourage communication</a:t>
                      </a:r>
                    </a:p>
                  </a:txBody>
                  <a:tcPr anchor="ctr"/>
                </a:tc>
                <a:extLst>
                  <a:ext uri="{0D108BD9-81ED-4DB2-BD59-A6C34878D82A}">
                    <a16:rowId xmlns:a16="http://schemas.microsoft.com/office/drawing/2014/main" val="2068078729"/>
                  </a:ext>
                </a:extLst>
              </a:tr>
              <a:tr h="709897">
                <a:tc>
                  <a:txBody>
                    <a:bodyPr/>
                    <a:lstStyle/>
                    <a:p>
                      <a:r>
                        <a:rPr lang="en-IN" sz="1800" b="1" dirty="0">
                          <a:latin typeface="Times New Roman" panose="02020603050405020304" pitchFamily="18" charset="0"/>
                          <a:cs typeface="Times New Roman" panose="02020603050405020304" pitchFamily="18" charset="0"/>
                        </a:rPr>
                        <a:t>Optimize the Whole</a:t>
                      </a:r>
                      <a:endParaRPr lang="en-IN" sz="1800" dirty="0">
                        <a:latin typeface="Times New Roman" panose="02020603050405020304" pitchFamily="18" charset="0"/>
                        <a:cs typeface="Times New Roman" panose="02020603050405020304" pitchFamily="18" charset="0"/>
                      </a:endParaRPr>
                    </a:p>
                  </a:txBody>
                  <a:tcPr anchor="ctr"/>
                </a:tc>
                <a:tc>
                  <a:txBody>
                    <a:bodyPr/>
                    <a:lstStyle/>
                    <a:p>
                      <a:r>
                        <a:rPr lang="en-US" sz="2000" dirty="0">
                          <a:latin typeface="Times New Roman" panose="02020603050405020304" pitchFamily="18" charset="0"/>
                          <a:cs typeface="Times New Roman" panose="02020603050405020304" pitchFamily="18" charset="0"/>
                        </a:rPr>
                        <a:t>Improve the entire system, not just parts of it; avoid local optimizations</a:t>
                      </a:r>
                    </a:p>
                  </a:txBody>
                  <a:tcPr anchor="ctr"/>
                </a:tc>
                <a:extLst>
                  <a:ext uri="{0D108BD9-81ED-4DB2-BD59-A6C34878D82A}">
                    <a16:rowId xmlns:a16="http://schemas.microsoft.com/office/drawing/2014/main" val="613964921"/>
                  </a:ext>
                </a:extLst>
              </a:tr>
            </a:tbl>
          </a:graphicData>
        </a:graphic>
      </p:graphicFrame>
    </p:spTree>
    <p:extLst>
      <p:ext uri="{BB962C8B-B14F-4D97-AF65-F5344CB8AC3E}">
        <p14:creationId xmlns:p14="http://schemas.microsoft.com/office/powerpoint/2010/main" val="38848911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9918F-AD2E-CF40-C129-2EB261DB7E2B}"/>
              </a:ext>
            </a:extLst>
          </p:cNvPr>
          <p:cNvSpPr>
            <a:spLocks noGrp="1"/>
          </p:cNvSpPr>
          <p:nvPr>
            <p:ph type="title"/>
          </p:nvPr>
        </p:nvSpPr>
        <p:spPr>
          <a:xfrm>
            <a:off x="609600" y="274638"/>
            <a:ext cx="10972800" cy="415475"/>
          </a:xfrm>
        </p:spPr>
        <p:txBody>
          <a:bodyPr/>
          <a:lstStyle/>
          <a:p>
            <a:r>
              <a:rPr lang="en-US" sz="4000" b="0" i="0" u="none" strike="noStrike" baseline="0" dirty="0">
                <a:latin typeface="Times New Roman" panose="02020603050405020304" pitchFamily="18" charset="0"/>
                <a:cs typeface="Times New Roman" panose="02020603050405020304" pitchFamily="18" charset="0"/>
              </a:rPr>
              <a:t>EXTREME PROGRAMMING (XP):</a:t>
            </a:r>
            <a:endParaRPr lang="en-IN" dirty="0"/>
          </a:p>
        </p:txBody>
      </p:sp>
      <p:graphicFrame>
        <p:nvGraphicFramePr>
          <p:cNvPr id="4" name="Table 4">
            <a:extLst>
              <a:ext uri="{FF2B5EF4-FFF2-40B4-BE49-F238E27FC236}">
                <a16:creationId xmlns:a16="http://schemas.microsoft.com/office/drawing/2014/main" id="{9C41B43A-EFCA-7255-0850-A5D7D27769D4}"/>
              </a:ext>
            </a:extLst>
          </p:cNvPr>
          <p:cNvGraphicFramePr>
            <a:graphicFrameLocks noGrp="1"/>
          </p:cNvGraphicFramePr>
          <p:nvPr>
            <p:ph idx="1"/>
            <p:extLst>
              <p:ext uri="{D42A27DB-BD31-4B8C-83A1-F6EECF244321}">
                <p14:modId xmlns:p14="http://schemas.microsoft.com/office/powerpoint/2010/main" val="2985489903"/>
              </p:ext>
            </p:extLst>
          </p:nvPr>
        </p:nvGraphicFramePr>
        <p:xfrm>
          <a:off x="491706" y="905774"/>
          <a:ext cx="11438626" cy="5533514"/>
        </p:xfrm>
        <a:graphic>
          <a:graphicData uri="http://schemas.openxmlformats.org/drawingml/2006/table">
            <a:tbl>
              <a:tblPr firstRow="1" bandRow="1">
                <a:tableStyleId>{5C22544A-7EE6-4342-B048-85BDC9FD1C3A}</a:tableStyleId>
              </a:tblPr>
              <a:tblGrid>
                <a:gridCol w="3450566">
                  <a:extLst>
                    <a:ext uri="{9D8B030D-6E8A-4147-A177-3AD203B41FA5}">
                      <a16:colId xmlns:a16="http://schemas.microsoft.com/office/drawing/2014/main" val="3114152599"/>
                    </a:ext>
                  </a:extLst>
                </a:gridCol>
                <a:gridCol w="7988060">
                  <a:extLst>
                    <a:ext uri="{9D8B030D-6E8A-4147-A177-3AD203B41FA5}">
                      <a16:colId xmlns:a16="http://schemas.microsoft.com/office/drawing/2014/main" val="984901340"/>
                    </a:ext>
                  </a:extLst>
                </a:gridCol>
              </a:tblGrid>
              <a:tr h="333152">
                <a:tc>
                  <a:txBody>
                    <a:bodyPr/>
                    <a:lstStyle/>
                    <a:p>
                      <a:r>
                        <a:rPr lang="en-IN" dirty="0">
                          <a:solidFill>
                            <a:schemeClr val="tx1"/>
                          </a:solidFill>
                          <a:latin typeface="Times New Roman" panose="02020603050405020304" pitchFamily="18" charset="0"/>
                          <a:cs typeface="Times New Roman" panose="02020603050405020304" pitchFamily="18" charset="0"/>
                        </a:rPr>
                        <a:t>Practice</a:t>
                      </a:r>
                    </a:p>
                  </a:txBody>
                  <a:tcPr anchor="ctr"/>
                </a:tc>
                <a:tc>
                  <a:txBody>
                    <a:bodyPr/>
                    <a:lstStyle/>
                    <a:p>
                      <a:r>
                        <a:rPr lang="en-IN" dirty="0">
                          <a:solidFill>
                            <a:schemeClr val="tx1"/>
                          </a:solidFill>
                          <a:latin typeface="Times New Roman" panose="02020603050405020304" pitchFamily="18" charset="0"/>
                          <a:cs typeface="Times New Roman" panose="02020603050405020304" pitchFamily="18" charset="0"/>
                        </a:rPr>
                        <a:t>Description</a:t>
                      </a:r>
                    </a:p>
                  </a:txBody>
                  <a:tcPr anchor="ctr"/>
                </a:tc>
                <a:extLst>
                  <a:ext uri="{0D108BD9-81ED-4DB2-BD59-A6C34878D82A}">
                    <a16:rowId xmlns:a16="http://schemas.microsoft.com/office/drawing/2014/main" val="2846613391"/>
                  </a:ext>
                </a:extLst>
              </a:tr>
              <a:tr h="809374">
                <a:tc>
                  <a:txBody>
                    <a:bodyPr/>
                    <a:lstStyle/>
                    <a:p>
                      <a:r>
                        <a:rPr lang="en-IN" b="1" dirty="0">
                          <a:latin typeface="Times New Roman" panose="02020603050405020304" pitchFamily="18" charset="0"/>
                          <a:cs typeface="Times New Roman" panose="02020603050405020304" pitchFamily="18" charset="0"/>
                        </a:rPr>
                        <a:t>Pair Programming</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US" sz="2000" dirty="0">
                          <a:latin typeface="Times New Roman" panose="02020603050405020304" pitchFamily="18" charset="0"/>
                          <a:cs typeface="Times New Roman" panose="02020603050405020304" pitchFamily="18" charset="0"/>
                        </a:rPr>
                        <a:t>Two developers work together at one workstation – one writes code, the other reviews it in real-time.</a:t>
                      </a:r>
                    </a:p>
                  </a:txBody>
                  <a:tcPr anchor="ctr"/>
                </a:tc>
                <a:extLst>
                  <a:ext uri="{0D108BD9-81ED-4DB2-BD59-A6C34878D82A}">
                    <a16:rowId xmlns:a16="http://schemas.microsoft.com/office/drawing/2014/main" val="721789762"/>
                  </a:ext>
                </a:extLst>
              </a:tr>
              <a:tr h="571614">
                <a:tc>
                  <a:txBody>
                    <a:bodyPr/>
                    <a:lstStyle/>
                    <a:p>
                      <a:r>
                        <a:rPr lang="en-IN" b="1" dirty="0">
                          <a:latin typeface="Times New Roman" panose="02020603050405020304" pitchFamily="18" charset="0"/>
                          <a:cs typeface="Times New Roman" panose="02020603050405020304" pitchFamily="18" charset="0"/>
                        </a:rPr>
                        <a:t>Test-Driven Development (TDD)</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US" sz="2000" dirty="0">
                          <a:latin typeface="Times New Roman" panose="02020603050405020304" pitchFamily="18" charset="0"/>
                          <a:cs typeface="Times New Roman" panose="02020603050405020304" pitchFamily="18" charset="0"/>
                        </a:rPr>
                        <a:t>Write automated tests </a:t>
                      </a:r>
                      <a:r>
                        <a:rPr lang="en-US" sz="2000" b="1" dirty="0">
                          <a:latin typeface="Times New Roman" panose="02020603050405020304" pitchFamily="18" charset="0"/>
                          <a:cs typeface="Times New Roman" panose="02020603050405020304" pitchFamily="18" charset="0"/>
                        </a:rPr>
                        <a:t>before</a:t>
                      </a:r>
                      <a:r>
                        <a:rPr lang="en-US" sz="2000" dirty="0">
                          <a:latin typeface="Times New Roman" panose="02020603050405020304" pitchFamily="18" charset="0"/>
                          <a:cs typeface="Times New Roman" panose="02020603050405020304" pitchFamily="18" charset="0"/>
                        </a:rPr>
                        <a:t> writing the code itself.</a:t>
                      </a:r>
                    </a:p>
                  </a:txBody>
                  <a:tcPr anchor="ctr"/>
                </a:tc>
                <a:extLst>
                  <a:ext uri="{0D108BD9-81ED-4DB2-BD59-A6C34878D82A}">
                    <a16:rowId xmlns:a16="http://schemas.microsoft.com/office/drawing/2014/main" val="2725822965"/>
                  </a:ext>
                </a:extLst>
              </a:tr>
              <a:tr h="566562">
                <a:tc>
                  <a:txBody>
                    <a:bodyPr/>
                    <a:lstStyle/>
                    <a:p>
                      <a:r>
                        <a:rPr lang="en-IN" b="1">
                          <a:latin typeface="Times New Roman" panose="02020603050405020304" pitchFamily="18" charset="0"/>
                          <a:cs typeface="Times New Roman" panose="02020603050405020304" pitchFamily="18" charset="0"/>
                        </a:rPr>
                        <a:t>Continuous Integration</a:t>
                      </a:r>
                      <a:endParaRPr lang="en-IN">
                        <a:latin typeface="Times New Roman" panose="02020603050405020304" pitchFamily="18" charset="0"/>
                        <a:cs typeface="Times New Roman" panose="02020603050405020304" pitchFamily="18" charset="0"/>
                      </a:endParaRPr>
                    </a:p>
                  </a:txBody>
                  <a:tcPr anchor="ctr"/>
                </a:tc>
                <a:tc>
                  <a:txBody>
                    <a:bodyPr/>
                    <a:lstStyle/>
                    <a:p>
                      <a:r>
                        <a:rPr lang="en-US" sz="2000" dirty="0">
                          <a:latin typeface="Times New Roman" panose="02020603050405020304" pitchFamily="18" charset="0"/>
                          <a:cs typeface="Times New Roman" panose="02020603050405020304" pitchFamily="18" charset="0"/>
                        </a:rPr>
                        <a:t>Code is integrated and tested frequently (multiple times a day).</a:t>
                      </a:r>
                    </a:p>
                  </a:txBody>
                  <a:tcPr anchor="ctr"/>
                </a:tc>
                <a:extLst>
                  <a:ext uri="{0D108BD9-81ED-4DB2-BD59-A6C34878D82A}">
                    <a16:rowId xmlns:a16="http://schemas.microsoft.com/office/drawing/2014/main" val="1453293964"/>
                  </a:ext>
                </a:extLst>
              </a:tr>
              <a:tr h="583016">
                <a:tc>
                  <a:txBody>
                    <a:bodyPr/>
                    <a:lstStyle/>
                    <a:p>
                      <a:r>
                        <a:rPr lang="en-IN" b="1">
                          <a:latin typeface="Times New Roman" panose="02020603050405020304" pitchFamily="18" charset="0"/>
                          <a:cs typeface="Times New Roman" panose="02020603050405020304" pitchFamily="18" charset="0"/>
                        </a:rPr>
                        <a:t>Refactoring</a:t>
                      </a:r>
                      <a:endParaRPr lang="en-IN">
                        <a:latin typeface="Times New Roman" panose="02020603050405020304" pitchFamily="18" charset="0"/>
                        <a:cs typeface="Times New Roman" panose="02020603050405020304" pitchFamily="18" charset="0"/>
                      </a:endParaRPr>
                    </a:p>
                  </a:txBody>
                  <a:tcPr anchor="ctr"/>
                </a:tc>
                <a:tc>
                  <a:txBody>
                    <a:bodyPr/>
                    <a:lstStyle/>
                    <a:p>
                      <a:r>
                        <a:rPr lang="en-US" sz="2000" dirty="0">
                          <a:latin typeface="Times New Roman" panose="02020603050405020304" pitchFamily="18" charset="0"/>
                          <a:cs typeface="Times New Roman" panose="02020603050405020304" pitchFamily="18" charset="0"/>
                        </a:rPr>
                        <a:t>Improve code structure without changing its behavior to keep it clean and maintainable.</a:t>
                      </a:r>
                    </a:p>
                  </a:txBody>
                  <a:tcPr anchor="ctr"/>
                </a:tc>
                <a:extLst>
                  <a:ext uri="{0D108BD9-81ED-4DB2-BD59-A6C34878D82A}">
                    <a16:rowId xmlns:a16="http://schemas.microsoft.com/office/drawing/2014/main" val="3404347958"/>
                  </a:ext>
                </a:extLst>
              </a:tr>
              <a:tr h="571614">
                <a:tc>
                  <a:txBody>
                    <a:bodyPr/>
                    <a:lstStyle/>
                    <a:p>
                      <a:r>
                        <a:rPr lang="en-IN" b="1">
                          <a:latin typeface="Times New Roman" panose="02020603050405020304" pitchFamily="18" charset="0"/>
                          <a:cs typeface="Times New Roman" panose="02020603050405020304" pitchFamily="18" charset="0"/>
                        </a:rPr>
                        <a:t>Small Releases</a:t>
                      </a:r>
                      <a:endParaRPr lang="en-IN">
                        <a:latin typeface="Times New Roman" panose="02020603050405020304" pitchFamily="18" charset="0"/>
                        <a:cs typeface="Times New Roman" panose="02020603050405020304" pitchFamily="18" charset="0"/>
                      </a:endParaRPr>
                    </a:p>
                  </a:txBody>
                  <a:tcPr anchor="ctr"/>
                </a:tc>
                <a:tc>
                  <a:txBody>
                    <a:bodyPr/>
                    <a:lstStyle/>
                    <a:p>
                      <a:r>
                        <a:rPr lang="en-US" sz="2000" dirty="0">
                          <a:latin typeface="Times New Roman" panose="02020603050405020304" pitchFamily="18" charset="0"/>
                          <a:cs typeface="Times New Roman" panose="02020603050405020304" pitchFamily="18" charset="0"/>
                        </a:rPr>
                        <a:t>Deliver working software frequently in small, incremental releases.</a:t>
                      </a:r>
                    </a:p>
                  </a:txBody>
                  <a:tcPr anchor="ctr"/>
                </a:tc>
                <a:extLst>
                  <a:ext uri="{0D108BD9-81ED-4DB2-BD59-A6C34878D82A}">
                    <a16:rowId xmlns:a16="http://schemas.microsoft.com/office/drawing/2014/main" val="698807953"/>
                  </a:ext>
                </a:extLst>
              </a:tr>
              <a:tr h="566562">
                <a:tc>
                  <a:txBody>
                    <a:bodyPr/>
                    <a:lstStyle/>
                    <a:p>
                      <a:r>
                        <a:rPr lang="en-IN" b="1">
                          <a:latin typeface="Times New Roman" panose="02020603050405020304" pitchFamily="18" charset="0"/>
                          <a:cs typeface="Times New Roman" panose="02020603050405020304" pitchFamily="18" charset="0"/>
                        </a:rPr>
                        <a:t>Collective Code Ownership</a:t>
                      </a:r>
                      <a:endParaRPr lang="en-IN">
                        <a:latin typeface="Times New Roman" panose="02020603050405020304" pitchFamily="18" charset="0"/>
                        <a:cs typeface="Times New Roman" panose="02020603050405020304" pitchFamily="18" charset="0"/>
                      </a:endParaRPr>
                    </a:p>
                  </a:txBody>
                  <a:tcPr anchor="ctr"/>
                </a:tc>
                <a:tc>
                  <a:txBody>
                    <a:bodyPr/>
                    <a:lstStyle/>
                    <a:p>
                      <a:r>
                        <a:rPr lang="en-US" sz="2000" dirty="0">
                          <a:latin typeface="Times New Roman" panose="02020603050405020304" pitchFamily="18" charset="0"/>
                          <a:cs typeface="Times New Roman" panose="02020603050405020304" pitchFamily="18" charset="0"/>
                        </a:rPr>
                        <a:t>Any team member can modify any part of the code at any time.</a:t>
                      </a:r>
                    </a:p>
                  </a:txBody>
                  <a:tcPr anchor="ctr"/>
                </a:tc>
                <a:extLst>
                  <a:ext uri="{0D108BD9-81ED-4DB2-BD59-A6C34878D82A}">
                    <a16:rowId xmlns:a16="http://schemas.microsoft.com/office/drawing/2014/main" val="986529294"/>
                  </a:ext>
                </a:extLst>
              </a:tr>
              <a:tr h="809374">
                <a:tc>
                  <a:txBody>
                    <a:bodyPr/>
                    <a:lstStyle/>
                    <a:p>
                      <a:r>
                        <a:rPr lang="en-IN" b="1">
                          <a:latin typeface="Times New Roman" panose="02020603050405020304" pitchFamily="18" charset="0"/>
                          <a:cs typeface="Times New Roman" panose="02020603050405020304" pitchFamily="18" charset="0"/>
                        </a:rPr>
                        <a:t>Sustainable Pace</a:t>
                      </a:r>
                      <a:endParaRPr lang="en-IN">
                        <a:latin typeface="Times New Roman" panose="02020603050405020304" pitchFamily="18" charset="0"/>
                        <a:cs typeface="Times New Roman" panose="02020603050405020304" pitchFamily="18" charset="0"/>
                      </a:endParaRPr>
                    </a:p>
                  </a:txBody>
                  <a:tcPr anchor="ctr"/>
                </a:tc>
                <a:tc>
                  <a:txBody>
                    <a:bodyPr/>
                    <a:lstStyle/>
                    <a:p>
                      <a:r>
                        <a:rPr lang="en-US" sz="2000" dirty="0">
                          <a:latin typeface="Times New Roman" panose="02020603050405020304" pitchFamily="18" charset="0"/>
                          <a:cs typeface="Times New Roman" panose="02020603050405020304" pitchFamily="18" charset="0"/>
                        </a:rPr>
                        <a:t>Avoid overworking – aim for a consistent 40-hour workweek to maintain long-term productivity.</a:t>
                      </a:r>
                    </a:p>
                  </a:txBody>
                  <a:tcPr anchor="ctr"/>
                </a:tc>
                <a:extLst>
                  <a:ext uri="{0D108BD9-81ED-4DB2-BD59-A6C34878D82A}">
                    <a16:rowId xmlns:a16="http://schemas.microsoft.com/office/drawing/2014/main" val="1492178814"/>
                  </a:ext>
                </a:extLst>
              </a:tr>
              <a:tr h="571614">
                <a:tc>
                  <a:txBody>
                    <a:bodyPr/>
                    <a:lstStyle/>
                    <a:p>
                      <a:r>
                        <a:rPr lang="en-IN" b="1" dirty="0">
                          <a:latin typeface="Times New Roman" panose="02020603050405020304" pitchFamily="18" charset="0"/>
                          <a:cs typeface="Times New Roman" panose="02020603050405020304" pitchFamily="18" charset="0"/>
                        </a:rPr>
                        <a:t>On-site Customer</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US" sz="2000" dirty="0">
                          <a:latin typeface="Times New Roman" panose="02020603050405020304" pitchFamily="18" charset="0"/>
                          <a:cs typeface="Times New Roman" panose="02020603050405020304" pitchFamily="18" charset="0"/>
                        </a:rPr>
                        <a:t>A real customer is available full-time to answer questions and set priorities.</a:t>
                      </a:r>
                    </a:p>
                  </a:txBody>
                  <a:tcPr anchor="ctr"/>
                </a:tc>
                <a:extLst>
                  <a:ext uri="{0D108BD9-81ED-4DB2-BD59-A6C34878D82A}">
                    <a16:rowId xmlns:a16="http://schemas.microsoft.com/office/drawing/2014/main" val="3045847373"/>
                  </a:ext>
                </a:extLst>
              </a:tr>
            </a:tbl>
          </a:graphicData>
        </a:graphic>
      </p:graphicFrame>
    </p:spTree>
    <p:extLst>
      <p:ext uri="{BB962C8B-B14F-4D97-AF65-F5344CB8AC3E}">
        <p14:creationId xmlns:p14="http://schemas.microsoft.com/office/powerpoint/2010/main" val="18194100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20CD8-7772-AB2A-D5E0-A67A25B89A41}"/>
              </a:ext>
            </a:extLst>
          </p:cNvPr>
          <p:cNvSpPr>
            <a:spLocks noGrp="1"/>
          </p:cNvSpPr>
          <p:nvPr>
            <p:ph type="title"/>
          </p:nvPr>
        </p:nvSpPr>
        <p:spPr>
          <a:xfrm>
            <a:off x="609600" y="274638"/>
            <a:ext cx="10972800" cy="691520"/>
          </a:xfrm>
        </p:spPr>
        <p:txBody>
          <a:bodyPr/>
          <a:lstStyle/>
          <a:p>
            <a:r>
              <a:rPr lang="en-IN" dirty="0">
                <a:latin typeface="Times New Roman" panose="02020603050405020304" pitchFamily="18" charset="0"/>
                <a:cs typeface="Times New Roman" panose="02020603050405020304" pitchFamily="18" charset="0"/>
              </a:rPr>
              <a:t>Kanban – Agile Methodology</a:t>
            </a:r>
          </a:p>
        </p:txBody>
      </p:sp>
      <p:sp>
        <p:nvSpPr>
          <p:cNvPr id="3" name="Content Placeholder 2">
            <a:extLst>
              <a:ext uri="{FF2B5EF4-FFF2-40B4-BE49-F238E27FC236}">
                <a16:creationId xmlns:a16="http://schemas.microsoft.com/office/drawing/2014/main" id="{51BFB54F-CAA9-0251-5DB9-785A20AFCCDF}"/>
              </a:ext>
            </a:extLst>
          </p:cNvPr>
          <p:cNvSpPr>
            <a:spLocks noGrp="1"/>
          </p:cNvSpPr>
          <p:nvPr>
            <p:ph idx="1"/>
          </p:nvPr>
        </p:nvSpPr>
        <p:spPr>
          <a:xfrm>
            <a:off x="609600" y="1233577"/>
            <a:ext cx="10972800" cy="4892587"/>
          </a:xfrm>
        </p:spPr>
        <p:txBody>
          <a:bodyPr/>
          <a:lstStyle/>
          <a:p>
            <a:pPr algn="just"/>
            <a:r>
              <a:rPr lang="en-US" sz="2800" b="1" dirty="0">
                <a:latin typeface="Times New Roman" panose="02020603050405020304" pitchFamily="18" charset="0"/>
                <a:cs typeface="Times New Roman" panose="02020603050405020304" pitchFamily="18" charset="0"/>
              </a:rPr>
              <a:t>Kanban</a:t>
            </a:r>
            <a:r>
              <a:rPr lang="en-US" sz="2800" dirty="0">
                <a:latin typeface="Times New Roman" panose="02020603050405020304" pitchFamily="18" charset="0"/>
                <a:cs typeface="Times New Roman" panose="02020603050405020304" pitchFamily="18" charset="0"/>
              </a:rPr>
              <a:t> is an Agile methodology used to </a:t>
            </a:r>
            <a:r>
              <a:rPr lang="en-US" sz="2800" b="1" dirty="0">
                <a:latin typeface="Times New Roman" panose="02020603050405020304" pitchFamily="18" charset="0"/>
                <a:cs typeface="Times New Roman" panose="02020603050405020304" pitchFamily="18" charset="0"/>
              </a:rPr>
              <a:t>visualize work</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limit work in progress (WIP)</a:t>
            </a:r>
            <a:r>
              <a:rPr lang="en-US" sz="2800" dirty="0">
                <a:latin typeface="Times New Roman" panose="02020603050405020304" pitchFamily="18" charset="0"/>
                <a:cs typeface="Times New Roman" panose="02020603050405020304" pitchFamily="18" charset="0"/>
              </a:rPr>
              <a:t>, and </a:t>
            </a:r>
            <a:r>
              <a:rPr lang="en-US" sz="2800" b="1" dirty="0">
                <a:latin typeface="Times New Roman" panose="02020603050405020304" pitchFamily="18" charset="0"/>
                <a:cs typeface="Times New Roman" panose="02020603050405020304" pitchFamily="18" charset="0"/>
              </a:rPr>
              <a:t>improve workflow efficiency</a:t>
            </a:r>
            <a:r>
              <a:rPr lang="en-US" sz="2800" dirty="0">
                <a:latin typeface="Times New Roman" panose="02020603050405020304" pitchFamily="18" charset="0"/>
                <a:cs typeface="Times New Roman" panose="02020603050405020304" pitchFamily="18" charset="0"/>
              </a:rPr>
              <a:t>.</a:t>
            </a:r>
          </a:p>
          <a:p>
            <a:pPr algn="just"/>
            <a:r>
              <a:rPr lang="en-US" sz="2800" dirty="0">
                <a:latin typeface="Times New Roman" panose="02020603050405020304" pitchFamily="18" charset="0"/>
                <a:cs typeface="Times New Roman" panose="02020603050405020304" pitchFamily="18" charset="0"/>
              </a:rPr>
              <a:t>It helps teams manage tasks by showing the </a:t>
            </a:r>
            <a:r>
              <a:rPr lang="en-US" sz="2800" b="1" dirty="0">
                <a:latin typeface="Times New Roman" panose="02020603050405020304" pitchFamily="18" charset="0"/>
                <a:cs typeface="Times New Roman" panose="02020603050405020304" pitchFamily="18" charset="0"/>
              </a:rPr>
              <a:t>status of each item</a:t>
            </a:r>
            <a:r>
              <a:rPr lang="en-US" sz="2800" dirty="0">
                <a:latin typeface="Times New Roman" panose="02020603050405020304" pitchFamily="18" charset="0"/>
                <a:cs typeface="Times New Roman" panose="02020603050405020304" pitchFamily="18" charset="0"/>
              </a:rPr>
              <a:t> in a </a:t>
            </a:r>
            <a:r>
              <a:rPr lang="en-US" sz="2800" b="1" dirty="0">
                <a:latin typeface="Times New Roman" panose="02020603050405020304" pitchFamily="18" charset="0"/>
                <a:cs typeface="Times New Roman" panose="02020603050405020304" pitchFamily="18" charset="0"/>
              </a:rPr>
              <a:t>visual board</a:t>
            </a:r>
            <a:r>
              <a:rPr lang="en-US" sz="2800" dirty="0">
                <a:latin typeface="Times New Roman" panose="02020603050405020304" pitchFamily="18" charset="0"/>
                <a:cs typeface="Times New Roman" panose="02020603050405020304" pitchFamily="18" charset="0"/>
              </a:rPr>
              <a:t> (usually with columns like "To Do", "In Progress", "Done").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25114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20CD8-7772-AB2A-D5E0-A67A25B89A41}"/>
              </a:ext>
            </a:extLst>
          </p:cNvPr>
          <p:cNvSpPr>
            <a:spLocks noGrp="1"/>
          </p:cNvSpPr>
          <p:nvPr>
            <p:ph type="title"/>
          </p:nvPr>
        </p:nvSpPr>
        <p:spPr>
          <a:xfrm>
            <a:off x="609600" y="274638"/>
            <a:ext cx="10972800" cy="691520"/>
          </a:xfrm>
        </p:spPr>
        <p:txBody>
          <a:bodyPr/>
          <a:lstStyle/>
          <a:p>
            <a:r>
              <a:rPr lang="en-IN" dirty="0">
                <a:latin typeface="Times New Roman" panose="02020603050405020304" pitchFamily="18" charset="0"/>
                <a:cs typeface="Times New Roman" panose="02020603050405020304" pitchFamily="18" charset="0"/>
              </a:rPr>
              <a:t>Kanban – Agile Methodology</a:t>
            </a:r>
          </a:p>
        </p:txBody>
      </p:sp>
      <p:sp>
        <p:nvSpPr>
          <p:cNvPr id="3" name="Content Placeholder 2">
            <a:extLst>
              <a:ext uri="{FF2B5EF4-FFF2-40B4-BE49-F238E27FC236}">
                <a16:creationId xmlns:a16="http://schemas.microsoft.com/office/drawing/2014/main" id="{51BFB54F-CAA9-0251-5DB9-785A20AFCCDF}"/>
              </a:ext>
            </a:extLst>
          </p:cNvPr>
          <p:cNvSpPr>
            <a:spLocks noGrp="1"/>
          </p:cNvSpPr>
          <p:nvPr>
            <p:ph idx="1"/>
          </p:nvPr>
        </p:nvSpPr>
        <p:spPr>
          <a:xfrm>
            <a:off x="661358" y="1043796"/>
            <a:ext cx="10972800" cy="4892587"/>
          </a:xfrm>
        </p:spPr>
        <p:txBody>
          <a:bodyPr/>
          <a:lstStyle/>
          <a:p>
            <a:pPr algn="just"/>
            <a:r>
              <a:rPr lang="en-IN" sz="2400" b="1" dirty="0">
                <a:latin typeface="Times New Roman" panose="02020603050405020304" pitchFamily="18" charset="0"/>
                <a:cs typeface="Times New Roman" panose="02020603050405020304" pitchFamily="18" charset="0"/>
              </a:rPr>
              <a:t>Key Principles of Kanban</a:t>
            </a:r>
          </a:p>
          <a:p>
            <a:pPr>
              <a:buFont typeface="+mj-lt"/>
              <a:buAutoNum type="arabicPeriod"/>
            </a:pPr>
            <a:r>
              <a:rPr lang="en-US" sz="2000" b="1" dirty="0">
                <a:latin typeface="Times New Roman" panose="02020603050405020304" pitchFamily="18" charset="0"/>
                <a:cs typeface="Times New Roman" panose="02020603050405020304" pitchFamily="18" charset="0"/>
              </a:rPr>
              <a:t>Visualize the Workflow</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Use a board to make tasks and progress transparent to everyone.</a:t>
            </a:r>
          </a:p>
          <a:p>
            <a:pPr>
              <a:buFont typeface="+mj-lt"/>
              <a:buAutoNum type="arabicPeriod"/>
            </a:pPr>
            <a:r>
              <a:rPr lang="en-US" sz="2000" b="1" dirty="0">
                <a:latin typeface="Times New Roman" panose="02020603050405020304" pitchFamily="18" charset="0"/>
                <a:cs typeface="Times New Roman" panose="02020603050405020304" pitchFamily="18" charset="0"/>
              </a:rPr>
              <a:t>Limit Work in Progress (WIP)</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Set a maximum number of tasks per stage to avoid overload and context switching.</a:t>
            </a:r>
          </a:p>
          <a:p>
            <a:pPr>
              <a:buFont typeface="+mj-lt"/>
              <a:buAutoNum type="arabicPeriod"/>
            </a:pPr>
            <a:r>
              <a:rPr lang="en-US" sz="2000" b="1" dirty="0">
                <a:latin typeface="Times New Roman" panose="02020603050405020304" pitchFamily="18" charset="0"/>
                <a:cs typeface="Times New Roman" panose="02020603050405020304" pitchFamily="18" charset="0"/>
              </a:rPr>
              <a:t>Manage Flow</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Monitor how work moves through the system and identify bottlenecks.</a:t>
            </a:r>
          </a:p>
          <a:p>
            <a:pPr>
              <a:buFont typeface="+mj-lt"/>
              <a:buAutoNum type="arabicPeriod"/>
            </a:pPr>
            <a:r>
              <a:rPr lang="en-US" sz="2000" b="1" dirty="0">
                <a:latin typeface="Times New Roman" panose="02020603050405020304" pitchFamily="18" charset="0"/>
                <a:cs typeface="Times New Roman" panose="02020603050405020304" pitchFamily="18" charset="0"/>
              </a:rPr>
              <a:t>Make Process Policies Explicit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Define rules for how work moves through each stage.</a:t>
            </a:r>
          </a:p>
          <a:p>
            <a:pPr>
              <a:buFont typeface="+mj-lt"/>
              <a:buAutoNum type="arabicPeriod"/>
            </a:pPr>
            <a:r>
              <a:rPr lang="en-US" sz="2000" b="1" dirty="0">
                <a:latin typeface="Times New Roman" panose="02020603050405020304" pitchFamily="18" charset="0"/>
                <a:cs typeface="Times New Roman" panose="02020603050405020304" pitchFamily="18" charset="0"/>
              </a:rPr>
              <a:t>Implement Feedback Loops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Regular meetings (daily stand-ups, reviews) help teams improve.</a:t>
            </a:r>
          </a:p>
          <a:p>
            <a:pPr>
              <a:buFont typeface="+mj-lt"/>
              <a:buAutoNum type="arabicPeriod"/>
            </a:pPr>
            <a:r>
              <a:rPr lang="en-US" sz="2000" b="1" dirty="0">
                <a:latin typeface="Times New Roman" panose="02020603050405020304" pitchFamily="18" charset="0"/>
                <a:cs typeface="Times New Roman" panose="02020603050405020304" pitchFamily="18" charset="0"/>
              </a:rPr>
              <a:t>Improve Collaboratively, Evolve Experimentally</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Use data to continuously improve the process.</a:t>
            </a:r>
          </a:p>
          <a:p>
            <a:pPr algn="just"/>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60222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20CD8-7772-AB2A-D5E0-A67A25B89A41}"/>
              </a:ext>
            </a:extLst>
          </p:cNvPr>
          <p:cNvSpPr>
            <a:spLocks noGrp="1"/>
          </p:cNvSpPr>
          <p:nvPr>
            <p:ph type="title"/>
          </p:nvPr>
        </p:nvSpPr>
        <p:spPr>
          <a:xfrm>
            <a:off x="609600" y="274638"/>
            <a:ext cx="10972800" cy="691520"/>
          </a:xfrm>
        </p:spPr>
        <p:txBody>
          <a:bodyPr/>
          <a:lstStyle/>
          <a:p>
            <a:r>
              <a:rPr lang="en-IN" dirty="0">
                <a:latin typeface="Times New Roman" panose="02020603050405020304" pitchFamily="18" charset="0"/>
                <a:cs typeface="Times New Roman" panose="02020603050405020304" pitchFamily="18" charset="0"/>
              </a:rPr>
              <a:t>Kanban – Agile Methodology</a:t>
            </a:r>
          </a:p>
        </p:txBody>
      </p:sp>
      <p:sp>
        <p:nvSpPr>
          <p:cNvPr id="3" name="Content Placeholder 2">
            <a:extLst>
              <a:ext uri="{FF2B5EF4-FFF2-40B4-BE49-F238E27FC236}">
                <a16:creationId xmlns:a16="http://schemas.microsoft.com/office/drawing/2014/main" id="{51BFB54F-CAA9-0251-5DB9-785A20AFCCDF}"/>
              </a:ext>
            </a:extLst>
          </p:cNvPr>
          <p:cNvSpPr>
            <a:spLocks noGrp="1"/>
          </p:cNvSpPr>
          <p:nvPr>
            <p:ph idx="1"/>
          </p:nvPr>
        </p:nvSpPr>
        <p:spPr>
          <a:xfrm>
            <a:off x="661358" y="1043796"/>
            <a:ext cx="10972800" cy="4892587"/>
          </a:xfrm>
        </p:spPr>
        <p:txBody>
          <a:bodyPr/>
          <a:lstStyle/>
          <a:p>
            <a:r>
              <a:rPr lang="en-US" sz="2400" b="1" dirty="0">
                <a:latin typeface="Times New Roman" panose="02020603050405020304" pitchFamily="18" charset="0"/>
                <a:cs typeface="Times New Roman" panose="02020603050405020304" pitchFamily="18" charset="0"/>
              </a:rPr>
              <a:t>Key Metrics in Kanban</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Lead Time</a:t>
            </a:r>
            <a:r>
              <a:rPr lang="en-US" sz="2400" dirty="0">
                <a:latin typeface="Times New Roman" panose="02020603050405020304" pitchFamily="18" charset="0"/>
                <a:cs typeface="Times New Roman" panose="02020603050405020304" pitchFamily="18" charset="0"/>
              </a:rPr>
              <a:t>: Time from task creation to completion</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Cycle Time</a:t>
            </a:r>
            <a:r>
              <a:rPr lang="en-US" sz="2400" dirty="0">
                <a:latin typeface="Times New Roman" panose="02020603050405020304" pitchFamily="18" charset="0"/>
                <a:cs typeface="Times New Roman" panose="02020603050405020304" pitchFamily="18" charset="0"/>
              </a:rPr>
              <a:t>: Time from task start to completion</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Throughput</a:t>
            </a:r>
            <a:r>
              <a:rPr lang="en-US" sz="2400" dirty="0">
                <a:latin typeface="Times New Roman" panose="02020603050405020304" pitchFamily="18" charset="0"/>
                <a:cs typeface="Times New Roman" panose="02020603050405020304" pitchFamily="18" charset="0"/>
              </a:rPr>
              <a:t>: Number of tasks completed in a period</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WIP</a:t>
            </a:r>
            <a:r>
              <a:rPr lang="en-US" sz="2400" dirty="0">
                <a:latin typeface="Times New Roman" panose="02020603050405020304" pitchFamily="18" charset="0"/>
                <a:cs typeface="Times New Roman" panose="02020603050405020304" pitchFamily="18" charset="0"/>
              </a:rPr>
              <a:t>: Number of tasks in progress</a:t>
            </a:r>
          </a:p>
          <a:p>
            <a:pPr marL="0" indent="0">
              <a:buNone/>
            </a:pPr>
            <a:r>
              <a:rPr lang="en-US" sz="2400" b="1" dirty="0">
                <a:latin typeface="Times New Roman" panose="02020603050405020304" pitchFamily="18" charset="0"/>
                <a:cs typeface="Times New Roman" panose="02020603050405020304" pitchFamily="18" charset="0"/>
              </a:rPr>
              <a:t>Tools That Support Kanban</a:t>
            </a:r>
          </a:p>
          <a:p>
            <a:r>
              <a:rPr lang="en-US" sz="2400" dirty="0">
                <a:latin typeface="Times New Roman" panose="02020603050405020304" pitchFamily="18" charset="0"/>
                <a:cs typeface="Times New Roman" panose="02020603050405020304" pitchFamily="18" charset="0"/>
              </a:rPr>
              <a:t>Trello</a:t>
            </a:r>
          </a:p>
          <a:p>
            <a:r>
              <a:rPr lang="en-US" sz="2400" dirty="0">
                <a:latin typeface="Times New Roman" panose="02020603050405020304" pitchFamily="18" charset="0"/>
                <a:cs typeface="Times New Roman" panose="02020603050405020304" pitchFamily="18" charset="0"/>
              </a:rPr>
              <a:t>Jira</a:t>
            </a:r>
          </a:p>
          <a:p>
            <a:r>
              <a:rPr lang="en-US" sz="2400" dirty="0">
                <a:latin typeface="Times New Roman" panose="02020603050405020304" pitchFamily="18" charset="0"/>
                <a:cs typeface="Times New Roman" panose="02020603050405020304" pitchFamily="18" charset="0"/>
              </a:rPr>
              <a:t>Asana</a:t>
            </a:r>
          </a:p>
          <a:p>
            <a:r>
              <a:rPr lang="en-US" sz="2400" dirty="0" err="1">
                <a:latin typeface="Times New Roman" panose="02020603050405020304" pitchFamily="18" charset="0"/>
                <a:cs typeface="Times New Roman" panose="02020603050405020304" pitchFamily="18" charset="0"/>
              </a:rPr>
              <a:t>ClickUp</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Azure DevOps</a:t>
            </a:r>
          </a:p>
        </p:txBody>
      </p:sp>
    </p:spTree>
    <p:extLst>
      <p:ext uri="{BB962C8B-B14F-4D97-AF65-F5344CB8AC3E}">
        <p14:creationId xmlns:p14="http://schemas.microsoft.com/office/powerpoint/2010/main" val="36078987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60288-8132-007A-09DE-7E57E7D9036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Kanban vs Scrum (Quick Comparison)</a:t>
            </a:r>
          </a:p>
        </p:txBody>
      </p:sp>
      <p:graphicFrame>
        <p:nvGraphicFramePr>
          <p:cNvPr id="4" name="Table 4">
            <a:extLst>
              <a:ext uri="{FF2B5EF4-FFF2-40B4-BE49-F238E27FC236}">
                <a16:creationId xmlns:a16="http://schemas.microsoft.com/office/drawing/2014/main" id="{1F171EBD-18A5-60BF-62B1-F28916CF656F}"/>
              </a:ext>
            </a:extLst>
          </p:cNvPr>
          <p:cNvGraphicFramePr>
            <a:graphicFrameLocks noGrp="1"/>
          </p:cNvGraphicFramePr>
          <p:nvPr>
            <p:ph idx="1"/>
            <p:extLst>
              <p:ext uri="{D42A27DB-BD31-4B8C-83A1-F6EECF244321}">
                <p14:modId xmlns:p14="http://schemas.microsoft.com/office/powerpoint/2010/main" val="1326146741"/>
              </p:ext>
            </p:extLst>
          </p:nvPr>
        </p:nvGraphicFramePr>
        <p:xfrm>
          <a:off x="586596" y="1509624"/>
          <a:ext cx="10995801" cy="4563374"/>
        </p:xfrm>
        <a:graphic>
          <a:graphicData uri="http://schemas.openxmlformats.org/drawingml/2006/table">
            <a:tbl>
              <a:tblPr firstRow="1" bandRow="1">
                <a:tableStyleId>{5C22544A-7EE6-4342-B048-85BDC9FD1C3A}</a:tableStyleId>
              </a:tblPr>
              <a:tblGrid>
                <a:gridCol w="2469646">
                  <a:extLst>
                    <a:ext uri="{9D8B030D-6E8A-4147-A177-3AD203B41FA5}">
                      <a16:colId xmlns:a16="http://schemas.microsoft.com/office/drawing/2014/main" val="1374953576"/>
                    </a:ext>
                  </a:extLst>
                </a:gridCol>
                <a:gridCol w="4321880">
                  <a:extLst>
                    <a:ext uri="{9D8B030D-6E8A-4147-A177-3AD203B41FA5}">
                      <a16:colId xmlns:a16="http://schemas.microsoft.com/office/drawing/2014/main" val="1155595445"/>
                    </a:ext>
                  </a:extLst>
                </a:gridCol>
                <a:gridCol w="4204275">
                  <a:extLst>
                    <a:ext uri="{9D8B030D-6E8A-4147-A177-3AD203B41FA5}">
                      <a16:colId xmlns:a16="http://schemas.microsoft.com/office/drawing/2014/main" val="641154290"/>
                    </a:ext>
                  </a:extLst>
                </a:gridCol>
              </a:tblGrid>
              <a:tr h="751859">
                <a:tc>
                  <a:txBody>
                    <a:bodyPr/>
                    <a:lstStyle/>
                    <a:p>
                      <a:r>
                        <a:rPr lang="en-IN" sz="2400" dirty="0">
                          <a:solidFill>
                            <a:schemeClr val="tx1"/>
                          </a:solidFill>
                          <a:latin typeface="Times New Roman" panose="02020603050405020304" pitchFamily="18" charset="0"/>
                          <a:cs typeface="Times New Roman" panose="02020603050405020304" pitchFamily="18" charset="0"/>
                        </a:rPr>
                        <a:t>Feature</a:t>
                      </a:r>
                    </a:p>
                  </a:txBody>
                  <a:tcPr anchor="ctr"/>
                </a:tc>
                <a:tc>
                  <a:txBody>
                    <a:bodyPr/>
                    <a:lstStyle/>
                    <a:p>
                      <a:r>
                        <a:rPr lang="en-IN" sz="2400" dirty="0">
                          <a:solidFill>
                            <a:schemeClr val="tx1"/>
                          </a:solidFill>
                          <a:latin typeface="Times New Roman" panose="02020603050405020304" pitchFamily="18" charset="0"/>
                          <a:cs typeface="Times New Roman" panose="02020603050405020304" pitchFamily="18" charset="0"/>
                        </a:rPr>
                        <a:t>Kanban</a:t>
                      </a:r>
                    </a:p>
                  </a:txBody>
                  <a:tcPr anchor="ctr"/>
                </a:tc>
                <a:tc>
                  <a:txBody>
                    <a:bodyPr/>
                    <a:lstStyle/>
                    <a:p>
                      <a:r>
                        <a:rPr lang="en-IN" sz="2400" dirty="0">
                          <a:solidFill>
                            <a:schemeClr val="tx1"/>
                          </a:solidFill>
                          <a:latin typeface="Times New Roman" panose="02020603050405020304" pitchFamily="18" charset="0"/>
                          <a:cs typeface="Times New Roman" panose="02020603050405020304" pitchFamily="18" charset="0"/>
                        </a:rPr>
                        <a:t>Scrum</a:t>
                      </a:r>
                    </a:p>
                  </a:txBody>
                  <a:tcPr anchor="ctr"/>
                </a:tc>
                <a:extLst>
                  <a:ext uri="{0D108BD9-81ED-4DB2-BD59-A6C34878D82A}">
                    <a16:rowId xmlns:a16="http://schemas.microsoft.com/office/drawing/2014/main" val="1669289594"/>
                  </a:ext>
                </a:extLst>
              </a:tr>
              <a:tr h="762303">
                <a:tc>
                  <a:txBody>
                    <a:bodyPr/>
                    <a:lstStyle/>
                    <a:p>
                      <a:r>
                        <a:rPr lang="en-IN" sz="2200" dirty="0">
                          <a:latin typeface="Times New Roman" panose="02020603050405020304" pitchFamily="18" charset="0"/>
                          <a:cs typeface="Times New Roman" panose="02020603050405020304" pitchFamily="18" charset="0"/>
                        </a:rPr>
                        <a:t>Time-boxed</a:t>
                      </a:r>
                    </a:p>
                  </a:txBody>
                  <a:tcPr anchor="ctr"/>
                </a:tc>
                <a:tc>
                  <a:txBody>
                    <a:bodyPr/>
                    <a:lstStyle/>
                    <a:p>
                      <a:r>
                        <a:rPr lang="en-IN" sz="2200" dirty="0">
                          <a:latin typeface="Times New Roman" panose="02020603050405020304" pitchFamily="18" charset="0"/>
                          <a:cs typeface="Times New Roman" panose="02020603050405020304" pitchFamily="18" charset="0"/>
                        </a:rPr>
                        <a:t>No (continuous flow)</a:t>
                      </a:r>
                    </a:p>
                  </a:txBody>
                  <a:tcPr anchor="ctr"/>
                </a:tc>
                <a:tc>
                  <a:txBody>
                    <a:bodyPr/>
                    <a:lstStyle/>
                    <a:p>
                      <a:r>
                        <a:rPr lang="en-IN" sz="2200">
                          <a:latin typeface="Times New Roman" panose="02020603050405020304" pitchFamily="18" charset="0"/>
                          <a:cs typeface="Times New Roman" panose="02020603050405020304" pitchFamily="18" charset="0"/>
                        </a:rPr>
                        <a:t>Yes (2–4 week sprints)</a:t>
                      </a:r>
                    </a:p>
                  </a:txBody>
                  <a:tcPr anchor="ctr"/>
                </a:tc>
                <a:extLst>
                  <a:ext uri="{0D108BD9-81ED-4DB2-BD59-A6C34878D82A}">
                    <a16:rowId xmlns:a16="http://schemas.microsoft.com/office/drawing/2014/main" val="3067655682"/>
                  </a:ext>
                </a:extLst>
              </a:tr>
              <a:tr h="762303">
                <a:tc>
                  <a:txBody>
                    <a:bodyPr/>
                    <a:lstStyle/>
                    <a:p>
                      <a:r>
                        <a:rPr lang="en-IN" sz="2200" dirty="0">
                          <a:latin typeface="Times New Roman" panose="02020603050405020304" pitchFamily="18" charset="0"/>
                          <a:cs typeface="Times New Roman" panose="02020603050405020304" pitchFamily="18" charset="0"/>
                        </a:rPr>
                        <a:t>Roles</a:t>
                      </a:r>
                    </a:p>
                  </a:txBody>
                  <a:tcPr anchor="ctr"/>
                </a:tc>
                <a:tc>
                  <a:txBody>
                    <a:bodyPr/>
                    <a:lstStyle/>
                    <a:p>
                      <a:r>
                        <a:rPr lang="en-IN" sz="2200" dirty="0">
                          <a:latin typeface="Times New Roman" panose="02020603050405020304" pitchFamily="18" charset="0"/>
                          <a:cs typeface="Times New Roman" panose="02020603050405020304" pitchFamily="18" charset="0"/>
                        </a:rPr>
                        <a:t>No specific roles required</a:t>
                      </a:r>
                    </a:p>
                  </a:txBody>
                  <a:tcPr anchor="ctr"/>
                </a:tc>
                <a:tc>
                  <a:txBody>
                    <a:bodyPr/>
                    <a:lstStyle/>
                    <a:p>
                      <a:r>
                        <a:rPr lang="en-IN" sz="2200" dirty="0">
                          <a:latin typeface="Times New Roman" panose="02020603050405020304" pitchFamily="18" charset="0"/>
                          <a:cs typeface="Times New Roman" panose="02020603050405020304" pitchFamily="18" charset="0"/>
                        </a:rPr>
                        <a:t>Scrum Master, Product Owner</a:t>
                      </a:r>
                    </a:p>
                  </a:txBody>
                  <a:tcPr anchor="ctr"/>
                </a:tc>
                <a:extLst>
                  <a:ext uri="{0D108BD9-81ED-4DB2-BD59-A6C34878D82A}">
                    <a16:rowId xmlns:a16="http://schemas.microsoft.com/office/drawing/2014/main" val="3811886765"/>
                  </a:ext>
                </a:extLst>
              </a:tr>
              <a:tr h="762303">
                <a:tc>
                  <a:txBody>
                    <a:bodyPr/>
                    <a:lstStyle/>
                    <a:p>
                      <a:r>
                        <a:rPr lang="en-IN" sz="2200">
                          <a:latin typeface="Times New Roman" panose="02020603050405020304" pitchFamily="18" charset="0"/>
                          <a:cs typeface="Times New Roman" panose="02020603050405020304" pitchFamily="18" charset="0"/>
                        </a:rPr>
                        <a:t>Planning</a:t>
                      </a:r>
                    </a:p>
                  </a:txBody>
                  <a:tcPr anchor="ctr"/>
                </a:tc>
                <a:tc>
                  <a:txBody>
                    <a:bodyPr/>
                    <a:lstStyle/>
                    <a:p>
                      <a:r>
                        <a:rPr lang="en-IN" sz="2200" dirty="0">
                          <a:latin typeface="Times New Roman" panose="02020603050405020304" pitchFamily="18" charset="0"/>
                          <a:cs typeface="Times New Roman" panose="02020603050405020304" pitchFamily="18" charset="0"/>
                        </a:rPr>
                        <a:t>Ongoing</a:t>
                      </a:r>
                    </a:p>
                  </a:txBody>
                  <a:tcPr anchor="ctr"/>
                </a:tc>
                <a:tc>
                  <a:txBody>
                    <a:bodyPr/>
                    <a:lstStyle/>
                    <a:p>
                      <a:r>
                        <a:rPr lang="en-US" sz="2200" dirty="0">
                          <a:latin typeface="Times New Roman" panose="02020603050405020304" pitchFamily="18" charset="0"/>
                          <a:cs typeface="Times New Roman" panose="02020603050405020304" pitchFamily="18" charset="0"/>
                        </a:rPr>
                        <a:t>Planned at the start of sprint</a:t>
                      </a:r>
                    </a:p>
                  </a:txBody>
                  <a:tcPr anchor="ctr"/>
                </a:tc>
                <a:extLst>
                  <a:ext uri="{0D108BD9-81ED-4DB2-BD59-A6C34878D82A}">
                    <a16:rowId xmlns:a16="http://schemas.microsoft.com/office/drawing/2014/main" val="1370323513"/>
                  </a:ext>
                </a:extLst>
              </a:tr>
              <a:tr h="762303">
                <a:tc>
                  <a:txBody>
                    <a:bodyPr/>
                    <a:lstStyle/>
                    <a:p>
                      <a:r>
                        <a:rPr lang="en-IN" sz="2200">
                          <a:latin typeface="Times New Roman" panose="02020603050405020304" pitchFamily="18" charset="0"/>
                          <a:cs typeface="Times New Roman" panose="02020603050405020304" pitchFamily="18" charset="0"/>
                        </a:rPr>
                        <a:t>Metrics</a:t>
                      </a:r>
                    </a:p>
                  </a:txBody>
                  <a:tcPr anchor="ctr"/>
                </a:tc>
                <a:tc>
                  <a:txBody>
                    <a:bodyPr/>
                    <a:lstStyle/>
                    <a:p>
                      <a:r>
                        <a:rPr lang="en-IN" sz="2200">
                          <a:latin typeface="Times New Roman" panose="02020603050405020304" pitchFamily="18" charset="0"/>
                          <a:cs typeface="Times New Roman" panose="02020603050405020304" pitchFamily="18" charset="0"/>
                        </a:rPr>
                        <a:t>Cycle time, Lead time</a:t>
                      </a:r>
                    </a:p>
                  </a:txBody>
                  <a:tcPr anchor="ctr"/>
                </a:tc>
                <a:tc>
                  <a:txBody>
                    <a:bodyPr/>
                    <a:lstStyle/>
                    <a:p>
                      <a:r>
                        <a:rPr lang="en-IN" sz="2200" dirty="0">
                          <a:latin typeface="Times New Roman" panose="02020603050405020304" pitchFamily="18" charset="0"/>
                          <a:cs typeface="Times New Roman" panose="02020603050405020304" pitchFamily="18" charset="0"/>
                        </a:rPr>
                        <a:t>Velocity, Burndown charts</a:t>
                      </a:r>
                    </a:p>
                  </a:txBody>
                  <a:tcPr anchor="ctr"/>
                </a:tc>
                <a:extLst>
                  <a:ext uri="{0D108BD9-81ED-4DB2-BD59-A6C34878D82A}">
                    <a16:rowId xmlns:a16="http://schemas.microsoft.com/office/drawing/2014/main" val="4217013723"/>
                  </a:ext>
                </a:extLst>
              </a:tr>
              <a:tr h="762303">
                <a:tc>
                  <a:txBody>
                    <a:bodyPr/>
                    <a:lstStyle/>
                    <a:p>
                      <a:r>
                        <a:rPr lang="en-IN" sz="2200">
                          <a:latin typeface="Times New Roman" panose="02020603050405020304" pitchFamily="18" charset="0"/>
                          <a:cs typeface="Times New Roman" panose="02020603050405020304" pitchFamily="18" charset="0"/>
                        </a:rPr>
                        <a:t>Flexibility</a:t>
                      </a:r>
                    </a:p>
                  </a:txBody>
                  <a:tcPr anchor="ctr"/>
                </a:tc>
                <a:tc>
                  <a:txBody>
                    <a:bodyPr/>
                    <a:lstStyle/>
                    <a:p>
                      <a:r>
                        <a:rPr lang="en-IN" sz="2200">
                          <a:latin typeface="Times New Roman" panose="02020603050405020304" pitchFamily="18" charset="0"/>
                          <a:cs typeface="Times New Roman" panose="02020603050405020304" pitchFamily="18" charset="0"/>
                        </a:rPr>
                        <a:t>Highly flexible</a:t>
                      </a:r>
                    </a:p>
                  </a:txBody>
                  <a:tcPr anchor="ctr"/>
                </a:tc>
                <a:tc>
                  <a:txBody>
                    <a:bodyPr/>
                    <a:lstStyle/>
                    <a:p>
                      <a:r>
                        <a:rPr lang="en-IN" sz="2200" dirty="0">
                          <a:latin typeface="Times New Roman" panose="02020603050405020304" pitchFamily="18" charset="0"/>
                          <a:cs typeface="Times New Roman" panose="02020603050405020304" pitchFamily="18" charset="0"/>
                        </a:rPr>
                        <a:t>Structured iteration model</a:t>
                      </a:r>
                    </a:p>
                  </a:txBody>
                  <a:tcPr anchor="ctr"/>
                </a:tc>
                <a:extLst>
                  <a:ext uri="{0D108BD9-81ED-4DB2-BD59-A6C34878D82A}">
                    <a16:rowId xmlns:a16="http://schemas.microsoft.com/office/drawing/2014/main" val="199774354"/>
                  </a:ext>
                </a:extLst>
              </a:tr>
            </a:tbl>
          </a:graphicData>
        </a:graphic>
      </p:graphicFrame>
    </p:spTree>
    <p:extLst>
      <p:ext uri="{BB962C8B-B14F-4D97-AF65-F5344CB8AC3E}">
        <p14:creationId xmlns:p14="http://schemas.microsoft.com/office/powerpoint/2010/main" val="3978852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56A14-E464-C78D-2D0F-3AD435339314}"/>
              </a:ext>
            </a:extLst>
          </p:cNvPr>
          <p:cNvSpPr>
            <a:spLocks noGrp="1"/>
          </p:cNvSpPr>
          <p:nvPr>
            <p:ph type="title"/>
          </p:nvPr>
        </p:nvSpPr>
        <p:spPr>
          <a:xfrm>
            <a:off x="609600" y="274638"/>
            <a:ext cx="10972800" cy="743279"/>
          </a:xfrm>
        </p:spPr>
        <p:txBody>
          <a:bodyPr/>
          <a:lstStyle/>
          <a:p>
            <a:r>
              <a:rPr lang="en-IN" dirty="0">
                <a:latin typeface="Times New Roman" panose="02020603050405020304" pitchFamily="18" charset="0"/>
                <a:cs typeface="Times New Roman" panose="02020603050405020304" pitchFamily="18" charset="0"/>
              </a:rPr>
              <a:t>How It Works:</a:t>
            </a:r>
          </a:p>
        </p:txBody>
      </p:sp>
      <p:sp>
        <p:nvSpPr>
          <p:cNvPr id="3" name="Content Placeholder 2">
            <a:extLst>
              <a:ext uri="{FF2B5EF4-FFF2-40B4-BE49-F238E27FC236}">
                <a16:creationId xmlns:a16="http://schemas.microsoft.com/office/drawing/2014/main" id="{7301F2E2-5270-6ED4-CC81-500A82C6ECFE}"/>
              </a:ext>
            </a:extLst>
          </p:cNvPr>
          <p:cNvSpPr>
            <a:spLocks noGrp="1"/>
          </p:cNvSpPr>
          <p:nvPr>
            <p:ph idx="1"/>
          </p:nvPr>
        </p:nvSpPr>
        <p:spPr>
          <a:xfrm>
            <a:off x="609600" y="1155941"/>
            <a:ext cx="10972800" cy="4970224"/>
          </a:xfrm>
        </p:spPr>
        <p:txBody>
          <a:bodyPr/>
          <a:lstStyle/>
          <a:p>
            <a:r>
              <a:rPr lang="en-US" dirty="0">
                <a:latin typeface="Times New Roman" panose="02020603050405020304" pitchFamily="18" charset="0"/>
                <a:cs typeface="Times New Roman" panose="02020603050405020304" pitchFamily="18" charset="0"/>
              </a:rPr>
              <a:t>| To Do | In Progress (WIP Limit: 3) | Testing | Done |</a:t>
            </a:r>
          </a:p>
          <a:p>
            <a:r>
              <a:rPr lang="en-IN" b="1" dirty="0">
                <a:latin typeface="Times New Roman" panose="02020603050405020304" pitchFamily="18" charset="0"/>
                <a:cs typeface="Times New Roman" panose="02020603050405020304" pitchFamily="18" charset="0"/>
              </a:rPr>
              <a:t>Why Limit WIP?</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Avoids multitasking overload</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Reduces stress and bottlenecks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Improves focus and task completion speed</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Minimizes delays and wait times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Increases overall efficiency and flow</a:t>
            </a:r>
          </a:p>
          <a:p>
            <a:endParaRPr lang="en-IN" dirty="0"/>
          </a:p>
        </p:txBody>
      </p:sp>
    </p:spTree>
    <p:extLst>
      <p:ext uri="{BB962C8B-B14F-4D97-AF65-F5344CB8AC3E}">
        <p14:creationId xmlns:p14="http://schemas.microsoft.com/office/powerpoint/2010/main" val="14991708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C3536-7759-860E-DADC-3CE09595B2C3}"/>
              </a:ext>
            </a:extLst>
          </p:cNvPr>
          <p:cNvSpPr>
            <a:spLocks noGrp="1"/>
          </p:cNvSpPr>
          <p:nvPr>
            <p:ph type="title"/>
          </p:nvPr>
        </p:nvSpPr>
        <p:spPr>
          <a:xfrm>
            <a:off x="609600" y="274638"/>
            <a:ext cx="10972800" cy="554304"/>
          </a:xfrm>
        </p:spPr>
        <p:txBody>
          <a:bodyPr/>
          <a:lstStyle/>
          <a:p>
            <a:r>
              <a:rPr lang="en-US" dirty="0">
                <a:latin typeface="Times New Roman" panose="02020603050405020304" pitchFamily="18" charset="0"/>
                <a:cs typeface="Times New Roman" panose="02020603050405020304" pitchFamily="18" charset="0"/>
              </a:rPr>
              <a:t>How to choose a process?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1367772-B29E-F159-F724-8F8E55AD9D19}"/>
              </a:ext>
            </a:extLst>
          </p:cNvPr>
          <p:cNvSpPr>
            <a:spLocks noGrp="1"/>
          </p:cNvSpPr>
          <p:nvPr>
            <p:ph idx="1"/>
          </p:nvPr>
        </p:nvSpPr>
        <p:spPr>
          <a:xfrm>
            <a:off x="609600" y="931493"/>
            <a:ext cx="10972800" cy="5194672"/>
          </a:xfrm>
        </p:spPr>
        <p:txBody>
          <a:bodyPr/>
          <a:lstStyle/>
          <a:p>
            <a:pPr algn="just"/>
            <a:r>
              <a:rPr lang="en-US" sz="2200" b="0" i="0" u="none" strike="noStrike" baseline="0" dirty="0">
                <a:latin typeface="Times New Roman" panose="02020603050405020304" pitchFamily="18" charset="0"/>
                <a:cs typeface="Times New Roman" panose="02020603050405020304" pitchFamily="18" charset="0"/>
              </a:rPr>
              <a:t>Among the plethora of available processes, how can we choose one? There is no single answer to this question. Probably the best way to attack this problem is to look at the software requirements.</a:t>
            </a:r>
          </a:p>
          <a:p>
            <a:pPr algn="just"/>
            <a:r>
              <a:rPr lang="en-US" sz="2200" b="0" i="0" u="none" strike="noStrike" baseline="0" dirty="0">
                <a:latin typeface="Times New Roman" panose="02020603050405020304" pitchFamily="18" charset="0"/>
                <a:cs typeface="Times New Roman" panose="02020603050405020304" pitchFamily="18" charset="0"/>
              </a:rPr>
              <a:t>If they are stable and well understood, then waterfall model may be sufficient.</a:t>
            </a:r>
          </a:p>
          <a:p>
            <a:pPr algn="just"/>
            <a:r>
              <a:rPr lang="en-US" sz="2200" b="0" i="0" u="none" strike="noStrike" baseline="0" dirty="0">
                <a:latin typeface="Times New Roman" panose="02020603050405020304" pitchFamily="18" charset="0"/>
                <a:cs typeface="Times New Roman" panose="02020603050405020304" pitchFamily="18" charset="0"/>
              </a:rPr>
              <a:t>If they are stable, but not clear, then throw away prototyping can be used.</a:t>
            </a:r>
          </a:p>
          <a:p>
            <a:pPr algn="just"/>
            <a:r>
              <a:rPr lang="en-US" sz="2200" b="0" i="0" u="none" strike="noStrike" baseline="0" dirty="0">
                <a:latin typeface="Times New Roman" panose="02020603050405020304" pitchFamily="18" charset="0"/>
                <a:cs typeface="Times New Roman" panose="02020603050405020304" pitchFamily="18" charset="0"/>
              </a:rPr>
              <a:t>Where the requirements are changing, evolutionary prototyping is better.</a:t>
            </a:r>
          </a:p>
          <a:p>
            <a:pPr algn="just"/>
            <a:r>
              <a:rPr lang="en-US" sz="2200" b="0" i="0" u="none" strike="noStrike" baseline="0" dirty="0">
                <a:latin typeface="Times New Roman" panose="02020603050405020304" pitchFamily="18" charset="0"/>
                <a:cs typeface="Times New Roman" panose="02020603050405020304" pitchFamily="18" charset="0"/>
              </a:rPr>
              <a:t>If the requirements are coupled with the underlying business processes, which are going through a process of change, then a model based on Boehm's spiral model, like the Rational Unified Process </a:t>
            </a:r>
            <a:r>
              <a:rPr lang="en-IN" sz="2200" b="0" i="0" u="none" strike="noStrike" baseline="0" dirty="0">
                <a:latin typeface="Times New Roman" panose="02020603050405020304" pitchFamily="18" charset="0"/>
                <a:cs typeface="Times New Roman" panose="02020603050405020304" pitchFamily="18" charset="0"/>
              </a:rPr>
              <a:t>should be used.</a:t>
            </a:r>
          </a:p>
          <a:p>
            <a:pPr algn="just"/>
            <a:r>
              <a:rPr lang="en-US" sz="2200" b="0" i="0" u="none" strike="noStrike" baseline="0" dirty="0">
                <a:latin typeface="Times New Roman" panose="02020603050405020304" pitchFamily="18" charset="0"/>
                <a:cs typeface="Times New Roman" panose="02020603050405020304" pitchFamily="18" charset="0"/>
              </a:rPr>
              <a:t>In these days of dynamic business environment, where 'time to market' is critical, and project size is relatively small, an agile process should be chosen.</a:t>
            </a:r>
          </a:p>
          <a:p>
            <a:pPr algn="just"/>
            <a:r>
              <a:rPr lang="en-US" sz="2200" b="0" i="0" u="none" strike="noStrike" baseline="0" dirty="0">
                <a:latin typeface="Times New Roman" panose="02020603050405020304" pitchFamily="18" charset="0"/>
                <a:cs typeface="Times New Roman" panose="02020603050405020304" pitchFamily="18" charset="0"/>
              </a:rPr>
              <a:t>These are but guidelines only. Many organizations choose a model and adapt it to their business requirements. For example, some organizations use waterfall model, modified to include iterations within </a:t>
            </a:r>
            <a:r>
              <a:rPr lang="en-IN" sz="2200" b="0" i="0" u="none" strike="noStrike" baseline="0" dirty="0">
                <a:latin typeface="Times New Roman" panose="02020603050405020304" pitchFamily="18" charset="0"/>
                <a:cs typeface="Times New Roman" panose="02020603050405020304" pitchFamily="18" charset="0"/>
              </a:rPr>
              <a:t>phases.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2065016"/>
      </p:ext>
    </p:extLst>
  </p:cSld>
  <p:clrMapOvr>
    <a:masterClrMapping/>
  </p:clrMapOvr>
</p:sld>
</file>

<file path=ppt/theme/theme1.xml><?xml version="1.0" encoding="utf-8"?>
<a:theme xmlns:a="http://schemas.openxmlformats.org/drawingml/2006/main" name="SSN pres template - Final">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SSN pres template - Final</Template>
  <TotalTime>11036</TotalTime>
  <Words>3840</Words>
  <Application>Microsoft Office PowerPoint</Application>
  <PresentationFormat>Widescreen</PresentationFormat>
  <Paragraphs>343</Paragraphs>
  <Slides>45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45</vt:i4>
      </vt:variant>
    </vt:vector>
  </HeadingPairs>
  <TitlesOfParts>
    <vt:vector size="49" baseType="lpstr">
      <vt:lpstr>Arial</vt:lpstr>
      <vt:lpstr>Times New Roman</vt:lpstr>
      <vt:lpstr>Verdana</vt:lpstr>
      <vt:lpstr>SSN pres template - Final</vt:lpstr>
      <vt:lpstr>Unit 1</vt:lpstr>
      <vt:lpstr>SE</vt:lpstr>
      <vt:lpstr>Questions About Software Haven't Changed Over the Decades</vt:lpstr>
      <vt:lpstr>A Definition of Software  </vt:lpstr>
      <vt:lpstr>Changing Nature of Software</vt:lpstr>
      <vt:lpstr>Process?</vt:lpstr>
      <vt:lpstr>Process?</vt:lpstr>
      <vt:lpstr>Generic Process Framework</vt:lpstr>
      <vt:lpstr>Modeling: Software Requirements Analysis</vt:lpstr>
      <vt:lpstr>Modeling: Software Design</vt:lpstr>
      <vt:lpstr>Need for life cycle model</vt:lpstr>
      <vt:lpstr>Different life cycle models</vt:lpstr>
      <vt:lpstr>Waterfall Model</vt:lpstr>
      <vt:lpstr>Waterfall Model</vt:lpstr>
      <vt:lpstr>Iterative Waterfall Model</vt:lpstr>
      <vt:lpstr>Iterative Waterfall Model</vt:lpstr>
      <vt:lpstr>Iterative Waterfall Model</vt:lpstr>
      <vt:lpstr>Prototyping Model</vt:lpstr>
      <vt:lpstr>Prototyping Model</vt:lpstr>
      <vt:lpstr>Incremental Model</vt:lpstr>
      <vt:lpstr>Prototyping Model</vt:lpstr>
      <vt:lpstr>Spiral Model</vt:lpstr>
      <vt:lpstr>Spiral Model</vt:lpstr>
      <vt:lpstr>Spiral Model</vt:lpstr>
      <vt:lpstr>Phases of Each Spiral Cycle</vt:lpstr>
      <vt:lpstr> Rapid Application Development Model (RAD) </vt:lpstr>
      <vt:lpstr> Rapid Application Development Model (RAD) </vt:lpstr>
      <vt:lpstr>Rapid Application Development Model (RAD) </vt:lpstr>
      <vt:lpstr>Rapid Application Development Model (RAD) </vt:lpstr>
      <vt:lpstr>Rapid Application Development Model (RAD) </vt:lpstr>
      <vt:lpstr>Rapid Application Development Model (RAD) </vt:lpstr>
      <vt:lpstr>Case study</vt:lpstr>
      <vt:lpstr>Agile Methodologies</vt:lpstr>
      <vt:lpstr>Agile Methodologies</vt:lpstr>
      <vt:lpstr>Agile Methodologies</vt:lpstr>
      <vt:lpstr>CRYSTAL METHODOLOGIES</vt:lpstr>
      <vt:lpstr>FEATURE DRIVEN DEVELOPMENT (FDD):</vt:lpstr>
      <vt:lpstr>Lean Software Development (LSD)</vt:lpstr>
      <vt:lpstr>EXTREME PROGRAMMING (XP):</vt:lpstr>
      <vt:lpstr>Kanban – Agile Methodology</vt:lpstr>
      <vt:lpstr>Kanban – Agile Methodology</vt:lpstr>
      <vt:lpstr>Kanban – Agile Methodology</vt:lpstr>
      <vt:lpstr>Kanban vs Scrum (Quick Comparison)</vt:lpstr>
      <vt:lpstr>How It Works:</vt:lpstr>
      <vt:lpstr>How to choose a process?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dc:title>
  <dc:creator>Uthayan Kanni Rajendran</dc:creator>
  <cp:lastModifiedBy>Hrithika S</cp:lastModifiedBy>
  <cp:revision>174</cp:revision>
  <dcterms:created xsi:type="dcterms:W3CDTF">2024-02-19T06:23:27Z</dcterms:created>
  <dcterms:modified xsi:type="dcterms:W3CDTF">2025-07-28T17:16:29Z</dcterms:modified>
</cp:coreProperties>
</file>