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sldIdLst>
    <p:sldId id="256" r:id="rId2"/>
    <p:sldId id="257" r:id="rId3"/>
    <p:sldId id="258" r:id="rId4"/>
    <p:sldId id="287" r:id="rId5"/>
    <p:sldId id="259" r:id="rId6"/>
    <p:sldId id="260" r:id="rId7"/>
    <p:sldId id="261" r:id="rId8"/>
    <p:sldId id="262" r:id="rId9"/>
    <p:sldId id="263" r:id="rId10"/>
    <p:sldId id="264" r:id="rId11"/>
    <p:sldId id="265" r:id="rId12"/>
    <p:sldId id="288" r:id="rId13"/>
    <p:sldId id="289" r:id="rId14"/>
    <p:sldId id="290" r:id="rId15"/>
    <p:sldId id="266" r:id="rId16"/>
    <p:sldId id="267" r:id="rId17"/>
    <p:sldId id="268" r:id="rId18"/>
    <p:sldId id="269" r:id="rId19"/>
    <p:sldId id="270" r:id="rId20"/>
    <p:sldId id="272" r:id="rId21"/>
    <p:sldId id="273" r:id="rId22"/>
    <p:sldId id="274" r:id="rId23"/>
    <p:sldId id="275" r:id="rId24"/>
    <p:sldId id="276" r:id="rId25"/>
    <p:sldId id="277" r:id="rId26"/>
    <p:sldId id="278" r:id="rId27"/>
    <p:sldId id="279" r:id="rId28"/>
    <p:sldId id="280" r:id="rId29"/>
    <p:sldId id="281" r:id="rId30"/>
    <p:sldId id="282" r:id="rId31"/>
    <p:sldId id="271" r:id="rId32"/>
    <p:sldId id="283" r:id="rId33"/>
    <p:sldId id="284" r:id="rId34"/>
    <p:sldId id="285" r:id="rId35"/>
    <p:sldId id="286"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4" d="100"/>
          <a:sy n="74" d="100"/>
        </p:scale>
        <p:origin x="376" y="5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97917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23124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42531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42312936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9/29/2025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1830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57912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9/29/2025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50935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744497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21854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212310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8128794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623565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757982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573193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14929030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509271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9/29/2025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51041946"/>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2A9A3-79CD-DD1C-5025-7EDCB21E5CD8}"/>
              </a:ext>
            </a:extLst>
          </p:cNvPr>
          <p:cNvSpPr>
            <a:spLocks noGrp="1"/>
          </p:cNvSpPr>
          <p:nvPr>
            <p:ph type="ctrTitle"/>
          </p:nvPr>
        </p:nvSpPr>
        <p:spPr/>
        <p:txBody>
          <a:bodyPr/>
          <a:lstStyle/>
          <a:p>
            <a:r>
              <a:rPr lang="en-US" dirty="0"/>
              <a:t>Unit 3</a:t>
            </a:r>
            <a:endParaRPr lang="en-IN" dirty="0"/>
          </a:p>
        </p:txBody>
      </p:sp>
      <p:sp>
        <p:nvSpPr>
          <p:cNvPr id="3" name="Subtitle 2">
            <a:extLst>
              <a:ext uri="{FF2B5EF4-FFF2-40B4-BE49-F238E27FC236}">
                <a16:creationId xmlns:a16="http://schemas.microsoft.com/office/drawing/2014/main" id="{5490DE1D-DFA0-D492-A69E-7C0AF0AB9757}"/>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104480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Software Design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606752"/>
            <a:ext cx="10972800" cy="5519413"/>
          </a:xfrm>
        </p:spPr>
        <p:txBody>
          <a:bodyPr>
            <a:normAutofit fontScale="85000" lnSpcReduction="20000"/>
          </a:bodyPr>
          <a:lstStyle/>
          <a:p>
            <a:pPr algn="just"/>
            <a:r>
              <a:rPr lang="en-US" sz="1600" b="1" dirty="0">
                <a:latin typeface="Times New Roman" panose="02020603050405020304" pitchFamily="18" charset="0"/>
                <a:cs typeface="Times New Roman" panose="02020603050405020304" pitchFamily="18" charset="0"/>
              </a:rPr>
              <a:t>Software Design</a:t>
            </a:r>
            <a:r>
              <a:rPr lang="en-US" sz="1600" dirty="0">
                <a:latin typeface="Times New Roman" panose="02020603050405020304" pitchFamily="18" charset="0"/>
                <a:cs typeface="Times New Roman" panose="02020603050405020304" pitchFamily="18" charset="0"/>
              </a:rPr>
              <a:t> is the process of defining the architecture, components, interfaces, and other characteristics of a system or software. It focuses on creating a blueprint or model that helps developers understand how to build the software efficiently. It ensures that the software solution meets both functional and non-functional requirements, leading to better maintainability, scalability, and usability.</a:t>
            </a:r>
          </a:p>
          <a:p>
            <a:pPr marL="0" indent="0">
              <a:buNone/>
            </a:pPr>
            <a:r>
              <a:rPr lang="en-US" sz="1600" b="1" dirty="0">
                <a:latin typeface="Times New Roman" panose="02020603050405020304" pitchFamily="18" charset="0"/>
                <a:cs typeface="Times New Roman" panose="02020603050405020304" pitchFamily="18" charset="0"/>
              </a:rPr>
              <a:t>Types of Software Design</a:t>
            </a:r>
          </a:p>
          <a:p>
            <a:pPr marL="0" indent="0">
              <a:buNone/>
            </a:pPr>
            <a:r>
              <a:rPr lang="en-US" sz="1600" dirty="0">
                <a:latin typeface="Times New Roman" panose="02020603050405020304" pitchFamily="18" charset="0"/>
                <a:cs typeface="Times New Roman" panose="02020603050405020304" pitchFamily="18" charset="0"/>
              </a:rPr>
              <a:t>Software design can generally be classified into two types:</a:t>
            </a:r>
          </a:p>
          <a:p>
            <a:pPr marL="0" indent="0">
              <a:buNone/>
            </a:pPr>
            <a:r>
              <a:rPr lang="en-US" sz="1600" b="1" dirty="0">
                <a:latin typeface="Times New Roman" panose="02020603050405020304" pitchFamily="18" charset="0"/>
                <a:cs typeface="Times New Roman" panose="02020603050405020304" pitchFamily="18" charset="0"/>
              </a:rPr>
              <a:t>1. Architectural Design (High-Level Design)</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Defines the </a:t>
            </a:r>
            <a:r>
              <a:rPr lang="en-US" sz="1600" b="1" dirty="0">
                <a:latin typeface="Times New Roman" panose="02020603050405020304" pitchFamily="18" charset="0"/>
                <a:cs typeface="Times New Roman" panose="02020603050405020304" pitchFamily="18" charset="0"/>
              </a:rPr>
              <a:t>overall structure</a:t>
            </a:r>
            <a:r>
              <a:rPr lang="en-US" sz="1600" dirty="0">
                <a:latin typeface="Times New Roman" panose="02020603050405020304" pitchFamily="18" charset="0"/>
                <a:cs typeface="Times New Roman" panose="02020603050405020304" pitchFamily="18" charset="0"/>
              </a:rPr>
              <a:t> of the system.</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Focuses on dividing the system into modules or components and defining how they interact.</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Examples include </a:t>
            </a:r>
            <a:r>
              <a:rPr lang="en-US" sz="1600" b="1" dirty="0">
                <a:latin typeface="Times New Roman" panose="02020603050405020304" pitchFamily="18" charset="0"/>
                <a:cs typeface="Times New Roman" panose="02020603050405020304" pitchFamily="18" charset="0"/>
              </a:rPr>
              <a:t>Client-Server Architecture</a:t>
            </a: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Microservices Architecture</a:t>
            </a:r>
            <a:r>
              <a:rPr lang="en-US" sz="1600" dirty="0">
                <a:latin typeface="Times New Roman" panose="02020603050405020304" pitchFamily="18" charset="0"/>
                <a:cs typeface="Times New Roman" panose="02020603050405020304" pitchFamily="18" charset="0"/>
              </a:rPr>
              <a:t>, and </a:t>
            </a:r>
            <a:r>
              <a:rPr lang="en-US" sz="1600" b="1" dirty="0">
                <a:latin typeface="Times New Roman" panose="02020603050405020304" pitchFamily="18" charset="0"/>
                <a:cs typeface="Times New Roman" panose="02020603050405020304" pitchFamily="18" charset="0"/>
              </a:rPr>
              <a:t>Layered Architecture</a:t>
            </a:r>
            <a:r>
              <a:rPr lang="en-US" sz="1600" dirty="0">
                <a:latin typeface="Times New Roman" panose="02020603050405020304" pitchFamily="18" charset="0"/>
                <a:cs typeface="Times New Roman" panose="02020603050405020304" pitchFamily="18" charset="0"/>
              </a:rPr>
              <a:t>.</a:t>
            </a:r>
          </a:p>
          <a:p>
            <a:pPr marL="0" indent="0">
              <a:buNone/>
            </a:pPr>
            <a:r>
              <a:rPr lang="en-US" sz="1600" b="1" dirty="0">
                <a:latin typeface="Times New Roman" panose="02020603050405020304" pitchFamily="18" charset="0"/>
                <a:cs typeface="Times New Roman" panose="02020603050405020304" pitchFamily="18" charset="0"/>
              </a:rPr>
              <a:t>Why Architectural Design?</a:t>
            </a:r>
            <a:endParaRPr lang="en-US" sz="1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It provides a clear structure for how the system's various components will interact.</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Ensures scalability, security, and overall system performance.</a:t>
            </a:r>
          </a:p>
          <a:p>
            <a:pPr marL="0" indent="0">
              <a:buNone/>
            </a:pPr>
            <a:r>
              <a:rPr lang="en-US" sz="1600" b="1" dirty="0">
                <a:latin typeface="Times New Roman" panose="02020603050405020304" pitchFamily="18" charset="0"/>
                <a:cs typeface="Times New Roman" panose="02020603050405020304" pitchFamily="18" charset="0"/>
              </a:rPr>
              <a:t>2. Detailed Design (Low-Level Design)</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Focuses on the </a:t>
            </a:r>
            <a:r>
              <a:rPr lang="en-US" sz="1600" b="1" dirty="0">
                <a:latin typeface="Times New Roman" panose="02020603050405020304" pitchFamily="18" charset="0"/>
                <a:cs typeface="Times New Roman" panose="02020603050405020304" pitchFamily="18" charset="0"/>
              </a:rPr>
              <a:t>internal structure</a:t>
            </a:r>
            <a:r>
              <a:rPr lang="en-US" sz="1600" dirty="0">
                <a:latin typeface="Times New Roman" panose="02020603050405020304" pitchFamily="18" charset="0"/>
                <a:cs typeface="Times New Roman" panose="02020603050405020304" pitchFamily="18" charset="0"/>
              </a:rPr>
              <a:t> of individual components or modules.</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It describes the design of classes, functions, and how they collaborate to achieve the functionality defined in the architecture.</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This includes defining </a:t>
            </a:r>
            <a:r>
              <a:rPr lang="en-US" sz="1600" b="1" dirty="0">
                <a:latin typeface="Times New Roman" panose="02020603050405020304" pitchFamily="18" charset="0"/>
                <a:cs typeface="Times New Roman" panose="02020603050405020304" pitchFamily="18" charset="0"/>
              </a:rPr>
              <a:t>algorithms, data structures, and classes</a:t>
            </a:r>
            <a:r>
              <a:rPr lang="en-US" sz="1600" dirty="0">
                <a:latin typeface="Times New Roman" panose="02020603050405020304" pitchFamily="18" charset="0"/>
                <a:cs typeface="Times New Roman" panose="02020603050405020304" pitchFamily="18" charset="0"/>
              </a:rPr>
              <a:t>.</a:t>
            </a:r>
          </a:p>
          <a:p>
            <a:pPr marL="0" indent="0">
              <a:buNone/>
            </a:pPr>
            <a:r>
              <a:rPr lang="en-US" sz="1600" b="1" dirty="0">
                <a:latin typeface="Times New Roman" panose="02020603050405020304" pitchFamily="18" charset="0"/>
                <a:cs typeface="Times New Roman" panose="02020603050405020304" pitchFamily="18" charset="0"/>
              </a:rPr>
              <a:t>Why Low-Level Design?</a:t>
            </a:r>
            <a:endParaRPr lang="en-US" sz="1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It ensures that each component or module is implemented correctly.</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Ensures that the system works as expected by providing a more granular view.</a:t>
            </a:r>
          </a:p>
          <a:p>
            <a:pPr algn="just"/>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9208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Software Design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606752"/>
            <a:ext cx="10972800" cy="5519413"/>
          </a:xfrm>
        </p:spPr>
        <p:txBody>
          <a:bodyPr>
            <a:normAutofit fontScale="92500"/>
          </a:bodyPr>
          <a:lstStyle/>
          <a:p>
            <a:pPr algn="just">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Amazon uses a </a:t>
            </a:r>
            <a:r>
              <a:rPr lang="en-US" sz="1700" b="1" dirty="0">
                <a:latin typeface="Times New Roman" panose="02020603050405020304" pitchFamily="18" charset="0"/>
                <a:cs typeface="Times New Roman" panose="02020603050405020304" pitchFamily="18" charset="0"/>
              </a:rPr>
              <a:t>Microservices Architecture</a:t>
            </a:r>
            <a:r>
              <a:rPr lang="en-US" sz="1700" dirty="0">
                <a:latin typeface="Times New Roman" panose="02020603050405020304" pitchFamily="18" charset="0"/>
                <a:cs typeface="Times New Roman" panose="02020603050405020304" pitchFamily="18" charset="0"/>
              </a:rPr>
              <a:t>, where different services (like product catalog, order processing, payment, inventory management, user authentication, etc.) run independently. Each service is self-contained, with its own database and API, and they communicate via HTTP, REST</a:t>
            </a:r>
          </a:p>
          <a:p>
            <a:pPr marL="0" indent="0" algn="just">
              <a:buNone/>
            </a:pPr>
            <a:r>
              <a:rPr lang="en-US" sz="1700" b="1" dirty="0">
                <a:latin typeface="Times New Roman" panose="02020603050405020304" pitchFamily="18" charset="0"/>
                <a:cs typeface="Times New Roman" panose="02020603050405020304" pitchFamily="18" charset="0"/>
              </a:rPr>
              <a:t>Benefits</a:t>
            </a:r>
            <a:r>
              <a:rPr lang="en-US" sz="1700" dirty="0">
                <a:latin typeface="Times New Roman" panose="02020603050405020304" pitchFamily="18" charset="0"/>
                <a:cs typeface="Times New Roman" panose="02020603050405020304" pitchFamily="18" charset="0"/>
              </a:rPr>
              <a:t>:</a:t>
            </a:r>
          </a:p>
          <a:p>
            <a:pPr lvl="2" algn="just">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Scalability</a:t>
            </a:r>
            <a:r>
              <a:rPr lang="en-US" sz="1700" dirty="0">
                <a:latin typeface="Times New Roman" panose="02020603050405020304" pitchFamily="18" charset="0"/>
                <a:cs typeface="Times New Roman" panose="02020603050405020304" pitchFamily="18" charset="0"/>
              </a:rPr>
              <a:t>: Microservices can scale independently. If the product catalog needs more processing power, only that service is scaled.</a:t>
            </a:r>
          </a:p>
          <a:p>
            <a:pPr lvl="2" algn="just">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Fault Tolerance</a:t>
            </a:r>
            <a:r>
              <a:rPr lang="en-US" sz="1700" dirty="0">
                <a:latin typeface="Times New Roman" panose="02020603050405020304" pitchFamily="18" charset="0"/>
                <a:cs typeface="Times New Roman" panose="02020603050405020304" pitchFamily="18" charset="0"/>
              </a:rPr>
              <a:t>: Failure in one service (e.g., payment processing) doesn’t affect others (e.g., user browsing).</a:t>
            </a:r>
          </a:p>
          <a:p>
            <a:pPr lvl="2" algn="just">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Maintainability</a:t>
            </a:r>
            <a:r>
              <a:rPr lang="en-US" sz="1700" dirty="0">
                <a:latin typeface="Times New Roman" panose="02020603050405020304" pitchFamily="18" charset="0"/>
                <a:cs typeface="Times New Roman" panose="02020603050405020304" pitchFamily="18" charset="0"/>
              </a:rPr>
              <a:t>: Services are developed, deployed, and maintained independently.</a:t>
            </a:r>
          </a:p>
          <a:p>
            <a:pPr marL="0" indent="0" algn="just">
              <a:buNone/>
            </a:pPr>
            <a:r>
              <a:rPr lang="en-US" sz="1700" b="1" dirty="0">
                <a:latin typeface="Times New Roman" panose="02020603050405020304" pitchFamily="18" charset="0"/>
                <a:cs typeface="Times New Roman" panose="02020603050405020304" pitchFamily="18" charset="0"/>
              </a:rPr>
              <a:t>Client-Server Architecture – Gmail:</a:t>
            </a:r>
          </a:p>
          <a:p>
            <a:pPr lvl="2" algn="just">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Gmail operates on a client-server model where users send requests (e.g., to send or retrieve emails) to a central server.</a:t>
            </a:r>
          </a:p>
          <a:p>
            <a:pPr marL="0" indent="0" algn="just">
              <a:buNone/>
            </a:pPr>
            <a:r>
              <a:rPr lang="en-US" sz="1700" b="1" dirty="0">
                <a:latin typeface="Times New Roman" panose="02020603050405020304" pitchFamily="18" charset="0"/>
                <a:cs typeface="Times New Roman" panose="02020603050405020304" pitchFamily="18" charset="0"/>
              </a:rPr>
              <a:t>Architectural Design</a:t>
            </a:r>
            <a:r>
              <a:rPr lang="en-US" sz="1700" dirty="0">
                <a:latin typeface="Times New Roman" panose="02020603050405020304" pitchFamily="18" charset="0"/>
                <a:cs typeface="Times New Roman" panose="02020603050405020304" pitchFamily="18" charset="0"/>
              </a:rPr>
              <a:t>:</a:t>
            </a:r>
          </a:p>
          <a:p>
            <a:pPr lvl="2" indent="-285750" algn="just">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The </a:t>
            </a:r>
            <a:r>
              <a:rPr lang="en-US" sz="1700" b="1" dirty="0">
                <a:latin typeface="Times New Roman" panose="02020603050405020304" pitchFamily="18" charset="0"/>
                <a:cs typeface="Times New Roman" panose="02020603050405020304" pitchFamily="18" charset="0"/>
              </a:rPr>
              <a:t>client</a:t>
            </a:r>
            <a:r>
              <a:rPr lang="en-US" sz="1700" dirty="0">
                <a:latin typeface="Times New Roman" panose="02020603050405020304" pitchFamily="18" charset="0"/>
                <a:cs typeface="Times New Roman" panose="02020603050405020304" pitchFamily="18" charset="0"/>
              </a:rPr>
              <a:t> (browser or mobile app) is responsible for the user interface and sending requests.</a:t>
            </a:r>
          </a:p>
          <a:p>
            <a:pPr lvl="2" indent="-285750" algn="just">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The </a:t>
            </a:r>
            <a:r>
              <a:rPr lang="en-US" sz="1700" b="1" dirty="0">
                <a:latin typeface="Times New Roman" panose="02020603050405020304" pitchFamily="18" charset="0"/>
                <a:cs typeface="Times New Roman" panose="02020603050405020304" pitchFamily="18" charset="0"/>
              </a:rPr>
              <a:t>server</a:t>
            </a:r>
            <a:r>
              <a:rPr lang="en-US" sz="1700" dirty="0">
                <a:latin typeface="Times New Roman" panose="02020603050405020304" pitchFamily="18" charset="0"/>
                <a:cs typeface="Times New Roman" panose="02020603050405020304" pitchFamily="18" charset="0"/>
              </a:rPr>
              <a:t> handles the business logic, processes the requests, and interacts with databases to retrieve or store emails.</a:t>
            </a:r>
          </a:p>
          <a:p>
            <a:pPr marL="0" indent="0" algn="just">
              <a:buNone/>
            </a:pPr>
            <a:r>
              <a:rPr lang="en-US" sz="1700" b="1" dirty="0">
                <a:latin typeface="Times New Roman" panose="02020603050405020304" pitchFamily="18" charset="0"/>
                <a:cs typeface="Times New Roman" panose="02020603050405020304" pitchFamily="18" charset="0"/>
              </a:rPr>
              <a:t>Benefits</a:t>
            </a:r>
            <a:r>
              <a:rPr lang="en-US" sz="1700" dirty="0">
                <a:latin typeface="Times New Roman" panose="02020603050405020304" pitchFamily="18" charset="0"/>
                <a:cs typeface="Times New Roman" panose="02020603050405020304" pitchFamily="18" charset="0"/>
              </a:rPr>
              <a:t>:</a:t>
            </a:r>
          </a:p>
          <a:p>
            <a:pPr lvl="2" indent="-285750" algn="just">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Centralized control</a:t>
            </a:r>
            <a:r>
              <a:rPr lang="en-US" sz="1700" dirty="0">
                <a:latin typeface="Times New Roman" panose="02020603050405020304" pitchFamily="18" charset="0"/>
                <a:cs typeface="Times New Roman" panose="02020603050405020304" pitchFamily="18" charset="0"/>
              </a:rPr>
              <a:t>: The server handles all business logic and database interactions.</a:t>
            </a:r>
          </a:p>
          <a:p>
            <a:pPr lvl="2" indent="-285750" algn="just">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Multi-platform support</a:t>
            </a:r>
            <a:r>
              <a:rPr lang="en-US" sz="1700" dirty="0">
                <a:latin typeface="Times New Roman" panose="02020603050405020304" pitchFamily="18" charset="0"/>
                <a:cs typeface="Times New Roman" panose="02020603050405020304" pitchFamily="18" charset="0"/>
              </a:rPr>
              <a:t>: Different clients (web, Android, iOS) can interact with the same backend server.</a:t>
            </a:r>
          </a:p>
          <a:p>
            <a:pPr algn="just">
              <a:buFont typeface="Arial" panose="020B0604020202020204" pitchFamily="34" charset="0"/>
              <a:buChar char="•"/>
            </a:pPr>
            <a:endParaRPr lang="en-US" sz="17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09491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42044-8E3C-A2C9-017A-C3747E4DFF2B}"/>
              </a:ext>
            </a:extLst>
          </p:cNvPr>
          <p:cNvSpPr>
            <a:spLocks noGrp="1"/>
          </p:cNvSpPr>
          <p:nvPr>
            <p:ph type="title"/>
          </p:nvPr>
        </p:nvSpPr>
        <p:spPr>
          <a:xfrm>
            <a:off x="609600" y="274638"/>
            <a:ext cx="10972800" cy="682894"/>
          </a:xfrm>
        </p:spPr>
        <p:txBody>
          <a:bodyPr>
            <a:normAutofit/>
          </a:bodyPr>
          <a:lstStyle/>
          <a:p>
            <a:r>
              <a:rPr lang="en-US" b="1" dirty="0">
                <a:latin typeface="Times New Roman" panose="02020603050405020304" pitchFamily="18" charset="0"/>
                <a:cs typeface="Times New Roman" panose="02020603050405020304" pitchFamily="18" charset="0"/>
              </a:rPr>
              <a:t>Microservice Example</a:t>
            </a:r>
            <a:endParaRPr lang="en-IN"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7A64938-50C6-AB3E-EA94-97BDF7F19DFC}"/>
              </a:ext>
            </a:extLst>
          </p:cNvPr>
          <p:cNvPicPr>
            <a:picLocks noChangeAspect="1"/>
          </p:cNvPicPr>
          <p:nvPr/>
        </p:nvPicPr>
        <p:blipFill>
          <a:blip r:embed="rId2"/>
          <a:stretch>
            <a:fillRect/>
          </a:stretch>
        </p:blipFill>
        <p:spPr>
          <a:xfrm>
            <a:off x="1699403" y="1690687"/>
            <a:ext cx="8732936" cy="4606595"/>
          </a:xfrm>
          <a:prstGeom prst="rect">
            <a:avLst/>
          </a:prstGeom>
        </p:spPr>
      </p:pic>
    </p:spTree>
    <p:extLst>
      <p:ext uri="{BB962C8B-B14F-4D97-AF65-F5344CB8AC3E}">
        <p14:creationId xmlns:p14="http://schemas.microsoft.com/office/powerpoint/2010/main" val="32094161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Software Design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606752"/>
            <a:ext cx="10972800" cy="5519413"/>
          </a:xfrm>
        </p:spPr>
        <p:txBody>
          <a:bodyPr/>
          <a:lstStyle/>
          <a:p>
            <a:pPr marL="0" indent="0">
              <a:buNone/>
            </a:pPr>
            <a:r>
              <a:rPr lang="en-US" sz="2000" dirty="0">
                <a:latin typeface="Times New Roman" panose="02020603050405020304" pitchFamily="18" charset="0"/>
                <a:cs typeface="Times New Roman" panose="02020603050405020304" pitchFamily="18" charset="0"/>
              </a:rPr>
              <a:t>Layered Architecture – Bank ATM System:</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bank ATM system where users withdraw cash, check balances, or transfer funds.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Architectural Design:</a:t>
            </a:r>
          </a:p>
          <a:p>
            <a:pPr lvl="2"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Presentation Layer: The ATM screen where users interact (input PIN, select an option).</a:t>
            </a:r>
          </a:p>
          <a:p>
            <a:pPr lvl="2"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Business Logic Layer: Processes the user's request (verifies PIN, checks balance, approves withdrawal).</a:t>
            </a:r>
          </a:p>
          <a:p>
            <a:pPr lvl="2"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Data Access Layer: Communicates with the bank’s database to retrieve account information or update balances.</a:t>
            </a:r>
          </a:p>
          <a:p>
            <a:pPr marL="0" indent="0">
              <a:buNone/>
            </a:pPr>
            <a:r>
              <a:rPr lang="en-US" sz="2000" dirty="0">
                <a:latin typeface="Times New Roman" panose="02020603050405020304" pitchFamily="18" charset="0"/>
                <a:cs typeface="Times New Roman" panose="02020603050405020304" pitchFamily="18" charset="0"/>
              </a:rPr>
              <a:t>Benefits:</a:t>
            </a:r>
          </a:p>
          <a:p>
            <a:pPr lvl="2"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Separation of Concerns: Each layer handles distinct responsibilities, making the system easier to maintain and modify.</a:t>
            </a:r>
          </a:p>
        </p:txBody>
      </p:sp>
    </p:spTree>
    <p:extLst>
      <p:ext uri="{BB962C8B-B14F-4D97-AF65-F5344CB8AC3E}">
        <p14:creationId xmlns:p14="http://schemas.microsoft.com/office/powerpoint/2010/main" val="40354973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59822"/>
            <a:ext cx="10972800" cy="393105"/>
          </a:xfrm>
        </p:spPr>
        <p:txBody>
          <a:bodyPr>
            <a:normAutofit fontScale="90000"/>
          </a:bodyPr>
          <a:lstStyle/>
          <a:p>
            <a:r>
              <a:rPr lang="en-IN" sz="3200" dirty="0"/>
              <a:t>Software Design Principles</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376016"/>
            <a:ext cx="10972800" cy="5750150"/>
          </a:xfrm>
        </p:spPr>
        <p:txBody>
          <a:bodyPr/>
          <a:lstStyle/>
          <a:p>
            <a:pPr marL="0" indent="0" algn="just">
              <a:buNone/>
            </a:pPr>
            <a:r>
              <a:rPr lang="en-US" sz="1600" b="1" dirty="0">
                <a:latin typeface="Times New Roman" panose="02020603050405020304" pitchFamily="18" charset="0"/>
                <a:cs typeface="Times New Roman" panose="02020603050405020304" pitchFamily="18" charset="0"/>
              </a:rPr>
              <a:t>Don’t Reinvent the Wheel:</a:t>
            </a:r>
          </a:p>
          <a:p>
            <a:pPr marL="0" indent="0" algn="just">
              <a:buNone/>
            </a:pPr>
            <a:r>
              <a:rPr lang="en-US" sz="1600" dirty="0">
                <a:latin typeface="Times New Roman" panose="02020603050405020304" pitchFamily="18" charset="0"/>
                <a:cs typeface="Times New Roman" panose="02020603050405020304" pitchFamily="18" charset="0"/>
              </a:rPr>
              <a:t>Reuse existing solutions, libraries, or components instead of building them from scratch. It saves time and reduces errors.</a:t>
            </a:r>
          </a:p>
          <a:p>
            <a:pPr marL="0" indent="0" algn="just">
              <a:buNone/>
            </a:pPr>
            <a:r>
              <a:rPr lang="en-US" sz="1600" dirty="0">
                <a:latin typeface="Times New Roman" panose="02020603050405020304" pitchFamily="18" charset="0"/>
                <a:cs typeface="Times New Roman" panose="02020603050405020304" pitchFamily="18" charset="0"/>
              </a:rPr>
              <a:t>In a food delivery app, instead of building a payment gateway from scratch, services like </a:t>
            </a:r>
            <a:r>
              <a:rPr lang="en-US" sz="1600" b="1" dirty="0">
                <a:latin typeface="Times New Roman" panose="02020603050405020304" pitchFamily="18" charset="0"/>
                <a:cs typeface="Times New Roman" panose="02020603050405020304" pitchFamily="18" charset="0"/>
              </a:rPr>
              <a:t>Stripe</a:t>
            </a:r>
            <a:r>
              <a:rPr lang="en-US" sz="1600" dirty="0">
                <a:latin typeface="Times New Roman" panose="02020603050405020304" pitchFamily="18" charset="0"/>
                <a:cs typeface="Times New Roman" panose="02020603050405020304" pitchFamily="18" charset="0"/>
              </a:rPr>
              <a:t> or </a:t>
            </a:r>
            <a:r>
              <a:rPr lang="en-US" sz="1600" b="1" dirty="0">
                <a:latin typeface="Times New Roman" panose="02020603050405020304" pitchFamily="18" charset="0"/>
                <a:cs typeface="Times New Roman" panose="02020603050405020304" pitchFamily="18" charset="0"/>
              </a:rPr>
              <a:t>PayPal</a:t>
            </a:r>
            <a:r>
              <a:rPr lang="en-US" sz="1600" dirty="0">
                <a:latin typeface="Times New Roman" panose="02020603050405020304" pitchFamily="18" charset="0"/>
                <a:cs typeface="Times New Roman" panose="02020603050405020304" pitchFamily="18" charset="0"/>
              </a:rPr>
              <a:t> are integrated for payment processing.</a:t>
            </a:r>
          </a:p>
          <a:p>
            <a:pPr marL="0" indent="0" algn="just">
              <a:buNone/>
            </a:pPr>
            <a:r>
              <a:rPr lang="en-US" sz="1600" b="1" dirty="0">
                <a:latin typeface="Times New Roman" panose="02020603050405020304" pitchFamily="18" charset="0"/>
                <a:cs typeface="Times New Roman" panose="02020603050405020304" pitchFamily="18" charset="0"/>
              </a:rPr>
              <a:t>Abstraction:</a:t>
            </a:r>
          </a:p>
          <a:p>
            <a:pPr marL="0" indent="0" algn="just">
              <a:buNone/>
            </a:pPr>
            <a:r>
              <a:rPr lang="en-US" sz="1600" dirty="0">
                <a:latin typeface="Times New Roman" panose="02020603050405020304" pitchFamily="18" charset="0"/>
                <a:cs typeface="Times New Roman" panose="02020603050405020304" pitchFamily="18" charset="0"/>
              </a:rPr>
              <a:t>Hide complexity by exposing only essential features and details. It makes the system easier to use and modify.</a:t>
            </a:r>
          </a:p>
          <a:p>
            <a:pPr marL="0" indent="0" algn="just">
              <a:buNone/>
            </a:pPr>
            <a:r>
              <a:rPr lang="en-US" sz="1600" dirty="0">
                <a:latin typeface="Times New Roman" panose="02020603050405020304" pitchFamily="18" charset="0"/>
                <a:cs typeface="Times New Roman" panose="02020603050405020304" pitchFamily="18" charset="0"/>
              </a:rPr>
              <a:t>Example: A class in OOP hides its internal details and provides methods to interact with it.</a:t>
            </a:r>
          </a:p>
          <a:p>
            <a:pPr marL="0" indent="0" algn="just">
              <a:buNone/>
            </a:pPr>
            <a:r>
              <a:rPr lang="en-US" sz="1600" dirty="0">
                <a:latin typeface="Times New Roman" panose="02020603050405020304" pitchFamily="18" charset="0"/>
                <a:cs typeface="Times New Roman" panose="02020603050405020304" pitchFamily="18" charset="0"/>
              </a:rPr>
              <a:t>In Facebook Messenger, a </a:t>
            </a:r>
            <a:r>
              <a:rPr lang="en-US" sz="1600" b="1" dirty="0">
                <a:latin typeface="Times New Roman" panose="02020603050405020304" pitchFamily="18" charset="0"/>
                <a:cs typeface="Times New Roman" panose="02020603050405020304" pitchFamily="18" charset="0"/>
              </a:rPr>
              <a:t>Message</a:t>
            </a:r>
            <a:r>
              <a:rPr lang="en-US" sz="1600" dirty="0">
                <a:latin typeface="Times New Roman" panose="02020603050405020304" pitchFamily="18" charset="0"/>
                <a:cs typeface="Times New Roman" panose="02020603050405020304" pitchFamily="18" charset="0"/>
              </a:rPr>
              <a:t> class hides the details of how messages are sent and received, providing a simple interface for developers.</a:t>
            </a:r>
          </a:p>
          <a:p>
            <a:pPr marL="0" indent="0" algn="just">
              <a:buNone/>
            </a:pPr>
            <a:r>
              <a:rPr lang="en-US" sz="1600" b="1" dirty="0">
                <a:latin typeface="Times New Roman" panose="02020603050405020304" pitchFamily="18" charset="0"/>
                <a:cs typeface="Times New Roman" panose="02020603050405020304" pitchFamily="18" charset="0"/>
              </a:rPr>
              <a:t>Modularity:</a:t>
            </a:r>
          </a:p>
          <a:p>
            <a:pPr marL="0" indent="0" algn="just">
              <a:buNone/>
            </a:pPr>
            <a:r>
              <a:rPr lang="en-US" sz="1600" dirty="0">
                <a:latin typeface="Times New Roman" panose="02020603050405020304" pitchFamily="18" charset="0"/>
                <a:cs typeface="Times New Roman" panose="02020603050405020304" pitchFamily="18" charset="0"/>
              </a:rPr>
              <a:t>Divide the system into smaller, independent modules that can be developed and tested individually. It improves maintainability and scalability. In Uber, ride booking, payment processing, and map services are modular components, allowing developers to work on one without affecting the others.</a:t>
            </a:r>
          </a:p>
          <a:p>
            <a:pPr marL="0" indent="0" algn="just">
              <a:buNone/>
            </a:pPr>
            <a:r>
              <a:rPr lang="en-US" sz="1600" b="1" dirty="0">
                <a:latin typeface="Times New Roman" panose="02020603050405020304" pitchFamily="18" charset="0"/>
                <a:cs typeface="Times New Roman" panose="02020603050405020304" pitchFamily="18" charset="0"/>
              </a:rPr>
              <a:t>Encapsulation:</a:t>
            </a:r>
          </a:p>
          <a:p>
            <a:pPr marL="0" indent="0" algn="just">
              <a:buNone/>
            </a:pPr>
            <a:r>
              <a:rPr lang="en-US" sz="1600" dirty="0">
                <a:latin typeface="Times New Roman" panose="02020603050405020304" pitchFamily="18" charset="0"/>
                <a:cs typeface="Times New Roman" panose="02020603050405020304" pitchFamily="18" charset="0"/>
              </a:rPr>
              <a:t>Bundle related data and methods together and restrict direct access to some of an object's components. This reduces complexity and ensures better control over data. In Amazon, the internal details of how an order is processed (stock management, payment, delivery) are hidden from the user and other modules, making the system more secure and manageable.</a:t>
            </a:r>
          </a:p>
        </p:txBody>
      </p:sp>
    </p:spTree>
    <p:extLst>
      <p:ext uri="{BB962C8B-B14F-4D97-AF65-F5344CB8AC3E}">
        <p14:creationId xmlns:p14="http://schemas.microsoft.com/office/powerpoint/2010/main" val="2043898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59822"/>
            <a:ext cx="10972800" cy="546930"/>
          </a:xfrm>
        </p:spPr>
        <p:txBody>
          <a:bodyPr>
            <a:normAutofit fontScale="90000"/>
          </a:bodyPr>
          <a:lstStyle/>
          <a:p>
            <a:r>
              <a:rPr lang="en-IN" sz="3200" dirty="0"/>
              <a:t>Software Design Principles</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606752"/>
            <a:ext cx="11098138" cy="5519413"/>
          </a:xfrm>
        </p:spPr>
        <p:txBody>
          <a:bodyPr/>
          <a:lstStyle/>
          <a:p>
            <a:pPr marL="0" indent="0" algn="just">
              <a:buNone/>
            </a:pPr>
            <a:r>
              <a:rPr lang="en-US" sz="1800" b="1" dirty="0">
                <a:latin typeface="Times New Roman" panose="02020603050405020304" pitchFamily="18" charset="0"/>
                <a:cs typeface="Times New Roman" panose="02020603050405020304" pitchFamily="18" charset="0"/>
              </a:rPr>
              <a:t>Single Responsibility Principle (SRP):</a:t>
            </a:r>
          </a:p>
          <a:p>
            <a:pPr marL="0" indent="0" algn="just">
              <a:buNone/>
            </a:pPr>
            <a:r>
              <a:rPr lang="en-US" sz="1800" dirty="0">
                <a:latin typeface="Times New Roman" panose="02020603050405020304" pitchFamily="18" charset="0"/>
                <a:cs typeface="Times New Roman" panose="02020603050405020304" pitchFamily="18" charset="0"/>
              </a:rPr>
              <a:t>Every class or module should have one responsibility or purpose. It makes the system more maintainable and easier to understand. Google’s search algorithms avoid redundant code by using shared logic for similar tasks, such as indexing and ranking.</a:t>
            </a:r>
          </a:p>
          <a:p>
            <a:pPr marL="0" indent="0" algn="just">
              <a:buNone/>
            </a:pPr>
            <a:r>
              <a:rPr lang="en-US" sz="1800" b="1" dirty="0">
                <a:latin typeface="Times New Roman" panose="02020603050405020304" pitchFamily="18" charset="0"/>
                <a:cs typeface="Times New Roman" panose="02020603050405020304" pitchFamily="18" charset="0"/>
              </a:rPr>
              <a:t>Separation of Concerns (SoC):</a:t>
            </a:r>
          </a:p>
          <a:p>
            <a:pPr marL="0" indent="0" algn="just">
              <a:buNone/>
            </a:pPr>
            <a:r>
              <a:rPr lang="en-US" sz="1800" dirty="0">
                <a:latin typeface="Times New Roman" panose="02020603050405020304" pitchFamily="18" charset="0"/>
                <a:cs typeface="Times New Roman" panose="02020603050405020304" pitchFamily="18" charset="0"/>
              </a:rPr>
              <a:t>Different concerns (features, functionalities) should be managed by different parts of the system. For example, the user interface should be separate from business logic. In Gmail, the frontend (UI) is separate from backend logic (retrieving emails from servers), ensuring a clean division between presentation and business logic.</a:t>
            </a:r>
          </a:p>
          <a:p>
            <a:pPr marL="0" indent="0" algn="just">
              <a:buNone/>
            </a:pPr>
            <a:r>
              <a:rPr lang="en-US" sz="1800" b="1" dirty="0">
                <a:latin typeface="Times New Roman" panose="02020603050405020304" pitchFamily="18" charset="0"/>
                <a:cs typeface="Times New Roman" panose="02020603050405020304" pitchFamily="18" charset="0"/>
              </a:rPr>
              <a:t>DRY (Don’t Repeat Yourself):</a:t>
            </a:r>
          </a:p>
          <a:p>
            <a:pPr marL="0" indent="0" algn="just">
              <a:buNone/>
            </a:pPr>
            <a:r>
              <a:rPr lang="en-US" sz="1800" dirty="0">
                <a:latin typeface="Times New Roman" panose="02020603050405020304" pitchFamily="18" charset="0"/>
                <a:cs typeface="Times New Roman" panose="02020603050405020304" pitchFamily="18" charset="0"/>
              </a:rPr>
              <a:t>Avoid duplicating code. Instead, reuse code or extract shared functionality into a single location. Code is written once and reused.</a:t>
            </a:r>
          </a:p>
          <a:p>
            <a:pPr marL="0" indent="0" algn="just">
              <a:buNone/>
            </a:pPr>
            <a:r>
              <a:rPr lang="en-US" sz="1800" b="1" dirty="0">
                <a:latin typeface="Times New Roman" panose="02020603050405020304" pitchFamily="18" charset="0"/>
                <a:cs typeface="Times New Roman" panose="02020603050405020304" pitchFamily="18" charset="0"/>
              </a:rPr>
              <a:t>Dependency Inversion Principle:</a:t>
            </a:r>
          </a:p>
          <a:p>
            <a:pPr marL="0" indent="0" algn="just">
              <a:buNone/>
            </a:pPr>
            <a:r>
              <a:rPr lang="en-US" sz="1800" dirty="0">
                <a:latin typeface="Times New Roman" panose="02020603050405020304" pitchFamily="18" charset="0"/>
                <a:cs typeface="Times New Roman" panose="02020603050405020304" pitchFamily="18" charset="0"/>
              </a:rPr>
              <a:t>High-level modules should not depend on low-level modules. Both should depend on abstractions, reducing tight coupling between components.</a:t>
            </a:r>
          </a:p>
        </p:txBody>
      </p:sp>
    </p:spTree>
    <p:extLst>
      <p:ext uri="{BB962C8B-B14F-4D97-AF65-F5344CB8AC3E}">
        <p14:creationId xmlns:p14="http://schemas.microsoft.com/office/powerpoint/2010/main" val="592187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59822"/>
            <a:ext cx="10972800" cy="546930"/>
          </a:xfrm>
        </p:spPr>
        <p:txBody>
          <a:bodyPr>
            <a:normAutofit fontScale="90000"/>
          </a:bodyPr>
          <a:lstStyle/>
          <a:p>
            <a:r>
              <a:rPr lang="en-IN" sz="3200" dirty="0"/>
              <a:t>Software Design Principles</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606752"/>
            <a:ext cx="11098138" cy="5519413"/>
          </a:xfrm>
        </p:spPr>
        <p:txBody>
          <a:bodyPr/>
          <a:lstStyle/>
          <a:p>
            <a:pPr marL="0" indent="0" algn="just">
              <a:buNone/>
            </a:pPr>
            <a:r>
              <a:rPr lang="en-US" sz="1800" dirty="0">
                <a:latin typeface="Times New Roman" panose="02020603050405020304" pitchFamily="18" charset="0"/>
                <a:cs typeface="Times New Roman" panose="02020603050405020304" pitchFamily="18" charset="0"/>
              </a:rPr>
              <a:t>Logging System in an Application</a:t>
            </a:r>
          </a:p>
          <a:p>
            <a:pPr marL="0" indent="0" algn="just">
              <a:buNone/>
            </a:pPr>
            <a:r>
              <a:rPr lang="en-US" sz="1800" dirty="0">
                <a:latin typeface="Times New Roman" panose="02020603050405020304" pitchFamily="18" charset="0"/>
                <a:cs typeface="Times New Roman" panose="02020603050405020304" pitchFamily="18" charset="0"/>
              </a:rPr>
              <a:t>Problem: A system needs to log events such as errors, warnings, and informational messages. Without applying the Dependency Inversion Principle (DIP), the application might depend directly on a specific logging library (e.g., Log4j, Console Logger, etc.).</a:t>
            </a:r>
          </a:p>
          <a:p>
            <a:pPr marL="0" indent="0" algn="just">
              <a:buNone/>
            </a:pPr>
            <a:r>
              <a:rPr lang="en-US" sz="1800" dirty="0">
                <a:latin typeface="Times New Roman" panose="02020603050405020304" pitchFamily="18" charset="0"/>
                <a:cs typeface="Times New Roman" panose="02020603050405020304" pitchFamily="18" charset="0"/>
              </a:rPr>
              <a:t> </a:t>
            </a:r>
          </a:p>
          <a:p>
            <a:pPr marL="0" indent="0" algn="just">
              <a:buNone/>
            </a:pPr>
            <a:r>
              <a:rPr lang="en-US" sz="1800" dirty="0">
                <a:latin typeface="Times New Roman" panose="02020603050405020304" pitchFamily="18" charset="0"/>
                <a:cs typeface="Times New Roman" panose="02020603050405020304" pitchFamily="18" charset="0"/>
              </a:rPr>
              <a:t>Bad Design:</a:t>
            </a:r>
          </a:p>
          <a:p>
            <a:pPr marL="0" indent="0" algn="just">
              <a:buNone/>
            </a:pPr>
            <a:r>
              <a:rPr lang="en-US" sz="1800" dirty="0">
                <a:latin typeface="Times New Roman" panose="02020603050405020304" pitchFamily="18" charset="0"/>
                <a:cs typeface="Times New Roman" panose="02020603050405020304" pitchFamily="18" charset="0"/>
              </a:rPr>
              <a:t>Tight coupling between the application and the logging library, meaning if the library needs to be changed (e.g., from Log4j to </a:t>
            </a:r>
            <a:r>
              <a:rPr lang="en-US" sz="1800" dirty="0" err="1">
                <a:latin typeface="Times New Roman" panose="02020603050405020304" pitchFamily="18" charset="0"/>
                <a:cs typeface="Times New Roman" panose="02020603050405020304" pitchFamily="18" charset="0"/>
              </a:rPr>
              <a:t>ConsoleLogger</a:t>
            </a:r>
            <a:r>
              <a:rPr lang="en-US" sz="1800" dirty="0">
                <a:latin typeface="Times New Roman" panose="02020603050405020304" pitchFamily="18" charset="0"/>
                <a:cs typeface="Times New Roman" panose="02020603050405020304" pitchFamily="18" charset="0"/>
              </a:rPr>
              <a:t>), it would require significant code changes in multiple places.</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DIP Solution:</a:t>
            </a:r>
          </a:p>
          <a:p>
            <a:pPr marL="0" indent="0" algn="just">
              <a:buNone/>
            </a:pPr>
            <a:r>
              <a:rPr lang="en-US" sz="1800" dirty="0">
                <a:latin typeface="Times New Roman" panose="02020603050405020304" pitchFamily="18" charset="0"/>
                <a:cs typeface="Times New Roman" panose="02020603050405020304" pitchFamily="18" charset="0"/>
              </a:rPr>
              <a:t>Instead of depending directly on the logging library, depend on an abstraction (an interface or base class). The specific logging libraries implement this interface. The higher-level module (the main application) depends on the interface rather than the concrete implementation.</a:t>
            </a:r>
          </a:p>
        </p:txBody>
      </p:sp>
    </p:spTree>
    <p:extLst>
      <p:ext uri="{BB962C8B-B14F-4D97-AF65-F5344CB8AC3E}">
        <p14:creationId xmlns:p14="http://schemas.microsoft.com/office/powerpoint/2010/main" val="3885983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59822"/>
            <a:ext cx="10972800" cy="546930"/>
          </a:xfrm>
        </p:spPr>
        <p:txBody>
          <a:bodyPr>
            <a:normAutofit fontScale="90000"/>
          </a:bodyPr>
          <a:lstStyle/>
          <a:p>
            <a:r>
              <a:rPr lang="en-IN" sz="3200" dirty="0"/>
              <a:t>Software Design common approaches</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606752"/>
            <a:ext cx="11098138" cy="5519413"/>
          </a:xfrm>
        </p:spPr>
        <p:txBody>
          <a:bodyPr>
            <a:normAutofit fontScale="92500" lnSpcReduction="20000"/>
          </a:bodyPr>
          <a:lstStyle/>
          <a:p>
            <a:r>
              <a:rPr lang="en-US" sz="1800" dirty="0">
                <a:latin typeface="Times New Roman" panose="02020603050405020304" pitchFamily="18" charset="0"/>
                <a:cs typeface="Times New Roman" panose="02020603050405020304" pitchFamily="18" charset="0"/>
              </a:rPr>
              <a:t>In software design, </a:t>
            </a:r>
            <a:r>
              <a:rPr lang="en-US" sz="1800" b="1" dirty="0">
                <a:latin typeface="Times New Roman" panose="02020603050405020304" pitchFamily="18" charset="0"/>
                <a:cs typeface="Times New Roman" panose="02020603050405020304" pitchFamily="18" charset="0"/>
              </a:rPr>
              <a:t>decomposition</a:t>
            </a:r>
            <a:r>
              <a:rPr lang="en-US" sz="1800" dirty="0">
                <a:latin typeface="Times New Roman" panose="02020603050405020304" pitchFamily="18" charset="0"/>
                <a:cs typeface="Times New Roman" panose="02020603050405020304" pitchFamily="18" charset="0"/>
              </a:rPr>
              <a:t> refers to breaking down a complex system into smaller, manageable parts. Different decomposition techniques are used depending on the design approach</a:t>
            </a:r>
            <a:r>
              <a:rPr lang="en-US" sz="1800">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Modular Decomposition</a:t>
            </a:r>
          </a:p>
          <a:p>
            <a:r>
              <a:rPr lang="en-US" sz="1800" b="1" dirty="0">
                <a:latin typeface="Times New Roman" panose="02020603050405020304" pitchFamily="18" charset="0"/>
                <a:cs typeface="Times New Roman" panose="02020603050405020304" pitchFamily="18" charset="0"/>
              </a:rPr>
              <a:t>Modular Decomposition</a:t>
            </a:r>
            <a:r>
              <a:rPr lang="en-US" sz="1800" dirty="0">
                <a:latin typeface="Times New Roman" panose="02020603050405020304" pitchFamily="18" charset="0"/>
                <a:cs typeface="Times New Roman" panose="02020603050405020304" pitchFamily="18" charset="0"/>
              </a:rPr>
              <a:t> is the process of dividing a software system into independent modules that are easier to develop, understand, and maintain. Each module encapsulates a specific set of functionalities or responsibilities, which can then be developed and tested independently.</a:t>
            </a:r>
          </a:p>
          <a:p>
            <a:pPr marL="0" indent="0">
              <a:buNone/>
            </a:pPr>
            <a:r>
              <a:rPr lang="en-US" sz="1800" b="1" dirty="0">
                <a:latin typeface="Times New Roman" panose="02020603050405020304" pitchFamily="18" charset="0"/>
                <a:cs typeface="Times New Roman" panose="02020603050405020304" pitchFamily="18" charset="0"/>
              </a:rPr>
              <a:t>Characteristics:</a:t>
            </a:r>
          </a:p>
          <a:p>
            <a:pPr lvl="1"/>
            <a:r>
              <a:rPr lang="en-US" sz="1800" b="1" dirty="0">
                <a:latin typeface="Times New Roman" panose="02020603050405020304" pitchFamily="18" charset="0"/>
                <a:cs typeface="Times New Roman" panose="02020603050405020304" pitchFamily="18" charset="0"/>
              </a:rPr>
              <a:t>Encapsulation</a:t>
            </a:r>
            <a:r>
              <a:rPr lang="en-US" sz="1800" dirty="0">
                <a:latin typeface="Times New Roman" panose="02020603050405020304" pitchFamily="18" charset="0"/>
                <a:cs typeface="Times New Roman" panose="02020603050405020304" pitchFamily="18" charset="0"/>
              </a:rPr>
              <a:t>: Modules hide their internal workings and expose only necessary interfaces for interaction.</a:t>
            </a:r>
          </a:p>
          <a:p>
            <a:pPr lvl="1"/>
            <a:r>
              <a:rPr lang="en-US" sz="1800" b="1" dirty="0">
                <a:latin typeface="Times New Roman" panose="02020603050405020304" pitchFamily="18" charset="0"/>
                <a:cs typeface="Times New Roman" panose="02020603050405020304" pitchFamily="18" charset="0"/>
              </a:rPr>
              <a:t>High Cohesion</a:t>
            </a:r>
            <a:r>
              <a:rPr lang="en-US" sz="1800" dirty="0">
                <a:latin typeface="Times New Roman" panose="02020603050405020304" pitchFamily="18" charset="0"/>
                <a:cs typeface="Times New Roman" panose="02020603050405020304" pitchFamily="18" charset="0"/>
              </a:rPr>
              <a:t>: Modules are designed to focus on a single responsibility.</a:t>
            </a:r>
          </a:p>
          <a:p>
            <a:pPr lvl="1"/>
            <a:r>
              <a:rPr lang="en-US" sz="1800" b="1" dirty="0">
                <a:latin typeface="Times New Roman" panose="02020603050405020304" pitchFamily="18" charset="0"/>
                <a:cs typeface="Times New Roman" panose="02020603050405020304" pitchFamily="18" charset="0"/>
              </a:rPr>
              <a:t>Low Coupling</a:t>
            </a:r>
            <a:r>
              <a:rPr lang="en-US" sz="1800" dirty="0">
                <a:latin typeface="Times New Roman" panose="02020603050405020304" pitchFamily="18" charset="0"/>
                <a:cs typeface="Times New Roman" panose="02020603050405020304" pitchFamily="18" charset="0"/>
              </a:rPr>
              <a:t>: Modules interact with each other minimally, ensuring they can be independently modified or replaced.</a:t>
            </a:r>
          </a:p>
          <a:p>
            <a:pPr marL="0" indent="0">
              <a:buNone/>
            </a:pPr>
            <a:r>
              <a:rPr lang="en-US" sz="1800" b="1" dirty="0">
                <a:latin typeface="Times New Roman" panose="02020603050405020304" pitchFamily="18" charset="0"/>
                <a:cs typeface="Times New Roman" panose="02020603050405020304" pitchFamily="18" charset="0"/>
              </a:rPr>
              <a:t>Example:</a:t>
            </a:r>
          </a:p>
          <a:p>
            <a:pPr lvl="1"/>
            <a:r>
              <a:rPr lang="en-US" sz="1800" dirty="0">
                <a:latin typeface="Times New Roman" panose="02020603050405020304" pitchFamily="18" charset="0"/>
                <a:cs typeface="Times New Roman" panose="02020603050405020304" pitchFamily="18" charset="0"/>
              </a:rPr>
              <a:t>A </a:t>
            </a:r>
            <a:r>
              <a:rPr lang="en-US" sz="1800" b="1" dirty="0">
                <a:latin typeface="Times New Roman" panose="02020603050405020304" pitchFamily="18" charset="0"/>
                <a:cs typeface="Times New Roman" panose="02020603050405020304" pitchFamily="18" charset="0"/>
              </a:rPr>
              <a:t>Library Management System</a:t>
            </a:r>
            <a:r>
              <a:rPr lang="en-US" sz="1800" dirty="0">
                <a:latin typeface="Times New Roman" panose="02020603050405020304" pitchFamily="18" charset="0"/>
                <a:cs typeface="Times New Roman" panose="02020603050405020304" pitchFamily="18" charset="0"/>
              </a:rPr>
              <a:t> can be decomposed into the following modules:</a:t>
            </a:r>
          </a:p>
          <a:p>
            <a:pPr lvl="1"/>
            <a:r>
              <a:rPr lang="en-US" sz="1800" b="1" dirty="0">
                <a:latin typeface="Times New Roman" panose="02020603050405020304" pitchFamily="18" charset="0"/>
                <a:cs typeface="Times New Roman" panose="02020603050405020304" pitchFamily="18" charset="0"/>
              </a:rPr>
              <a:t>User Management</a:t>
            </a:r>
            <a:r>
              <a:rPr lang="en-US" sz="1800" dirty="0">
                <a:latin typeface="Times New Roman" panose="02020603050405020304" pitchFamily="18" charset="0"/>
                <a:cs typeface="Times New Roman" panose="02020603050405020304" pitchFamily="18" charset="0"/>
              </a:rPr>
              <a:t>: Handles user authentication, registration, etc.</a:t>
            </a:r>
          </a:p>
          <a:p>
            <a:pPr lvl="1"/>
            <a:r>
              <a:rPr lang="en-US" sz="1800" b="1" dirty="0">
                <a:latin typeface="Times New Roman" panose="02020603050405020304" pitchFamily="18" charset="0"/>
                <a:cs typeface="Times New Roman" panose="02020603050405020304" pitchFamily="18" charset="0"/>
              </a:rPr>
              <a:t>Book Catalog</a:t>
            </a:r>
            <a:r>
              <a:rPr lang="en-US" sz="1800" dirty="0">
                <a:latin typeface="Times New Roman" panose="02020603050405020304" pitchFamily="18" charset="0"/>
                <a:cs typeface="Times New Roman" panose="02020603050405020304" pitchFamily="18" charset="0"/>
              </a:rPr>
              <a:t>: Maintains a list of books, allows searching.</a:t>
            </a:r>
          </a:p>
          <a:p>
            <a:pPr lvl="1"/>
            <a:r>
              <a:rPr lang="en-US" sz="1800" b="1" dirty="0">
                <a:latin typeface="Times New Roman" panose="02020603050405020304" pitchFamily="18" charset="0"/>
                <a:cs typeface="Times New Roman" panose="02020603050405020304" pitchFamily="18" charset="0"/>
              </a:rPr>
              <a:t>Borrow/Return</a:t>
            </a:r>
            <a:r>
              <a:rPr lang="en-US" sz="1800" dirty="0">
                <a:latin typeface="Times New Roman" panose="02020603050405020304" pitchFamily="18" charset="0"/>
                <a:cs typeface="Times New Roman" panose="02020603050405020304" pitchFamily="18" charset="0"/>
              </a:rPr>
              <a:t>: Manages borrowing and returning books.</a:t>
            </a:r>
          </a:p>
          <a:p>
            <a:pPr lvl="1"/>
            <a:r>
              <a:rPr lang="en-US" sz="1800" b="1" dirty="0">
                <a:latin typeface="Times New Roman" panose="02020603050405020304" pitchFamily="18" charset="0"/>
                <a:cs typeface="Times New Roman" panose="02020603050405020304" pitchFamily="18" charset="0"/>
              </a:rPr>
              <a:t>Notification</a:t>
            </a:r>
            <a:r>
              <a:rPr lang="en-US" sz="1800" dirty="0">
                <a:latin typeface="Times New Roman" panose="02020603050405020304" pitchFamily="18" charset="0"/>
                <a:cs typeface="Times New Roman" panose="02020603050405020304" pitchFamily="18" charset="0"/>
              </a:rPr>
              <a:t>: Sends notifications to users about due dates, new arrivals, etc.</a:t>
            </a:r>
          </a:p>
          <a:p>
            <a:pPr lvl="1"/>
            <a:r>
              <a:rPr lang="en-US" sz="1800" dirty="0">
                <a:latin typeface="Times New Roman" panose="02020603050405020304" pitchFamily="18" charset="0"/>
                <a:cs typeface="Times New Roman" panose="02020603050405020304" pitchFamily="18" charset="0"/>
              </a:rPr>
              <a:t>Each module performs a specific function, and they can be implemented and tested separately.</a:t>
            </a:r>
          </a:p>
          <a:p>
            <a:pPr marL="0" indent="0" algn="just">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7916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59822"/>
            <a:ext cx="10972800" cy="546930"/>
          </a:xfrm>
        </p:spPr>
        <p:txBody>
          <a:bodyPr>
            <a:normAutofit fontScale="90000"/>
          </a:bodyPr>
          <a:lstStyle/>
          <a:p>
            <a:r>
              <a:rPr lang="en-IN" sz="3200" dirty="0"/>
              <a:t>Software Design common approaches</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606752"/>
            <a:ext cx="11098138" cy="5519413"/>
          </a:xfrm>
        </p:spPr>
        <p:txBody>
          <a:bodyPr/>
          <a:lstStyle/>
          <a:p>
            <a:pPr marL="0" indent="0">
              <a:buNone/>
            </a:pPr>
            <a:r>
              <a:rPr lang="en-US" sz="1900" b="1" dirty="0">
                <a:latin typeface="Times New Roman" panose="02020603050405020304" pitchFamily="18" charset="0"/>
                <a:cs typeface="Times New Roman" panose="02020603050405020304" pitchFamily="18" charset="0"/>
              </a:rPr>
              <a:t>Event-Oriented Decomposition</a:t>
            </a:r>
          </a:p>
          <a:p>
            <a:r>
              <a:rPr lang="en-US" sz="1900" b="1" dirty="0">
                <a:latin typeface="Times New Roman" panose="02020603050405020304" pitchFamily="18" charset="0"/>
                <a:cs typeface="Times New Roman" panose="02020603050405020304" pitchFamily="18" charset="0"/>
              </a:rPr>
              <a:t>Event-Oriented Decomposition</a:t>
            </a:r>
            <a:r>
              <a:rPr lang="en-US" sz="1900" dirty="0">
                <a:latin typeface="Times New Roman" panose="02020603050405020304" pitchFamily="18" charset="0"/>
                <a:cs typeface="Times New Roman" panose="02020603050405020304" pitchFamily="18" charset="0"/>
              </a:rPr>
              <a:t> focuses on breaking down a system based on events that the system must handle. An event is something that occurs outside the system (e.g., a user input or an external trigger) and that the system must respond to.</a:t>
            </a:r>
          </a:p>
          <a:p>
            <a:pPr marL="0" indent="0">
              <a:buNone/>
            </a:pPr>
            <a:r>
              <a:rPr lang="en-US" sz="1900" b="1" dirty="0">
                <a:latin typeface="Times New Roman" panose="02020603050405020304" pitchFamily="18" charset="0"/>
                <a:cs typeface="Times New Roman" panose="02020603050405020304" pitchFamily="18" charset="0"/>
              </a:rPr>
              <a:t>Characteristics:</a:t>
            </a:r>
          </a:p>
          <a:p>
            <a:pPr>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Event-driven</a:t>
            </a:r>
            <a:r>
              <a:rPr lang="en-US" sz="1900" dirty="0">
                <a:latin typeface="Times New Roman" panose="02020603050405020304" pitchFamily="18" charset="0"/>
                <a:cs typeface="Times New Roman" panose="02020603050405020304" pitchFamily="18" charset="0"/>
              </a:rPr>
              <a:t>: The system revolves around the various events it needs to handle.</a:t>
            </a:r>
          </a:p>
          <a:p>
            <a:pPr>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Loose coupling</a:t>
            </a:r>
            <a:r>
              <a:rPr lang="en-US" sz="1900" dirty="0">
                <a:latin typeface="Times New Roman" panose="02020603050405020304" pitchFamily="18" charset="0"/>
                <a:cs typeface="Times New Roman" panose="02020603050405020304" pitchFamily="18" charset="0"/>
              </a:rPr>
              <a:t>: Components or modules of the system respond to events independently.</a:t>
            </a:r>
          </a:p>
          <a:p>
            <a:pPr>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Event handling flow</a:t>
            </a:r>
            <a:r>
              <a:rPr lang="en-US" sz="1900" dirty="0">
                <a:latin typeface="Times New Roman" panose="02020603050405020304" pitchFamily="18" charset="0"/>
                <a:cs typeface="Times New Roman" panose="02020603050405020304" pitchFamily="18" charset="0"/>
              </a:rPr>
              <a:t>: Each module is triggered by an event, and then performs its task.</a:t>
            </a:r>
          </a:p>
          <a:p>
            <a:pPr marL="0" indent="0">
              <a:buNone/>
            </a:pPr>
            <a:r>
              <a:rPr lang="en-US" sz="1900" b="1" dirty="0">
                <a:latin typeface="Times New Roman" panose="02020603050405020304" pitchFamily="18" charset="0"/>
                <a:cs typeface="Times New Roman" panose="02020603050405020304" pitchFamily="18" charset="0"/>
              </a:rPr>
              <a:t>Example:</a:t>
            </a:r>
          </a:p>
          <a:p>
            <a:r>
              <a:rPr lang="en-US" sz="1900" dirty="0">
                <a:latin typeface="Times New Roman" panose="02020603050405020304" pitchFamily="18" charset="0"/>
                <a:cs typeface="Times New Roman" panose="02020603050405020304" pitchFamily="18" charset="0"/>
              </a:rPr>
              <a:t>Consider an </a:t>
            </a:r>
            <a:r>
              <a:rPr lang="en-US" sz="1900" b="1" dirty="0">
                <a:latin typeface="Times New Roman" panose="02020603050405020304" pitchFamily="18" charset="0"/>
                <a:cs typeface="Times New Roman" panose="02020603050405020304" pitchFamily="18" charset="0"/>
              </a:rPr>
              <a:t>Online Banking System</a:t>
            </a:r>
            <a:r>
              <a:rPr lang="en-US" sz="1900" dirty="0">
                <a:latin typeface="Times New Roman" panose="02020603050405020304" pitchFamily="18" charset="0"/>
                <a:cs typeface="Times New Roman" panose="02020603050405020304" pitchFamily="18" charset="0"/>
              </a:rPr>
              <a:t> that is designed around events:</a:t>
            </a:r>
          </a:p>
          <a:p>
            <a:pPr>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Login Event</a:t>
            </a:r>
            <a:r>
              <a:rPr lang="en-US" sz="1900" dirty="0">
                <a:latin typeface="Times New Roman" panose="02020603050405020304" pitchFamily="18" charset="0"/>
                <a:cs typeface="Times New Roman" panose="02020603050405020304" pitchFamily="18" charset="0"/>
              </a:rPr>
              <a:t>: Triggered when a user attempts to log in.</a:t>
            </a:r>
          </a:p>
          <a:p>
            <a:pPr>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Deposit Event</a:t>
            </a:r>
            <a:r>
              <a:rPr lang="en-US" sz="1900" dirty="0">
                <a:latin typeface="Times New Roman" panose="02020603050405020304" pitchFamily="18" charset="0"/>
                <a:cs typeface="Times New Roman" panose="02020603050405020304" pitchFamily="18" charset="0"/>
              </a:rPr>
              <a:t>: Triggered when a user deposits money.</a:t>
            </a:r>
          </a:p>
          <a:p>
            <a:pPr>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Withdrawal Event</a:t>
            </a:r>
            <a:r>
              <a:rPr lang="en-US" sz="1900" dirty="0">
                <a:latin typeface="Times New Roman" panose="02020603050405020304" pitchFamily="18" charset="0"/>
                <a:cs typeface="Times New Roman" panose="02020603050405020304" pitchFamily="18" charset="0"/>
              </a:rPr>
              <a:t>: Triggered when a user withdraws money.</a:t>
            </a:r>
          </a:p>
          <a:p>
            <a:pPr marL="0" indent="0" algn="just">
              <a:buNone/>
            </a:pPr>
            <a:endParaRPr lang="en-US" sz="1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33028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59822"/>
            <a:ext cx="10972800" cy="546930"/>
          </a:xfrm>
        </p:spPr>
        <p:txBody>
          <a:bodyPr>
            <a:normAutofit fontScale="90000"/>
          </a:bodyPr>
          <a:lstStyle/>
          <a:p>
            <a:r>
              <a:rPr lang="en-IN" sz="3200" dirty="0"/>
              <a:t>Software Design common approaches</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606752"/>
            <a:ext cx="11098138" cy="5519413"/>
          </a:xfrm>
        </p:spPr>
        <p:txBody>
          <a:bodyPr>
            <a:normAutofit fontScale="92500"/>
          </a:bodyPr>
          <a:lstStyle/>
          <a:p>
            <a:pPr marL="0" indent="0">
              <a:buNone/>
            </a:pPr>
            <a:r>
              <a:rPr lang="en-US" sz="1800" b="1" dirty="0">
                <a:latin typeface="Times New Roman" panose="02020603050405020304" pitchFamily="18" charset="0"/>
                <a:cs typeface="Times New Roman" panose="02020603050405020304" pitchFamily="18" charset="0"/>
              </a:rPr>
              <a:t>Object-Oriented Design (OOD)</a:t>
            </a:r>
          </a:p>
          <a:p>
            <a:pPr marL="0" indent="0">
              <a:buNone/>
            </a:pPr>
            <a:r>
              <a:rPr lang="en-US" sz="1800" b="1" dirty="0">
                <a:latin typeface="Times New Roman" panose="02020603050405020304" pitchFamily="18" charset="0"/>
                <a:cs typeface="Times New Roman" panose="02020603050405020304" pitchFamily="18" charset="0"/>
              </a:rPr>
              <a:t>Object-Oriented Design</a:t>
            </a:r>
            <a:r>
              <a:rPr lang="en-US" sz="1800" dirty="0">
                <a:latin typeface="Times New Roman" panose="02020603050405020304" pitchFamily="18" charset="0"/>
                <a:cs typeface="Times New Roman" panose="02020603050405020304" pitchFamily="18" charset="0"/>
              </a:rPr>
              <a:t> decomposes a system into objects, each representing a real-world entity, concept, or abstraction. Objects encapsulate both data (attributes) and behaviors (methods), and interact with one another to perform the required functionality.</a:t>
            </a:r>
          </a:p>
          <a:p>
            <a:pPr marL="0" indent="0">
              <a:buNone/>
            </a:pPr>
            <a:r>
              <a:rPr lang="en-US" sz="1800" b="1" dirty="0">
                <a:latin typeface="Times New Roman" panose="02020603050405020304" pitchFamily="18" charset="0"/>
                <a:cs typeface="Times New Roman" panose="02020603050405020304" pitchFamily="18" charset="0"/>
              </a:rPr>
              <a:t>Characteristics:</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Encapsulation</a:t>
            </a:r>
            <a:r>
              <a:rPr lang="en-US" sz="1800" dirty="0">
                <a:latin typeface="Times New Roman" panose="02020603050405020304" pitchFamily="18" charset="0"/>
                <a:cs typeface="Times New Roman" panose="02020603050405020304" pitchFamily="18" charset="0"/>
              </a:rPr>
              <a:t>: Each object hides its internal details and exposes methods for interacting with other objects.</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Abstraction</a:t>
            </a:r>
            <a:r>
              <a:rPr lang="en-US" sz="1800" dirty="0">
                <a:latin typeface="Times New Roman" panose="02020603050405020304" pitchFamily="18" charset="0"/>
                <a:cs typeface="Times New Roman" panose="02020603050405020304" pitchFamily="18" charset="0"/>
              </a:rPr>
              <a:t>: Objects represent real-world entities with simplified characteristics.</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Inheritance</a:t>
            </a:r>
            <a:r>
              <a:rPr lang="en-US" sz="1800" dirty="0">
                <a:latin typeface="Times New Roman" panose="02020603050405020304" pitchFamily="18" charset="0"/>
                <a:cs typeface="Times New Roman" panose="02020603050405020304" pitchFamily="18" charset="0"/>
              </a:rPr>
              <a:t>: Objects can inherit properties and methods from other objects, promoting code reuse.</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Polymorphism</a:t>
            </a:r>
            <a:r>
              <a:rPr lang="en-US" sz="1800" dirty="0">
                <a:latin typeface="Times New Roman" panose="02020603050405020304" pitchFamily="18" charset="0"/>
                <a:cs typeface="Times New Roman" panose="02020603050405020304" pitchFamily="18" charset="0"/>
              </a:rPr>
              <a:t>: Objects can be treated as instances of their parent classes, enabling flexible code.</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Class Customer</a:t>
            </a:r>
            <a:r>
              <a:rPr lang="en-US" sz="1800" dirty="0">
                <a:latin typeface="Times New Roman" panose="02020603050405020304" pitchFamily="18" charset="0"/>
                <a:cs typeface="Times New Roman" panose="02020603050405020304" pitchFamily="18" charset="0"/>
              </a:rPr>
              <a:t>: Represents a customer with attributes like name, email, and methods like </a:t>
            </a:r>
            <a:r>
              <a:rPr lang="en-US" sz="1800" dirty="0" err="1">
                <a:latin typeface="Times New Roman" panose="02020603050405020304" pitchFamily="18" charset="0"/>
                <a:cs typeface="Times New Roman" panose="02020603050405020304" pitchFamily="18" charset="0"/>
              </a:rPr>
              <a:t>placeOrder</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viewOrderHistory</a:t>
            </a:r>
            <a:r>
              <a:rPr lang="en-US" sz="18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Class Product</a:t>
            </a:r>
            <a:r>
              <a:rPr lang="en-US" sz="1800" dirty="0">
                <a:latin typeface="Times New Roman" panose="02020603050405020304" pitchFamily="18" charset="0"/>
                <a:cs typeface="Times New Roman" panose="02020603050405020304" pitchFamily="18" charset="0"/>
              </a:rPr>
              <a:t>: Represents a product with attributes like name, price, and methods like </a:t>
            </a:r>
            <a:r>
              <a:rPr lang="en-US" sz="1800" dirty="0" err="1">
                <a:latin typeface="Times New Roman" panose="02020603050405020304" pitchFamily="18" charset="0"/>
                <a:cs typeface="Times New Roman" panose="02020603050405020304" pitchFamily="18" charset="0"/>
              </a:rPr>
              <a:t>displayDetails</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addToCart</a:t>
            </a:r>
            <a:r>
              <a:rPr lang="en-US" sz="18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Class Order</a:t>
            </a:r>
            <a:r>
              <a:rPr lang="en-US" sz="1800" dirty="0">
                <a:latin typeface="Times New Roman" panose="02020603050405020304" pitchFamily="18" charset="0"/>
                <a:cs typeface="Times New Roman" panose="02020603050405020304" pitchFamily="18" charset="0"/>
              </a:rPr>
              <a:t>: Represents an order with attributes like </a:t>
            </a:r>
            <a:r>
              <a:rPr lang="en-US" sz="1800" dirty="0" err="1">
                <a:latin typeface="Times New Roman" panose="02020603050405020304" pitchFamily="18" charset="0"/>
                <a:cs typeface="Times New Roman" panose="02020603050405020304" pitchFamily="18" charset="0"/>
              </a:rPr>
              <a:t>orderID</a:t>
            </a:r>
            <a:r>
              <a:rPr lang="en-US" sz="1800" dirty="0">
                <a:latin typeface="Times New Roman" panose="02020603050405020304" pitchFamily="18" charset="0"/>
                <a:cs typeface="Times New Roman" panose="02020603050405020304" pitchFamily="18" charset="0"/>
              </a:rPr>
              <a:t>, date, and methods like </a:t>
            </a:r>
            <a:r>
              <a:rPr lang="en-US" sz="1800" dirty="0" err="1">
                <a:latin typeface="Times New Roman" panose="02020603050405020304" pitchFamily="18" charset="0"/>
                <a:cs typeface="Times New Roman" panose="02020603050405020304" pitchFamily="18" charset="0"/>
              </a:rPr>
              <a:t>calculateTotal</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generateInvoice</a:t>
            </a:r>
            <a:r>
              <a:rPr lang="en-US" sz="18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A </a:t>
            </a:r>
            <a:r>
              <a:rPr lang="en-US" sz="1800" b="1" dirty="0">
                <a:latin typeface="Times New Roman" panose="02020603050405020304" pitchFamily="18" charset="0"/>
                <a:cs typeface="Times New Roman" panose="02020603050405020304" pitchFamily="18" charset="0"/>
              </a:rPr>
              <a:t>Customer</a:t>
            </a:r>
            <a:r>
              <a:rPr lang="en-US" sz="1800" dirty="0">
                <a:latin typeface="Times New Roman" panose="02020603050405020304" pitchFamily="18" charset="0"/>
                <a:cs typeface="Times New Roman" panose="02020603050405020304" pitchFamily="18" charset="0"/>
              </a:rPr>
              <a:t> object interacts with the </a:t>
            </a:r>
            <a:r>
              <a:rPr lang="en-US" sz="1800" b="1" dirty="0">
                <a:latin typeface="Times New Roman" panose="02020603050405020304" pitchFamily="18" charset="0"/>
                <a:cs typeface="Times New Roman" panose="02020603050405020304" pitchFamily="18" charset="0"/>
              </a:rPr>
              <a:t>Product</a:t>
            </a:r>
            <a:r>
              <a:rPr lang="en-US" sz="1800" dirty="0">
                <a:latin typeface="Times New Roman" panose="02020603050405020304" pitchFamily="18" charset="0"/>
                <a:cs typeface="Times New Roman" panose="02020603050405020304" pitchFamily="18" charset="0"/>
              </a:rPr>
              <a:t> object when placing an order. The </a:t>
            </a:r>
            <a:r>
              <a:rPr lang="en-US" sz="1800" b="1" dirty="0">
                <a:latin typeface="Times New Roman" panose="02020603050405020304" pitchFamily="18" charset="0"/>
                <a:cs typeface="Times New Roman" panose="02020603050405020304" pitchFamily="18" charset="0"/>
              </a:rPr>
              <a:t>Order</a:t>
            </a:r>
            <a:r>
              <a:rPr lang="en-US" sz="1800" dirty="0">
                <a:latin typeface="Times New Roman" panose="02020603050405020304" pitchFamily="18" charset="0"/>
                <a:cs typeface="Times New Roman" panose="02020603050405020304" pitchFamily="18" charset="0"/>
              </a:rPr>
              <a:t> object is created to encapsulate all the details related to the transaction. Each object is responsible for its behavior, and interactions between objects are designed to solve the problem.</a:t>
            </a:r>
          </a:p>
          <a:p>
            <a:pPr>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0979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C7A28-47AF-4F3B-E9EB-759F5CFDCD2F}"/>
              </a:ext>
            </a:extLst>
          </p:cNvPr>
          <p:cNvSpPr>
            <a:spLocks noGrp="1"/>
          </p:cNvSpPr>
          <p:nvPr>
            <p:ph type="title"/>
          </p:nvPr>
        </p:nvSpPr>
        <p:spPr>
          <a:xfrm>
            <a:off x="609600" y="274638"/>
            <a:ext cx="10972800" cy="380970"/>
          </a:xfrm>
        </p:spPr>
        <p:txBody>
          <a:bodyPr>
            <a:normAutofit fontScale="90000"/>
          </a:bodyPr>
          <a:lstStyle/>
          <a:p>
            <a:r>
              <a:rPr lang="en-US" dirty="0">
                <a:latin typeface="Times New Roman" panose="02020603050405020304" pitchFamily="18" charset="0"/>
                <a:cs typeface="Times New Roman" panose="02020603050405020304" pitchFamily="18" charset="0"/>
              </a:rPr>
              <a:t>Transition from Analysis to Design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8B99882-72AF-D240-C77B-549338257686}"/>
              </a:ext>
            </a:extLst>
          </p:cNvPr>
          <p:cNvSpPr>
            <a:spLocks noGrp="1"/>
          </p:cNvSpPr>
          <p:nvPr>
            <p:ph idx="1"/>
          </p:nvPr>
        </p:nvSpPr>
        <p:spPr>
          <a:xfrm>
            <a:off x="609600" y="1000665"/>
            <a:ext cx="10972800" cy="5125500"/>
          </a:xfrm>
        </p:spPr>
        <p:txBody>
          <a:bodyPr/>
          <a:lstStyle/>
          <a:p>
            <a:r>
              <a:rPr lang="en-US" sz="2200" dirty="0">
                <a:latin typeface="Times New Roman" panose="02020603050405020304" pitchFamily="18" charset="0"/>
                <a:cs typeface="Times New Roman" panose="02020603050405020304" pitchFamily="18" charset="0"/>
              </a:rPr>
              <a:t>The </a:t>
            </a:r>
            <a:r>
              <a:rPr lang="en-US" sz="2200" b="1" dirty="0">
                <a:latin typeface="Times New Roman" panose="02020603050405020304" pitchFamily="18" charset="0"/>
                <a:cs typeface="Times New Roman" panose="02020603050405020304" pitchFamily="18" charset="0"/>
              </a:rPr>
              <a:t>Transition from Analysis to Design</a:t>
            </a:r>
            <a:r>
              <a:rPr lang="en-US" sz="2200" dirty="0">
                <a:latin typeface="Times New Roman" panose="02020603050405020304" pitchFamily="18" charset="0"/>
                <a:cs typeface="Times New Roman" panose="02020603050405020304" pitchFamily="18" charset="0"/>
              </a:rPr>
              <a:t> is a crucial step in the </a:t>
            </a:r>
            <a:r>
              <a:rPr lang="en-US" sz="2200" b="1" dirty="0">
                <a:latin typeface="Times New Roman" panose="02020603050405020304" pitchFamily="18" charset="0"/>
                <a:cs typeface="Times New Roman" panose="02020603050405020304" pitchFamily="18" charset="0"/>
              </a:rPr>
              <a:t>Software Development Life Cycle (SDLC)</a:t>
            </a:r>
            <a:r>
              <a:rPr lang="en-US" sz="2200" dirty="0">
                <a:latin typeface="Times New Roman" panose="02020603050405020304" pitchFamily="18" charset="0"/>
                <a:cs typeface="Times New Roman" panose="02020603050405020304" pitchFamily="18" charset="0"/>
              </a:rPr>
              <a:t> where the focus shifts from </a:t>
            </a:r>
            <a:r>
              <a:rPr lang="en-US" sz="2200" i="1" dirty="0">
                <a:latin typeface="Times New Roman" panose="02020603050405020304" pitchFamily="18" charset="0"/>
                <a:cs typeface="Times New Roman" panose="02020603050405020304" pitchFamily="18" charset="0"/>
              </a:rPr>
              <a:t>understanding the problem</a:t>
            </a:r>
            <a:r>
              <a:rPr lang="en-US" sz="2200" dirty="0">
                <a:latin typeface="Times New Roman" panose="02020603050405020304" pitchFamily="18" charset="0"/>
                <a:cs typeface="Times New Roman" panose="02020603050405020304" pitchFamily="18" charset="0"/>
              </a:rPr>
              <a:t> (analysis) to </a:t>
            </a:r>
            <a:r>
              <a:rPr lang="en-US" sz="2200" i="1" dirty="0">
                <a:latin typeface="Times New Roman" panose="02020603050405020304" pitchFamily="18" charset="0"/>
                <a:cs typeface="Times New Roman" panose="02020603050405020304" pitchFamily="18" charset="0"/>
              </a:rPr>
              <a:t>creating a solution</a:t>
            </a:r>
            <a:r>
              <a:rPr lang="en-US" sz="2200" dirty="0">
                <a:latin typeface="Times New Roman" panose="02020603050405020304" pitchFamily="18" charset="0"/>
                <a:cs typeface="Times New Roman" panose="02020603050405020304" pitchFamily="18" charset="0"/>
              </a:rPr>
              <a:t> (design).</a:t>
            </a:r>
          </a:p>
          <a:p>
            <a:r>
              <a:rPr lang="en-US" sz="2200" b="1" dirty="0">
                <a:latin typeface="Times New Roman" panose="02020603050405020304" pitchFamily="18" charset="0"/>
                <a:cs typeface="Times New Roman" panose="02020603050405020304" pitchFamily="18" charset="0"/>
              </a:rPr>
              <a:t>1. Analysis Phase (What the system should do)</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Goal: Understand the requirements and problems.</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Deliverables:</a:t>
            </a:r>
          </a:p>
          <a:p>
            <a:pPr marL="742950" lvl="1" indent="-28575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System requirements specification (SRS)</a:t>
            </a:r>
          </a:p>
          <a:p>
            <a:pPr marL="742950" lvl="1" indent="-28575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Use cases</a:t>
            </a:r>
          </a:p>
          <a:p>
            <a:pPr marL="742950" lvl="1" indent="-28575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Data models (ER diagrams)</a:t>
            </a:r>
          </a:p>
          <a:p>
            <a:pPr marL="742950" lvl="1" indent="-28575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Process models (DFDs)</a:t>
            </a:r>
          </a:p>
          <a:p>
            <a:r>
              <a:rPr lang="en-US" sz="2200" dirty="0">
                <a:latin typeface="Times New Roman" panose="02020603050405020304" pitchFamily="18" charset="0"/>
                <a:cs typeface="Times New Roman" panose="02020603050405020304" pitchFamily="18" charset="0"/>
              </a:rPr>
              <a:t>This phase answers </a:t>
            </a:r>
            <a:r>
              <a:rPr lang="en-US" sz="2200" b="1" dirty="0">
                <a:latin typeface="Times New Roman" panose="02020603050405020304" pitchFamily="18" charset="0"/>
                <a:cs typeface="Times New Roman" panose="02020603050405020304" pitchFamily="18" charset="0"/>
              </a:rPr>
              <a:t>“What does the system need to achieve?”</a:t>
            </a:r>
            <a:endParaRPr lang="en-US" sz="22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2610518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C7A28-47AF-4F3B-E9EB-759F5CFDCD2F}"/>
              </a:ext>
            </a:extLst>
          </p:cNvPr>
          <p:cNvSpPr>
            <a:spLocks noGrp="1"/>
          </p:cNvSpPr>
          <p:nvPr>
            <p:ph type="title"/>
          </p:nvPr>
        </p:nvSpPr>
        <p:spPr>
          <a:xfrm>
            <a:off x="609600" y="274638"/>
            <a:ext cx="10972800" cy="380970"/>
          </a:xfrm>
        </p:spPr>
        <p:txBody>
          <a:bodyPr>
            <a:normAutofit fontScale="90000"/>
          </a:bodyPr>
          <a:lstStyle/>
          <a:p>
            <a:r>
              <a:rPr lang="en-US" dirty="0"/>
              <a:t>Transition from Analysis to Design</a:t>
            </a:r>
            <a:endParaRPr lang="en-IN" dirty="0"/>
          </a:p>
        </p:txBody>
      </p:sp>
      <p:sp>
        <p:nvSpPr>
          <p:cNvPr id="3" name="Content Placeholder 2">
            <a:extLst>
              <a:ext uri="{FF2B5EF4-FFF2-40B4-BE49-F238E27FC236}">
                <a16:creationId xmlns:a16="http://schemas.microsoft.com/office/drawing/2014/main" id="{A8B99882-72AF-D240-C77B-549338257686}"/>
              </a:ext>
            </a:extLst>
          </p:cNvPr>
          <p:cNvSpPr>
            <a:spLocks noGrp="1"/>
          </p:cNvSpPr>
          <p:nvPr>
            <p:ph idx="1"/>
          </p:nvPr>
        </p:nvSpPr>
        <p:spPr>
          <a:xfrm>
            <a:off x="609600" y="1000665"/>
            <a:ext cx="10972800" cy="5125500"/>
          </a:xfrm>
        </p:spPr>
        <p:txBody>
          <a:bodyPr/>
          <a:lstStyle/>
          <a:p>
            <a:pPr marL="0" indent="0">
              <a:buNone/>
            </a:pPr>
            <a:r>
              <a:rPr lang="en-US" sz="2200" b="1" dirty="0">
                <a:latin typeface="Times New Roman" panose="02020603050405020304" pitchFamily="18" charset="0"/>
                <a:cs typeface="Times New Roman" panose="02020603050405020304" pitchFamily="18" charset="0"/>
              </a:rPr>
              <a:t>2. Design Phase (How the system will be built)</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Goal: Convert requirements into a </a:t>
            </a:r>
            <a:r>
              <a:rPr lang="en-US" sz="2200" b="1" dirty="0">
                <a:latin typeface="Times New Roman" panose="02020603050405020304" pitchFamily="18" charset="0"/>
                <a:cs typeface="Times New Roman" panose="02020603050405020304" pitchFamily="18" charset="0"/>
              </a:rPr>
              <a:t>blueprint for implementation</a:t>
            </a:r>
            <a:r>
              <a:rPr lang="en-US" sz="22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Deliverables:</a:t>
            </a:r>
          </a:p>
          <a:p>
            <a:pPr marL="742950" lvl="1" indent="-28575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System architecture</a:t>
            </a:r>
          </a:p>
          <a:p>
            <a:pPr marL="742950" lvl="1" indent="-28575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Database design</a:t>
            </a:r>
          </a:p>
          <a:p>
            <a:pPr marL="742950" lvl="1" indent="-28575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Class diagrams, sequence diagrams (UML)</a:t>
            </a:r>
          </a:p>
          <a:p>
            <a:pPr marL="742950" lvl="1" indent="-28575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User interface design</a:t>
            </a:r>
          </a:p>
          <a:p>
            <a:pPr marL="742950" lvl="1" indent="-28575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Hardware/software specifications</a:t>
            </a:r>
          </a:p>
          <a:p>
            <a:r>
              <a:rPr lang="en-US" sz="2200" dirty="0">
                <a:latin typeface="Times New Roman" panose="02020603050405020304" pitchFamily="18" charset="0"/>
                <a:cs typeface="Times New Roman" panose="02020603050405020304" pitchFamily="18" charset="0"/>
              </a:rPr>
              <a:t>This phase answers </a:t>
            </a:r>
            <a:r>
              <a:rPr lang="en-US" sz="2200" b="1" dirty="0">
                <a:latin typeface="Times New Roman" panose="02020603050405020304" pitchFamily="18" charset="0"/>
                <a:cs typeface="Times New Roman" panose="02020603050405020304" pitchFamily="18" charset="0"/>
              </a:rPr>
              <a:t>“How will we implement the solution?”</a:t>
            </a:r>
            <a:endParaRPr lang="en-US" sz="22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0422506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C7A28-47AF-4F3B-E9EB-759F5CFDCD2F}"/>
              </a:ext>
            </a:extLst>
          </p:cNvPr>
          <p:cNvSpPr>
            <a:spLocks noGrp="1"/>
          </p:cNvSpPr>
          <p:nvPr>
            <p:ph type="title"/>
          </p:nvPr>
        </p:nvSpPr>
        <p:spPr>
          <a:xfrm>
            <a:off x="609600" y="240132"/>
            <a:ext cx="10972800" cy="380970"/>
          </a:xfrm>
        </p:spPr>
        <p:txBody>
          <a:bodyPr>
            <a:normAutofit fontScale="90000"/>
          </a:bodyPr>
          <a:lstStyle/>
          <a:p>
            <a:r>
              <a:rPr lang="en-US" dirty="0">
                <a:latin typeface="Times New Roman" panose="02020603050405020304" pitchFamily="18" charset="0"/>
                <a:cs typeface="Times New Roman" panose="02020603050405020304" pitchFamily="18" charset="0"/>
              </a:rPr>
              <a:t>Transition from Analysis to Design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8B99882-72AF-D240-C77B-549338257686}"/>
              </a:ext>
            </a:extLst>
          </p:cNvPr>
          <p:cNvSpPr>
            <a:spLocks noGrp="1"/>
          </p:cNvSpPr>
          <p:nvPr>
            <p:ph idx="1"/>
          </p:nvPr>
        </p:nvSpPr>
        <p:spPr>
          <a:xfrm>
            <a:off x="609600" y="1000665"/>
            <a:ext cx="10972800" cy="5125500"/>
          </a:xfrm>
        </p:spPr>
        <p:txBody>
          <a:bodyPr/>
          <a:lstStyle/>
          <a:p>
            <a:pPr marL="0" indent="0">
              <a:buNone/>
            </a:pPr>
            <a:r>
              <a:rPr lang="en-US" sz="2800" b="1" dirty="0">
                <a:latin typeface="Times New Roman" panose="02020603050405020304" pitchFamily="18" charset="0"/>
                <a:cs typeface="Times New Roman" panose="02020603050405020304" pitchFamily="18" charset="0"/>
              </a:rPr>
              <a:t>3. Transition Activities</a:t>
            </a:r>
          </a:p>
          <a:p>
            <a:pPr>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Mapping requirements to design</a:t>
            </a:r>
            <a:r>
              <a:rPr lang="en-US" sz="2800" dirty="0">
                <a:latin typeface="Times New Roman" panose="02020603050405020304" pitchFamily="18" charset="0"/>
                <a:cs typeface="Times New Roman" panose="02020603050405020304" pitchFamily="18" charset="0"/>
              </a:rPr>
              <a:t>: Each functional requirement identified in analysis is translated into design components.</a:t>
            </a:r>
          </a:p>
          <a:p>
            <a:pPr>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Model transformation</a:t>
            </a:r>
            <a:r>
              <a:rPr lang="en-US" sz="2800" dirty="0">
                <a:latin typeface="Times New Roman" panose="02020603050405020304" pitchFamily="18" charset="0"/>
                <a:cs typeface="Times New Roman" panose="02020603050405020304" pitchFamily="18" charset="0"/>
              </a:rPr>
              <a:t>: Moving from </a:t>
            </a:r>
            <a:r>
              <a:rPr lang="en-US" sz="2800" b="1" dirty="0">
                <a:latin typeface="Times New Roman" panose="02020603050405020304" pitchFamily="18" charset="0"/>
                <a:cs typeface="Times New Roman" panose="02020603050405020304" pitchFamily="18" charset="0"/>
              </a:rPr>
              <a:t>conceptual models (DFDs, ERDs)</a:t>
            </a:r>
            <a:r>
              <a:rPr lang="en-US" sz="2800" dirty="0">
                <a:latin typeface="Times New Roman" panose="02020603050405020304" pitchFamily="18" charset="0"/>
                <a:cs typeface="Times New Roman" panose="02020603050405020304" pitchFamily="18" charset="0"/>
              </a:rPr>
              <a:t> to </a:t>
            </a:r>
            <a:r>
              <a:rPr lang="en-US" sz="2800" b="1" dirty="0">
                <a:latin typeface="Times New Roman" panose="02020603050405020304" pitchFamily="18" charset="0"/>
                <a:cs typeface="Times New Roman" panose="02020603050405020304" pitchFamily="18" charset="0"/>
              </a:rPr>
              <a:t>technical models (UML, architecture diagrams)</a:t>
            </a:r>
            <a:r>
              <a:rPr lang="en-US" sz="28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Prototyping</a:t>
            </a:r>
            <a:r>
              <a:rPr lang="en-US" sz="2800" dirty="0">
                <a:latin typeface="Times New Roman" panose="02020603050405020304" pitchFamily="18" charset="0"/>
                <a:cs typeface="Times New Roman" panose="02020603050405020304" pitchFamily="18" charset="0"/>
              </a:rPr>
              <a:t>: Early design models may be prototyped to validate feasibility.</a:t>
            </a:r>
          </a:p>
          <a:p>
            <a:pPr>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Validation</a:t>
            </a:r>
            <a:r>
              <a:rPr lang="en-US" sz="2800" dirty="0">
                <a:latin typeface="Times New Roman" panose="02020603050405020304" pitchFamily="18" charset="0"/>
                <a:cs typeface="Times New Roman" panose="02020603050405020304" pitchFamily="18" charset="0"/>
              </a:rPr>
              <a:t>: Ensure the design satisfies all requirements from the SRS.</a:t>
            </a:r>
          </a:p>
          <a:p>
            <a:pPr marL="0" indent="0">
              <a:buNone/>
            </a:pPr>
            <a:endParaRPr lang="en-IN" dirty="0"/>
          </a:p>
        </p:txBody>
      </p:sp>
    </p:spTree>
    <p:extLst>
      <p:ext uri="{BB962C8B-B14F-4D97-AF65-F5344CB8AC3E}">
        <p14:creationId xmlns:p14="http://schemas.microsoft.com/office/powerpoint/2010/main" val="18338040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59822"/>
            <a:ext cx="10972800" cy="546930"/>
          </a:xfrm>
        </p:spPr>
        <p:txBody>
          <a:bodyPr>
            <a:normAutofit fontScale="90000"/>
          </a:bodyPr>
          <a:lstStyle/>
          <a:p>
            <a:r>
              <a:rPr lang="en-IN" sz="3200" dirty="0"/>
              <a:t>Structured Design</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606752"/>
            <a:ext cx="11098138" cy="5519413"/>
          </a:xfrm>
        </p:spPr>
        <p:txBody>
          <a:bodyPr>
            <a:normAutofit lnSpcReduction="10000"/>
          </a:bodyPr>
          <a:lstStyle/>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Structured Analysis and Structured Design are fundamental methodologies in software engineering that emphasize breaking down complex systems into simpler, well-organized components. Both aim to improve system development by focusing on systematic, hierarchical decomposition.</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Structured Analysis (SA) is a technique used during the analysis phase of software development. The goal is to understand what the system needs to do by breaking down the system requirements into smaller, manageable parts. It involves identifying inputs, processes, outputs, and data flows.</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Data Flow Diagrams (DFD): The core tool of Structured Analysis, DFDs represent the flow of data through the system. They illustrate how data enters, moves between processes, and leaves the system.</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Decomposition: The system is broken down into smaller subsystems or processes that are easier to understand and manage.</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Logical View: Focuses on what the system must do without worrying about how it will be implemented. It focuses on system functions and data.</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Entity-Relationship Diagrams (ERD): Used to model the data and relationships between data entities.</a:t>
            </a:r>
          </a:p>
          <a:p>
            <a:pPr marL="0" indent="0" algn="just">
              <a:buNone/>
            </a:pPr>
            <a:r>
              <a:rPr lang="en-US" sz="1600" b="1" dirty="0">
                <a:latin typeface="Times New Roman" panose="02020603050405020304" pitchFamily="18" charset="0"/>
                <a:cs typeface="Times New Roman" panose="02020603050405020304" pitchFamily="18" charset="0"/>
              </a:rPr>
              <a:t>Steps in Structured Analysis:</a:t>
            </a:r>
          </a:p>
          <a:p>
            <a:pPr algn="just">
              <a:buFont typeface="+mj-lt"/>
              <a:buAutoNum type="arabicPeriod"/>
            </a:pPr>
            <a:r>
              <a:rPr lang="en-US" sz="1600" dirty="0">
                <a:latin typeface="Times New Roman" panose="02020603050405020304" pitchFamily="18" charset="0"/>
                <a:cs typeface="Times New Roman" panose="02020603050405020304" pitchFamily="18" charset="0"/>
              </a:rPr>
              <a:t>Understand Requirements: Gather and analyze the functional requirements.</a:t>
            </a:r>
          </a:p>
          <a:p>
            <a:pPr algn="just">
              <a:buFont typeface="+mj-lt"/>
              <a:buAutoNum type="arabicPeriod"/>
            </a:pPr>
            <a:r>
              <a:rPr lang="en-US" sz="1600" dirty="0">
                <a:latin typeface="Times New Roman" panose="02020603050405020304" pitchFamily="18" charset="0"/>
                <a:cs typeface="Times New Roman" panose="02020603050405020304" pitchFamily="18" charset="0"/>
              </a:rPr>
              <a:t>Create a Context Diagram: The top-level DFD that shows the system as a single process interacting with external entities.</a:t>
            </a:r>
          </a:p>
          <a:p>
            <a:pPr algn="just">
              <a:buFont typeface="+mj-lt"/>
              <a:buAutoNum type="arabicPeriod"/>
            </a:pPr>
            <a:r>
              <a:rPr lang="en-US" sz="1600" dirty="0">
                <a:latin typeface="Times New Roman" panose="02020603050405020304" pitchFamily="18" charset="0"/>
                <a:cs typeface="Times New Roman" panose="02020603050405020304" pitchFamily="18" charset="0"/>
              </a:rPr>
              <a:t>Decompose into Lower-Level DFDs: Break down the context diagram into more detailed DFDs to show internal processes.</a:t>
            </a:r>
          </a:p>
          <a:p>
            <a:pPr algn="just">
              <a:buFont typeface="+mj-lt"/>
              <a:buAutoNum type="arabicPeriod"/>
            </a:pPr>
            <a:r>
              <a:rPr lang="en-US" sz="1600" dirty="0">
                <a:latin typeface="Times New Roman" panose="02020603050405020304" pitchFamily="18" charset="0"/>
                <a:cs typeface="Times New Roman" panose="02020603050405020304" pitchFamily="18" charset="0"/>
              </a:rPr>
              <a:t>Specify Processes: For each process in the DFD, describe what it does and how it interacts with other processes.</a:t>
            </a:r>
          </a:p>
          <a:p>
            <a:pPr algn="just">
              <a:buFont typeface="+mj-lt"/>
              <a:buAutoNum type="arabicPeriod"/>
            </a:pPr>
            <a:r>
              <a:rPr lang="en-US" sz="1600" dirty="0">
                <a:latin typeface="Times New Roman" panose="02020603050405020304" pitchFamily="18" charset="0"/>
                <a:cs typeface="Times New Roman" panose="02020603050405020304" pitchFamily="18" charset="0"/>
              </a:rPr>
              <a:t>Create Data Dictionary: Define all the data elements and flows used in the system.</a:t>
            </a:r>
          </a:p>
          <a:p>
            <a:pPr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3710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59822"/>
            <a:ext cx="10972800" cy="546930"/>
          </a:xfrm>
        </p:spPr>
        <p:txBody>
          <a:bodyPr>
            <a:normAutofit fontScale="90000"/>
          </a:bodyPr>
          <a:lstStyle/>
          <a:p>
            <a:r>
              <a:rPr lang="en-IN" sz="3200" dirty="0"/>
              <a:t>Structured Design</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606752"/>
            <a:ext cx="11098138" cy="5519413"/>
          </a:xfrm>
        </p:spPr>
        <p:txBody>
          <a:bodyPr>
            <a:normAutofit lnSpcReduction="10000"/>
          </a:bodyPr>
          <a:lstStyle/>
          <a:p>
            <a:r>
              <a:rPr lang="en-US" sz="1800" dirty="0">
                <a:latin typeface="Times New Roman" panose="02020603050405020304" pitchFamily="18" charset="0"/>
                <a:cs typeface="Times New Roman" panose="02020603050405020304" pitchFamily="18" charset="0"/>
              </a:rPr>
              <a:t>Structured Design (SD) comes after Structured Analysis and focuses on the design phase of software development. It deals with creating a blueprint of how the system will be implemented by organizing the processes identified in the analysis phase into a hierarchical structure.</a:t>
            </a:r>
          </a:p>
          <a:p>
            <a:r>
              <a:rPr lang="en-US" sz="1800" dirty="0">
                <a:latin typeface="Times New Roman" panose="02020603050405020304" pitchFamily="18" charset="0"/>
                <a:cs typeface="Times New Roman" panose="02020603050405020304" pitchFamily="18" charset="0"/>
              </a:rPr>
              <a:t>The objective is to transform the logical model from Structured Analysis into a physical design model that defines how the software will be constructed.</a:t>
            </a:r>
          </a:p>
          <a:p>
            <a:pPr marL="0" indent="0" algn="just">
              <a:buNone/>
            </a:pPr>
            <a:r>
              <a:rPr lang="en-IN" sz="1800" b="1" dirty="0">
                <a:latin typeface="Times New Roman" panose="02020603050405020304" pitchFamily="18" charset="0"/>
                <a:cs typeface="Times New Roman" panose="02020603050405020304" pitchFamily="18" charset="0"/>
              </a:rPr>
              <a:t>Concepts of Structured Design:</a:t>
            </a:r>
          </a:p>
          <a:p>
            <a:pPr algn="just">
              <a:buFont typeface="+mj-lt"/>
              <a:buAutoNum type="arabicPeriod"/>
            </a:pPr>
            <a:r>
              <a:rPr lang="en-US" sz="1800" dirty="0">
                <a:latin typeface="Times New Roman" panose="02020603050405020304" pitchFamily="18" charset="0"/>
                <a:cs typeface="Times New Roman" panose="02020603050405020304" pitchFamily="18" charset="0"/>
              </a:rPr>
              <a:t>Structure Charts: The primary tool of Structured Design, structure charts show the hierarchy of processes and how they interact. Each process or function is represented as a module, and the chart shows how data flows between modules.</a:t>
            </a:r>
          </a:p>
          <a:p>
            <a:pPr algn="just">
              <a:buFont typeface="+mj-lt"/>
              <a:buAutoNum type="arabicPeriod"/>
            </a:pPr>
            <a:r>
              <a:rPr lang="en-US" sz="1800" dirty="0">
                <a:latin typeface="Times New Roman" panose="02020603050405020304" pitchFamily="18" charset="0"/>
                <a:cs typeface="Times New Roman" panose="02020603050405020304" pitchFamily="18" charset="0"/>
              </a:rPr>
              <a:t>Module: A discrete unit of code that performs a specific function. Modules should be cohesive (perform a single function) and loosely coupled (minimize dependencies between them).</a:t>
            </a:r>
          </a:p>
          <a:p>
            <a:pPr algn="just">
              <a:buFont typeface="+mj-lt"/>
              <a:buAutoNum type="arabicPeriod"/>
            </a:pPr>
            <a:r>
              <a:rPr lang="en-US" sz="1800" dirty="0">
                <a:latin typeface="Times New Roman" panose="02020603050405020304" pitchFamily="18" charset="0"/>
                <a:cs typeface="Times New Roman" panose="02020603050405020304" pitchFamily="18" charset="0"/>
              </a:rPr>
              <a:t>Top-Down Design: The design starts at a high level and is progressively broken down into smaller, more detailed modules.</a:t>
            </a:r>
          </a:p>
          <a:p>
            <a:pPr algn="just">
              <a:buFont typeface="+mj-lt"/>
              <a:buAutoNum type="arabicPeriod"/>
            </a:pPr>
            <a:r>
              <a:rPr lang="en-US" sz="1800" dirty="0">
                <a:latin typeface="Times New Roman" panose="02020603050405020304" pitchFamily="18" charset="0"/>
                <a:cs typeface="Times New Roman" panose="02020603050405020304" pitchFamily="18" charset="0"/>
              </a:rPr>
              <a:t>Modularity: The system is divided into distinct modules, each responsible for a particular function.</a:t>
            </a:r>
          </a:p>
          <a:p>
            <a:pPr algn="just">
              <a:buFont typeface="+mj-lt"/>
              <a:buAutoNum type="arabicPeriod"/>
            </a:pPr>
            <a:r>
              <a:rPr lang="en-US" sz="1800" dirty="0">
                <a:latin typeface="Times New Roman" panose="02020603050405020304" pitchFamily="18" charset="0"/>
                <a:cs typeface="Times New Roman" panose="02020603050405020304" pitchFamily="18" charset="0"/>
              </a:rPr>
              <a:t>Cohesion and Coupling:</a:t>
            </a:r>
          </a:p>
          <a:p>
            <a:pPr lvl="1" algn="just"/>
            <a:r>
              <a:rPr lang="en-US" sz="1400" dirty="0">
                <a:latin typeface="Times New Roman" panose="02020603050405020304" pitchFamily="18" charset="0"/>
                <a:cs typeface="Times New Roman" panose="02020603050405020304" pitchFamily="18" charset="0"/>
              </a:rPr>
              <a:t>Cohesion refers to how closely related the tasks performed by a single module are. High cohesion is preferred.</a:t>
            </a:r>
          </a:p>
          <a:p>
            <a:pPr lvl="1" algn="just"/>
            <a:r>
              <a:rPr lang="en-US" sz="1400" dirty="0">
                <a:latin typeface="Times New Roman" panose="02020603050405020304" pitchFamily="18" charset="0"/>
                <a:cs typeface="Times New Roman" panose="02020603050405020304" pitchFamily="18" charset="0"/>
              </a:rPr>
              <a:t>Coupling refers to the interdependence between modules. Low coupling is preferred to make the system more flexible and maintainable.</a:t>
            </a:r>
          </a:p>
        </p:txBody>
      </p:sp>
    </p:spTree>
    <p:extLst>
      <p:ext uri="{BB962C8B-B14F-4D97-AF65-F5344CB8AC3E}">
        <p14:creationId xmlns:p14="http://schemas.microsoft.com/office/powerpoint/2010/main" val="33207165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59822"/>
            <a:ext cx="10972800" cy="546930"/>
          </a:xfrm>
        </p:spPr>
        <p:txBody>
          <a:bodyPr>
            <a:normAutofit fontScale="90000"/>
          </a:bodyPr>
          <a:lstStyle/>
          <a:p>
            <a:r>
              <a:rPr lang="en-IN" sz="3200" dirty="0"/>
              <a:t>Structured Design</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606752"/>
            <a:ext cx="11098138" cy="5519413"/>
          </a:xfrm>
        </p:spPr>
        <p:txBody>
          <a:bodyPr/>
          <a:lstStyle/>
          <a:p>
            <a:pPr marL="0" indent="0" algn="just">
              <a:buNone/>
            </a:pPr>
            <a:r>
              <a:rPr lang="en-US" sz="1900" b="1" dirty="0">
                <a:latin typeface="Times New Roman" panose="02020603050405020304" pitchFamily="18" charset="0"/>
                <a:cs typeface="Times New Roman" panose="02020603050405020304" pitchFamily="18" charset="0"/>
              </a:rPr>
              <a:t>Steps in Structured Design:</a:t>
            </a:r>
          </a:p>
          <a:p>
            <a:pPr algn="just">
              <a:buFont typeface="+mj-lt"/>
              <a:buAutoNum type="arabicPeriod"/>
            </a:pPr>
            <a:r>
              <a:rPr lang="en-US" sz="1900" dirty="0">
                <a:latin typeface="Times New Roman" panose="02020603050405020304" pitchFamily="18" charset="0"/>
                <a:cs typeface="Times New Roman" panose="02020603050405020304" pitchFamily="18" charset="0"/>
              </a:rPr>
              <a:t>Create Structure Charts: Convert the DFDs into a hierarchical structure of modules.</a:t>
            </a:r>
          </a:p>
          <a:p>
            <a:pPr algn="just">
              <a:buFont typeface="+mj-lt"/>
              <a:buAutoNum type="arabicPeriod"/>
            </a:pPr>
            <a:r>
              <a:rPr lang="en-US" sz="1900" dirty="0">
                <a:latin typeface="Times New Roman" panose="02020603050405020304" pitchFamily="18" charset="0"/>
                <a:cs typeface="Times New Roman" panose="02020603050405020304" pitchFamily="18" charset="0"/>
              </a:rPr>
              <a:t>Identify Control Modules: These are high-level modules responsible for coordinating the actions of lower-level modules.</a:t>
            </a:r>
          </a:p>
          <a:p>
            <a:pPr algn="just">
              <a:buFont typeface="+mj-lt"/>
              <a:buAutoNum type="arabicPeriod"/>
            </a:pPr>
            <a:r>
              <a:rPr lang="en-US" sz="1900" dirty="0">
                <a:latin typeface="Times New Roman" panose="02020603050405020304" pitchFamily="18" charset="0"/>
                <a:cs typeface="Times New Roman" panose="02020603050405020304" pitchFamily="18" charset="0"/>
              </a:rPr>
              <a:t>Define Module Interfaces: Specify the inputs and outputs for each module, ensuring clear data flow between them.</a:t>
            </a:r>
          </a:p>
          <a:p>
            <a:pPr algn="just">
              <a:buFont typeface="+mj-lt"/>
              <a:buAutoNum type="arabicPeriod"/>
            </a:pPr>
            <a:r>
              <a:rPr lang="en-US" sz="1900" dirty="0">
                <a:latin typeface="Times New Roman" panose="02020603050405020304" pitchFamily="18" charset="0"/>
                <a:cs typeface="Times New Roman" panose="02020603050405020304" pitchFamily="18" charset="0"/>
              </a:rPr>
              <a:t>Refine Modules: Break down large modules into smaller submodules as needed.</a:t>
            </a:r>
          </a:p>
          <a:p>
            <a:pPr algn="just">
              <a:buFont typeface="+mj-lt"/>
              <a:buAutoNum type="arabicPeriod"/>
            </a:pPr>
            <a:r>
              <a:rPr lang="en-US" sz="1900" dirty="0">
                <a:latin typeface="Times New Roman" panose="02020603050405020304" pitchFamily="18" charset="0"/>
                <a:cs typeface="Times New Roman" panose="02020603050405020304" pitchFamily="18" charset="0"/>
              </a:rPr>
              <a:t>Design Database: Align the data structures with the design, ensuring they meet the needs of each module.</a:t>
            </a:r>
          </a:p>
          <a:p>
            <a:pPr algn="just"/>
            <a:endParaRPr lang="en-US" sz="1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37711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59822"/>
            <a:ext cx="10972800" cy="546930"/>
          </a:xfrm>
        </p:spPr>
        <p:txBody>
          <a:bodyPr>
            <a:normAutofit fontScale="90000"/>
          </a:bodyPr>
          <a:lstStyle/>
          <a:p>
            <a:r>
              <a:rPr lang="en-IN" sz="3200" dirty="0"/>
              <a:t>Structured Design</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606752"/>
            <a:ext cx="11098138" cy="5519413"/>
          </a:xfrm>
        </p:spPr>
        <p:txBody>
          <a:bodyPr/>
          <a:lstStyle/>
          <a:p>
            <a:pPr marL="0" indent="0" algn="just">
              <a:buNone/>
            </a:pPr>
            <a:r>
              <a:rPr lang="en-US" sz="2000" dirty="0">
                <a:latin typeface="Times New Roman" panose="02020603050405020304" pitchFamily="18" charset="0"/>
                <a:cs typeface="Times New Roman" panose="02020603050405020304" pitchFamily="18" charset="0"/>
              </a:rPr>
              <a:t>Consider an online banking system:</a:t>
            </a:r>
          </a:p>
          <a:p>
            <a:pPr marL="0" indent="0" algn="just">
              <a:buNone/>
            </a:pPr>
            <a:r>
              <a:rPr lang="en-US" sz="2000" b="1" dirty="0">
                <a:latin typeface="Times New Roman" panose="02020603050405020304" pitchFamily="18" charset="0"/>
                <a:cs typeface="Times New Roman" panose="02020603050405020304" pitchFamily="18" charset="0"/>
              </a:rPr>
              <a:t>Structured Analysis:</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DFD for this system may include processes like Login, Check Balance, Transfer Funds, and View Transaction History.</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Each of these processes would be further broken down into smaller steps (like validating credentials or performing a transaction) and represented in detailed DFDs.</a:t>
            </a:r>
          </a:p>
          <a:p>
            <a:pPr marL="0" indent="0" algn="just">
              <a:buNone/>
            </a:pPr>
            <a:r>
              <a:rPr lang="en-US" sz="2000" b="1" dirty="0">
                <a:latin typeface="Times New Roman" panose="02020603050405020304" pitchFamily="18" charset="0"/>
                <a:cs typeface="Times New Roman" panose="02020603050405020304" pitchFamily="18" charset="0"/>
              </a:rPr>
              <a:t>Structured Design:</a:t>
            </a:r>
          </a:p>
          <a:p>
            <a:pPr algn="just"/>
            <a:r>
              <a:rPr lang="en-US" sz="2000" dirty="0">
                <a:latin typeface="Times New Roman" panose="02020603050405020304" pitchFamily="18" charset="0"/>
                <a:cs typeface="Times New Roman" panose="02020603050405020304" pitchFamily="18" charset="0"/>
              </a:rPr>
              <a:t>For the same online banking system:</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top-level module may be Banking System, which controls submodules like Login, Funds Transfer, and Check Balance.</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Each submodule is further broken down: for example, Login might have submodules like Validate Credentials and Display Welcome Screen.</a:t>
            </a:r>
          </a:p>
          <a:p>
            <a:pPr algn="just"/>
            <a:r>
              <a:rPr lang="en-US" sz="2000" dirty="0">
                <a:latin typeface="Times New Roman" panose="02020603050405020304" pitchFamily="18" charset="0"/>
                <a:cs typeface="Times New Roman" panose="02020603050405020304" pitchFamily="18" charset="0"/>
              </a:rPr>
              <a:t>A structure chart would represent this hierarchy, showing how each module interacts with others and how data flows through the system.</a:t>
            </a:r>
          </a:p>
          <a:p>
            <a:pPr marL="0" indent="0" algn="just">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33686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59822"/>
            <a:ext cx="10972800" cy="546930"/>
          </a:xfrm>
        </p:spPr>
        <p:txBody>
          <a:bodyPr>
            <a:normAutofit fontScale="90000"/>
          </a:bodyPr>
          <a:lstStyle/>
          <a:p>
            <a:r>
              <a:rPr lang="en-IN" sz="3200" dirty="0"/>
              <a:t>Structured Design</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606752"/>
            <a:ext cx="11098138" cy="5519413"/>
          </a:xfrm>
        </p:spPr>
        <p:txBody>
          <a:bodyPr/>
          <a:lstStyle/>
          <a:p>
            <a:pPr marL="0" indent="0">
              <a:buNone/>
            </a:pPr>
            <a:endParaRPr lang="en-US" sz="1200" dirty="0"/>
          </a:p>
        </p:txBody>
      </p:sp>
      <p:graphicFrame>
        <p:nvGraphicFramePr>
          <p:cNvPr id="4" name="Table 3">
            <a:extLst>
              <a:ext uri="{FF2B5EF4-FFF2-40B4-BE49-F238E27FC236}">
                <a16:creationId xmlns:a16="http://schemas.microsoft.com/office/drawing/2014/main" id="{ECBB7D03-201D-638F-9B1D-C65545E94F2F}"/>
              </a:ext>
            </a:extLst>
          </p:cNvPr>
          <p:cNvGraphicFramePr>
            <a:graphicFrameLocks noGrp="1"/>
          </p:cNvGraphicFramePr>
          <p:nvPr>
            <p:extLst>
              <p:ext uri="{D42A27DB-BD31-4B8C-83A1-F6EECF244321}">
                <p14:modId xmlns:p14="http://schemas.microsoft.com/office/powerpoint/2010/main" val="903052694"/>
              </p:ext>
            </p:extLst>
          </p:nvPr>
        </p:nvGraphicFramePr>
        <p:xfrm>
          <a:off x="609600" y="606753"/>
          <a:ext cx="10972800" cy="5563311"/>
        </p:xfrm>
        <a:graphic>
          <a:graphicData uri="http://schemas.openxmlformats.org/drawingml/2006/table">
            <a:tbl>
              <a:tblPr/>
              <a:tblGrid>
                <a:gridCol w="3657600">
                  <a:extLst>
                    <a:ext uri="{9D8B030D-6E8A-4147-A177-3AD203B41FA5}">
                      <a16:colId xmlns:a16="http://schemas.microsoft.com/office/drawing/2014/main" val="3812441709"/>
                    </a:ext>
                  </a:extLst>
                </a:gridCol>
                <a:gridCol w="3657600">
                  <a:extLst>
                    <a:ext uri="{9D8B030D-6E8A-4147-A177-3AD203B41FA5}">
                      <a16:colId xmlns:a16="http://schemas.microsoft.com/office/drawing/2014/main" val="1127019038"/>
                    </a:ext>
                  </a:extLst>
                </a:gridCol>
                <a:gridCol w="3657600">
                  <a:extLst>
                    <a:ext uri="{9D8B030D-6E8A-4147-A177-3AD203B41FA5}">
                      <a16:colId xmlns:a16="http://schemas.microsoft.com/office/drawing/2014/main" val="2278144406"/>
                    </a:ext>
                  </a:extLst>
                </a:gridCol>
              </a:tblGrid>
              <a:tr h="472340">
                <a:tc>
                  <a:txBody>
                    <a:bodyPr/>
                    <a:lstStyle/>
                    <a:p>
                      <a:r>
                        <a:rPr lang="en-IN" b="1" dirty="0">
                          <a:latin typeface="Times New Roman" panose="02020603050405020304" pitchFamily="18" charset="0"/>
                          <a:cs typeface="Times New Roman" panose="02020603050405020304" pitchFamily="18" charset="0"/>
                        </a:rPr>
                        <a:t>Aspect</a:t>
                      </a:r>
                      <a:endParaRPr lang="en-IN"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r>
                        <a:rPr lang="en-IN" b="1">
                          <a:latin typeface="Times New Roman" panose="02020603050405020304" pitchFamily="18" charset="0"/>
                          <a:cs typeface="Times New Roman" panose="02020603050405020304" pitchFamily="18" charset="0"/>
                        </a:rPr>
                        <a:t>Structured Analysis</a:t>
                      </a:r>
                      <a:endParaRPr lang="en-IN">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r>
                        <a:rPr lang="en-IN" b="1">
                          <a:latin typeface="Times New Roman" panose="02020603050405020304" pitchFamily="18" charset="0"/>
                          <a:cs typeface="Times New Roman" panose="02020603050405020304" pitchFamily="18" charset="0"/>
                        </a:rPr>
                        <a:t>Structured Design</a:t>
                      </a:r>
                      <a:endParaRPr lang="en-IN">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1104278020"/>
                  </a:ext>
                </a:extLst>
              </a:tr>
              <a:tr h="826596">
                <a:tc>
                  <a:txBody>
                    <a:bodyPr/>
                    <a:lstStyle/>
                    <a:p>
                      <a:r>
                        <a:rPr lang="en-IN" b="1">
                          <a:latin typeface="Times New Roman" panose="02020603050405020304" pitchFamily="18" charset="0"/>
                          <a:cs typeface="Times New Roman" panose="02020603050405020304" pitchFamily="18" charset="0"/>
                        </a:rPr>
                        <a:t>Purpose</a:t>
                      </a:r>
                      <a:endParaRPr lang="en-IN">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r>
                        <a:rPr lang="en-US" dirty="0">
                          <a:latin typeface="Times New Roman" panose="02020603050405020304" pitchFamily="18" charset="0"/>
                          <a:cs typeface="Times New Roman" panose="02020603050405020304" pitchFamily="18" charset="0"/>
                        </a:rPr>
                        <a:t>Focuses on </a:t>
                      </a:r>
                      <a:r>
                        <a:rPr lang="en-US" b="1" dirty="0">
                          <a:latin typeface="Times New Roman" panose="02020603050405020304" pitchFamily="18" charset="0"/>
                          <a:cs typeface="Times New Roman" panose="02020603050405020304" pitchFamily="18" charset="0"/>
                        </a:rPr>
                        <a:t>what</a:t>
                      </a:r>
                      <a:r>
                        <a:rPr lang="en-US" dirty="0">
                          <a:latin typeface="Times New Roman" panose="02020603050405020304" pitchFamily="18" charset="0"/>
                          <a:cs typeface="Times New Roman" panose="02020603050405020304" pitchFamily="18" charset="0"/>
                        </a:rPr>
                        <a:t> the system needs to do</a:t>
                      </a:r>
                    </a:p>
                  </a:txBody>
                  <a:tcPr anchor="ctr">
                    <a:lnL>
                      <a:noFill/>
                    </a:lnL>
                    <a:lnR>
                      <a:noFill/>
                    </a:lnR>
                    <a:lnT>
                      <a:noFill/>
                    </a:lnT>
                    <a:lnB>
                      <a:noFill/>
                    </a:lnB>
                    <a:noFill/>
                  </a:tcPr>
                </a:tc>
                <a:tc>
                  <a:txBody>
                    <a:bodyPr/>
                    <a:lstStyle/>
                    <a:p>
                      <a:r>
                        <a:rPr lang="en-US">
                          <a:latin typeface="Times New Roman" panose="02020603050405020304" pitchFamily="18" charset="0"/>
                          <a:cs typeface="Times New Roman" panose="02020603050405020304" pitchFamily="18" charset="0"/>
                        </a:rPr>
                        <a:t>Focuses on </a:t>
                      </a:r>
                      <a:r>
                        <a:rPr lang="en-US" b="1">
                          <a:latin typeface="Times New Roman" panose="02020603050405020304" pitchFamily="18" charset="0"/>
                          <a:cs typeface="Times New Roman" panose="02020603050405020304" pitchFamily="18" charset="0"/>
                        </a:rPr>
                        <a:t>how</a:t>
                      </a:r>
                      <a:r>
                        <a:rPr lang="en-US">
                          <a:latin typeface="Times New Roman" panose="02020603050405020304" pitchFamily="18" charset="0"/>
                          <a:cs typeface="Times New Roman" panose="02020603050405020304" pitchFamily="18" charset="0"/>
                        </a:rPr>
                        <a:t> the system will be constructed</a:t>
                      </a:r>
                    </a:p>
                  </a:txBody>
                  <a:tcPr anchor="ctr">
                    <a:lnL>
                      <a:noFill/>
                    </a:lnL>
                    <a:lnR>
                      <a:noFill/>
                    </a:lnR>
                    <a:lnT>
                      <a:noFill/>
                    </a:lnT>
                    <a:lnB>
                      <a:noFill/>
                    </a:lnB>
                    <a:noFill/>
                  </a:tcPr>
                </a:tc>
                <a:extLst>
                  <a:ext uri="{0D108BD9-81ED-4DB2-BD59-A6C34878D82A}">
                    <a16:rowId xmlns:a16="http://schemas.microsoft.com/office/drawing/2014/main" val="285270971"/>
                  </a:ext>
                </a:extLst>
              </a:tr>
              <a:tr h="1180850">
                <a:tc>
                  <a:txBody>
                    <a:bodyPr/>
                    <a:lstStyle/>
                    <a:p>
                      <a:r>
                        <a:rPr lang="en-IN" b="1">
                          <a:latin typeface="Times New Roman" panose="02020603050405020304" pitchFamily="18" charset="0"/>
                          <a:cs typeface="Times New Roman" panose="02020603050405020304" pitchFamily="18" charset="0"/>
                        </a:rPr>
                        <a:t>Primary Tools</a:t>
                      </a:r>
                      <a:endParaRPr lang="en-IN">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r>
                        <a:rPr lang="en-US" dirty="0">
                          <a:latin typeface="Times New Roman" panose="02020603050405020304" pitchFamily="18" charset="0"/>
                          <a:cs typeface="Times New Roman" panose="02020603050405020304" pitchFamily="18" charset="0"/>
                        </a:rPr>
                        <a:t>Data Flow Diagrams (DFD), Process Specifications (PSPEC)</a:t>
                      </a:r>
                    </a:p>
                  </a:txBody>
                  <a:tcPr anchor="ctr">
                    <a:lnL>
                      <a:noFill/>
                    </a:lnL>
                    <a:lnR>
                      <a:noFill/>
                    </a:lnR>
                    <a:lnT>
                      <a:noFill/>
                    </a:lnT>
                    <a:lnB>
                      <a:noFill/>
                    </a:lnB>
                    <a:noFill/>
                  </a:tcPr>
                </a:tc>
                <a:tc>
                  <a:txBody>
                    <a:bodyPr/>
                    <a:lstStyle/>
                    <a:p>
                      <a:r>
                        <a:rPr lang="en-IN" dirty="0">
                          <a:latin typeface="Times New Roman" panose="02020603050405020304" pitchFamily="18" charset="0"/>
                          <a:cs typeface="Times New Roman" panose="02020603050405020304" pitchFamily="18" charset="0"/>
                        </a:rPr>
                        <a:t>Structure Charts</a:t>
                      </a:r>
                    </a:p>
                  </a:txBody>
                  <a:tcPr anchor="ctr">
                    <a:lnL>
                      <a:noFill/>
                    </a:lnL>
                    <a:lnR>
                      <a:noFill/>
                    </a:lnR>
                    <a:lnT>
                      <a:noFill/>
                    </a:lnT>
                    <a:lnB>
                      <a:noFill/>
                    </a:lnB>
                    <a:noFill/>
                  </a:tcPr>
                </a:tc>
                <a:extLst>
                  <a:ext uri="{0D108BD9-81ED-4DB2-BD59-A6C34878D82A}">
                    <a16:rowId xmlns:a16="http://schemas.microsoft.com/office/drawing/2014/main" val="1954111696"/>
                  </a:ext>
                </a:extLst>
              </a:tr>
              <a:tr h="1180850">
                <a:tc>
                  <a:txBody>
                    <a:bodyPr/>
                    <a:lstStyle/>
                    <a:p>
                      <a:r>
                        <a:rPr lang="en-IN" b="1">
                          <a:latin typeface="Times New Roman" panose="02020603050405020304" pitchFamily="18" charset="0"/>
                          <a:cs typeface="Times New Roman" panose="02020603050405020304" pitchFamily="18" charset="0"/>
                        </a:rPr>
                        <a:t>Outcome</a:t>
                      </a:r>
                      <a:endParaRPr lang="en-IN">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r>
                        <a:rPr lang="en-US" dirty="0">
                          <a:latin typeface="Times New Roman" panose="02020603050405020304" pitchFamily="18" charset="0"/>
                          <a:cs typeface="Times New Roman" panose="02020603050405020304" pitchFamily="18" charset="0"/>
                        </a:rPr>
                        <a:t>A logical model of the system's functions and data flows</a:t>
                      </a:r>
                    </a:p>
                  </a:txBody>
                  <a:tcPr anchor="ctr">
                    <a:lnL>
                      <a:noFill/>
                    </a:lnL>
                    <a:lnR>
                      <a:noFill/>
                    </a:lnR>
                    <a:lnT>
                      <a:noFill/>
                    </a:lnT>
                    <a:lnB>
                      <a:noFill/>
                    </a:lnB>
                    <a:noFill/>
                  </a:tcPr>
                </a:tc>
                <a:tc>
                  <a:txBody>
                    <a:bodyPr/>
                    <a:lstStyle/>
                    <a:p>
                      <a:r>
                        <a:rPr lang="en-US" dirty="0">
                          <a:latin typeface="Times New Roman" panose="02020603050405020304" pitchFamily="18" charset="0"/>
                          <a:cs typeface="Times New Roman" panose="02020603050405020304" pitchFamily="18" charset="0"/>
                        </a:rPr>
                        <a:t>A physical model defining the structure and modules of the system</a:t>
                      </a:r>
                    </a:p>
                  </a:txBody>
                  <a:tcPr anchor="ctr">
                    <a:lnL>
                      <a:noFill/>
                    </a:lnL>
                    <a:lnR>
                      <a:noFill/>
                    </a:lnR>
                    <a:lnT>
                      <a:noFill/>
                    </a:lnT>
                    <a:lnB>
                      <a:noFill/>
                    </a:lnB>
                    <a:noFill/>
                  </a:tcPr>
                </a:tc>
                <a:extLst>
                  <a:ext uri="{0D108BD9-81ED-4DB2-BD59-A6C34878D82A}">
                    <a16:rowId xmlns:a16="http://schemas.microsoft.com/office/drawing/2014/main" val="1274858348"/>
                  </a:ext>
                </a:extLst>
              </a:tr>
              <a:tr h="826596">
                <a:tc>
                  <a:txBody>
                    <a:bodyPr/>
                    <a:lstStyle/>
                    <a:p>
                      <a:r>
                        <a:rPr lang="en-IN" b="1">
                          <a:latin typeface="Times New Roman" panose="02020603050405020304" pitchFamily="18" charset="0"/>
                          <a:cs typeface="Times New Roman" panose="02020603050405020304" pitchFamily="18" charset="0"/>
                        </a:rPr>
                        <a:t>Focus</a:t>
                      </a:r>
                      <a:endParaRPr lang="en-IN">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r>
                        <a:rPr lang="en-US">
                          <a:latin typeface="Times New Roman" panose="02020603050405020304" pitchFamily="18" charset="0"/>
                          <a:cs typeface="Times New Roman" panose="02020603050405020304" pitchFamily="18" charset="0"/>
                        </a:rPr>
                        <a:t>Breaking down system functionality into processes</a:t>
                      </a:r>
                    </a:p>
                  </a:txBody>
                  <a:tcPr anchor="ctr">
                    <a:lnL>
                      <a:noFill/>
                    </a:lnL>
                    <a:lnR>
                      <a:noFill/>
                    </a:lnR>
                    <a:lnT>
                      <a:noFill/>
                    </a:lnT>
                    <a:lnB>
                      <a:noFill/>
                    </a:lnB>
                    <a:noFill/>
                  </a:tcPr>
                </a:tc>
                <a:tc>
                  <a:txBody>
                    <a:bodyPr/>
                    <a:lstStyle/>
                    <a:p>
                      <a:r>
                        <a:rPr lang="en-US">
                          <a:latin typeface="Times New Roman" panose="02020603050405020304" pitchFamily="18" charset="0"/>
                          <a:cs typeface="Times New Roman" panose="02020603050405020304" pitchFamily="18" charset="0"/>
                        </a:rPr>
                        <a:t>Designing the structure of the system based on modules</a:t>
                      </a:r>
                    </a:p>
                  </a:txBody>
                  <a:tcPr anchor="ctr">
                    <a:lnL>
                      <a:noFill/>
                    </a:lnL>
                    <a:lnR>
                      <a:noFill/>
                    </a:lnR>
                    <a:lnT>
                      <a:noFill/>
                    </a:lnT>
                    <a:lnB>
                      <a:noFill/>
                    </a:lnB>
                    <a:noFill/>
                  </a:tcPr>
                </a:tc>
                <a:extLst>
                  <a:ext uri="{0D108BD9-81ED-4DB2-BD59-A6C34878D82A}">
                    <a16:rowId xmlns:a16="http://schemas.microsoft.com/office/drawing/2014/main" val="4056203788"/>
                  </a:ext>
                </a:extLst>
              </a:tr>
              <a:tr h="1076079">
                <a:tc>
                  <a:txBody>
                    <a:bodyPr/>
                    <a:lstStyle/>
                    <a:p>
                      <a:r>
                        <a:rPr lang="en-IN" b="1">
                          <a:latin typeface="Times New Roman" panose="02020603050405020304" pitchFamily="18" charset="0"/>
                          <a:cs typeface="Times New Roman" panose="02020603050405020304" pitchFamily="18" charset="0"/>
                        </a:rPr>
                        <a:t>Viewpoint</a:t>
                      </a:r>
                      <a:endParaRPr lang="en-IN">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r>
                        <a:rPr lang="en-US">
                          <a:latin typeface="Times New Roman" panose="02020603050405020304" pitchFamily="18" charset="0"/>
                          <a:cs typeface="Times New Roman" panose="02020603050405020304" pitchFamily="18" charset="0"/>
                        </a:rPr>
                        <a:t>Logical (abstract view of the system)</a:t>
                      </a:r>
                    </a:p>
                  </a:txBody>
                  <a:tcPr anchor="ctr">
                    <a:lnL>
                      <a:noFill/>
                    </a:lnL>
                    <a:lnR>
                      <a:noFill/>
                    </a:lnR>
                    <a:lnT>
                      <a:noFill/>
                    </a:lnT>
                    <a:lnB>
                      <a:noFill/>
                    </a:lnB>
                    <a:noFill/>
                  </a:tcPr>
                </a:tc>
                <a:tc>
                  <a:txBody>
                    <a:bodyPr/>
                    <a:lstStyle/>
                    <a:p>
                      <a:r>
                        <a:rPr lang="en-US" dirty="0">
                          <a:latin typeface="Times New Roman" panose="02020603050405020304" pitchFamily="18" charset="0"/>
                          <a:cs typeface="Times New Roman" panose="02020603050405020304" pitchFamily="18" charset="0"/>
                        </a:rPr>
                        <a:t>Physical (implementation view of the system)</a:t>
                      </a:r>
                    </a:p>
                  </a:txBody>
                  <a:tcPr anchor="ctr">
                    <a:lnL>
                      <a:noFill/>
                    </a:lnL>
                    <a:lnR>
                      <a:noFill/>
                    </a:lnR>
                    <a:lnT>
                      <a:noFill/>
                    </a:lnT>
                    <a:lnB>
                      <a:noFill/>
                    </a:lnB>
                    <a:noFill/>
                  </a:tcPr>
                </a:tc>
                <a:extLst>
                  <a:ext uri="{0D108BD9-81ED-4DB2-BD59-A6C34878D82A}">
                    <a16:rowId xmlns:a16="http://schemas.microsoft.com/office/drawing/2014/main" val="1278680893"/>
                  </a:ext>
                </a:extLst>
              </a:tr>
            </a:tbl>
          </a:graphicData>
        </a:graphic>
      </p:graphicFrame>
    </p:spTree>
    <p:extLst>
      <p:ext uri="{BB962C8B-B14F-4D97-AF65-F5344CB8AC3E}">
        <p14:creationId xmlns:p14="http://schemas.microsoft.com/office/powerpoint/2010/main" val="42944324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59822"/>
            <a:ext cx="10972800" cy="546930"/>
          </a:xfrm>
        </p:spPr>
        <p:txBody>
          <a:bodyPr>
            <a:normAutofit fontScale="90000"/>
          </a:bodyPr>
          <a:lstStyle/>
          <a:p>
            <a:r>
              <a:rPr lang="en-IN" sz="3200" dirty="0"/>
              <a:t>Structured Design</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606752"/>
            <a:ext cx="11098138" cy="5519413"/>
          </a:xfrm>
        </p:spPr>
        <p:txBody>
          <a:bodyPr>
            <a:normAutofit fontScale="92500" lnSpcReduction="10000"/>
          </a:bodyPr>
          <a:lstStyle/>
          <a:p>
            <a:pPr marL="0" indent="0" algn="just">
              <a:buNone/>
            </a:pPr>
            <a:r>
              <a:rPr lang="en-US" sz="1800" b="1" dirty="0">
                <a:latin typeface="Times New Roman" panose="02020603050405020304" pitchFamily="18" charset="0"/>
                <a:cs typeface="Times New Roman" panose="02020603050405020304" pitchFamily="18" charset="0"/>
              </a:rPr>
              <a:t>Transform Analysis and Transaction Analysis </a:t>
            </a:r>
            <a:r>
              <a:rPr lang="en-US" sz="1800" dirty="0">
                <a:latin typeface="Times New Roman" panose="02020603050405020304" pitchFamily="18" charset="0"/>
                <a:cs typeface="Times New Roman" panose="02020603050405020304" pitchFamily="18" charset="0"/>
              </a:rPr>
              <a:t>are two key techniques used in Structured Design for converting a Data Flow Diagram (DFD) into a Structure Chart. These techniques help break down complex systems into manageable, modular parts by analyzing how data flows and decisions are made within a system.</a:t>
            </a:r>
          </a:p>
          <a:p>
            <a:pPr marL="0" indent="0" algn="just">
              <a:buNone/>
            </a:pPr>
            <a:r>
              <a:rPr lang="en-US" sz="1800" b="1" dirty="0">
                <a:latin typeface="Times New Roman" panose="02020603050405020304" pitchFamily="18" charset="0"/>
                <a:cs typeface="Times New Roman" panose="02020603050405020304" pitchFamily="18" charset="0"/>
              </a:rPr>
              <a:t>1. Transform Analysis </a:t>
            </a:r>
            <a:r>
              <a:rPr lang="en-US" sz="1800" dirty="0">
                <a:latin typeface="Times New Roman" panose="02020603050405020304" pitchFamily="18" charset="0"/>
                <a:cs typeface="Times New Roman" panose="02020603050405020304" pitchFamily="18" charset="0"/>
              </a:rPr>
              <a:t>focuses on systems where the primary flow of data follows a clear input-processing-output sequence. It identifies parts of the system that transform data as it passes through, resulting in a structured, hierarchical design.</a:t>
            </a:r>
          </a:p>
          <a:p>
            <a:pPr marL="0" indent="0" algn="just">
              <a:buNone/>
            </a:pPr>
            <a:r>
              <a:rPr lang="en-US" sz="1800" b="1" dirty="0">
                <a:latin typeface="Times New Roman" panose="02020603050405020304" pitchFamily="18" charset="0"/>
                <a:cs typeface="Times New Roman" panose="02020603050405020304" pitchFamily="18" charset="0"/>
              </a:rPr>
              <a:t>Key Concepts:</a:t>
            </a:r>
          </a:p>
          <a:p>
            <a:pPr marL="0" indent="0" algn="just">
              <a:buNone/>
            </a:pPr>
            <a:r>
              <a:rPr lang="en-US" sz="1800" b="1" dirty="0">
                <a:latin typeface="Times New Roman" panose="02020603050405020304" pitchFamily="18" charset="0"/>
                <a:cs typeface="Times New Roman" panose="02020603050405020304" pitchFamily="18" charset="0"/>
              </a:rPr>
              <a:t>Input (Afferent Stream): </a:t>
            </a:r>
            <a:r>
              <a:rPr lang="en-US" sz="1800" dirty="0">
                <a:latin typeface="Times New Roman" panose="02020603050405020304" pitchFamily="18" charset="0"/>
                <a:cs typeface="Times New Roman" panose="02020603050405020304" pitchFamily="18" charset="0"/>
              </a:rPr>
              <a:t>Data that enters the system from external sources. This includes any data or requests provided by users or external systems.</a:t>
            </a:r>
          </a:p>
          <a:p>
            <a:pPr marL="0" indent="0" algn="just">
              <a:buNone/>
            </a:pPr>
            <a:r>
              <a:rPr lang="en-US" sz="1800" b="1" dirty="0">
                <a:latin typeface="Times New Roman" panose="02020603050405020304" pitchFamily="18" charset="0"/>
                <a:cs typeface="Times New Roman" panose="02020603050405020304" pitchFamily="18" charset="0"/>
              </a:rPr>
              <a:t>Transform Center: </a:t>
            </a:r>
            <a:r>
              <a:rPr lang="en-US" sz="1800" dirty="0">
                <a:latin typeface="Times New Roman" panose="02020603050405020304" pitchFamily="18" charset="0"/>
                <a:cs typeface="Times New Roman" panose="02020603050405020304" pitchFamily="18" charset="0"/>
              </a:rPr>
              <a:t>The core logic of the system, where input data is processed or transformed into output. This may include calculations, decision-making, or manipulation of the data.</a:t>
            </a:r>
          </a:p>
          <a:p>
            <a:pPr marL="0" indent="0" algn="just">
              <a:buNone/>
            </a:pPr>
            <a:r>
              <a:rPr lang="en-US" sz="1800" b="1" dirty="0">
                <a:latin typeface="Times New Roman" panose="02020603050405020304" pitchFamily="18" charset="0"/>
                <a:cs typeface="Times New Roman" panose="02020603050405020304" pitchFamily="18" charset="0"/>
              </a:rPr>
              <a:t>Output (Efferent Stream): </a:t>
            </a:r>
            <a:r>
              <a:rPr lang="en-US" sz="1800" dirty="0">
                <a:latin typeface="Times New Roman" panose="02020603050405020304" pitchFamily="18" charset="0"/>
                <a:cs typeface="Times New Roman" panose="02020603050405020304" pitchFamily="18" charset="0"/>
              </a:rPr>
              <a:t>The processed data that exits the system and is provided as output, such as results displayed to users or updates made to databases.</a:t>
            </a:r>
          </a:p>
          <a:p>
            <a:pPr marL="0" indent="0" algn="just">
              <a:buNone/>
            </a:pPr>
            <a:r>
              <a:rPr lang="en-US" sz="1800" b="1" dirty="0">
                <a:latin typeface="Times New Roman" panose="02020603050405020304" pitchFamily="18" charset="0"/>
                <a:cs typeface="Times New Roman" panose="02020603050405020304" pitchFamily="18" charset="0"/>
              </a:rPr>
              <a:t>Steps in Transform Analysis:</a:t>
            </a:r>
          </a:p>
          <a:p>
            <a:pPr algn="just">
              <a:buFont typeface="+mj-lt"/>
              <a:buAutoNum type="arabicPeriod"/>
            </a:pPr>
            <a:r>
              <a:rPr lang="en-US" sz="1800" dirty="0">
                <a:latin typeface="Times New Roman" panose="02020603050405020304" pitchFamily="18" charset="0"/>
                <a:cs typeface="Times New Roman" panose="02020603050405020304" pitchFamily="18" charset="0"/>
              </a:rPr>
              <a:t>Identify Inputs: Recognize the parts of the DFD where data enters the system.</a:t>
            </a:r>
          </a:p>
          <a:p>
            <a:pPr algn="just">
              <a:buFont typeface="+mj-lt"/>
              <a:buAutoNum type="arabicPeriod"/>
            </a:pPr>
            <a:r>
              <a:rPr lang="en-US" sz="1800" dirty="0">
                <a:latin typeface="Times New Roman" panose="02020603050405020304" pitchFamily="18" charset="0"/>
                <a:cs typeface="Times New Roman" panose="02020603050405020304" pitchFamily="18" charset="0"/>
              </a:rPr>
              <a:t>Identify Outputs: Recognize the parts of the DFD where data exits the system.</a:t>
            </a:r>
          </a:p>
          <a:p>
            <a:pPr algn="just">
              <a:buFont typeface="+mj-lt"/>
              <a:buAutoNum type="arabicPeriod"/>
            </a:pPr>
            <a:r>
              <a:rPr lang="en-US" sz="1800" dirty="0">
                <a:latin typeface="Times New Roman" panose="02020603050405020304" pitchFamily="18" charset="0"/>
                <a:cs typeface="Times New Roman" panose="02020603050405020304" pitchFamily="18" charset="0"/>
              </a:rPr>
              <a:t>Locate the Transform Center: Identify the part of the system where significant processing of data occurs.</a:t>
            </a:r>
          </a:p>
          <a:p>
            <a:pPr algn="just">
              <a:buFont typeface="+mj-lt"/>
              <a:buAutoNum type="arabicPeriod"/>
            </a:pPr>
            <a:r>
              <a:rPr lang="en-US" sz="1800" dirty="0">
                <a:latin typeface="Times New Roman" panose="02020603050405020304" pitchFamily="18" charset="0"/>
                <a:cs typeface="Times New Roman" panose="02020603050405020304" pitchFamily="18" charset="0"/>
              </a:rPr>
              <a:t>Draw a Structure Chart: Use this information to draw a hierarchical structure, mapping processes to modules.</a:t>
            </a:r>
          </a:p>
        </p:txBody>
      </p:sp>
    </p:spTree>
    <p:extLst>
      <p:ext uri="{BB962C8B-B14F-4D97-AF65-F5344CB8AC3E}">
        <p14:creationId xmlns:p14="http://schemas.microsoft.com/office/powerpoint/2010/main" val="17716480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59822"/>
            <a:ext cx="10972800" cy="546930"/>
          </a:xfrm>
        </p:spPr>
        <p:txBody>
          <a:bodyPr>
            <a:normAutofit fontScale="90000"/>
          </a:bodyPr>
          <a:lstStyle/>
          <a:p>
            <a:r>
              <a:rPr lang="en-IN" sz="3200" dirty="0"/>
              <a:t>Structured Design</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606752"/>
            <a:ext cx="11098138" cy="5519413"/>
          </a:xfrm>
        </p:spPr>
        <p:txBody>
          <a:bodyPr>
            <a:normAutofit lnSpcReduction="10000"/>
          </a:bodyPr>
          <a:lstStyle/>
          <a:p>
            <a:pPr marL="0" indent="0" algn="just">
              <a:buNone/>
            </a:pPr>
            <a:r>
              <a:rPr lang="en-US" sz="1800" b="1" dirty="0">
                <a:latin typeface="Times New Roman" panose="02020603050405020304" pitchFamily="18" charset="0"/>
                <a:cs typeface="Times New Roman" panose="02020603050405020304" pitchFamily="18" charset="0"/>
              </a:rPr>
              <a:t>Payroll process System</a:t>
            </a:r>
          </a:p>
          <a:p>
            <a:pPr>
              <a:lnSpc>
                <a:spcPct val="107000"/>
              </a:lnSpc>
              <a:spcAft>
                <a:spcPts val="800"/>
              </a:spcAft>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Input: The system receives employee details (ID, hours worked, pay rate, deductions). </a:t>
            </a:r>
          </a:p>
          <a:p>
            <a:pPr>
              <a:lnSpc>
                <a:spcPct val="107000"/>
              </a:lnSpc>
              <a:spcAft>
                <a:spcPts val="800"/>
              </a:spcAft>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Transform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Center</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The system processes this information by calculating gross salary, applying deductions (tax, insurance), and computing net salary.</a:t>
            </a:r>
          </a:p>
          <a:p>
            <a:pPr>
              <a:lnSpc>
                <a:spcPct val="107000"/>
              </a:lnSpc>
              <a:spcAft>
                <a:spcPts val="800"/>
              </a:spcAft>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Output: The final salary slip (or pay record) is generated and displayed/printed for the employee.</a:t>
            </a:r>
            <a:endParaRPr lang="en-US" sz="1800" b="1"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In the Structure Chart, these steps would be divided into separate modules for input, processing, and output.</a:t>
            </a:r>
          </a:p>
          <a:p>
            <a:pPr algn="just">
              <a:buFont typeface="+mj-lt"/>
              <a:buAutoNum type="arabicPeriod" startAt="2"/>
            </a:pPr>
            <a:r>
              <a:rPr lang="en-US" sz="1800" b="1" dirty="0">
                <a:latin typeface="Times New Roman" panose="02020603050405020304" pitchFamily="18" charset="0"/>
                <a:cs typeface="Times New Roman" panose="02020603050405020304" pitchFamily="18" charset="0"/>
              </a:rPr>
              <a:t>Transaction Analysis</a:t>
            </a:r>
            <a:r>
              <a:rPr lang="en-US" sz="1800" dirty="0">
                <a:latin typeface="Times New Roman" panose="02020603050405020304" pitchFamily="18" charset="0"/>
                <a:cs typeface="Times New Roman" panose="02020603050405020304" pitchFamily="18" charset="0"/>
              </a:rPr>
              <a:t> is used for systems where the flow of data depends on a decision-making process. It focuses on systems where different transactions (or actions) are triggered based on input conditions, leading to different execution paths.</a:t>
            </a:r>
          </a:p>
          <a:p>
            <a:pPr marL="0" indent="0">
              <a:buNone/>
            </a:pPr>
            <a:r>
              <a:rPr lang="en-US" sz="1800" b="1" dirty="0">
                <a:latin typeface="Times New Roman" panose="02020603050405020304" pitchFamily="18" charset="0"/>
                <a:cs typeface="Times New Roman" panose="02020603050405020304" pitchFamily="18" charset="0"/>
              </a:rPr>
              <a:t>Key Concepts:</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Transactions</a:t>
            </a:r>
            <a:r>
              <a:rPr lang="en-US" sz="1800" dirty="0">
                <a:latin typeface="Times New Roman" panose="02020603050405020304" pitchFamily="18" charset="0"/>
                <a:cs typeface="Times New Roman" panose="02020603050405020304" pitchFamily="18" charset="0"/>
              </a:rPr>
              <a:t>: Independent units of work or requests that users initiate. Each transaction triggers a specific path of processes depending on the input.</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Decision-Making</a:t>
            </a:r>
            <a:r>
              <a:rPr lang="en-US" sz="1800" dirty="0">
                <a:latin typeface="Times New Roman" panose="02020603050405020304" pitchFamily="18" charset="0"/>
                <a:cs typeface="Times New Roman" panose="02020603050405020304" pitchFamily="18" charset="0"/>
              </a:rPr>
              <a:t>: A central decision or choice determines which path or set of processes should be triggered based on the type of transaction.</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Paths</a:t>
            </a:r>
            <a:r>
              <a:rPr lang="en-US" sz="1800" dirty="0">
                <a:latin typeface="Times New Roman" panose="02020603050405020304" pitchFamily="18" charset="0"/>
                <a:cs typeface="Times New Roman" panose="02020603050405020304" pitchFamily="18" charset="0"/>
              </a:rPr>
              <a:t>: Each path represents a sequence of processes that corresponds to a specific transaction type.</a:t>
            </a:r>
          </a:p>
          <a:p>
            <a:pPr algn="just"/>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76748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59822"/>
            <a:ext cx="10972800" cy="546930"/>
          </a:xfrm>
        </p:spPr>
        <p:txBody>
          <a:bodyPr>
            <a:normAutofit fontScale="90000"/>
          </a:bodyPr>
          <a:lstStyle/>
          <a:p>
            <a:r>
              <a:rPr lang="en-IN" sz="3200" dirty="0"/>
              <a:t>Structured Design</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606752"/>
            <a:ext cx="11098138" cy="5519413"/>
          </a:xfrm>
        </p:spPr>
        <p:txBody>
          <a:bodyPr>
            <a:normAutofit lnSpcReduction="10000"/>
          </a:bodyPr>
          <a:lstStyle/>
          <a:p>
            <a:pPr marL="0" indent="0" algn="just">
              <a:buNone/>
            </a:pPr>
            <a:r>
              <a:rPr lang="en-US" sz="1800" b="1" dirty="0">
                <a:latin typeface="Times New Roman" panose="02020603050405020304" pitchFamily="18" charset="0"/>
                <a:cs typeface="Times New Roman" panose="02020603050405020304" pitchFamily="18" charset="0"/>
              </a:rPr>
              <a:t>Steps in Transaction Analysis:</a:t>
            </a:r>
          </a:p>
          <a:p>
            <a:pPr algn="just">
              <a:buFont typeface="+mj-lt"/>
              <a:buAutoNum type="arabicPeriod"/>
            </a:pPr>
            <a:r>
              <a:rPr lang="en-US" sz="1800" dirty="0">
                <a:latin typeface="Times New Roman" panose="02020603050405020304" pitchFamily="18" charset="0"/>
                <a:cs typeface="Times New Roman" panose="02020603050405020304" pitchFamily="18" charset="0"/>
              </a:rPr>
              <a:t>Identify Transactions: Recognize the different types of user interactions or events that trigger various processes.</a:t>
            </a:r>
          </a:p>
          <a:p>
            <a:pPr algn="just">
              <a:buFont typeface="+mj-lt"/>
              <a:buAutoNum type="arabicPeriod"/>
            </a:pPr>
            <a:r>
              <a:rPr lang="en-US" sz="1800" dirty="0">
                <a:latin typeface="Times New Roman" panose="02020603050405020304" pitchFamily="18" charset="0"/>
                <a:cs typeface="Times New Roman" panose="02020603050405020304" pitchFamily="18" charset="0"/>
              </a:rPr>
              <a:t>Identify the Decision Point: Locate where the system decides which transaction path to follow.</a:t>
            </a:r>
          </a:p>
          <a:p>
            <a:pPr algn="just">
              <a:buFont typeface="+mj-lt"/>
              <a:buAutoNum type="arabicPeriod"/>
            </a:pPr>
            <a:r>
              <a:rPr lang="en-US" sz="1800" dirty="0">
                <a:latin typeface="Times New Roman" panose="02020603050405020304" pitchFamily="18" charset="0"/>
                <a:cs typeface="Times New Roman" panose="02020603050405020304" pitchFamily="18" charset="0"/>
              </a:rPr>
              <a:t>Define Transaction Paths: For each transaction, identify the set of processes that need to be executed.</a:t>
            </a:r>
          </a:p>
          <a:p>
            <a:pPr algn="just">
              <a:buFont typeface="+mj-lt"/>
              <a:buAutoNum type="arabicPeriod"/>
            </a:pPr>
            <a:r>
              <a:rPr lang="en-US" sz="1800" dirty="0">
                <a:latin typeface="Times New Roman" panose="02020603050405020304" pitchFamily="18" charset="0"/>
                <a:cs typeface="Times New Roman" panose="02020603050405020304" pitchFamily="18" charset="0"/>
              </a:rPr>
              <a:t>Draw a Structure Chart: Use this to map decision points and different process paths into a hierarchical structure.</a:t>
            </a:r>
          </a:p>
          <a:p>
            <a:pPr marL="0" indent="0" algn="just">
              <a:buNone/>
            </a:pPr>
            <a:r>
              <a:rPr lang="en-US" sz="1800" b="1" dirty="0">
                <a:latin typeface="Times New Roman" panose="02020603050405020304" pitchFamily="18" charset="0"/>
                <a:cs typeface="Times New Roman" panose="02020603050405020304" pitchFamily="18" charset="0"/>
              </a:rPr>
              <a:t>Library management System</a:t>
            </a:r>
          </a:p>
          <a:p>
            <a:pPr algn="just">
              <a:buFont typeface="+mj-lt"/>
              <a:buAutoNum type="arabicPeriod"/>
            </a:pPr>
            <a:r>
              <a:rPr lang="en-US" sz="1800" dirty="0">
                <a:latin typeface="Times New Roman" panose="02020603050405020304" pitchFamily="18" charset="0"/>
                <a:cs typeface="Times New Roman" panose="02020603050405020304" pitchFamily="18" charset="0"/>
              </a:rPr>
              <a:t>Transactions: Searching for a book, issuing a book, and returning a book are different transactions.</a:t>
            </a:r>
          </a:p>
          <a:p>
            <a:pPr algn="just">
              <a:buFont typeface="+mj-lt"/>
              <a:buAutoNum type="arabicPeriod"/>
            </a:pPr>
            <a:r>
              <a:rPr lang="en-US" sz="1800" dirty="0">
                <a:latin typeface="Times New Roman" panose="02020603050405020304" pitchFamily="18" charset="0"/>
                <a:cs typeface="Times New Roman" panose="02020603050405020304" pitchFamily="18" charset="0"/>
              </a:rPr>
              <a:t>Decision Point: Based on the student's request (whether they want to search, issue, or return a book), the system decides which transaction path to follow.</a:t>
            </a:r>
          </a:p>
          <a:p>
            <a:pPr algn="just">
              <a:buFont typeface="+mj-lt"/>
              <a:buAutoNum type="arabicPeriod"/>
            </a:pPr>
            <a:r>
              <a:rPr lang="en-US" sz="1800" dirty="0">
                <a:latin typeface="Times New Roman" panose="02020603050405020304" pitchFamily="18" charset="0"/>
                <a:cs typeface="Times New Roman" panose="02020603050405020304" pitchFamily="18" charset="0"/>
              </a:rPr>
              <a:t>Paths:</a:t>
            </a:r>
          </a:p>
          <a:p>
            <a:pPr lvl="1" algn="just">
              <a:buFont typeface="+mj-lt"/>
              <a:buAutoNum type="arabicPeriod"/>
            </a:pPr>
            <a:r>
              <a:rPr lang="en-US" sz="1800" dirty="0">
                <a:latin typeface="Times New Roman" panose="02020603050405020304" pitchFamily="18" charset="0"/>
                <a:cs typeface="Times New Roman" panose="02020603050405020304" pitchFamily="18" charset="0"/>
              </a:rPr>
              <a:t>If the student searches for a book, the system goes through the "Search Book" path.</a:t>
            </a:r>
          </a:p>
          <a:p>
            <a:pPr lvl="1" algn="just">
              <a:buFont typeface="+mj-lt"/>
              <a:buAutoNum type="arabicPeriod"/>
            </a:pPr>
            <a:r>
              <a:rPr lang="en-US" sz="1800" dirty="0">
                <a:latin typeface="Times New Roman" panose="02020603050405020304" pitchFamily="18" charset="0"/>
                <a:cs typeface="Times New Roman" panose="02020603050405020304" pitchFamily="18" charset="0"/>
              </a:rPr>
              <a:t>If the student wants to issue a book, the system goes through the "Issue Book" path.</a:t>
            </a:r>
          </a:p>
          <a:p>
            <a:pPr lvl="1" algn="just">
              <a:buFont typeface="+mj-lt"/>
              <a:buAutoNum type="arabicPeriod"/>
            </a:pPr>
            <a:r>
              <a:rPr lang="en-US" sz="1800" dirty="0">
                <a:latin typeface="Times New Roman" panose="02020603050405020304" pitchFamily="18" charset="0"/>
                <a:cs typeface="Times New Roman" panose="02020603050405020304" pitchFamily="18" charset="0"/>
              </a:rPr>
              <a:t>If the student wants to return a book, the system follows the "Return Book" path.</a:t>
            </a:r>
          </a:p>
          <a:p>
            <a:pPr lvl="1" algn="just">
              <a:buFont typeface="+mj-lt"/>
              <a:buAutoNum type="arabicPeriod"/>
            </a:pPr>
            <a:r>
              <a:rPr lang="en-US" sz="1800" dirty="0">
                <a:latin typeface="Times New Roman" panose="02020603050405020304" pitchFamily="18" charset="0"/>
                <a:cs typeface="Times New Roman" panose="02020603050405020304" pitchFamily="18" charset="0"/>
              </a:rPr>
              <a:t>The Structure Chart will have different branches for each transaction, with a decision point module to direct the flow.</a:t>
            </a:r>
          </a:p>
          <a:p>
            <a:pPr algn="just">
              <a:buFont typeface="+mj-lt"/>
              <a:buAutoNum type="arabicPeriod"/>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84065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59822"/>
            <a:ext cx="10972800" cy="546930"/>
          </a:xfrm>
        </p:spPr>
        <p:txBody>
          <a:bodyPr>
            <a:normAutofit fontScale="90000"/>
          </a:bodyPr>
          <a:lstStyle/>
          <a:p>
            <a:r>
              <a:rPr lang="en-IN" sz="3200" dirty="0"/>
              <a:t>Structured Design</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606752"/>
            <a:ext cx="11098138" cy="5519413"/>
          </a:xfrm>
        </p:spPr>
        <p:txBody>
          <a:bodyPr>
            <a:normAutofit fontScale="92500" lnSpcReduction="10000"/>
          </a:bodyPr>
          <a:lstStyle/>
          <a:p>
            <a:pPr marL="0" indent="0" algn="just">
              <a:buNone/>
            </a:pPr>
            <a:r>
              <a:rPr lang="en-US" sz="1800" dirty="0">
                <a:latin typeface="Times New Roman" panose="02020603050405020304" pitchFamily="18" charset="0"/>
                <a:cs typeface="Times New Roman" panose="02020603050405020304" pitchFamily="18" charset="0"/>
              </a:rPr>
              <a:t>1. Transaction Analysis:</a:t>
            </a:r>
          </a:p>
          <a:p>
            <a:pPr marL="0" indent="0" algn="just">
              <a:buNone/>
            </a:pPr>
            <a:endParaRPr lang="en-US" sz="1800" dirty="0">
              <a:latin typeface="Times New Roman" panose="02020603050405020304" pitchFamily="18" charset="0"/>
              <a:cs typeface="Times New Roman" panose="02020603050405020304" pitchFamily="18" charset="0"/>
            </a:endParaRPr>
          </a:p>
          <a:p>
            <a:pPr lvl="1" algn="just">
              <a:buFont typeface="+mj-lt"/>
              <a:buAutoNum type="arabicPeriod"/>
            </a:pPr>
            <a:r>
              <a:rPr lang="en-US" sz="1800" dirty="0">
                <a:latin typeface="Times New Roman" panose="02020603050405020304" pitchFamily="18" charset="0"/>
                <a:cs typeface="Times New Roman" panose="02020603050405020304" pitchFamily="18" charset="0"/>
              </a:rPr>
              <a:t>When a student interacts with the system, they may want to:</a:t>
            </a:r>
          </a:p>
          <a:p>
            <a:pPr lvl="1" algn="just">
              <a:buFont typeface="+mj-lt"/>
              <a:buAutoNum type="arabicPeriod"/>
            </a:pPr>
            <a:r>
              <a:rPr lang="en-US" sz="1800" dirty="0">
                <a:latin typeface="Times New Roman" panose="02020603050405020304" pitchFamily="18" charset="0"/>
                <a:cs typeface="Times New Roman" panose="02020603050405020304" pitchFamily="18" charset="0"/>
              </a:rPr>
              <a:t>Search for a book (Transaction 1)</a:t>
            </a:r>
          </a:p>
          <a:p>
            <a:pPr lvl="1" algn="just">
              <a:buFont typeface="+mj-lt"/>
              <a:buAutoNum type="arabicPeriod"/>
            </a:pPr>
            <a:r>
              <a:rPr lang="en-US" sz="1800" dirty="0">
                <a:latin typeface="Times New Roman" panose="02020603050405020304" pitchFamily="18" charset="0"/>
                <a:cs typeface="Times New Roman" panose="02020603050405020304" pitchFamily="18" charset="0"/>
              </a:rPr>
              <a:t>Issue a book (Transaction 2)</a:t>
            </a:r>
          </a:p>
          <a:p>
            <a:pPr lvl="1" algn="just">
              <a:buFont typeface="+mj-lt"/>
              <a:buAutoNum type="arabicPeriod"/>
            </a:pPr>
            <a:r>
              <a:rPr lang="en-US" sz="1800" dirty="0">
                <a:latin typeface="Times New Roman" panose="02020603050405020304" pitchFamily="18" charset="0"/>
                <a:cs typeface="Times New Roman" panose="02020603050405020304" pitchFamily="18" charset="0"/>
              </a:rPr>
              <a:t>Return a book (Transaction 3)</a:t>
            </a:r>
          </a:p>
          <a:p>
            <a:pPr lvl="1" algn="just">
              <a:buFont typeface="+mj-lt"/>
              <a:buAutoNum type="arabicPeriod"/>
            </a:pPr>
            <a:r>
              <a:rPr lang="en-US" sz="1800" dirty="0">
                <a:latin typeface="Times New Roman" panose="02020603050405020304" pitchFamily="18" charset="0"/>
                <a:cs typeface="Times New Roman" panose="02020603050405020304" pitchFamily="18" charset="0"/>
              </a:rPr>
              <a:t>A decision point in the system determines which of these actions is being requested.</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2. Transform Analysis (for each transaction):</a:t>
            </a:r>
          </a:p>
          <a:p>
            <a:pPr marL="0" indent="0" algn="just">
              <a:buNone/>
            </a:pPr>
            <a:endParaRPr lang="en-US" sz="1800" dirty="0">
              <a:latin typeface="Times New Roman" panose="02020603050405020304" pitchFamily="18" charset="0"/>
              <a:cs typeface="Times New Roman" panose="02020603050405020304" pitchFamily="18" charset="0"/>
            </a:endParaRPr>
          </a:p>
          <a:p>
            <a:pPr lvl="1" algn="just">
              <a:buFont typeface="+mj-lt"/>
              <a:buAutoNum type="arabicPeriod"/>
            </a:pPr>
            <a:r>
              <a:rPr lang="en-US" sz="1800" dirty="0">
                <a:latin typeface="Times New Roman" panose="02020603050405020304" pitchFamily="18" charset="0"/>
                <a:cs typeface="Times New Roman" panose="02020603050405020304" pitchFamily="18" charset="0"/>
              </a:rPr>
              <a:t>Search Book: Input (search query) → Transform (search library database) → Output (book results).</a:t>
            </a:r>
          </a:p>
          <a:p>
            <a:pPr lvl="1" algn="just">
              <a:buFont typeface="+mj-lt"/>
              <a:buAutoNum type="arabicPeriod"/>
            </a:pPr>
            <a:r>
              <a:rPr lang="en-US" sz="1800" dirty="0">
                <a:latin typeface="Times New Roman" panose="02020603050405020304" pitchFamily="18" charset="0"/>
                <a:cs typeface="Times New Roman" panose="02020603050405020304" pitchFamily="18" charset="0"/>
              </a:rPr>
              <a:t>Issue Book: Input (book ID, student ID) → Transform (check availability, update inventory) → Output (transaction record).</a:t>
            </a:r>
          </a:p>
          <a:p>
            <a:pPr lvl="1" algn="just">
              <a:buFont typeface="+mj-lt"/>
              <a:buAutoNum type="arabicPeriod"/>
            </a:pPr>
            <a:r>
              <a:rPr lang="en-US" sz="1800" dirty="0">
                <a:latin typeface="Times New Roman" panose="02020603050405020304" pitchFamily="18" charset="0"/>
                <a:cs typeface="Times New Roman" panose="02020603050405020304" pitchFamily="18" charset="0"/>
              </a:rPr>
              <a:t>Return Book: Input (book ID, student ID) → Transform (update inventory) → Output (transaction record).</a:t>
            </a:r>
          </a:p>
          <a:p>
            <a:pPr lvl="1" algn="just">
              <a:buFont typeface="+mj-lt"/>
              <a:buAutoNum type="arabicPeriod"/>
            </a:pPr>
            <a:r>
              <a:rPr lang="en-US" sz="1800" dirty="0">
                <a:latin typeface="Times New Roman" panose="02020603050405020304" pitchFamily="18" charset="0"/>
                <a:cs typeface="Times New Roman" panose="02020603050405020304" pitchFamily="18" charset="0"/>
              </a:rPr>
              <a:t>By using both techniques, create a Structure Chart that maps the data flow (Transform Analysis) and decision-making processes (Transaction Analysis) in a system.</a:t>
            </a:r>
          </a:p>
        </p:txBody>
      </p:sp>
    </p:spTree>
    <p:extLst>
      <p:ext uri="{BB962C8B-B14F-4D97-AF65-F5344CB8AC3E}">
        <p14:creationId xmlns:p14="http://schemas.microsoft.com/office/powerpoint/2010/main" val="37403630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59822"/>
            <a:ext cx="10972800" cy="546930"/>
          </a:xfrm>
        </p:spPr>
        <p:txBody>
          <a:bodyPr>
            <a:normAutofit fontScale="90000"/>
          </a:bodyPr>
          <a:lstStyle/>
          <a:p>
            <a:r>
              <a:rPr lang="en-IN" sz="3200" dirty="0"/>
              <a:t>Structured Design - LMS</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606752"/>
            <a:ext cx="11098138" cy="5519413"/>
          </a:xfrm>
        </p:spPr>
        <p:txBody>
          <a:bodyPr/>
          <a:lstStyle/>
          <a:p>
            <a:pPr marL="0" indent="0" algn="just">
              <a:buNone/>
            </a:pPr>
            <a:r>
              <a:rPr lang="en-US" sz="1800" dirty="0">
                <a:latin typeface="Times New Roman" panose="02020603050405020304" pitchFamily="18" charset="0"/>
                <a:cs typeface="Times New Roman" panose="02020603050405020304" pitchFamily="18" charset="0"/>
              </a:rPr>
              <a:t>To Convert a Library Management System (LMS) from Structured Analysis (DFDs) to Structured Design (Structure Chart) using both Transform Analysis and Transaction Analysis:</a:t>
            </a:r>
          </a:p>
          <a:p>
            <a:pPr marL="0" indent="0" algn="just">
              <a:buNone/>
            </a:pPr>
            <a:r>
              <a:rPr lang="en-US" sz="1800" b="1" dirty="0">
                <a:latin typeface="Times New Roman" panose="02020603050405020304" pitchFamily="18" charset="0"/>
                <a:cs typeface="Times New Roman" panose="02020603050405020304" pitchFamily="18" charset="0"/>
              </a:rPr>
              <a:t>Structured Analysis</a:t>
            </a:r>
          </a:p>
          <a:p>
            <a:pPr marL="0" indent="0" algn="just">
              <a:buNone/>
            </a:pPr>
            <a:r>
              <a:rPr lang="en-US" sz="1800" dirty="0">
                <a:latin typeface="Times New Roman" panose="02020603050405020304" pitchFamily="18" charset="0"/>
                <a:cs typeface="Times New Roman" panose="02020603050405020304" pitchFamily="18" charset="0"/>
              </a:rPr>
              <a:t>Structured analysis begins with modeling the system using Data Flow Diagrams (DFDs), where the system's functions and data movement are represented.</a:t>
            </a:r>
          </a:p>
          <a:p>
            <a:pPr marL="0" indent="0" algn="just">
              <a:buNone/>
            </a:pPr>
            <a:r>
              <a:rPr lang="en-US" sz="1800" b="1" dirty="0">
                <a:latin typeface="Times New Roman" panose="02020603050405020304" pitchFamily="18" charset="0"/>
                <a:cs typeface="Times New Roman" panose="02020603050405020304" pitchFamily="18" charset="0"/>
              </a:rPr>
              <a:t>Actors:</a:t>
            </a:r>
          </a:p>
          <a:p>
            <a:pPr marL="0" indent="0" algn="just">
              <a:buNone/>
            </a:pPr>
            <a:r>
              <a:rPr lang="en-US" sz="1800" dirty="0">
                <a:latin typeface="Times New Roman" panose="02020603050405020304" pitchFamily="18" charset="0"/>
                <a:cs typeface="Times New Roman" panose="02020603050405020304" pitchFamily="18" charset="0"/>
              </a:rPr>
              <a:t>Student: Searches, issues, and returns books.</a:t>
            </a:r>
          </a:p>
          <a:p>
            <a:pPr marL="0" indent="0" algn="just">
              <a:buNone/>
            </a:pPr>
            <a:r>
              <a:rPr lang="en-US" sz="1800" dirty="0">
                <a:latin typeface="Times New Roman" panose="02020603050405020304" pitchFamily="18" charset="0"/>
                <a:cs typeface="Times New Roman" panose="02020603050405020304" pitchFamily="18" charset="0"/>
              </a:rPr>
              <a:t>Librarian: Updates the inventory and manages transactions.</a:t>
            </a:r>
          </a:p>
          <a:p>
            <a:pPr marL="0" indent="0" algn="just">
              <a:buNone/>
            </a:pPr>
            <a:r>
              <a:rPr lang="en-US" sz="1800" b="1" dirty="0">
                <a:latin typeface="Times New Roman" panose="02020603050405020304" pitchFamily="18" charset="0"/>
                <a:cs typeface="Times New Roman" panose="02020603050405020304" pitchFamily="18" charset="0"/>
              </a:rPr>
              <a:t>Processes:</a:t>
            </a:r>
          </a:p>
          <a:p>
            <a:pPr marL="0" indent="0" algn="just">
              <a:buNone/>
            </a:pPr>
            <a:r>
              <a:rPr lang="en-US" sz="1800" dirty="0">
                <a:latin typeface="Times New Roman" panose="02020603050405020304" pitchFamily="18" charset="0"/>
                <a:cs typeface="Times New Roman" panose="02020603050405020304" pitchFamily="18" charset="0"/>
              </a:rPr>
              <a:t>Search Book: Students can search for available books.</a:t>
            </a:r>
          </a:p>
          <a:p>
            <a:pPr marL="0" indent="0" algn="just">
              <a:buNone/>
            </a:pPr>
            <a:r>
              <a:rPr lang="en-US" sz="1800" dirty="0">
                <a:latin typeface="Times New Roman" panose="02020603050405020304" pitchFamily="18" charset="0"/>
                <a:cs typeface="Times New Roman" panose="02020603050405020304" pitchFamily="18" charset="0"/>
              </a:rPr>
              <a:t>Issue Book: Students can request books to be issued.</a:t>
            </a:r>
          </a:p>
          <a:p>
            <a:pPr marL="0" indent="0" algn="just">
              <a:buNone/>
            </a:pPr>
            <a:r>
              <a:rPr lang="en-US" sz="1800" dirty="0">
                <a:latin typeface="Times New Roman" panose="02020603050405020304" pitchFamily="18" charset="0"/>
                <a:cs typeface="Times New Roman" panose="02020603050405020304" pitchFamily="18" charset="0"/>
              </a:rPr>
              <a:t>Return Book: Students can return borrowed books.</a:t>
            </a:r>
          </a:p>
          <a:p>
            <a:pPr marL="0" indent="0" algn="just">
              <a:buNone/>
            </a:pPr>
            <a:r>
              <a:rPr lang="en-US" sz="1800" dirty="0">
                <a:latin typeface="Times New Roman" panose="02020603050405020304" pitchFamily="18" charset="0"/>
                <a:cs typeface="Times New Roman" panose="02020603050405020304" pitchFamily="18" charset="0"/>
              </a:rPr>
              <a:t>Update Inventory: The librarian updates the library's inventory based on issued/returned books.</a:t>
            </a:r>
          </a:p>
          <a:p>
            <a:pPr marL="0" indent="0" algn="just">
              <a:buNone/>
            </a:pPr>
            <a:r>
              <a:rPr lang="en-US" sz="1800" dirty="0">
                <a:latin typeface="Times New Roman" panose="02020603050405020304" pitchFamily="18" charset="0"/>
                <a:cs typeface="Times New Roman" panose="02020603050405020304" pitchFamily="18" charset="0"/>
              </a:rPr>
              <a:t>Manage Book Database: Maintain the central database of books and transactions.</a:t>
            </a:r>
          </a:p>
        </p:txBody>
      </p:sp>
    </p:spTree>
    <p:extLst>
      <p:ext uri="{BB962C8B-B14F-4D97-AF65-F5344CB8AC3E}">
        <p14:creationId xmlns:p14="http://schemas.microsoft.com/office/powerpoint/2010/main" val="3352766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59822"/>
            <a:ext cx="10972800" cy="546930"/>
          </a:xfrm>
        </p:spPr>
        <p:txBody>
          <a:bodyPr>
            <a:normAutofit fontScale="90000"/>
          </a:bodyPr>
          <a:lstStyle/>
          <a:p>
            <a:r>
              <a:rPr lang="en-IN" sz="3200" dirty="0"/>
              <a:t>Structured Design - LMS</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606752"/>
            <a:ext cx="11098138" cy="5519413"/>
          </a:xfrm>
        </p:spPr>
        <p:txBody>
          <a:bodyPr/>
          <a:lstStyle/>
          <a:p>
            <a:pPr marL="0" indent="0" algn="just">
              <a:buNone/>
            </a:pPr>
            <a:r>
              <a:rPr lang="en-US" sz="1800" b="1" dirty="0">
                <a:latin typeface="Times New Roman" panose="02020603050405020304" pitchFamily="18" charset="0"/>
                <a:cs typeface="Times New Roman" panose="02020603050405020304" pitchFamily="18" charset="0"/>
              </a:rPr>
              <a:t>1. Context diagram</a:t>
            </a:r>
            <a:r>
              <a:rPr lang="en-US" sz="1800" dirty="0">
                <a:latin typeface="Times New Roman" panose="02020603050405020304" pitchFamily="18" charset="0"/>
                <a:cs typeface="Times New Roman" panose="02020603050405020304" pitchFamily="18" charset="0"/>
              </a:rPr>
              <a:t> - Level 0 shows the overall system at high level.</a:t>
            </a:r>
          </a:p>
          <a:p>
            <a:pPr marL="0" indent="0" algn="just">
              <a:buNone/>
            </a:pPr>
            <a:r>
              <a:rPr lang="en-US" sz="1800" dirty="0">
                <a:latin typeface="Times New Roman" panose="02020603050405020304" pitchFamily="18" charset="0"/>
                <a:cs typeface="Times New Roman" panose="02020603050405020304" pitchFamily="18" charset="0"/>
              </a:rPr>
              <a:t>Student      ----&gt;   Library Management System     ----&gt;    Librarian     </a:t>
            </a:r>
          </a:p>
          <a:p>
            <a:pPr marL="0" indent="0" algn="just">
              <a:buNone/>
            </a:pPr>
            <a:r>
              <a:rPr lang="en-US" sz="1800" b="1" dirty="0">
                <a:latin typeface="Times New Roman" panose="02020603050405020304" pitchFamily="18" charset="0"/>
                <a:cs typeface="Times New Roman" panose="02020603050405020304" pitchFamily="18" charset="0"/>
              </a:rPr>
              <a:t>Level 1 DFD Expanding the processes</a:t>
            </a:r>
          </a:p>
          <a:p>
            <a:pPr marL="0" indent="0" algn="just">
              <a:buNone/>
            </a:pPr>
            <a:r>
              <a:rPr lang="en-US" sz="1800" dirty="0">
                <a:latin typeface="Times New Roman" panose="02020603050405020304" pitchFamily="18" charset="0"/>
                <a:cs typeface="Times New Roman" panose="02020603050405020304" pitchFamily="18" charset="0"/>
              </a:rPr>
              <a:t>   Student      ---Search Query--&gt;   Search Book     ---Book List----&gt;   Display Book  </a:t>
            </a:r>
          </a:p>
          <a:p>
            <a:pPr marL="0" indent="0" algn="just">
              <a:buNone/>
            </a:pPr>
            <a:r>
              <a:rPr lang="en-US" sz="1800" dirty="0">
                <a:latin typeface="Times New Roman" panose="02020603050405020304" pitchFamily="18" charset="0"/>
                <a:cs typeface="Times New Roman" panose="02020603050405020304" pitchFamily="18" charset="0"/>
              </a:rPr>
              <a:t>                                        |</a:t>
            </a:r>
          </a:p>
          <a:p>
            <a:pPr marL="0" indent="0" algn="just">
              <a:buNone/>
            </a:pPr>
            <a:r>
              <a:rPr lang="en-US" sz="1800" dirty="0">
                <a:latin typeface="Times New Roman" panose="02020603050405020304" pitchFamily="18" charset="0"/>
                <a:cs typeface="Times New Roman" panose="02020603050405020304" pitchFamily="18" charset="0"/>
              </a:rPr>
              <a:t>Issue Book     ---Update Record---&gt;  Update Database</a:t>
            </a:r>
          </a:p>
          <a:p>
            <a:pPr marL="0" indent="0" algn="just">
              <a:buNone/>
            </a:pPr>
            <a:r>
              <a:rPr lang="en-US" sz="1800" dirty="0">
                <a:latin typeface="Times New Roman" panose="02020603050405020304" pitchFamily="18" charset="0"/>
                <a:cs typeface="Times New Roman" panose="02020603050405020304" pitchFamily="18" charset="0"/>
              </a:rPr>
              <a:t>		         |</a:t>
            </a:r>
          </a:p>
          <a:p>
            <a:pPr marL="0" indent="0" algn="just">
              <a:buNone/>
            </a:pPr>
            <a:r>
              <a:rPr lang="en-US" sz="1800" dirty="0">
                <a:latin typeface="Times New Roman" panose="02020603050405020304" pitchFamily="18" charset="0"/>
                <a:cs typeface="Times New Roman" panose="02020603050405020304" pitchFamily="18" charset="0"/>
              </a:rPr>
              <a:t>                             </a:t>
            </a:r>
          </a:p>
          <a:p>
            <a:pPr marL="0" indent="0" algn="just">
              <a:buNone/>
            </a:pPr>
            <a:r>
              <a:rPr lang="en-US" sz="1800" dirty="0">
                <a:latin typeface="Times New Roman" panose="02020603050405020304" pitchFamily="18" charset="0"/>
                <a:cs typeface="Times New Roman" panose="02020603050405020304" pitchFamily="18" charset="0"/>
              </a:rPr>
              <a:t>                             Return Book    --Return Details--&gt;   Update Database</a:t>
            </a:r>
          </a:p>
          <a:p>
            <a:pPr marL="0" indent="0" algn="just">
              <a:buNone/>
            </a:pPr>
            <a:r>
              <a:rPr lang="en-US" sz="1800" dirty="0">
                <a:latin typeface="Times New Roman" panose="02020603050405020304" pitchFamily="18" charset="0"/>
                <a:cs typeface="Times New Roman" panose="02020603050405020304" pitchFamily="18" charset="0"/>
              </a:rPr>
              <a:t>                                        |</a:t>
            </a:r>
          </a:p>
          <a:p>
            <a:pPr marL="0" indent="0" algn="just">
              <a:buNone/>
            </a:pPr>
            <a:r>
              <a:rPr lang="en-US" sz="1800" dirty="0">
                <a:latin typeface="Times New Roman" panose="02020603050405020304" pitchFamily="18" charset="0"/>
                <a:cs typeface="Times New Roman" panose="02020603050405020304" pitchFamily="18" charset="0"/>
              </a:rPr>
              <a:t>		   Update Inventory </a:t>
            </a:r>
          </a:p>
          <a:p>
            <a:pPr marL="0" indent="0" algn="just">
              <a:buNone/>
            </a:pPr>
            <a:r>
              <a:rPr lang="en-US" sz="1800" dirty="0">
                <a:latin typeface="Times New Roman" panose="02020603050405020304" pitchFamily="18" charset="0"/>
                <a:cs typeface="Times New Roman" panose="02020603050405020304" pitchFamily="18" charset="0"/>
              </a:rPr>
              <a:t>		        |</a:t>
            </a:r>
          </a:p>
          <a:p>
            <a:pPr marL="0" indent="0" algn="just">
              <a:buNone/>
            </a:pPr>
            <a:r>
              <a:rPr lang="en-US" sz="1800" dirty="0">
                <a:latin typeface="Times New Roman" panose="02020603050405020304" pitchFamily="18" charset="0"/>
                <a:cs typeface="Times New Roman" panose="02020603050405020304" pitchFamily="18" charset="0"/>
              </a:rPr>
              <a:t>		   Library Database </a:t>
            </a:r>
          </a:p>
          <a:p>
            <a:pPr marL="0" indent="0" algn="just">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65903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59822"/>
            <a:ext cx="10972800" cy="546930"/>
          </a:xfrm>
        </p:spPr>
        <p:txBody>
          <a:bodyPr>
            <a:normAutofit fontScale="90000"/>
          </a:bodyPr>
          <a:lstStyle/>
          <a:p>
            <a:r>
              <a:rPr lang="en-IN" sz="3200" dirty="0"/>
              <a:t>Structured Design - LMS</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606752"/>
            <a:ext cx="11098138" cy="5519413"/>
          </a:xfrm>
        </p:spPr>
        <p:txBody>
          <a:bodyPr>
            <a:normAutofit fontScale="85000" lnSpcReduction="10000"/>
          </a:bodyPr>
          <a:lstStyle/>
          <a:p>
            <a:pPr marL="0" indent="0" algn="just">
              <a:buNone/>
            </a:pPr>
            <a:r>
              <a:rPr lang="en-US" sz="1800" b="1" dirty="0">
                <a:latin typeface="Times New Roman" panose="02020603050405020304" pitchFamily="18" charset="0"/>
                <a:cs typeface="Times New Roman" panose="02020603050405020304" pitchFamily="18" charset="0"/>
              </a:rPr>
              <a:t>2. Transform Analysis for LMS</a:t>
            </a:r>
          </a:p>
          <a:p>
            <a:pPr marL="0" indent="0" algn="just">
              <a:buNone/>
            </a:pPr>
            <a:r>
              <a:rPr lang="en-US" sz="1800" dirty="0">
                <a:latin typeface="Times New Roman" panose="02020603050405020304" pitchFamily="18" charset="0"/>
                <a:cs typeface="Times New Roman" panose="02020603050405020304" pitchFamily="18" charset="0"/>
              </a:rPr>
              <a:t>Transform Analysis is used for modules where data undergoes sequential processing. This will help break down the input-process-output sequence for parts of the LMS.</a:t>
            </a:r>
          </a:p>
          <a:p>
            <a:pPr marL="0" indent="0" algn="just">
              <a:buNone/>
            </a:pPr>
            <a:r>
              <a:rPr lang="en-US" sz="1800" dirty="0">
                <a:latin typeface="Times New Roman" panose="02020603050405020304" pitchFamily="18" charset="0"/>
                <a:cs typeface="Times New Roman" panose="02020603050405020304" pitchFamily="18" charset="0"/>
              </a:rPr>
              <a:t>Identify Afferent (Input) Stream:</a:t>
            </a:r>
          </a:p>
          <a:p>
            <a:pPr marL="400050" lvl="1" indent="0" algn="just">
              <a:buNone/>
            </a:pPr>
            <a:r>
              <a:rPr lang="en-US" sz="1800" dirty="0">
                <a:latin typeface="Times New Roman" panose="02020603050405020304" pitchFamily="18" charset="0"/>
                <a:cs typeface="Times New Roman" panose="02020603050405020304" pitchFamily="18" charset="0"/>
              </a:rPr>
              <a:t>Search Query from the student and Return Book details are inputs to the system.</a:t>
            </a:r>
          </a:p>
          <a:p>
            <a:pPr marL="400050" lvl="1" indent="0" algn="just">
              <a:buNone/>
            </a:pPr>
            <a:r>
              <a:rPr lang="en-US" sz="1800" dirty="0">
                <a:latin typeface="Times New Roman" panose="02020603050405020304" pitchFamily="18" charset="0"/>
                <a:cs typeface="Times New Roman" panose="02020603050405020304" pitchFamily="18" charset="0"/>
              </a:rPr>
              <a:t>Issue Book request is also part of the afferent stream.</a:t>
            </a:r>
          </a:p>
          <a:p>
            <a:pPr marL="0" indent="0" algn="just">
              <a:buNone/>
            </a:pPr>
            <a:r>
              <a:rPr lang="en-US" sz="1800" dirty="0">
                <a:latin typeface="Times New Roman" panose="02020603050405020304" pitchFamily="18" charset="0"/>
                <a:cs typeface="Times New Roman" panose="02020603050405020304" pitchFamily="18" charset="0"/>
              </a:rPr>
              <a:t>Identify Transform Center:</a:t>
            </a:r>
          </a:p>
          <a:p>
            <a:pPr marL="400050" lvl="1" indent="0" algn="just">
              <a:buNone/>
            </a:pPr>
            <a:r>
              <a:rPr lang="en-US" sz="1800" dirty="0">
                <a:latin typeface="Times New Roman" panose="02020603050405020304" pitchFamily="18" charset="0"/>
                <a:cs typeface="Times New Roman" panose="02020603050405020304" pitchFamily="18" charset="0"/>
              </a:rPr>
              <a:t>Check Availability of Book: This involves checking if the requested book is available in the library.</a:t>
            </a:r>
          </a:p>
          <a:p>
            <a:pPr marL="400050" lvl="1" indent="0" algn="just">
              <a:buNone/>
            </a:pPr>
            <a:r>
              <a:rPr lang="en-US" sz="1800" dirty="0">
                <a:latin typeface="Times New Roman" panose="02020603050405020304" pitchFamily="18" charset="0"/>
                <a:cs typeface="Times New Roman" panose="02020603050405020304" pitchFamily="18" charset="0"/>
              </a:rPr>
              <a:t>Update Inventory: After issuing or returning a book, inventory needs to be updated.</a:t>
            </a:r>
          </a:p>
          <a:p>
            <a:pPr marL="400050" lvl="1" indent="0" algn="just">
              <a:buNone/>
            </a:pPr>
            <a:r>
              <a:rPr lang="en-US" sz="1800" dirty="0">
                <a:latin typeface="Times New Roman" panose="02020603050405020304" pitchFamily="18" charset="0"/>
                <a:cs typeface="Times New Roman" panose="02020603050405020304" pitchFamily="18" charset="0"/>
              </a:rPr>
              <a:t>Return Book Processing: The system processes the return transaction.</a:t>
            </a:r>
          </a:p>
          <a:p>
            <a:pPr marL="0" indent="0" algn="just">
              <a:buNone/>
            </a:pPr>
            <a:r>
              <a:rPr lang="en-US" sz="1800" dirty="0">
                <a:latin typeface="Times New Roman" panose="02020603050405020304" pitchFamily="18" charset="0"/>
                <a:cs typeface="Times New Roman" panose="02020603050405020304" pitchFamily="18" charset="0"/>
              </a:rPr>
              <a:t>Identify Efferent (Output) Stream:</a:t>
            </a:r>
          </a:p>
          <a:p>
            <a:pPr marL="400050" lvl="1" indent="0" algn="just">
              <a:buNone/>
            </a:pPr>
            <a:r>
              <a:rPr lang="en-US" sz="1800" dirty="0">
                <a:latin typeface="Times New Roman" panose="02020603050405020304" pitchFamily="18" charset="0"/>
                <a:cs typeface="Times New Roman" panose="02020603050405020304" pitchFamily="18" charset="0"/>
              </a:rPr>
              <a:t>The Search Results are displayed to the user.</a:t>
            </a:r>
          </a:p>
          <a:p>
            <a:pPr marL="400050" lvl="1" indent="0" algn="just">
              <a:buNone/>
            </a:pPr>
            <a:r>
              <a:rPr lang="en-US" sz="1800" dirty="0">
                <a:latin typeface="Times New Roman" panose="02020603050405020304" pitchFamily="18" charset="0"/>
                <a:cs typeface="Times New Roman" panose="02020603050405020304" pitchFamily="18" charset="0"/>
              </a:rPr>
              <a:t>Inventory Update and Transaction Logs are sent to the library database.</a:t>
            </a:r>
          </a:p>
          <a:p>
            <a:pPr marL="0" indent="0" algn="just">
              <a:buNone/>
            </a:pPr>
            <a:r>
              <a:rPr lang="en-US" sz="1800" dirty="0">
                <a:latin typeface="Times New Roman" panose="02020603050405020304" pitchFamily="18" charset="0"/>
                <a:cs typeface="Times New Roman" panose="02020603050405020304" pitchFamily="18" charset="0"/>
              </a:rPr>
              <a:t>Mapping Transform Flow (Example: Search Book Process):</a:t>
            </a:r>
          </a:p>
          <a:p>
            <a:pPr lvl="1" algn="just">
              <a:buFont typeface="+mj-lt"/>
              <a:buAutoNum type="arabicPeriod"/>
            </a:pPr>
            <a:r>
              <a:rPr lang="en-US" sz="1800" dirty="0">
                <a:latin typeface="Times New Roman" panose="02020603050405020304" pitchFamily="18" charset="0"/>
                <a:cs typeface="Times New Roman" panose="02020603050405020304" pitchFamily="18" charset="0"/>
              </a:rPr>
              <a:t>Input (Search Query): The student provides search criteria.</a:t>
            </a:r>
          </a:p>
          <a:p>
            <a:pPr lvl="1" algn="just">
              <a:buFont typeface="+mj-lt"/>
              <a:buAutoNum type="arabicPeriod"/>
            </a:pPr>
            <a:r>
              <a:rPr lang="en-US" sz="1800" dirty="0">
                <a:latin typeface="Times New Roman" panose="02020603050405020304" pitchFamily="18" charset="0"/>
                <a:cs typeface="Times New Roman" panose="02020603050405020304" pitchFamily="18" charset="0"/>
              </a:rPr>
              <a:t>Process (Search Book in DB): The system searches the database for matching books.</a:t>
            </a:r>
          </a:p>
          <a:p>
            <a:pPr lvl="1" algn="just">
              <a:buFont typeface="+mj-lt"/>
              <a:buAutoNum type="arabicPeriod"/>
            </a:pPr>
            <a:r>
              <a:rPr lang="en-US" sz="1800" dirty="0">
                <a:latin typeface="Times New Roman" panose="02020603050405020304" pitchFamily="18" charset="0"/>
                <a:cs typeface="Times New Roman" panose="02020603050405020304" pitchFamily="18" charset="0"/>
              </a:rPr>
              <a:t>Output (Display Results): The results are sent back to the student.</a:t>
            </a:r>
          </a:p>
          <a:p>
            <a:pPr marL="0" indent="0" algn="just">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62088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59822"/>
            <a:ext cx="10972800" cy="546930"/>
          </a:xfrm>
        </p:spPr>
        <p:txBody>
          <a:bodyPr>
            <a:normAutofit fontScale="90000"/>
          </a:bodyPr>
          <a:lstStyle/>
          <a:p>
            <a:r>
              <a:rPr lang="en-IN" sz="3200" dirty="0"/>
              <a:t>Structured Design - LMS</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606752"/>
            <a:ext cx="11098138" cy="5519413"/>
          </a:xfrm>
        </p:spPr>
        <p:txBody>
          <a:bodyPr/>
          <a:lstStyle/>
          <a:p>
            <a:pPr marL="0" indent="0" algn="just">
              <a:buNone/>
            </a:pPr>
            <a:r>
              <a:rPr lang="en-US" sz="1800" b="1" dirty="0">
                <a:latin typeface="Times New Roman" panose="02020603050405020304" pitchFamily="18" charset="0"/>
                <a:cs typeface="Times New Roman" panose="02020603050405020304" pitchFamily="18" charset="0"/>
              </a:rPr>
              <a:t>3. Transaction Analysis for LMS</a:t>
            </a:r>
          </a:p>
          <a:p>
            <a:pPr marL="0" indent="0" algn="just">
              <a:buNone/>
            </a:pPr>
            <a:r>
              <a:rPr lang="en-US" sz="1800" dirty="0">
                <a:latin typeface="Times New Roman" panose="02020603050405020304" pitchFamily="18" charset="0"/>
                <a:cs typeface="Times New Roman" panose="02020603050405020304" pitchFamily="18" charset="0"/>
              </a:rPr>
              <a:t>Transaction Analysis helps deal with decision-driven systems where the behavior changes based on user inputs. This is useful for handling different actions like issuing, searching, or returning books.</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Identify Transaction-Centered Modules:</a:t>
            </a:r>
          </a:p>
          <a:p>
            <a:pPr marL="0" indent="0" algn="just">
              <a:buNone/>
            </a:pPr>
            <a:r>
              <a:rPr lang="en-US" sz="1800" dirty="0">
                <a:latin typeface="Times New Roman" panose="02020603050405020304" pitchFamily="18" charset="0"/>
                <a:cs typeface="Times New Roman" panose="02020603050405020304" pitchFamily="18" charset="0"/>
              </a:rPr>
              <a:t>Library Management System: Decides whether to:</a:t>
            </a:r>
          </a:p>
          <a:p>
            <a:pPr marL="400050" lvl="1" indent="0" algn="just">
              <a:buNone/>
            </a:pPr>
            <a:r>
              <a:rPr lang="en-US" sz="1800" dirty="0">
                <a:latin typeface="Times New Roman" panose="02020603050405020304" pitchFamily="18" charset="0"/>
                <a:cs typeface="Times New Roman" panose="02020603050405020304" pitchFamily="18" charset="0"/>
              </a:rPr>
              <a:t>Search for a book</a:t>
            </a:r>
          </a:p>
          <a:p>
            <a:pPr marL="400050" lvl="1" indent="0" algn="just">
              <a:buNone/>
            </a:pPr>
            <a:r>
              <a:rPr lang="en-US" sz="1800" dirty="0">
                <a:latin typeface="Times New Roman" panose="02020603050405020304" pitchFamily="18" charset="0"/>
                <a:cs typeface="Times New Roman" panose="02020603050405020304" pitchFamily="18" charset="0"/>
              </a:rPr>
              <a:t>Issue a book</a:t>
            </a:r>
          </a:p>
          <a:p>
            <a:pPr marL="400050" lvl="1" indent="0" algn="just">
              <a:buNone/>
            </a:pPr>
            <a:r>
              <a:rPr lang="en-US" sz="1800" dirty="0">
                <a:latin typeface="Times New Roman" panose="02020603050405020304" pitchFamily="18" charset="0"/>
                <a:cs typeface="Times New Roman" panose="02020603050405020304" pitchFamily="18" charset="0"/>
              </a:rPr>
              <a:t>Return a book</a:t>
            </a:r>
          </a:p>
          <a:p>
            <a:pPr marL="0" indent="0" algn="just">
              <a:buNone/>
            </a:pPr>
            <a:r>
              <a:rPr lang="en-US" sz="1800" dirty="0">
                <a:latin typeface="Times New Roman" panose="02020603050405020304" pitchFamily="18" charset="0"/>
                <a:cs typeface="Times New Roman" panose="02020603050405020304" pitchFamily="18" charset="0"/>
              </a:rPr>
              <a:t>Define Transaction Paths:</a:t>
            </a:r>
          </a:p>
          <a:p>
            <a:pPr marL="400050" lvl="1" indent="0" algn="just">
              <a:buNone/>
            </a:pPr>
            <a:r>
              <a:rPr lang="en-US" sz="1800" dirty="0">
                <a:latin typeface="Times New Roman" panose="02020603050405020304" pitchFamily="18" charset="0"/>
                <a:cs typeface="Times New Roman" panose="02020603050405020304" pitchFamily="18" charset="0"/>
              </a:rPr>
              <a:t>Search Book Path: The system receives the search query, checks the database, and displays results.</a:t>
            </a:r>
          </a:p>
          <a:p>
            <a:pPr marL="400050" lvl="1" indent="0" algn="just">
              <a:buNone/>
            </a:pPr>
            <a:r>
              <a:rPr lang="en-US" sz="1800" dirty="0">
                <a:latin typeface="Times New Roman" panose="02020603050405020304" pitchFamily="18" charset="0"/>
                <a:cs typeface="Times New Roman" panose="02020603050405020304" pitchFamily="18" charset="0"/>
              </a:rPr>
              <a:t>Issue Book Path: Checks availability, updates the transaction log, and updates the inventory.</a:t>
            </a:r>
          </a:p>
          <a:p>
            <a:pPr marL="400050" lvl="1" indent="0" algn="just">
              <a:buNone/>
            </a:pPr>
            <a:r>
              <a:rPr lang="en-US" sz="1800" dirty="0">
                <a:latin typeface="Times New Roman" panose="02020603050405020304" pitchFamily="18" charset="0"/>
                <a:cs typeface="Times New Roman" panose="02020603050405020304" pitchFamily="18" charset="0"/>
              </a:rPr>
              <a:t>Return Book Path: Updates the return transaction log and updates the inventory.</a:t>
            </a:r>
          </a:p>
        </p:txBody>
      </p:sp>
    </p:spTree>
    <p:extLst>
      <p:ext uri="{BB962C8B-B14F-4D97-AF65-F5344CB8AC3E}">
        <p14:creationId xmlns:p14="http://schemas.microsoft.com/office/powerpoint/2010/main" val="40315200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59822"/>
            <a:ext cx="10972800" cy="546930"/>
          </a:xfrm>
        </p:spPr>
        <p:txBody>
          <a:bodyPr>
            <a:normAutofit fontScale="90000"/>
          </a:bodyPr>
          <a:lstStyle/>
          <a:p>
            <a:r>
              <a:rPr lang="en-IN" sz="3200" dirty="0"/>
              <a:t>Structured Design - LMS</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606752"/>
            <a:ext cx="11098138" cy="5519413"/>
          </a:xfrm>
        </p:spPr>
        <p:txBody>
          <a:bodyPr/>
          <a:lstStyle/>
          <a:p>
            <a:pPr marL="0" indent="0" algn="just">
              <a:buNone/>
            </a:pPr>
            <a:r>
              <a:rPr lang="en-US" sz="1800" dirty="0">
                <a:latin typeface="Times New Roman" panose="02020603050405020304" pitchFamily="18" charset="0"/>
                <a:cs typeface="Times New Roman" panose="02020603050405020304" pitchFamily="18" charset="0"/>
              </a:rPr>
              <a:t>Library Management System    </a:t>
            </a:r>
          </a:p>
          <a:p>
            <a:pPr marL="0" indent="0" algn="just">
              <a:buNone/>
            </a:pPr>
            <a:r>
              <a:rPr lang="en-US" sz="1800" dirty="0">
                <a:latin typeface="Times New Roman" panose="02020603050405020304" pitchFamily="18" charset="0"/>
                <a:cs typeface="Times New Roman" panose="02020603050405020304" pitchFamily="18" charset="0"/>
              </a:rPr>
              <a:t>                         |</a:t>
            </a:r>
          </a:p>
          <a:p>
            <a:pPr marL="0" indent="0" algn="just">
              <a:buNone/>
            </a:pPr>
            <a:r>
              <a:rPr lang="en-US" sz="1800" dirty="0">
                <a:latin typeface="Times New Roman" panose="02020603050405020304" pitchFamily="18" charset="0"/>
                <a:cs typeface="Times New Roman" panose="02020603050405020304" pitchFamily="18" charset="0"/>
              </a:rPr>
              <a:t>     |                      |                    |          </a:t>
            </a:r>
          </a:p>
          <a:p>
            <a:pPr marL="0" indent="0" algn="just">
              <a:buNone/>
            </a:pPr>
            <a:r>
              <a:rPr lang="en-US" sz="1800" dirty="0">
                <a:latin typeface="Times New Roman" panose="02020603050405020304" pitchFamily="18" charset="0"/>
                <a:cs typeface="Times New Roman" panose="02020603050405020304" pitchFamily="18" charset="0"/>
              </a:rPr>
              <a:t>    v                     </a:t>
            </a:r>
            <a:r>
              <a:rPr lang="en-US" sz="1800" dirty="0" err="1">
                <a:latin typeface="Times New Roman" panose="02020603050405020304" pitchFamily="18" charset="0"/>
                <a:cs typeface="Times New Roman" panose="02020603050405020304" pitchFamily="18" charset="0"/>
              </a:rPr>
              <a:t>v</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a:t>
            </a:r>
            <a:r>
              <a:rPr lang="en-US" sz="1800" dirty="0">
                <a:latin typeface="Times New Roman" panose="02020603050405020304" pitchFamily="18" charset="0"/>
                <a:cs typeface="Times New Roman" panose="02020603050405020304" pitchFamily="18" charset="0"/>
              </a:rPr>
              <a:t>         </a:t>
            </a:r>
          </a:p>
          <a:p>
            <a:pPr marL="0" indent="0" algn="just">
              <a:buNone/>
            </a:pPr>
            <a:r>
              <a:rPr lang="en-US" sz="1800" dirty="0">
                <a:latin typeface="Times New Roman" panose="02020603050405020304" pitchFamily="18" charset="0"/>
                <a:cs typeface="Times New Roman" panose="02020603050405020304" pitchFamily="18" charset="0"/>
              </a:rPr>
              <a:t>Search             Issue             Return  </a:t>
            </a:r>
          </a:p>
          <a:p>
            <a:pPr marL="0" indent="0" algn="just">
              <a:buNone/>
            </a:pPr>
            <a:r>
              <a:rPr lang="en-US" sz="1800" dirty="0">
                <a:latin typeface="Times New Roman" panose="02020603050405020304" pitchFamily="18" charset="0"/>
                <a:cs typeface="Times New Roman" panose="02020603050405020304" pitchFamily="18" charset="0"/>
              </a:rPr>
              <a:t>Book                </a:t>
            </a:r>
            <a:r>
              <a:rPr lang="en-US" sz="1800" dirty="0" err="1">
                <a:latin typeface="Times New Roman" panose="02020603050405020304" pitchFamily="18" charset="0"/>
                <a:cs typeface="Times New Roman" panose="02020603050405020304" pitchFamily="18" charset="0"/>
              </a:rPr>
              <a:t>Book</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Book</a:t>
            </a:r>
            <a:r>
              <a:rPr lang="en-US" sz="1800" dirty="0">
                <a:latin typeface="Times New Roman" panose="02020603050405020304" pitchFamily="18" charset="0"/>
                <a:cs typeface="Times New Roman" panose="02020603050405020304" pitchFamily="18" charset="0"/>
              </a:rPr>
              <a:t>    </a:t>
            </a:r>
          </a:p>
          <a:p>
            <a:pPr marL="0" indent="0" algn="just">
              <a:buNone/>
            </a:pPr>
            <a:r>
              <a:rPr lang="en-US" sz="1800" dirty="0">
                <a:latin typeface="Times New Roman" panose="02020603050405020304" pitchFamily="18" charset="0"/>
                <a:cs typeface="Times New Roman" panose="02020603050405020304" pitchFamily="18" charset="0"/>
              </a:rPr>
              <a:t>     |                      |                       |</a:t>
            </a:r>
          </a:p>
          <a:p>
            <a:pPr marL="0" indent="0" algn="just">
              <a:buNone/>
            </a:pPr>
            <a:r>
              <a:rPr lang="en-US" sz="1800" dirty="0">
                <a:latin typeface="Times New Roman" panose="02020603050405020304" pitchFamily="18" charset="0"/>
                <a:cs typeface="Times New Roman" panose="02020603050405020304" pitchFamily="18" charset="0"/>
              </a:rPr>
              <a:t>Search DB  Check Book    Update Return</a:t>
            </a:r>
          </a:p>
          <a:p>
            <a:pPr marL="0" indent="0" algn="just">
              <a:buNone/>
            </a:pPr>
            <a:r>
              <a:rPr lang="en-US" sz="1800" dirty="0">
                <a:latin typeface="Times New Roman" panose="02020603050405020304" pitchFamily="18" charset="0"/>
                <a:cs typeface="Times New Roman" panose="02020603050405020304" pitchFamily="18" charset="0"/>
              </a:rPr>
              <a:t>                   Availability     Transaction  </a:t>
            </a:r>
          </a:p>
          <a:p>
            <a:pPr marL="0" indent="0" algn="just">
              <a:buNone/>
            </a:pPr>
            <a:r>
              <a:rPr lang="en-US" sz="1800" dirty="0">
                <a:latin typeface="Times New Roman" panose="02020603050405020304" pitchFamily="18" charset="0"/>
                <a:cs typeface="Times New Roman" panose="02020603050405020304" pitchFamily="18" charset="0"/>
              </a:rPr>
              <a:t>     |                     |                       |</a:t>
            </a:r>
          </a:p>
          <a:p>
            <a:pPr marL="0" indent="0" algn="just">
              <a:buNone/>
            </a:pPr>
            <a:r>
              <a:rPr lang="en-US" sz="1800" dirty="0">
                <a:latin typeface="Times New Roman" panose="02020603050405020304" pitchFamily="18" charset="0"/>
                <a:cs typeface="Times New Roman" panose="02020603050405020304" pitchFamily="18" charset="0"/>
              </a:rPr>
              <a:t>Display   Update Issue        Update Inventory</a:t>
            </a:r>
          </a:p>
          <a:p>
            <a:pPr marL="0" indent="0" algn="just">
              <a:buNone/>
            </a:pPr>
            <a:r>
              <a:rPr lang="en-US" sz="1800" dirty="0">
                <a:latin typeface="Times New Roman" panose="02020603050405020304" pitchFamily="18" charset="0"/>
                <a:cs typeface="Times New Roman" panose="02020603050405020304" pitchFamily="18" charset="0"/>
              </a:rPr>
              <a:t> Results    Transaction                  </a:t>
            </a:r>
          </a:p>
        </p:txBody>
      </p:sp>
    </p:spTree>
    <p:extLst>
      <p:ext uri="{BB962C8B-B14F-4D97-AF65-F5344CB8AC3E}">
        <p14:creationId xmlns:p14="http://schemas.microsoft.com/office/powerpoint/2010/main" val="16624158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59822"/>
            <a:ext cx="10972800" cy="546930"/>
          </a:xfrm>
        </p:spPr>
        <p:txBody>
          <a:bodyPr>
            <a:normAutofit fontScale="90000"/>
          </a:bodyPr>
          <a:lstStyle/>
          <a:p>
            <a:r>
              <a:rPr lang="en-IN" sz="3200" dirty="0"/>
              <a:t>Structured Design - LMS</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606752"/>
            <a:ext cx="11098138" cy="5519413"/>
          </a:xfrm>
        </p:spPr>
        <p:txBody>
          <a:bodyPr>
            <a:normAutofit fontScale="85000" lnSpcReduction="20000"/>
          </a:bodyPr>
          <a:lstStyle/>
          <a:p>
            <a:pPr marL="0" indent="0">
              <a:buNone/>
            </a:pPr>
            <a:r>
              <a:rPr lang="en-US" sz="1100" b="1" dirty="0"/>
              <a:t>Complete Structure Chart</a:t>
            </a:r>
          </a:p>
          <a:p>
            <a:r>
              <a:rPr lang="en-US" sz="1100" dirty="0"/>
              <a:t>The final </a:t>
            </a:r>
            <a:r>
              <a:rPr lang="en-US" sz="1100" b="1" dirty="0"/>
              <a:t>Structure Chart</a:t>
            </a:r>
            <a:r>
              <a:rPr lang="en-US" sz="1100" dirty="0"/>
              <a:t> includes both </a:t>
            </a:r>
            <a:r>
              <a:rPr lang="en-US" sz="1100" b="1" dirty="0"/>
              <a:t>Transform Analysis</a:t>
            </a:r>
            <a:r>
              <a:rPr lang="en-US" sz="1100" dirty="0"/>
              <a:t> and </a:t>
            </a:r>
            <a:r>
              <a:rPr lang="en-US" sz="1100" b="1" dirty="0"/>
              <a:t>Transaction Analysis</a:t>
            </a:r>
            <a:r>
              <a:rPr lang="en-US" sz="1100" dirty="0"/>
              <a:t> modules. This chart provides a complete hierarchical view of the system’s logic, showing how different data flows are processed and how decisions direct the paths taken in the system.</a:t>
            </a:r>
          </a:p>
          <a:p>
            <a:pPr marL="0" indent="0">
              <a:buNone/>
            </a:pPr>
            <a:r>
              <a:rPr lang="en-US" sz="1100" dirty="0"/>
              <a:t> </a:t>
            </a:r>
          </a:p>
          <a:p>
            <a:pPr marL="0" indent="0">
              <a:buNone/>
            </a:pPr>
            <a:r>
              <a:rPr lang="en-US" sz="1100" dirty="0"/>
              <a:t>                                 Library Management System (Main) </a:t>
            </a:r>
          </a:p>
          <a:p>
            <a:pPr marL="0" indent="0">
              <a:buNone/>
            </a:pPr>
            <a:r>
              <a:rPr lang="en-US" sz="1100" dirty="0"/>
              <a:t>                            </a:t>
            </a:r>
          </a:p>
          <a:p>
            <a:pPr marL="0" indent="0">
              <a:buNone/>
            </a:pPr>
            <a:r>
              <a:rPr lang="en-US" sz="1100" dirty="0"/>
              <a:t>                                                        |</a:t>
            </a:r>
          </a:p>
          <a:p>
            <a:pPr marL="0" indent="0">
              <a:buNone/>
            </a:pPr>
            <a:r>
              <a:rPr lang="en-US" sz="1100" dirty="0"/>
              <a:t>                         |                              |                         | </a:t>
            </a:r>
          </a:p>
          <a:p>
            <a:pPr marL="0" indent="0">
              <a:buNone/>
            </a:pPr>
            <a:r>
              <a:rPr lang="en-US" sz="1100" dirty="0"/>
              <a:t>              </a:t>
            </a:r>
          </a:p>
          <a:p>
            <a:pPr marL="0" indent="0">
              <a:buNone/>
            </a:pPr>
            <a:r>
              <a:rPr lang="en-US" sz="1100" dirty="0"/>
              <a:t>                   Search Book                Issue Book    Return Book </a:t>
            </a:r>
          </a:p>
          <a:p>
            <a:pPr marL="0" indent="0">
              <a:buNone/>
            </a:pPr>
            <a:r>
              <a:rPr lang="en-US" sz="1100" dirty="0"/>
              <a:t>               </a:t>
            </a:r>
          </a:p>
          <a:p>
            <a:pPr marL="0" indent="0">
              <a:buNone/>
            </a:pPr>
            <a:r>
              <a:rPr lang="en-US" sz="1100" dirty="0"/>
              <a:t>                          |                              |                          |</a:t>
            </a:r>
          </a:p>
          <a:p>
            <a:pPr marL="0" indent="0">
              <a:buNone/>
            </a:pPr>
            <a:r>
              <a:rPr lang="en-US" sz="1100" dirty="0"/>
              <a:t>            </a:t>
            </a:r>
          </a:p>
          <a:p>
            <a:pPr marL="0" indent="0">
              <a:buNone/>
            </a:pPr>
            <a:r>
              <a:rPr lang="en-US" sz="1100" dirty="0"/>
              <a:t>              Search DB Module        Check Book     Update Return Log  </a:t>
            </a:r>
          </a:p>
          <a:p>
            <a:pPr marL="0" indent="0">
              <a:buNone/>
            </a:pPr>
            <a:r>
              <a:rPr lang="en-US" sz="1100" dirty="0"/>
              <a:t>                                                      Availability  </a:t>
            </a:r>
          </a:p>
          <a:p>
            <a:pPr marL="0" indent="0">
              <a:buNone/>
            </a:pPr>
            <a:r>
              <a:rPr lang="en-US" sz="1100" dirty="0"/>
              <a:t>                          |                               |                      |</a:t>
            </a:r>
          </a:p>
          <a:p>
            <a:pPr marL="0" indent="0">
              <a:buNone/>
            </a:pPr>
            <a:r>
              <a:rPr lang="en-US" sz="1100" dirty="0"/>
              <a:t>            </a:t>
            </a:r>
          </a:p>
          <a:p>
            <a:pPr marL="0" indent="0">
              <a:buNone/>
            </a:pPr>
            <a:r>
              <a:rPr lang="en-US" sz="1100" dirty="0"/>
              <a:t>             Display Results              Update Issue     Update Inventory  </a:t>
            </a:r>
          </a:p>
          <a:p>
            <a:pPr marL="0" indent="0">
              <a:buNone/>
            </a:pPr>
            <a:r>
              <a:rPr lang="en-US" sz="1100" dirty="0"/>
              <a:t>                                                   Transaction   </a:t>
            </a:r>
          </a:p>
          <a:p>
            <a:pPr marL="0" indent="0">
              <a:buNone/>
            </a:pPr>
            <a:endParaRPr lang="en-US" sz="1100" dirty="0"/>
          </a:p>
          <a:p>
            <a:pPr marL="0" indent="0">
              <a:buNone/>
            </a:pPr>
            <a:r>
              <a:rPr lang="en-US" sz="1100" dirty="0"/>
              <a:t>                                                           |</a:t>
            </a:r>
          </a:p>
          <a:p>
            <a:pPr marL="0" indent="0">
              <a:buNone/>
            </a:pPr>
            <a:r>
              <a:rPr lang="en-US" sz="1100" dirty="0"/>
              <a:t>            </a:t>
            </a:r>
          </a:p>
          <a:p>
            <a:pPr marL="0" indent="0">
              <a:buNone/>
            </a:pPr>
            <a:r>
              <a:rPr lang="en-US" sz="1100" dirty="0"/>
              <a:t>                                              Update Inventory</a:t>
            </a:r>
          </a:p>
          <a:p>
            <a:pPr marL="0" indent="0">
              <a:buNone/>
            </a:pPr>
            <a:r>
              <a:rPr lang="en-US" sz="1100" dirty="0"/>
              <a:t> </a:t>
            </a:r>
          </a:p>
        </p:txBody>
      </p:sp>
    </p:spTree>
    <p:extLst>
      <p:ext uri="{BB962C8B-B14F-4D97-AF65-F5344CB8AC3E}">
        <p14:creationId xmlns:p14="http://schemas.microsoft.com/office/powerpoint/2010/main" val="17164234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59822"/>
            <a:ext cx="10972800" cy="546930"/>
          </a:xfrm>
        </p:spPr>
        <p:txBody>
          <a:bodyPr>
            <a:normAutofit fontScale="90000"/>
          </a:bodyPr>
          <a:lstStyle/>
          <a:p>
            <a:r>
              <a:rPr lang="en-IN" sz="3200" dirty="0"/>
              <a:t>Structured Design - LMS</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606752"/>
            <a:ext cx="11098138" cy="5519413"/>
          </a:xfrm>
        </p:spPr>
        <p:txBody>
          <a:bodyPr>
            <a:normAutofit fontScale="92500" lnSpcReduction="10000"/>
          </a:bodyPr>
          <a:lstStyle/>
          <a:p>
            <a:pPr marL="0" indent="0">
              <a:buNone/>
            </a:pPr>
            <a:r>
              <a:rPr lang="en-US" sz="2000" dirty="0">
                <a:latin typeface="Times New Roman" panose="02020603050405020304" pitchFamily="18" charset="0"/>
                <a:cs typeface="Times New Roman" panose="02020603050405020304" pitchFamily="18" charset="0"/>
              </a:rPr>
              <a:t>Data Passing Between Modules:</a:t>
            </a:r>
          </a:p>
          <a:p>
            <a:pPr marL="0" indent="0">
              <a:buNone/>
            </a:pPr>
            <a:r>
              <a:rPr lang="en-US" sz="2000" dirty="0">
                <a:latin typeface="Times New Roman" panose="02020603050405020304" pitchFamily="18" charset="0"/>
                <a:cs typeface="Times New Roman" panose="02020603050405020304" pitchFamily="18" charset="0"/>
              </a:rPr>
              <a:t>Data is passed between modules as:</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Search Book: Query (input) → Book Details (output).</a:t>
            </a:r>
          </a:p>
          <a:p>
            <a:pPr marL="0" indent="0">
              <a:buNone/>
            </a:pPr>
            <a:r>
              <a:rPr lang="en-US" sz="2000" dirty="0">
                <a:latin typeface="Times New Roman" panose="02020603050405020304" pitchFamily="18" charset="0"/>
                <a:cs typeface="Times New Roman" panose="02020603050405020304" pitchFamily="18" charset="0"/>
              </a:rPr>
              <a:t>Issue Book: Book ID, Student ID (input) → Transaction Record (output).</a:t>
            </a:r>
          </a:p>
          <a:p>
            <a:pPr marL="0" indent="0">
              <a:buNone/>
            </a:pPr>
            <a:r>
              <a:rPr lang="en-US" sz="2000" dirty="0">
                <a:latin typeface="Times New Roman" panose="02020603050405020304" pitchFamily="18" charset="0"/>
                <a:cs typeface="Times New Roman" panose="02020603050405020304" pitchFamily="18" charset="0"/>
              </a:rPr>
              <a:t>Return Book: Book ID, Return Date (input) → Updated Return Log (output).</a:t>
            </a:r>
          </a:p>
          <a:p>
            <a:pPr marL="0" indent="0">
              <a:buNone/>
            </a:pPr>
            <a:r>
              <a:rPr lang="en-US" sz="2000" b="1" dirty="0">
                <a:latin typeface="Times New Roman" panose="02020603050405020304" pitchFamily="18" charset="0"/>
                <a:cs typeface="Times New Roman" panose="02020603050405020304" pitchFamily="18" charset="0"/>
              </a:rPr>
              <a:t>Key Steps:</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DFD Modeling (Structured Analysis): Start by modeling the Level 0 and Level 1 DFDs.</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Transform Analysis: Identify input-process-output flows (e.g., searching, issuing, and returning books).</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Transaction Analysis: Identify decision-making modules, such as handling different actions like searching, issuing, and returning.</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Structure Chart: Combined both analyses to create a hierarchical structure, showing both decision-making (transaction analysis) and data processing (transform analysis).</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By applying Transform and Transaction Analysis, convert the DFD into a Structure Chart,</a:t>
            </a:r>
          </a:p>
        </p:txBody>
      </p:sp>
    </p:spTree>
    <p:extLst>
      <p:ext uri="{BB962C8B-B14F-4D97-AF65-F5344CB8AC3E}">
        <p14:creationId xmlns:p14="http://schemas.microsoft.com/office/powerpoint/2010/main" val="175608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59822"/>
            <a:ext cx="10972800" cy="546930"/>
          </a:xfrm>
        </p:spPr>
        <p:txBody>
          <a:bodyPr>
            <a:normAutofit fontScale="90000"/>
          </a:bodyPr>
          <a:lstStyle/>
          <a:p>
            <a:r>
              <a:rPr lang="en-IN" sz="3200" dirty="0"/>
              <a:t>Structured Design</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606752"/>
            <a:ext cx="11098138" cy="5519413"/>
          </a:xfrm>
        </p:spPr>
        <p:txBody>
          <a:bodyPr/>
          <a:lstStyle/>
          <a:p>
            <a:pPr algn="just"/>
            <a:r>
              <a:rPr lang="en-US" sz="2000" b="1" dirty="0">
                <a:latin typeface="Times New Roman" panose="02020603050405020304" pitchFamily="18" charset="0"/>
                <a:cs typeface="Times New Roman" panose="02020603050405020304" pitchFamily="18" charset="0"/>
              </a:rPr>
              <a:t>Afferent stream </a:t>
            </a:r>
            <a:r>
              <a:rPr lang="en-US" sz="2000" dirty="0">
                <a:latin typeface="Times New Roman" panose="02020603050405020304" pitchFamily="18" charset="0"/>
                <a:cs typeface="Times New Roman" panose="02020603050405020304" pitchFamily="18" charset="0"/>
              </a:rPr>
              <a:t>processes refer to the processes in a system that are responsible for receiving and handling incoming data or inputs. In the context of structured analysis and design, particularly in Transform Analysis, the afferent stream processes are the initial processes that collect, validate, and prepare input data for further processing.</a:t>
            </a:r>
          </a:p>
          <a:p>
            <a:pPr algn="just"/>
            <a:r>
              <a:rPr lang="en-US" sz="2000" dirty="0">
                <a:latin typeface="Times New Roman" panose="02020603050405020304" pitchFamily="18" charset="0"/>
                <a:cs typeface="Times New Roman" panose="02020603050405020304" pitchFamily="18" charset="0"/>
              </a:rPr>
              <a:t>These processes are part of the input subsystem, and their main job is to ensure that data coming into the system is captured correctly and is ready to be transformed or processed by the central system.</a:t>
            </a:r>
          </a:p>
          <a:p>
            <a:pPr algn="just"/>
            <a:r>
              <a:rPr lang="en-US" sz="2000" dirty="0">
                <a:latin typeface="Times New Roman" panose="02020603050405020304" pitchFamily="18" charset="0"/>
                <a:cs typeface="Times New Roman" panose="02020603050405020304" pitchFamily="18" charset="0"/>
              </a:rPr>
              <a:t>Afferent Stream Processes focus on gathering, validating, and preparing incoming data.</a:t>
            </a:r>
          </a:p>
          <a:p>
            <a:pPr algn="just"/>
            <a:r>
              <a:rPr lang="en-US" sz="2000" b="1" dirty="0">
                <a:latin typeface="Times New Roman" panose="02020603050405020304" pitchFamily="18" charset="0"/>
                <a:cs typeface="Times New Roman" panose="02020603050405020304" pitchFamily="18" charset="0"/>
              </a:rPr>
              <a:t>Efferent stream </a:t>
            </a:r>
            <a:r>
              <a:rPr lang="en-US" sz="2000" dirty="0">
                <a:latin typeface="Times New Roman" panose="02020603050405020304" pitchFamily="18" charset="0"/>
                <a:cs typeface="Times New Roman" panose="02020603050405020304" pitchFamily="18" charset="0"/>
              </a:rPr>
              <a:t>processes refer to the processes in a system that handle outgoing data or outputs. These processes are part of the output subsystem, responsible for transforming internal data into a form suitable for users or external systems, such as reports, displays, or stored data.</a:t>
            </a:r>
          </a:p>
          <a:p>
            <a:pPr algn="just"/>
            <a:r>
              <a:rPr lang="en-US" sz="2000" dirty="0">
                <a:latin typeface="Times New Roman" panose="02020603050405020304" pitchFamily="18" charset="0"/>
                <a:cs typeface="Times New Roman" panose="02020603050405020304" pitchFamily="18" charset="0"/>
              </a:rPr>
              <a:t>In the context of structured analysis and design (especially Transform Analysis), efferent stream processes are found after the central processing activities. They are the final steps that format, display, or transmit data after it has been processed by the system.</a:t>
            </a:r>
          </a:p>
        </p:txBody>
      </p:sp>
    </p:spTree>
    <p:extLst>
      <p:ext uri="{BB962C8B-B14F-4D97-AF65-F5344CB8AC3E}">
        <p14:creationId xmlns:p14="http://schemas.microsoft.com/office/powerpoint/2010/main" val="40874852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59822"/>
            <a:ext cx="10972800" cy="546930"/>
          </a:xfrm>
        </p:spPr>
        <p:txBody>
          <a:bodyPr>
            <a:normAutofit fontScale="90000"/>
          </a:bodyPr>
          <a:lstStyle/>
          <a:p>
            <a:r>
              <a:rPr lang="en-IN" sz="3200" dirty="0"/>
              <a:t>Cohesion</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606752"/>
            <a:ext cx="11098138" cy="5519413"/>
          </a:xfrm>
        </p:spPr>
        <p:txBody>
          <a:bodyPr/>
          <a:lstStyle/>
          <a:p>
            <a:pPr algn="just"/>
            <a:r>
              <a:rPr lang="en-US" sz="2000" b="1" dirty="0">
                <a:latin typeface="Times New Roman" panose="02020603050405020304" pitchFamily="18" charset="0"/>
                <a:cs typeface="Times New Roman" panose="02020603050405020304" pitchFamily="18" charset="0"/>
              </a:rPr>
              <a:t>Cohesion</a:t>
            </a:r>
            <a:r>
              <a:rPr lang="en-US" sz="2000" dirty="0">
                <a:latin typeface="Times New Roman" panose="02020603050405020304" pitchFamily="18" charset="0"/>
                <a:cs typeface="Times New Roman" panose="02020603050405020304" pitchFamily="18" charset="0"/>
              </a:rPr>
              <a:t> refers to how closely related and focused the responsibilities of a software module are. Higher cohesion is generally better because it makes modules easier to maintain, test, and reuse. There are several types of cohesion, arranged from the least to the most desirable:</a:t>
            </a:r>
          </a:p>
          <a:p>
            <a:pPr marL="0" indent="0" algn="just">
              <a:buNone/>
            </a:pPr>
            <a:r>
              <a:rPr lang="en-US" sz="2000" b="1" dirty="0">
                <a:latin typeface="Times New Roman" panose="02020603050405020304" pitchFamily="18" charset="0"/>
                <a:cs typeface="Times New Roman" panose="02020603050405020304" pitchFamily="18" charset="0"/>
              </a:rPr>
              <a:t>1.  Coincidental Cohesion</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worst form of cohesion where the elements within a module are grouped arbitrarily and have no meaningful relationship.</a:t>
            </a:r>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Example</a:t>
            </a:r>
            <a:r>
              <a:rPr lang="en-US" sz="2000" dirty="0">
                <a:latin typeface="Times New Roman" panose="02020603050405020304" pitchFamily="18" charset="0"/>
                <a:cs typeface="Times New Roman" panose="02020603050405020304" pitchFamily="18" charset="0"/>
              </a:rPr>
              <a:t>: A module that performs completely unrelated tasks like printing a report, checking the user login, and calculating the total amount.</a:t>
            </a:r>
          </a:p>
          <a:p>
            <a:pPr marL="400050" lvl="1" indent="0" algn="just">
              <a:buNone/>
            </a:pPr>
            <a:r>
              <a:rPr lang="en-US" sz="2000" dirty="0">
                <a:latin typeface="Times New Roman" panose="02020603050405020304" pitchFamily="18" charset="0"/>
                <a:cs typeface="Times New Roman" panose="02020603050405020304" pitchFamily="18" charset="0"/>
              </a:rPr>
              <a:t>Module: "Miscellaneous"</a:t>
            </a:r>
          </a:p>
          <a:p>
            <a:pPr marL="400050" lvl="1" indent="0" algn="just">
              <a:buNone/>
            </a:pPr>
            <a:r>
              <a:rPr lang="en-US" sz="2000" dirty="0">
                <a:latin typeface="Times New Roman" panose="02020603050405020304" pitchFamily="18" charset="0"/>
                <a:cs typeface="Times New Roman" panose="02020603050405020304" pitchFamily="18" charset="0"/>
              </a:rPr>
              <a:t>- Function 1: Print Report</a:t>
            </a:r>
          </a:p>
          <a:p>
            <a:pPr marL="400050" lvl="1" indent="0" algn="just">
              <a:buNone/>
            </a:pPr>
            <a:r>
              <a:rPr lang="en-US" sz="2000" dirty="0">
                <a:latin typeface="Times New Roman" panose="02020603050405020304" pitchFamily="18" charset="0"/>
                <a:cs typeface="Times New Roman" panose="02020603050405020304" pitchFamily="18" charset="0"/>
              </a:rPr>
              <a:t>- Function 2: User Login Check</a:t>
            </a:r>
          </a:p>
          <a:p>
            <a:pPr marL="400050" lvl="1" indent="0" algn="just">
              <a:buNone/>
            </a:pPr>
            <a:r>
              <a:rPr lang="en-US" sz="2000" dirty="0">
                <a:latin typeface="Times New Roman" panose="02020603050405020304" pitchFamily="18" charset="0"/>
                <a:cs typeface="Times New Roman" panose="02020603050405020304" pitchFamily="18" charset="0"/>
              </a:rPr>
              <a:t>- Function 3: Calculate Total</a:t>
            </a: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06940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59822"/>
            <a:ext cx="10972800" cy="546930"/>
          </a:xfrm>
        </p:spPr>
        <p:txBody>
          <a:bodyPr>
            <a:normAutofit fontScale="90000"/>
          </a:bodyPr>
          <a:lstStyle/>
          <a:p>
            <a:r>
              <a:rPr lang="en-IN" sz="3200" dirty="0"/>
              <a:t>Cohesion</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606752"/>
            <a:ext cx="11098138" cy="5519413"/>
          </a:xfrm>
        </p:spPr>
        <p:txBody>
          <a:bodyPr>
            <a:normAutofit fontScale="92500" lnSpcReduction="20000"/>
          </a:bodyPr>
          <a:lstStyle/>
          <a:p>
            <a:pPr marL="0" indent="0">
              <a:buNone/>
            </a:pPr>
            <a:r>
              <a:rPr lang="en-US" sz="1800" b="1" dirty="0">
                <a:latin typeface="Times New Roman" panose="02020603050405020304" pitchFamily="18" charset="0"/>
                <a:cs typeface="Times New Roman" panose="02020603050405020304" pitchFamily="18" charset="0"/>
              </a:rPr>
              <a:t>Logical Cohesion</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When a module contains elements that are related logically but are not part of the same task. It offers related operations, but the specific operation to perform is selected by a control flag.</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Example</a:t>
            </a:r>
            <a:r>
              <a:rPr lang="en-US" sz="1800" dirty="0">
                <a:latin typeface="Times New Roman" panose="02020603050405020304" pitchFamily="18" charset="0"/>
                <a:cs typeface="Times New Roman" panose="02020603050405020304" pitchFamily="18" charset="0"/>
              </a:rPr>
              <a:t>: A module that handles all types of input/output operations but switches based on a flag to decide whether to read from a file, database, or network.</a:t>
            </a:r>
          </a:p>
          <a:p>
            <a:pPr marL="0" indent="0">
              <a:buNone/>
            </a:pPr>
            <a:r>
              <a:rPr lang="en-US" sz="1800" dirty="0">
                <a:latin typeface="Times New Roman" panose="02020603050405020304" pitchFamily="18" charset="0"/>
                <a:cs typeface="Times New Roman" panose="02020603050405020304" pitchFamily="18" charset="0"/>
              </a:rPr>
              <a:t>Module: "I/O Operations"</a:t>
            </a:r>
          </a:p>
          <a:p>
            <a:pPr marL="0" indent="0">
              <a:buNone/>
            </a:pPr>
            <a:r>
              <a:rPr lang="en-US" sz="1800" dirty="0">
                <a:latin typeface="Times New Roman" panose="02020603050405020304" pitchFamily="18" charset="0"/>
                <a:cs typeface="Times New Roman" panose="02020603050405020304" pitchFamily="18" charset="0"/>
              </a:rPr>
              <a:t>- Function 1: Read from File</a:t>
            </a:r>
          </a:p>
          <a:p>
            <a:pPr marL="0" indent="0">
              <a:buNone/>
            </a:pPr>
            <a:r>
              <a:rPr lang="en-US" sz="1800" dirty="0">
                <a:latin typeface="Times New Roman" panose="02020603050405020304" pitchFamily="18" charset="0"/>
                <a:cs typeface="Times New Roman" panose="02020603050405020304" pitchFamily="18" charset="0"/>
              </a:rPr>
              <a:t>- Function 2: Read from Database</a:t>
            </a:r>
          </a:p>
          <a:p>
            <a:pPr marL="0" indent="0">
              <a:buNone/>
            </a:pPr>
            <a:r>
              <a:rPr lang="en-US" sz="1800" dirty="0">
                <a:latin typeface="Times New Roman" panose="02020603050405020304" pitchFamily="18" charset="0"/>
                <a:cs typeface="Times New Roman" panose="02020603050405020304" pitchFamily="18" charset="0"/>
              </a:rPr>
              <a:t>- Function 3: Read from Network</a:t>
            </a:r>
          </a:p>
          <a:p>
            <a:pPr marL="0" indent="0">
              <a:buNone/>
            </a:pPr>
            <a:r>
              <a:rPr lang="en-US" sz="1800" b="1" dirty="0">
                <a:latin typeface="Times New Roman" panose="02020603050405020304" pitchFamily="18" charset="0"/>
                <a:cs typeface="Times New Roman" panose="02020603050405020304" pitchFamily="18" charset="0"/>
              </a:rPr>
              <a:t>Temporal Cohesion</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When elements in a module are grouped because they are executed at the same time, such as during system startup or shutdown, but their functions are unrelated.</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Example</a:t>
            </a:r>
            <a:r>
              <a:rPr lang="en-US" sz="1800" dirty="0">
                <a:latin typeface="Times New Roman" panose="02020603050405020304" pitchFamily="18" charset="0"/>
                <a:cs typeface="Times New Roman" panose="02020603050405020304" pitchFamily="18" charset="0"/>
              </a:rPr>
              <a:t>: A module that initializes system components when the application starts.</a:t>
            </a:r>
          </a:p>
          <a:p>
            <a:pPr marL="0" indent="0">
              <a:buNone/>
            </a:pPr>
            <a:r>
              <a:rPr lang="en-US" sz="1800" dirty="0">
                <a:latin typeface="Times New Roman" panose="02020603050405020304" pitchFamily="18" charset="0"/>
                <a:cs typeface="Times New Roman" panose="02020603050405020304" pitchFamily="18" charset="0"/>
              </a:rPr>
              <a:t>Module: "Startup Initialization"</a:t>
            </a:r>
          </a:p>
          <a:p>
            <a:pPr marL="0" indent="0">
              <a:buNone/>
            </a:pPr>
            <a:r>
              <a:rPr lang="en-US" sz="1800" dirty="0">
                <a:latin typeface="Times New Roman" panose="02020603050405020304" pitchFamily="18" charset="0"/>
                <a:cs typeface="Times New Roman" panose="02020603050405020304" pitchFamily="18" charset="0"/>
              </a:rPr>
              <a:t>- Function 1: Initialize Logging</a:t>
            </a:r>
          </a:p>
          <a:p>
            <a:pPr marL="0" indent="0">
              <a:buNone/>
            </a:pPr>
            <a:r>
              <a:rPr lang="en-US" sz="1800" dirty="0">
                <a:latin typeface="Times New Roman" panose="02020603050405020304" pitchFamily="18" charset="0"/>
                <a:cs typeface="Times New Roman" panose="02020603050405020304" pitchFamily="18" charset="0"/>
              </a:rPr>
              <a:t>- Function 2: Initialize Configuration</a:t>
            </a:r>
          </a:p>
          <a:p>
            <a:pPr marL="0" indent="0">
              <a:buNone/>
            </a:pPr>
            <a:r>
              <a:rPr lang="en-US" sz="1800" dirty="0">
                <a:latin typeface="Times New Roman" panose="02020603050405020304" pitchFamily="18" charset="0"/>
                <a:cs typeface="Times New Roman" panose="02020603050405020304" pitchFamily="18" charset="0"/>
              </a:rPr>
              <a:t>- Function 3: Initialize Database Connection  - they occur at the same time but are unrelated in fun </a:t>
            </a:r>
            <a:r>
              <a:rPr lang="en-US" sz="1800" dirty="0" err="1">
                <a:latin typeface="Times New Roman" panose="02020603050405020304" pitchFamily="18" charset="0"/>
                <a:cs typeface="Times New Roman" panose="02020603050405020304" pitchFamily="18" charset="0"/>
              </a:rPr>
              <a:t>ctionality</a:t>
            </a:r>
            <a:endParaRPr lang="en-US"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03057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59822"/>
            <a:ext cx="10972800" cy="546930"/>
          </a:xfrm>
        </p:spPr>
        <p:txBody>
          <a:bodyPr>
            <a:normAutofit fontScale="90000"/>
          </a:bodyPr>
          <a:lstStyle/>
          <a:p>
            <a:r>
              <a:rPr lang="en-IN" sz="3200" dirty="0"/>
              <a:t>Cohesion</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606752"/>
            <a:ext cx="11098138" cy="5519413"/>
          </a:xfrm>
        </p:spPr>
        <p:txBody>
          <a:bodyPr>
            <a:normAutofit lnSpcReduction="10000"/>
          </a:bodyPr>
          <a:lstStyle/>
          <a:p>
            <a:pPr marL="0" indent="0" algn="just">
              <a:buNone/>
            </a:pPr>
            <a:r>
              <a:rPr lang="en-US" sz="1800" b="1" dirty="0">
                <a:latin typeface="Times New Roman" panose="02020603050405020304" pitchFamily="18" charset="0"/>
                <a:cs typeface="Times New Roman" panose="02020603050405020304" pitchFamily="18" charset="0"/>
              </a:rPr>
              <a:t>Procedural Cohesion</a:t>
            </a:r>
          </a:p>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When elements in a module are grouped because they always follow a specific sequence of execution. They are related only because they need to happen in order.</a:t>
            </a:r>
          </a:p>
          <a:p>
            <a:pPr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Example</a:t>
            </a:r>
            <a:r>
              <a:rPr lang="en-US" sz="1800" dirty="0">
                <a:latin typeface="Times New Roman" panose="02020603050405020304" pitchFamily="18" charset="0"/>
                <a:cs typeface="Times New Roman" panose="02020603050405020304" pitchFamily="18" charset="0"/>
              </a:rPr>
              <a:t>: A module that performs steps in processing a customer order</a:t>
            </a:r>
          </a:p>
          <a:p>
            <a:pPr marL="0" indent="0" algn="just">
              <a:buNone/>
            </a:pPr>
            <a:r>
              <a:rPr lang="en-US" sz="1800" dirty="0">
                <a:latin typeface="Times New Roman" panose="02020603050405020304" pitchFamily="18" charset="0"/>
                <a:cs typeface="Times New Roman" panose="02020603050405020304" pitchFamily="18" charset="0"/>
              </a:rPr>
              <a:t>Module: "Order Processing"</a:t>
            </a:r>
          </a:p>
          <a:p>
            <a:pPr marL="0" indent="0" algn="just">
              <a:buNone/>
            </a:pPr>
            <a:r>
              <a:rPr lang="en-US" sz="1800" dirty="0">
                <a:latin typeface="Times New Roman" panose="02020603050405020304" pitchFamily="18" charset="0"/>
                <a:cs typeface="Times New Roman" panose="02020603050405020304" pitchFamily="18" charset="0"/>
              </a:rPr>
              <a:t>- Function 1: Check Inventory</a:t>
            </a:r>
          </a:p>
          <a:p>
            <a:pPr marL="0" indent="0" algn="just">
              <a:buNone/>
            </a:pPr>
            <a:r>
              <a:rPr lang="en-US" sz="1800" dirty="0">
                <a:latin typeface="Times New Roman" panose="02020603050405020304" pitchFamily="18" charset="0"/>
                <a:cs typeface="Times New Roman" panose="02020603050405020304" pitchFamily="18" charset="0"/>
              </a:rPr>
              <a:t>- Function 2: Calculate Total Price</a:t>
            </a:r>
          </a:p>
          <a:p>
            <a:pPr marL="0" indent="0" algn="just">
              <a:buNone/>
            </a:pPr>
            <a:r>
              <a:rPr lang="en-US" sz="1800" dirty="0">
                <a:latin typeface="Times New Roman" panose="02020603050405020304" pitchFamily="18" charset="0"/>
                <a:cs typeface="Times New Roman" panose="02020603050405020304" pitchFamily="18" charset="0"/>
              </a:rPr>
              <a:t>- Function 3: Update Customer Record – tasks are done in a specific order but aren’t strongly related</a:t>
            </a:r>
          </a:p>
          <a:p>
            <a:pPr marL="0" indent="0" algn="just">
              <a:buNone/>
            </a:pPr>
            <a:r>
              <a:rPr lang="en-US" sz="1800" b="1" dirty="0">
                <a:latin typeface="Times New Roman" panose="02020603050405020304" pitchFamily="18" charset="0"/>
                <a:cs typeface="Times New Roman" panose="02020603050405020304" pitchFamily="18" charset="0"/>
              </a:rPr>
              <a:t>Communicational (Informational) Cohesion</a:t>
            </a:r>
          </a:p>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When elements in a module are grouped because they operate on the same data or input.</a:t>
            </a:r>
          </a:p>
          <a:p>
            <a:pPr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Example</a:t>
            </a:r>
            <a:r>
              <a:rPr lang="en-US" sz="1800" dirty="0">
                <a:latin typeface="Times New Roman" panose="02020603050405020304" pitchFamily="18" charset="0"/>
                <a:cs typeface="Times New Roman" panose="02020603050405020304" pitchFamily="18" charset="0"/>
              </a:rPr>
              <a:t>: A module that processes and displays data for a student.</a:t>
            </a:r>
          </a:p>
          <a:p>
            <a:pPr marL="0" indent="0" algn="just">
              <a:buNone/>
            </a:pPr>
            <a:r>
              <a:rPr lang="en-US" sz="1800" dirty="0">
                <a:latin typeface="Times New Roman" panose="02020603050405020304" pitchFamily="18" charset="0"/>
                <a:cs typeface="Times New Roman" panose="02020603050405020304" pitchFamily="18" charset="0"/>
              </a:rPr>
              <a:t>Module: "Student Information Processing"</a:t>
            </a:r>
          </a:p>
          <a:p>
            <a:pPr marL="0" indent="0" algn="just">
              <a:buNone/>
            </a:pPr>
            <a:r>
              <a:rPr lang="en-US" sz="1800" dirty="0">
                <a:latin typeface="Times New Roman" panose="02020603050405020304" pitchFamily="18" charset="0"/>
                <a:cs typeface="Times New Roman" panose="02020603050405020304" pitchFamily="18" charset="0"/>
              </a:rPr>
              <a:t>- Function 1: Fetch Student Data from Database</a:t>
            </a:r>
          </a:p>
          <a:p>
            <a:pPr marL="0" indent="0" algn="just">
              <a:buNone/>
            </a:pPr>
            <a:r>
              <a:rPr lang="en-US" sz="1800" dirty="0">
                <a:latin typeface="Times New Roman" panose="02020603050405020304" pitchFamily="18" charset="0"/>
                <a:cs typeface="Times New Roman" panose="02020603050405020304" pitchFamily="18" charset="0"/>
              </a:rPr>
              <a:t>- Function 2: Calculate Student GPA</a:t>
            </a:r>
          </a:p>
          <a:p>
            <a:pPr marL="0" indent="0" algn="just">
              <a:buNone/>
            </a:pPr>
            <a:r>
              <a:rPr lang="en-US" sz="1800" dirty="0">
                <a:latin typeface="Times New Roman" panose="02020603050405020304" pitchFamily="18" charset="0"/>
                <a:cs typeface="Times New Roman" panose="02020603050405020304" pitchFamily="18" charset="0"/>
              </a:rPr>
              <a:t>- Function 3: Display Student Data – tasks are related as they all work on the same student data</a:t>
            </a:r>
          </a:p>
          <a:p>
            <a:pPr marL="0" indent="0" algn="just">
              <a:buNone/>
            </a:pPr>
            <a:endParaRPr lang="en-US" sz="18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08550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59822"/>
            <a:ext cx="10972800" cy="546930"/>
          </a:xfrm>
        </p:spPr>
        <p:txBody>
          <a:bodyPr>
            <a:normAutofit fontScale="90000"/>
          </a:bodyPr>
          <a:lstStyle/>
          <a:p>
            <a:r>
              <a:rPr lang="en-IN" sz="3200" dirty="0"/>
              <a:t>Cohesion</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606752"/>
            <a:ext cx="11098138" cy="5519413"/>
          </a:xfrm>
        </p:spPr>
        <p:txBody>
          <a:bodyPr>
            <a:normAutofit fontScale="92500" lnSpcReduction="10000"/>
          </a:bodyPr>
          <a:lstStyle/>
          <a:p>
            <a:pPr marL="0" indent="0" algn="just">
              <a:buNone/>
            </a:pPr>
            <a:r>
              <a:rPr lang="en-US" sz="1800" b="1" dirty="0">
                <a:latin typeface="Times New Roman" panose="02020603050405020304" pitchFamily="18" charset="0"/>
                <a:cs typeface="Times New Roman" panose="02020603050405020304" pitchFamily="18" charset="0"/>
              </a:rPr>
              <a:t>Sequential Cohesion</a:t>
            </a:r>
          </a:p>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When elements in a module are grouped because the output of one element is the input of the next, creating a chain of processing steps.</a:t>
            </a:r>
          </a:p>
          <a:p>
            <a:pPr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Example</a:t>
            </a:r>
            <a:r>
              <a:rPr lang="en-US" sz="1800" dirty="0">
                <a:latin typeface="Times New Roman" panose="02020603050405020304" pitchFamily="18" charset="0"/>
                <a:cs typeface="Times New Roman" panose="02020603050405020304" pitchFamily="18" charset="0"/>
              </a:rPr>
              <a:t>: A module that processes a file by reading, processing, and writing it. </a:t>
            </a:r>
          </a:p>
          <a:p>
            <a:pPr marL="0" indent="0" algn="just">
              <a:buNone/>
            </a:pPr>
            <a:r>
              <a:rPr lang="en-US" sz="1800" dirty="0">
                <a:latin typeface="Times New Roman" panose="02020603050405020304" pitchFamily="18" charset="0"/>
                <a:cs typeface="Times New Roman" panose="02020603050405020304" pitchFamily="18" charset="0"/>
              </a:rPr>
              <a:t>Module: "File Processing"</a:t>
            </a:r>
          </a:p>
          <a:p>
            <a:pPr marL="0" indent="0" algn="just">
              <a:buNone/>
            </a:pPr>
            <a:r>
              <a:rPr lang="en-US" sz="1800" dirty="0">
                <a:latin typeface="Times New Roman" panose="02020603050405020304" pitchFamily="18" charset="0"/>
                <a:cs typeface="Times New Roman" panose="02020603050405020304" pitchFamily="18" charset="0"/>
              </a:rPr>
              <a:t>- Function 1: Read File</a:t>
            </a:r>
          </a:p>
          <a:p>
            <a:pPr marL="0" indent="0" algn="just">
              <a:buNone/>
            </a:pPr>
            <a:r>
              <a:rPr lang="en-US" sz="1800" dirty="0">
                <a:latin typeface="Times New Roman" panose="02020603050405020304" pitchFamily="18" charset="0"/>
                <a:cs typeface="Times New Roman" panose="02020603050405020304" pitchFamily="18" charset="0"/>
              </a:rPr>
              <a:t>- Function 2: Process File Data</a:t>
            </a:r>
          </a:p>
          <a:p>
            <a:pPr marL="0" indent="0" algn="just">
              <a:buNone/>
            </a:pPr>
            <a:r>
              <a:rPr lang="en-US" sz="1800" dirty="0">
                <a:latin typeface="Times New Roman" panose="02020603050405020304" pitchFamily="18" charset="0"/>
                <a:cs typeface="Times New Roman" panose="02020603050405020304" pitchFamily="18" charset="0"/>
              </a:rPr>
              <a:t>- Function 3: Write Processed Data to File – the output from reading the file is processed and then processed data is written</a:t>
            </a:r>
          </a:p>
          <a:p>
            <a:pPr marL="0" indent="0" algn="just">
              <a:buNone/>
            </a:pPr>
            <a:r>
              <a:rPr lang="en-US" sz="1800" b="1" dirty="0">
                <a:latin typeface="Times New Roman" panose="02020603050405020304" pitchFamily="18" charset="0"/>
                <a:cs typeface="Times New Roman" panose="02020603050405020304" pitchFamily="18" charset="0"/>
              </a:rPr>
              <a:t>Functional Cohesion</a:t>
            </a:r>
          </a:p>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best form of cohesion where all elements of the module contribute to performing a single, well-defined task. Every part of the module is essential to that task.</a:t>
            </a:r>
          </a:p>
          <a:p>
            <a:pPr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Example</a:t>
            </a:r>
            <a:r>
              <a:rPr lang="en-US" sz="1800" dirty="0">
                <a:latin typeface="Times New Roman" panose="02020603050405020304" pitchFamily="18" charset="0"/>
                <a:cs typeface="Times New Roman" panose="02020603050405020304" pitchFamily="18" charset="0"/>
              </a:rPr>
              <a:t>: A module that calculates the area of a circle.</a:t>
            </a:r>
          </a:p>
          <a:p>
            <a:pPr marL="0" indent="0" algn="just">
              <a:buNone/>
            </a:pPr>
            <a:r>
              <a:rPr lang="en-US" sz="1800" dirty="0">
                <a:latin typeface="Times New Roman" panose="02020603050405020304" pitchFamily="18" charset="0"/>
                <a:cs typeface="Times New Roman" panose="02020603050405020304" pitchFamily="18" charset="0"/>
              </a:rPr>
              <a:t>Module: "Calculate Circle Area"</a:t>
            </a:r>
          </a:p>
          <a:p>
            <a:pPr marL="0" indent="0" algn="just">
              <a:buNone/>
            </a:pPr>
            <a:r>
              <a:rPr lang="en-US" sz="1800" dirty="0">
                <a:latin typeface="Times New Roman" panose="02020603050405020304" pitchFamily="18" charset="0"/>
                <a:cs typeface="Times New Roman" panose="02020603050405020304" pitchFamily="18" charset="0"/>
              </a:rPr>
              <a:t>- Function 1: Input Radius</a:t>
            </a:r>
          </a:p>
          <a:p>
            <a:pPr marL="0" indent="0" algn="just">
              <a:buNone/>
            </a:pPr>
            <a:r>
              <a:rPr lang="en-US" sz="1800" dirty="0">
                <a:latin typeface="Times New Roman" panose="02020603050405020304" pitchFamily="18" charset="0"/>
                <a:cs typeface="Times New Roman" panose="02020603050405020304" pitchFamily="18" charset="0"/>
              </a:rPr>
              <a:t>- Function 2: Calculate Area</a:t>
            </a:r>
          </a:p>
          <a:p>
            <a:pPr marL="0" indent="0" algn="just">
              <a:buNone/>
            </a:pPr>
            <a:r>
              <a:rPr lang="en-US" sz="1800" dirty="0">
                <a:latin typeface="Times New Roman" panose="02020603050405020304" pitchFamily="18" charset="0"/>
                <a:cs typeface="Times New Roman" panose="02020603050405020304" pitchFamily="18" charset="0"/>
              </a:rPr>
              <a:t>- Function 3: Display Result – all functions are related, calculates and displays the area of the circle</a:t>
            </a:r>
          </a:p>
          <a:p>
            <a:pPr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609426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5282</TotalTime>
  <Words>5309</Words>
  <Application>Microsoft Office PowerPoint</Application>
  <PresentationFormat>Widescreen</PresentationFormat>
  <Paragraphs>422</Paragraphs>
  <Slides>35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Times New Roman</vt:lpstr>
      <vt:lpstr>Trebuchet MS</vt:lpstr>
      <vt:lpstr>Wingdings 3</vt:lpstr>
      <vt:lpstr>Facet</vt:lpstr>
      <vt:lpstr>Unit 3</vt:lpstr>
      <vt:lpstr>Software Design</vt:lpstr>
      <vt:lpstr>Software Design</vt:lpstr>
      <vt:lpstr>Microservice Example</vt:lpstr>
      <vt:lpstr>Software Design</vt:lpstr>
      <vt:lpstr>Software Design Principles</vt:lpstr>
      <vt:lpstr>Software Design Principles</vt:lpstr>
      <vt:lpstr>Software Design Principles</vt:lpstr>
      <vt:lpstr>Software Design common approaches</vt:lpstr>
      <vt:lpstr>Software Design common approaches</vt:lpstr>
      <vt:lpstr>Software Design common approaches</vt:lpstr>
      <vt:lpstr>Transition from Analysis to Design</vt:lpstr>
      <vt:lpstr>Transition from Analysis to Design</vt:lpstr>
      <vt:lpstr>Transition from Analysis to Design</vt:lpstr>
      <vt:lpstr>Structured Design</vt:lpstr>
      <vt:lpstr>Structured Design</vt:lpstr>
      <vt:lpstr>Structured Design</vt:lpstr>
      <vt:lpstr>Structured Design</vt:lpstr>
      <vt:lpstr>Structured Design</vt:lpstr>
      <vt:lpstr>Structured Design</vt:lpstr>
      <vt:lpstr>Structured Design</vt:lpstr>
      <vt:lpstr>Structured Design</vt:lpstr>
      <vt:lpstr>Structured Design</vt:lpstr>
      <vt:lpstr>Structured Design - LMS</vt:lpstr>
      <vt:lpstr>Structured Design - LMS</vt:lpstr>
      <vt:lpstr>Structured Design - LMS</vt:lpstr>
      <vt:lpstr>Structured Design - LMS</vt:lpstr>
      <vt:lpstr>Structured Design - LMS</vt:lpstr>
      <vt:lpstr>Structured Design - LMS</vt:lpstr>
      <vt:lpstr>Structured Design - LMS</vt:lpstr>
      <vt:lpstr>Structured Design</vt:lpstr>
      <vt:lpstr>Cohesion</vt:lpstr>
      <vt:lpstr>Cohesion</vt:lpstr>
      <vt:lpstr>Cohesion</vt:lpstr>
      <vt:lpstr>Cohesion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dc:title>
  <dc:creator>Uthayan Kanni Rajendran</dc:creator>
  <cp:lastModifiedBy>Suganya Elavarasan</cp:lastModifiedBy>
  <cp:revision>190</cp:revision>
  <dcterms:created xsi:type="dcterms:W3CDTF">2024-02-19T06:23:27Z</dcterms:created>
  <dcterms:modified xsi:type="dcterms:W3CDTF">2025-09-29T11:24:33Z</dcterms:modified>
</cp:coreProperties>
</file>