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2" r:id="rId4"/>
    <p:sldId id="258" r:id="rId5"/>
    <p:sldId id="259" r:id="rId6"/>
    <p:sldId id="260" r:id="rId7"/>
    <p:sldId id="261" r:id="rId8"/>
    <p:sldId id="276" r:id="rId9"/>
    <p:sldId id="277" r:id="rId10"/>
    <p:sldId id="278" r:id="rId11"/>
    <p:sldId id="279" r:id="rId12"/>
    <p:sldId id="299" r:id="rId13"/>
    <p:sldId id="292" r:id="rId14"/>
    <p:sldId id="300" r:id="rId15"/>
    <p:sldId id="283" r:id="rId16"/>
    <p:sldId id="284" r:id="rId17"/>
    <p:sldId id="285" r:id="rId18"/>
    <p:sldId id="293" r:id="rId19"/>
    <p:sldId id="301" r:id="rId20"/>
    <p:sldId id="286" r:id="rId21"/>
    <p:sldId id="287" r:id="rId22"/>
    <p:sldId id="288" r:id="rId23"/>
    <p:sldId id="298" r:id="rId24"/>
    <p:sldId id="302" r:id="rId25"/>
    <p:sldId id="303" r:id="rId26"/>
    <p:sldId id="304" r:id="rId27"/>
    <p:sldId id="305" r:id="rId28"/>
    <p:sldId id="294" r:id="rId29"/>
    <p:sldId id="306" r:id="rId30"/>
    <p:sldId id="307" r:id="rId31"/>
    <p:sldId id="295" r:id="rId32"/>
    <p:sldId id="280" r:id="rId33"/>
    <p:sldId id="290" r:id="rId34"/>
    <p:sldId id="296" r:id="rId35"/>
    <p:sldId id="281" r:id="rId36"/>
    <p:sldId id="308" r:id="rId37"/>
    <p:sldId id="309" r:id="rId38"/>
    <p:sldId id="297" r:id="rId39"/>
    <p:sldId id="282" r:id="rId40"/>
    <p:sldId id="263" r:id="rId41"/>
    <p:sldId id="264" r:id="rId42"/>
    <p:sldId id="310" r:id="rId43"/>
    <p:sldId id="311" r:id="rId44"/>
    <p:sldId id="312" r:id="rId45"/>
    <p:sldId id="313" r:id="rId46"/>
    <p:sldId id="314" r:id="rId47"/>
    <p:sldId id="315" r:id="rId48"/>
    <p:sldId id="316" r:id="rId49"/>
    <p:sldId id="317" r:id="rId50"/>
    <p:sldId id="265" r:id="rId51"/>
    <p:sldId id="266" r:id="rId52"/>
    <p:sldId id="267" r:id="rId53"/>
    <p:sldId id="268" r:id="rId54"/>
    <p:sldId id="318" r:id="rId55"/>
    <p:sldId id="269" r:id="rId56"/>
    <p:sldId id="270" r:id="rId57"/>
    <p:sldId id="271" r:id="rId58"/>
    <p:sldId id="272" r:id="rId59"/>
    <p:sldId id="273" r:id="rId60"/>
    <p:sldId id="274" r:id="rId61"/>
  </p:sldIdLst>
  <p:sldSz cx="12192000" cy="6858000"/>
  <p:notesSz cx="6858000" cy="9144000"/>
  <p:defaultTextStyle>
    <a:defPPr>
      <a:defRPr lang="en-US"/>
    </a:defPPr>
    <a:lvl1pPr algn="l" rtl="0" fontAlgn="base">
      <a:spcBef>
        <a:spcPct val="0"/>
      </a:spcBef>
      <a:spcAft>
        <a:spcPct val="0"/>
      </a:spcAft>
      <a:defRPr sz="20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1" descr="band">
            <a:extLst>
              <a:ext uri="{FF2B5EF4-FFF2-40B4-BE49-F238E27FC236}">
                <a16:creationId xmlns:a16="http://schemas.microsoft.com/office/drawing/2014/main" id="{2BE5AE0D-3B0E-6C4F-F4EA-AA675246F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589588"/>
            <a:ext cx="11988800"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914400" y="2286000"/>
            <a:ext cx="10363200" cy="1143000"/>
          </a:xfrm>
        </p:spPr>
        <p:txBody>
          <a:bodyPr/>
          <a:lstStyle>
            <a:lvl1pPr>
              <a:defRPr>
                <a:solidFill>
                  <a:srgbClr val="1B57B5"/>
                </a:solidFill>
              </a:defRPr>
            </a:lvl1pPr>
          </a:lstStyle>
          <a:p>
            <a:pPr lvl="0"/>
            <a:r>
              <a:rPr lang="en-US" noProof="0"/>
              <a:t>Click to edit Master title style</a:t>
            </a:r>
          </a:p>
        </p:txBody>
      </p:sp>
      <p:sp>
        <p:nvSpPr>
          <p:cNvPr id="5123" name="Rectangle 3"/>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defRPr>
            </a:lvl1pPr>
          </a:lstStyle>
          <a:p>
            <a:pPr lvl="0"/>
            <a:r>
              <a:rPr lang="en-US" noProof="0"/>
              <a:t>Click to edit Master subtitle style</a:t>
            </a:r>
          </a:p>
        </p:txBody>
      </p:sp>
    </p:spTree>
    <p:extLst>
      <p:ext uri="{BB962C8B-B14F-4D97-AF65-F5344CB8AC3E}">
        <p14:creationId xmlns:p14="http://schemas.microsoft.com/office/powerpoint/2010/main" val="3945653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1616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79657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4097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431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12464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1994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29314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43213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2344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7071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1" descr="band">
            <a:extLst>
              <a:ext uri="{FF2B5EF4-FFF2-40B4-BE49-F238E27FC236}">
                <a16:creationId xmlns:a16="http://schemas.microsoft.com/office/drawing/2014/main" id="{0DE7D10E-2EFF-28C2-1FEB-2F9C7F877EB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5589588"/>
            <a:ext cx="11988800"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BE40A5F1-34A6-08AE-5F30-D52C156BB758}"/>
              </a:ext>
            </a:extLst>
          </p:cNvPr>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0B667351-0BEF-F115-E5B6-9DA98657987F}"/>
              </a:ext>
            </a:extLst>
          </p:cNvPr>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11818367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000">
          <a:solidFill>
            <a:schemeClr val="tx2"/>
          </a:solidFill>
          <a:latin typeface="+mj-lt"/>
          <a:ea typeface="+mj-ea"/>
          <a:cs typeface="+mj-cs"/>
        </a:defRPr>
      </a:lvl1pPr>
      <a:lvl2pPr algn="ctr" rtl="0" eaLnBrk="1" fontAlgn="base" hangingPunct="1">
        <a:spcBef>
          <a:spcPct val="0"/>
        </a:spcBef>
        <a:spcAft>
          <a:spcPct val="0"/>
        </a:spcAft>
        <a:defRPr sz="4000">
          <a:solidFill>
            <a:schemeClr val="tx2"/>
          </a:solidFill>
          <a:latin typeface="Verdana" pitchFamily="34" charset="0"/>
        </a:defRPr>
      </a:lvl2pPr>
      <a:lvl3pPr algn="ctr" rtl="0" eaLnBrk="1" fontAlgn="base" hangingPunct="1">
        <a:spcBef>
          <a:spcPct val="0"/>
        </a:spcBef>
        <a:spcAft>
          <a:spcPct val="0"/>
        </a:spcAft>
        <a:defRPr sz="4000">
          <a:solidFill>
            <a:schemeClr val="tx2"/>
          </a:solidFill>
          <a:latin typeface="Verdana" pitchFamily="34" charset="0"/>
        </a:defRPr>
      </a:lvl3pPr>
      <a:lvl4pPr algn="ctr" rtl="0" eaLnBrk="1" fontAlgn="base" hangingPunct="1">
        <a:spcBef>
          <a:spcPct val="0"/>
        </a:spcBef>
        <a:spcAft>
          <a:spcPct val="0"/>
        </a:spcAft>
        <a:defRPr sz="4000">
          <a:solidFill>
            <a:schemeClr val="tx2"/>
          </a:solidFill>
          <a:latin typeface="Verdana" pitchFamily="34" charset="0"/>
        </a:defRPr>
      </a:lvl4pPr>
      <a:lvl5pPr algn="ctr" rtl="0" eaLnBrk="1" fontAlgn="base" hangingPunct="1">
        <a:spcBef>
          <a:spcPct val="0"/>
        </a:spcBef>
        <a:spcAft>
          <a:spcPct val="0"/>
        </a:spcAft>
        <a:defRPr sz="4000">
          <a:solidFill>
            <a:schemeClr val="tx2"/>
          </a:solidFill>
          <a:latin typeface="Verdana" pitchFamily="34" charset="0"/>
        </a:defRPr>
      </a:lvl5pPr>
      <a:lvl6pPr marL="457200" algn="ctr" rtl="0" eaLnBrk="1" fontAlgn="base" hangingPunct="1">
        <a:spcBef>
          <a:spcPct val="0"/>
        </a:spcBef>
        <a:spcAft>
          <a:spcPct val="0"/>
        </a:spcAft>
        <a:defRPr sz="4000">
          <a:solidFill>
            <a:schemeClr val="tx2"/>
          </a:solidFill>
          <a:latin typeface="Verdana" pitchFamily="34" charset="0"/>
        </a:defRPr>
      </a:lvl6pPr>
      <a:lvl7pPr marL="914400" algn="ctr" rtl="0" eaLnBrk="1" fontAlgn="base" hangingPunct="1">
        <a:spcBef>
          <a:spcPct val="0"/>
        </a:spcBef>
        <a:spcAft>
          <a:spcPct val="0"/>
        </a:spcAft>
        <a:defRPr sz="4000">
          <a:solidFill>
            <a:schemeClr val="tx2"/>
          </a:solidFill>
          <a:latin typeface="Verdana" pitchFamily="34" charset="0"/>
        </a:defRPr>
      </a:lvl7pPr>
      <a:lvl8pPr marL="1371600" algn="ctr" rtl="0" eaLnBrk="1" fontAlgn="base" hangingPunct="1">
        <a:spcBef>
          <a:spcPct val="0"/>
        </a:spcBef>
        <a:spcAft>
          <a:spcPct val="0"/>
        </a:spcAft>
        <a:defRPr sz="4000">
          <a:solidFill>
            <a:schemeClr val="tx2"/>
          </a:solidFill>
          <a:latin typeface="Verdana" pitchFamily="34" charset="0"/>
        </a:defRPr>
      </a:lvl8pPr>
      <a:lvl9pPr marL="1828800" algn="ctr" rtl="0" eaLnBrk="1" fontAlgn="base" hangingPunct="1">
        <a:spcBef>
          <a:spcPct val="0"/>
        </a:spcBef>
        <a:spcAft>
          <a:spcPct val="0"/>
        </a:spcAft>
        <a:defRPr sz="4000">
          <a:solidFill>
            <a:schemeClr val="tx2"/>
          </a:solidFill>
          <a:latin typeface="Verdana" pitchFamily="34"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A9A3-79CD-DD1C-5025-7EDCB21E5CD8}"/>
              </a:ext>
            </a:extLst>
          </p:cNvPr>
          <p:cNvSpPr>
            <a:spLocks noGrp="1"/>
          </p:cNvSpPr>
          <p:nvPr>
            <p:ph type="ctrTitle"/>
          </p:nvPr>
        </p:nvSpPr>
        <p:spPr/>
        <p:txBody>
          <a:bodyPr/>
          <a:lstStyle/>
          <a:p>
            <a:r>
              <a:rPr lang="en-US" dirty="0"/>
              <a:t>Unit 2</a:t>
            </a:r>
            <a:endParaRPr lang="en-IN" dirty="0"/>
          </a:p>
        </p:txBody>
      </p:sp>
      <p:sp>
        <p:nvSpPr>
          <p:cNvPr id="3" name="Subtitle 2">
            <a:extLst>
              <a:ext uri="{FF2B5EF4-FFF2-40B4-BE49-F238E27FC236}">
                <a16:creationId xmlns:a16="http://schemas.microsoft.com/office/drawing/2014/main" id="{5490DE1D-DFA0-D492-A69E-7C0AF0AB975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04480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Understanding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algn="just"/>
            <a:r>
              <a:rPr lang="en-US" sz="1800" dirty="0">
                <a:latin typeface="Times New Roman" panose="02020603050405020304" pitchFamily="18" charset="0"/>
                <a:cs typeface="Times New Roman" panose="02020603050405020304" pitchFamily="18" charset="0"/>
              </a:rPr>
              <a:t>Requirements are descriptions of the system's behavior, features, and constraints. </a:t>
            </a:r>
          </a:p>
          <a:p>
            <a:pPr algn="just"/>
            <a:r>
              <a:rPr lang="en-US" sz="1800" dirty="0">
                <a:latin typeface="Times New Roman" panose="02020603050405020304" pitchFamily="18" charset="0"/>
                <a:cs typeface="Times New Roman" panose="02020603050405020304" pitchFamily="18" charset="0"/>
              </a:rPr>
              <a:t>Understanding both functional and non-functional requirements is crucial in defining what the system should do and how it should perform. </a:t>
            </a:r>
          </a:p>
          <a:p>
            <a:pPr algn="just"/>
            <a:r>
              <a:rPr lang="en-US" sz="1800" dirty="0">
                <a:latin typeface="Times New Roman" panose="02020603050405020304" pitchFamily="18" charset="0"/>
                <a:cs typeface="Times New Roman" panose="02020603050405020304" pitchFamily="18" charset="0"/>
              </a:rPr>
              <a:t>The requirement engineering process—from feasibility studies to requirements management—ensures that the system being developed meets the needs of stakeholders and is feasible to implement. This process is iterative and involves continuous collaboration with stakeholders to refine and manage requirements throughout the project lifecycle.</a:t>
            </a:r>
          </a:p>
          <a:p>
            <a:pPr algn="just"/>
            <a:r>
              <a:rPr lang="en-US" sz="1800" dirty="0">
                <a:latin typeface="Times New Roman" panose="02020603050405020304" pitchFamily="18" charset="0"/>
                <a:cs typeface="Times New Roman" panose="02020603050405020304" pitchFamily="18" charset="0"/>
              </a:rPr>
              <a:t>Requirements are broadly categorized into two types:</a:t>
            </a:r>
          </a:p>
          <a:p>
            <a:pPr algn="just">
              <a:buFont typeface="+mj-lt"/>
              <a:buAutoNum type="arabicPeriod"/>
            </a:pPr>
            <a:r>
              <a:rPr lang="en-IN" sz="1800" dirty="0">
                <a:latin typeface="Times New Roman" panose="02020603050405020304" pitchFamily="18" charset="0"/>
                <a:cs typeface="Times New Roman" panose="02020603050405020304" pitchFamily="18" charset="0"/>
              </a:rPr>
              <a:t>Functional</a:t>
            </a:r>
          </a:p>
          <a:p>
            <a:pPr algn="just">
              <a:buFont typeface="+mj-lt"/>
              <a:buAutoNum type="arabicPeriod"/>
            </a:pPr>
            <a:r>
              <a:rPr lang="en-IN" sz="1800" dirty="0">
                <a:latin typeface="Times New Roman" panose="02020603050405020304" pitchFamily="18" charset="0"/>
                <a:cs typeface="Times New Roman" panose="02020603050405020304" pitchFamily="18" charset="0"/>
              </a:rPr>
              <a:t>Non-functional</a:t>
            </a:r>
          </a:p>
        </p:txBody>
      </p:sp>
    </p:spTree>
    <p:extLst>
      <p:ext uri="{BB962C8B-B14F-4D97-AF65-F5344CB8AC3E}">
        <p14:creationId xmlns:p14="http://schemas.microsoft.com/office/powerpoint/2010/main" val="401920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Understanding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a) Functional Requirements: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Definition:</a:t>
            </a:r>
            <a:r>
              <a:rPr lang="en-US" sz="1800" dirty="0">
                <a:latin typeface="Times New Roman" panose="02020603050405020304" pitchFamily="18" charset="0"/>
                <a:cs typeface="Times New Roman" panose="02020603050405020304" pitchFamily="18" charset="0"/>
              </a:rPr>
              <a:t> Functional requirements describe what the system should do. They specify the functions that the system must perform, such as calculations, data processing, and business rules.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Examples:</a:t>
            </a:r>
            <a:endParaRPr lang="en-US" sz="1800" dirty="0">
              <a:latin typeface="Times New Roman" panose="02020603050405020304" pitchFamily="18" charset="0"/>
              <a:cs typeface="Times New Roman" panose="02020603050405020304" pitchFamily="18" charset="0"/>
            </a:endParaRPr>
          </a:p>
          <a:p>
            <a:pPr lvl="1" algn="just"/>
            <a:r>
              <a:rPr lang="en-US" sz="1800" dirty="0">
                <a:latin typeface="Times New Roman" panose="02020603050405020304" pitchFamily="18" charset="0"/>
                <a:cs typeface="Times New Roman" panose="02020603050405020304" pitchFamily="18" charset="0"/>
              </a:rPr>
              <a:t>The system shall allow users to log in with a username and password.</a:t>
            </a:r>
          </a:p>
          <a:p>
            <a:pPr lvl="1" algn="just"/>
            <a:r>
              <a:rPr lang="en-US" sz="1800" dirty="0">
                <a:latin typeface="Times New Roman" panose="02020603050405020304" pitchFamily="18" charset="0"/>
                <a:cs typeface="Times New Roman" panose="02020603050405020304" pitchFamily="18" charset="0"/>
              </a:rPr>
              <a:t>The application shall send an email confirmation upon user registration.</a:t>
            </a:r>
          </a:p>
          <a:p>
            <a:pPr lvl="1" algn="just"/>
            <a:r>
              <a:rPr lang="en-US" sz="1800" dirty="0">
                <a:latin typeface="Times New Roman" panose="02020603050405020304" pitchFamily="18" charset="0"/>
                <a:cs typeface="Times New Roman" panose="02020603050405020304" pitchFamily="18" charset="0"/>
              </a:rPr>
              <a:t>The system shall generate monthly financial reports.</a:t>
            </a:r>
          </a:p>
          <a:p>
            <a:pPr marL="0" indent="0" algn="just">
              <a:buNone/>
            </a:pPr>
            <a:r>
              <a:rPr lang="en-US" sz="1800" b="1" dirty="0">
                <a:latin typeface="Times New Roman" panose="02020603050405020304" pitchFamily="18" charset="0"/>
                <a:cs typeface="Times New Roman" panose="02020603050405020304" pitchFamily="18" charset="0"/>
              </a:rPr>
              <a:t>b) Non-Functional Requirements: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Definition:</a:t>
            </a:r>
            <a:r>
              <a:rPr lang="en-US" sz="1800" dirty="0">
                <a:latin typeface="Times New Roman" panose="02020603050405020304" pitchFamily="18" charset="0"/>
                <a:cs typeface="Times New Roman" panose="02020603050405020304" pitchFamily="18" charset="0"/>
              </a:rPr>
              <a:t> Non-functional requirements describe how the system should perform its functions. They specify the quality attributes, such as performance, usability, reliability, and security.</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Examples:</a:t>
            </a:r>
            <a:endParaRPr lang="en-US" sz="1800" dirty="0">
              <a:latin typeface="Times New Roman" panose="02020603050405020304" pitchFamily="18" charset="0"/>
              <a:cs typeface="Times New Roman" panose="02020603050405020304" pitchFamily="18" charset="0"/>
            </a:endParaRPr>
          </a:p>
          <a:p>
            <a:pPr lvl="1" algn="just"/>
            <a:r>
              <a:rPr lang="en-US" sz="1800" dirty="0">
                <a:latin typeface="Times New Roman" panose="02020603050405020304" pitchFamily="18" charset="0"/>
                <a:cs typeface="Times New Roman" panose="02020603050405020304" pitchFamily="18" charset="0"/>
              </a:rPr>
              <a:t>The system shall load the user dashboard within 2 seconds.</a:t>
            </a:r>
          </a:p>
          <a:p>
            <a:pPr lvl="1" algn="just"/>
            <a:r>
              <a:rPr lang="en-US" sz="1800" dirty="0">
                <a:latin typeface="Times New Roman" panose="02020603050405020304" pitchFamily="18" charset="0"/>
                <a:cs typeface="Times New Roman" panose="02020603050405020304" pitchFamily="18" charset="0"/>
              </a:rPr>
              <a:t>The application shall support 10,000 concurrent users.</a:t>
            </a:r>
          </a:p>
          <a:p>
            <a:pPr lvl="1" algn="just"/>
            <a:r>
              <a:rPr lang="en-US" sz="1800" dirty="0">
                <a:latin typeface="Times New Roman" panose="02020603050405020304" pitchFamily="18" charset="0"/>
                <a:cs typeface="Times New Roman" panose="02020603050405020304" pitchFamily="18" charset="0"/>
              </a:rPr>
              <a:t>The system shall ensure data encryption during transmission.</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274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Requirement Engineering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algn="just"/>
            <a:r>
              <a:rPr lang="en-US" sz="1800" dirty="0">
                <a:latin typeface="Times New Roman" panose="02020603050405020304" pitchFamily="18" charset="0"/>
                <a:cs typeface="Times New Roman" panose="02020603050405020304" pitchFamily="18" charset="0"/>
              </a:rPr>
              <a:t>Requirement engineering is a systematic approach to gathering, analyzing, and managing requirements. The process typically includes the following stages:</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buAutoNum type="alphaLcParenR"/>
            </a:pPr>
            <a:r>
              <a:rPr lang="en-US" sz="1800" b="1" dirty="0">
                <a:latin typeface="Times New Roman" panose="02020603050405020304" pitchFamily="18" charset="0"/>
                <a:cs typeface="Times New Roman" panose="02020603050405020304" pitchFamily="18" charset="0"/>
              </a:rPr>
              <a:t>Feasibility Studies:</a:t>
            </a:r>
          </a:p>
          <a:p>
            <a:pPr marL="0" indent="0" algn="just">
              <a:buNone/>
            </a:pPr>
            <a:endParaRPr lang="en-US" sz="18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Purpose:</a:t>
            </a:r>
            <a:r>
              <a:rPr lang="en-US" sz="1800" dirty="0">
                <a:latin typeface="Times New Roman" panose="02020603050405020304" pitchFamily="18" charset="0"/>
                <a:cs typeface="Times New Roman" panose="02020603050405020304" pitchFamily="18" charset="0"/>
              </a:rPr>
              <a:t> The feasibility study evaluates whether the proposed system is viable and worth pursuing. It considers technical, economic, legal, and operational aspects.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Key Activities:</a:t>
            </a:r>
            <a:endParaRPr lang="en-US" sz="1800" dirty="0">
              <a:latin typeface="Times New Roman" panose="02020603050405020304" pitchFamily="18" charset="0"/>
              <a:cs typeface="Times New Roman" panose="02020603050405020304" pitchFamily="18" charset="0"/>
            </a:endParaRPr>
          </a:p>
          <a:p>
            <a:pPr marL="800100" lvl="1" indent="-342900" algn="just">
              <a:buFont typeface="+mj-lt"/>
              <a:buAutoNum type="arabicPeriod"/>
            </a:pPr>
            <a:r>
              <a:rPr lang="en-US" sz="1800" b="1" dirty="0">
                <a:latin typeface="Times New Roman" panose="02020603050405020304" pitchFamily="18" charset="0"/>
                <a:cs typeface="Times New Roman" panose="02020603050405020304" pitchFamily="18" charset="0"/>
              </a:rPr>
              <a:t>Technical Feasibility:</a:t>
            </a:r>
            <a:r>
              <a:rPr lang="en-US" sz="1800" dirty="0">
                <a:latin typeface="Times New Roman" panose="02020603050405020304" pitchFamily="18" charset="0"/>
                <a:cs typeface="Times New Roman" panose="02020603050405020304" pitchFamily="18" charset="0"/>
              </a:rPr>
              <a:t> Assessing whether the technology needed to implement the system exists and is mature enough.</a:t>
            </a:r>
          </a:p>
          <a:p>
            <a:pPr marL="800100" lvl="1" indent="-342900" algn="just">
              <a:buFont typeface="+mj-lt"/>
              <a:buAutoNum type="arabicPeriod"/>
            </a:pPr>
            <a:r>
              <a:rPr lang="en-US" sz="1800" b="1" dirty="0">
                <a:latin typeface="Times New Roman" panose="02020603050405020304" pitchFamily="18" charset="0"/>
                <a:cs typeface="Times New Roman" panose="02020603050405020304" pitchFamily="18" charset="0"/>
              </a:rPr>
              <a:t>Economic Feasibility:</a:t>
            </a:r>
            <a:r>
              <a:rPr lang="en-US" sz="1800" dirty="0">
                <a:latin typeface="Times New Roman" panose="02020603050405020304" pitchFamily="18" charset="0"/>
                <a:cs typeface="Times New Roman" panose="02020603050405020304" pitchFamily="18" charset="0"/>
              </a:rPr>
              <a:t> Estimating costs and benefits to determine if the project is financially viable.</a:t>
            </a:r>
          </a:p>
          <a:p>
            <a:pPr marL="800100" lvl="1" indent="-342900" algn="just">
              <a:buFont typeface="+mj-lt"/>
              <a:buAutoNum type="arabicPeriod"/>
            </a:pPr>
            <a:r>
              <a:rPr lang="en-US" sz="1800" b="1" dirty="0">
                <a:latin typeface="Times New Roman" panose="02020603050405020304" pitchFamily="18" charset="0"/>
                <a:cs typeface="Times New Roman" panose="02020603050405020304" pitchFamily="18" charset="0"/>
              </a:rPr>
              <a:t>Legal Feasibility:</a:t>
            </a:r>
            <a:r>
              <a:rPr lang="en-US" sz="1800" dirty="0">
                <a:latin typeface="Times New Roman" panose="02020603050405020304" pitchFamily="18" charset="0"/>
                <a:cs typeface="Times New Roman" panose="02020603050405020304" pitchFamily="18" charset="0"/>
              </a:rPr>
              <a:t> Ensuring that the system complies with legal and regulatory requirements.</a:t>
            </a:r>
          </a:p>
          <a:p>
            <a:pPr marL="800100" lvl="1" indent="-342900" algn="just">
              <a:buFont typeface="+mj-lt"/>
              <a:buAutoNum type="arabicPeriod"/>
            </a:pPr>
            <a:r>
              <a:rPr lang="en-US" sz="1800" b="1" dirty="0">
                <a:latin typeface="Times New Roman" panose="02020603050405020304" pitchFamily="18" charset="0"/>
                <a:cs typeface="Times New Roman" panose="02020603050405020304" pitchFamily="18" charset="0"/>
              </a:rPr>
              <a:t>Operational Feasibility:</a:t>
            </a:r>
            <a:r>
              <a:rPr lang="en-US" sz="1800" dirty="0">
                <a:latin typeface="Times New Roman" panose="02020603050405020304" pitchFamily="18" charset="0"/>
                <a:cs typeface="Times New Roman" panose="02020603050405020304" pitchFamily="18" charset="0"/>
              </a:rPr>
              <a:t> Analyzing whether the system can be integrated into existing operations and whether it will be accepted by users.</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9606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Requirement Engineering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2000" b="1" dirty="0">
                <a:latin typeface="Times New Roman" panose="02020603050405020304" pitchFamily="18" charset="0"/>
                <a:cs typeface="Times New Roman" panose="02020603050405020304" pitchFamily="18" charset="0"/>
              </a:rPr>
              <a:t>b) Requirements Elicitation and Analysis: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Gathering and understanding the needs and expectations of stakeholders.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Key Techniques:</a:t>
            </a:r>
            <a:endParaRPr lang="en-US" sz="2000" dirty="0">
              <a:latin typeface="Times New Roman" panose="02020603050405020304" pitchFamily="18" charset="0"/>
              <a:cs typeface="Times New Roman" panose="02020603050405020304" pitchFamily="18" charset="0"/>
            </a:endParaRPr>
          </a:p>
          <a:p>
            <a:pPr lvl="1" algn="just"/>
            <a:r>
              <a:rPr lang="en-US" sz="2000" b="1" dirty="0">
                <a:latin typeface="Times New Roman" panose="02020603050405020304" pitchFamily="18" charset="0"/>
                <a:cs typeface="Times New Roman" panose="02020603050405020304" pitchFamily="18" charset="0"/>
              </a:rPr>
              <a:t>Interviews:</a:t>
            </a:r>
            <a:r>
              <a:rPr lang="en-US" sz="2000" dirty="0">
                <a:latin typeface="Times New Roman" panose="02020603050405020304" pitchFamily="18" charset="0"/>
                <a:cs typeface="Times New Roman" panose="02020603050405020304" pitchFamily="18" charset="0"/>
              </a:rPr>
              <a:t> Conducting interviews with stakeholders to gather their requirements.</a:t>
            </a:r>
          </a:p>
          <a:p>
            <a:pPr lvl="1" algn="just"/>
            <a:r>
              <a:rPr lang="en-US" sz="2000" b="1" dirty="0">
                <a:latin typeface="Times New Roman" panose="02020603050405020304" pitchFamily="18" charset="0"/>
                <a:cs typeface="Times New Roman" panose="02020603050405020304" pitchFamily="18" charset="0"/>
              </a:rPr>
              <a:t>Surveys/Questionnaires:</a:t>
            </a:r>
            <a:r>
              <a:rPr lang="en-US" sz="2000" dirty="0">
                <a:latin typeface="Times New Roman" panose="02020603050405020304" pitchFamily="18" charset="0"/>
                <a:cs typeface="Times New Roman" panose="02020603050405020304" pitchFamily="18" charset="0"/>
              </a:rPr>
              <a:t> Distributing surveys to gather a broad range of opinions.</a:t>
            </a:r>
          </a:p>
          <a:p>
            <a:pPr lvl="1" algn="just"/>
            <a:r>
              <a:rPr lang="en-US" sz="2000" b="1" dirty="0">
                <a:latin typeface="Times New Roman" panose="02020603050405020304" pitchFamily="18" charset="0"/>
                <a:cs typeface="Times New Roman" panose="02020603050405020304" pitchFamily="18" charset="0"/>
              </a:rPr>
              <a:t>Workshops:</a:t>
            </a:r>
            <a:r>
              <a:rPr lang="en-US" sz="2000" dirty="0">
                <a:latin typeface="Times New Roman" panose="02020603050405020304" pitchFamily="18" charset="0"/>
                <a:cs typeface="Times New Roman" panose="02020603050405020304" pitchFamily="18" charset="0"/>
              </a:rPr>
              <a:t> Organizing workshops to collaborate with stakeholders in defining requirements.</a:t>
            </a:r>
          </a:p>
          <a:p>
            <a:pPr lvl="1" algn="just"/>
            <a:r>
              <a:rPr lang="en-US" sz="2000" b="1" dirty="0">
                <a:latin typeface="Times New Roman" panose="02020603050405020304" pitchFamily="18" charset="0"/>
                <a:cs typeface="Times New Roman" panose="02020603050405020304" pitchFamily="18" charset="0"/>
              </a:rPr>
              <a:t>Observation:</a:t>
            </a:r>
            <a:r>
              <a:rPr lang="en-US" sz="2000" dirty="0">
                <a:latin typeface="Times New Roman" panose="02020603050405020304" pitchFamily="18" charset="0"/>
                <a:cs typeface="Times New Roman" panose="02020603050405020304" pitchFamily="18" charset="0"/>
              </a:rPr>
              <a:t> Observing how users currently perform tasks to identify needs.</a:t>
            </a:r>
          </a:p>
          <a:p>
            <a:pPr lvl="1" algn="just"/>
            <a:r>
              <a:rPr lang="en-US" sz="2000" b="1" dirty="0">
                <a:latin typeface="Times New Roman" panose="02020603050405020304" pitchFamily="18" charset="0"/>
                <a:cs typeface="Times New Roman" panose="02020603050405020304" pitchFamily="18" charset="0"/>
              </a:rPr>
              <a:t>Prototyping:</a:t>
            </a:r>
            <a:r>
              <a:rPr lang="en-US" sz="2000" dirty="0">
                <a:latin typeface="Times New Roman" panose="02020603050405020304" pitchFamily="18" charset="0"/>
                <a:cs typeface="Times New Roman" panose="02020603050405020304" pitchFamily="18" charset="0"/>
              </a:rPr>
              <a:t> Creating prototypes to visualize and refine requirements.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Analysis:</a:t>
            </a:r>
            <a:r>
              <a:rPr lang="en-US" sz="2000" dirty="0">
                <a:latin typeface="Times New Roman" panose="02020603050405020304" pitchFamily="18" charset="0"/>
                <a:cs typeface="Times New Roman" panose="02020603050405020304" pitchFamily="18" charset="0"/>
              </a:rPr>
              <a:t> After gathering requirements, they need to be analyzed for consistency, completeness, and feasibility.</a:t>
            </a:r>
          </a:p>
        </p:txBody>
      </p:sp>
    </p:spTree>
    <p:extLst>
      <p:ext uri="{BB962C8B-B14F-4D97-AF65-F5344CB8AC3E}">
        <p14:creationId xmlns:p14="http://schemas.microsoft.com/office/powerpoint/2010/main" val="1227732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Requirement Engineering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2200" b="1" dirty="0">
                <a:latin typeface="Times New Roman" panose="02020603050405020304" pitchFamily="18" charset="0"/>
                <a:cs typeface="Times New Roman" panose="02020603050405020304" pitchFamily="18" charset="0"/>
              </a:rPr>
              <a:t>c) Requirements Validation:</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Purpose:</a:t>
            </a:r>
            <a:r>
              <a:rPr lang="en-US" sz="2200" dirty="0">
                <a:latin typeface="Times New Roman" panose="02020603050405020304" pitchFamily="18" charset="0"/>
                <a:cs typeface="Times New Roman" panose="02020603050405020304" pitchFamily="18" charset="0"/>
              </a:rPr>
              <a:t> Ensuring that the gathered requirements accurately reflect the needs of stakeholders and are achievable.</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Key Activities:</a:t>
            </a:r>
            <a:endParaRPr lang="en-US" sz="2200" dirty="0">
              <a:latin typeface="Times New Roman" panose="02020603050405020304" pitchFamily="18" charset="0"/>
              <a:cs typeface="Times New Roman" panose="02020603050405020304" pitchFamily="18" charset="0"/>
            </a:endParaRPr>
          </a:p>
          <a:p>
            <a:pPr lvl="1" algn="just"/>
            <a:r>
              <a:rPr lang="en-US" sz="2200" b="1" dirty="0">
                <a:latin typeface="Times New Roman" panose="02020603050405020304" pitchFamily="18" charset="0"/>
                <a:cs typeface="Times New Roman" panose="02020603050405020304" pitchFamily="18" charset="0"/>
              </a:rPr>
              <a:t>Review:</a:t>
            </a:r>
            <a:r>
              <a:rPr lang="en-US" sz="2200" dirty="0">
                <a:latin typeface="Times New Roman" panose="02020603050405020304" pitchFamily="18" charset="0"/>
                <a:cs typeface="Times New Roman" panose="02020603050405020304" pitchFamily="18" charset="0"/>
              </a:rPr>
              <a:t> Stakeholders review the requirements document to confirm accuracy.</a:t>
            </a:r>
          </a:p>
          <a:p>
            <a:pPr lvl="1" algn="just"/>
            <a:r>
              <a:rPr lang="en-US" sz="2200" b="1" dirty="0">
                <a:latin typeface="Times New Roman" panose="02020603050405020304" pitchFamily="18" charset="0"/>
                <a:cs typeface="Times New Roman" panose="02020603050405020304" pitchFamily="18" charset="0"/>
              </a:rPr>
              <a:t>Prototyping:</a:t>
            </a:r>
            <a:r>
              <a:rPr lang="en-US" sz="2200" dirty="0">
                <a:latin typeface="Times New Roman" panose="02020603050405020304" pitchFamily="18" charset="0"/>
                <a:cs typeface="Times New Roman" panose="02020603050405020304" pitchFamily="18" charset="0"/>
              </a:rPr>
              <a:t> Validating requirements through prototypes to ensure they meet user needs.</a:t>
            </a:r>
          </a:p>
          <a:p>
            <a:pPr lvl="1" algn="just"/>
            <a:r>
              <a:rPr lang="en-US" sz="2200" b="1" dirty="0">
                <a:latin typeface="Times New Roman" panose="02020603050405020304" pitchFamily="18" charset="0"/>
                <a:cs typeface="Times New Roman" panose="02020603050405020304" pitchFamily="18" charset="0"/>
              </a:rPr>
              <a:t>Modeling:</a:t>
            </a:r>
            <a:r>
              <a:rPr lang="en-US" sz="2200" dirty="0">
                <a:latin typeface="Times New Roman" panose="02020603050405020304" pitchFamily="18" charset="0"/>
                <a:cs typeface="Times New Roman" panose="02020603050405020304" pitchFamily="18" charset="0"/>
              </a:rPr>
              <a:t> Creating models (e.g., data flow diagrams) to validate requirements.</a:t>
            </a:r>
          </a:p>
          <a:p>
            <a:pPr lvl="1" algn="just"/>
            <a:r>
              <a:rPr lang="en-US" sz="2200" b="1" dirty="0">
                <a:latin typeface="Times New Roman" panose="02020603050405020304" pitchFamily="18" charset="0"/>
                <a:cs typeface="Times New Roman" panose="02020603050405020304" pitchFamily="18" charset="0"/>
              </a:rPr>
              <a:t>Test Cases:</a:t>
            </a:r>
            <a:r>
              <a:rPr lang="en-US" sz="2200" dirty="0">
                <a:latin typeface="Times New Roman" panose="02020603050405020304" pitchFamily="18" charset="0"/>
                <a:cs typeface="Times New Roman" panose="02020603050405020304" pitchFamily="18" charset="0"/>
              </a:rPr>
              <a:t> Developing test cases to ensure that the requirements can be tested during the implementation phase.</a:t>
            </a:r>
          </a:p>
        </p:txBody>
      </p:sp>
    </p:spTree>
    <p:extLst>
      <p:ext uri="{BB962C8B-B14F-4D97-AF65-F5344CB8AC3E}">
        <p14:creationId xmlns:p14="http://schemas.microsoft.com/office/powerpoint/2010/main" val="4175598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Requirement Engineering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d) Requirements Management:</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Purpose:</a:t>
            </a:r>
            <a:r>
              <a:rPr lang="en-US" sz="1800" dirty="0">
                <a:latin typeface="Times New Roman" panose="02020603050405020304" pitchFamily="18" charset="0"/>
                <a:cs typeface="Times New Roman" panose="02020603050405020304" pitchFamily="18" charset="0"/>
              </a:rPr>
              <a:t> Requirement Management is an ongoing process in the software development life cycle that ensures all project requirements are properly tracked, controlled, and fulfilled throughout the development process.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Key Activities:</a:t>
            </a:r>
            <a:endParaRPr lang="en-US" sz="1800" dirty="0">
              <a:latin typeface="Times New Roman" panose="02020603050405020304" pitchFamily="18" charset="0"/>
              <a:cs typeface="Times New Roman" panose="02020603050405020304" pitchFamily="18" charset="0"/>
            </a:endParaRPr>
          </a:p>
          <a:p>
            <a:pPr lvl="1" algn="just"/>
            <a:r>
              <a:rPr lang="en-US" sz="1800" b="1" dirty="0">
                <a:latin typeface="Times New Roman" panose="02020603050405020304" pitchFamily="18" charset="0"/>
                <a:cs typeface="Times New Roman" panose="02020603050405020304" pitchFamily="18" charset="0"/>
              </a:rPr>
              <a:t>Version Control:</a:t>
            </a:r>
            <a:r>
              <a:rPr lang="en-US" sz="1800" dirty="0">
                <a:latin typeface="Times New Roman" panose="02020603050405020304" pitchFamily="18" charset="0"/>
                <a:cs typeface="Times New Roman" panose="02020603050405020304" pitchFamily="18" charset="0"/>
              </a:rPr>
              <a:t> Keeping track of different versions of the requirements document.</a:t>
            </a:r>
          </a:p>
          <a:p>
            <a:pPr lvl="1" algn="just"/>
            <a:r>
              <a:rPr lang="en-US" sz="1800" b="1" dirty="0">
                <a:latin typeface="Times New Roman" panose="02020603050405020304" pitchFamily="18" charset="0"/>
                <a:cs typeface="Times New Roman" panose="02020603050405020304" pitchFamily="18" charset="0"/>
              </a:rPr>
              <a:t>Change Control:</a:t>
            </a:r>
            <a:r>
              <a:rPr lang="en-US" sz="1800" dirty="0">
                <a:latin typeface="Times New Roman" panose="02020603050405020304" pitchFamily="18" charset="0"/>
                <a:cs typeface="Times New Roman" panose="02020603050405020304" pitchFamily="18" charset="0"/>
              </a:rPr>
              <a:t> Managing changes to requirements in a controlled manner to avoid scope creep.</a:t>
            </a:r>
          </a:p>
          <a:p>
            <a:pPr lvl="1" algn="just"/>
            <a:r>
              <a:rPr lang="en-US" sz="1800" b="1" dirty="0">
                <a:latin typeface="Times New Roman" panose="02020603050405020304" pitchFamily="18" charset="0"/>
                <a:cs typeface="Times New Roman" panose="02020603050405020304" pitchFamily="18" charset="0"/>
              </a:rPr>
              <a:t>Traceability:</a:t>
            </a:r>
            <a:r>
              <a:rPr lang="en-US" sz="1800" dirty="0">
                <a:latin typeface="Times New Roman" panose="02020603050405020304" pitchFamily="18" charset="0"/>
                <a:cs typeface="Times New Roman" panose="02020603050405020304" pitchFamily="18" charset="0"/>
              </a:rPr>
              <a:t> Establishing relationships between requirements and other project artifacts (e.g., design documents, test cases) to ensure that all requirements are met.</a:t>
            </a:r>
          </a:p>
          <a:p>
            <a:pPr lvl="1" algn="just"/>
            <a:r>
              <a:rPr lang="en-US" sz="1800" b="1" dirty="0">
                <a:latin typeface="Times New Roman" panose="02020603050405020304" pitchFamily="18" charset="0"/>
                <a:cs typeface="Times New Roman" panose="02020603050405020304" pitchFamily="18" charset="0"/>
              </a:rPr>
              <a:t>Prioritization:</a:t>
            </a:r>
            <a:r>
              <a:rPr lang="en-US" sz="1800" dirty="0">
                <a:latin typeface="Times New Roman" panose="02020603050405020304" pitchFamily="18" charset="0"/>
                <a:cs typeface="Times New Roman" panose="02020603050405020304" pitchFamily="18" charset="0"/>
              </a:rPr>
              <a:t> Prioritizing requirements based on their importance and impact on the project.</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57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FF2F54B-FED0-65B8-A25B-94FBB5C2966F}"/>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8</a:t>
            </a:fld>
            <a:endParaRPr lang="en-US" altLang="en-US"/>
          </a:p>
        </p:txBody>
      </p:sp>
      <p:sp>
        <p:nvSpPr>
          <p:cNvPr id="295938" name="Rectangle 2">
            <a:extLst>
              <a:ext uri="{FF2B5EF4-FFF2-40B4-BE49-F238E27FC236}">
                <a16:creationId xmlns:a16="http://schemas.microsoft.com/office/drawing/2014/main" id="{F803FCA4-867B-F08E-CCE1-C1FBFAE9227C}"/>
              </a:ext>
            </a:extLst>
          </p:cNvPr>
          <p:cNvSpPr>
            <a:spLocks noGrp="1" noChangeArrowheads="1"/>
          </p:cNvSpPr>
          <p:nvPr>
            <p:ph type="title"/>
          </p:nvPr>
        </p:nvSpPr>
        <p:spPr>
          <a:xfrm>
            <a:off x="2209800" y="228600"/>
            <a:ext cx="7772400" cy="1143000"/>
          </a:xfrm>
        </p:spPr>
        <p:txBody>
          <a:bodyPr/>
          <a:lstStyle/>
          <a:p>
            <a:r>
              <a:rPr lang="en-US" altLang="en-US" dirty="0">
                <a:latin typeface="Times New Roman" panose="02020603050405020304" pitchFamily="18" charset="0"/>
                <a:cs typeface="Times New Roman" panose="02020603050405020304" pitchFamily="18" charset="0"/>
              </a:rPr>
              <a:t>The Problems with our Requirements Practices</a:t>
            </a:r>
          </a:p>
        </p:txBody>
      </p:sp>
      <p:sp>
        <p:nvSpPr>
          <p:cNvPr id="295939" name="Rectangle 3">
            <a:extLst>
              <a:ext uri="{FF2B5EF4-FFF2-40B4-BE49-F238E27FC236}">
                <a16:creationId xmlns:a16="http://schemas.microsoft.com/office/drawing/2014/main" id="{F341356C-AA49-9795-3FDF-4829AE8ED4AE}"/>
              </a:ext>
            </a:extLst>
          </p:cNvPr>
          <p:cNvSpPr>
            <a:spLocks noGrp="1" noChangeArrowheads="1"/>
          </p:cNvSpPr>
          <p:nvPr>
            <p:ph type="body" idx="1"/>
          </p:nvPr>
        </p:nvSpPr>
        <p:spPr>
          <a:xfrm>
            <a:off x="1250829" y="1981200"/>
            <a:ext cx="9816861" cy="4114800"/>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We have trouble understanding the requirements that we do acquire from the customer</a:t>
            </a:r>
          </a:p>
          <a:p>
            <a:pPr>
              <a:lnSpc>
                <a:spcPct val="90000"/>
              </a:lnSpc>
            </a:pPr>
            <a:r>
              <a:rPr lang="en-US" altLang="en-US" sz="2000" dirty="0">
                <a:latin typeface="Times New Roman" panose="02020603050405020304" pitchFamily="18" charset="0"/>
                <a:cs typeface="Times New Roman" panose="02020603050405020304" pitchFamily="18" charset="0"/>
              </a:rPr>
              <a:t>We often record requirements in a disorganized manner</a:t>
            </a:r>
          </a:p>
          <a:p>
            <a:pPr>
              <a:lnSpc>
                <a:spcPct val="90000"/>
              </a:lnSpc>
            </a:pPr>
            <a:r>
              <a:rPr lang="en-US" altLang="en-US" sz="2000" dirty="0">
                <a:latin typeface="Times New Roman" panose="02020603050405020304" pitchFamily="18" charset="0"/>
                <a:cs typeface="Times New Roman" panose="02020603050405020304" pitchFamily="18" charset="0"/>
              </a:rPr>
              <a:t>We spend far too </a:t>
            </a:r>
            <a:r>
              <a:rPr lang="en-US" altLang="en-US" sz="2000" u="sng" dirty="0">
                <a:latin typeface="Times New Roman" panose="02020603050405020304" pitchFamily="18" charset="0"/>
                <a:cs typeface="Times New Roman" panose="02020603050405020304" pitchFamily="18" charset="0"/>
              </a:rPr>
              <a:t>little</a:t>
            </a:r>
            <a:r>
              <a:rPr lang="en-US" altLang="en-US" sz="2000" dirty="0">
                <a:latin typeface="Times New Roman" panose="02020603050405020304" pitchFamily="18" charset="0"/>
                <a:cs typeface="Times New Roman" panose="02020603050405020304" pitchFamily="18" charset="0"/>
              </a:rPr>
              <a:t> time verifying what we do record</a:t>
            </a:r>
          </a:p>
          <a:p>
            <a:pPr>
              <a:lnSpc>
                <a:spcPct val="90000"/>
              </a:lnSpc>
            </a:pPr>
            <a:r>
              <a:rPr lang="en-US" altLang="en-US" sz="2000" dirty="0">
                <a:latin typeface="Times New Roman" panose="02020603050405020304" pitchFamily="18" charset="0"/>
                <a:cs typeface="Times New Roman" panose="02020603050405020304" pitchFamily="18" charset="0"/>
              </a:rPr>
              <a:t>We allow change to control us, rather than establishing mechanisms to control change</a:t>
            </a:r>
          </a:p>
          <a:p>
            <a:pPr>
              <a:lnSpc>
                <a:spcPct val="90000"/>
              </a:lnSpc>
            </a:pPr>
            <a:r>
              <a:rPr lang="en-US" altLang="en-US" sz="2000" dirty="0">
                <a:latin typeface="Times New Roman" panose="02020603050405020304" pitchFamily="18" charset="0"/>
                <a:cs typeface="Times New Roman" panose="02020603050405020304" pitchFamily="18" charset="0"/>
              </a:rPr>
              <a:t>Most importantly, we fail to establish a solid foundation for the system or software that the user wants built</a:t>
            </a:r>
          </a:p>
          <a:p>
            <a:pPr>
              <a:lnSpc>
                <a:spcPct val="90000"/>
              </a:lnSpc>
            </a:pPr>
            <a:endParaRPr lang="en-US" altLang="en-US" sz="2000" dirty="0"/>
          </a:p>
          <a:p>
            <a:pPr>
              <a:lnSpc>
                <a:spcPct val="90000"/>
              </a:lnSpc>
            </a:pPr>
            <a:endParaRPr lang="en-US"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8430CDD-2190-6B48-62F6-CE346262072A}"/>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9</a:t>
            </a:fld>
            <a:endParaRPr lang="en-US" altLang="en-US"/>
          </a:p>
        </p:txBody>
      </p:sp>
      <p:sp>
        <p:nvSpPr>
          <p:cNvPr id="349186" name="Rectangle 2">
            <a:extLst>
              <a:ext uri="{FF2B5EF4-FFF2-40B4-BE49-F238E27FC236}">
                <a16:creationId xmlns:a16="http://schemas.microsoft.com/office/drawing/2014/main" id="{D7B37009-4E48-3736-505F-04CCCF86F127}"/>
              </a:ext>
            </a:extLst>
          </p:cNvPr>
          <p:cNvSpPr>
            <a:spLocks noGrp="1" noChangeArrowheads="1"/>
          </p:cNvSpPr>
          <p:nvPr>
            <p:ph type="title"/>
          </p:nvPr>
        </p:nvSpPr>
        <p:spPr>
          <a:xfrm>
            <a:off x="500332" y="152400"/>
            <a:ext cx="9558068" cy="1143000"/>
          </a:xfrm>
        </p:spPr>
        <p:txBody>
          <a:bodyPr/>
          <a:lstStyle/>
          <a:p>
            <a:r>
              <a:rPr lang="en-US" altLang="en-US" dirty="0">
                <a:latin typeface="Times New Roman" panose="02020603050405020304" pitchFamily="18" charset="0"/>
                <a:cs typeface="Times New Roman" panose="02020603050405020304" pitchFamily="18" charset="0"/>
              </a:rPr>
              <a:t>The Problems with our Requirements Practices (continued)</a:t>
            </a:r>
          </a:p>
        </p:txBody>
      </p:sp>
      <p:sp>
        <p:nvSpPr>
          <p:cNvPr id="349187" name="Rectangle 3">
            <a:extLst>
              <a:ext uri="{FF2B5EF4-FFF2-40B4-BE49-F238E27FC236}">
                <a16:creationId xmlns:a16="http://schemas.microsoft.com/office/drawing/2014/main" id="{4F2C47F6-7D2C-B121-3297-47F65199EBD6}"/>
              </a:ext>
            </a:extLst>
          </p:cNvPr>
          <p:cNvSpPr>
            <a:spLocks noGrp="1" noChangeArrowheads="1"/>
          </p:cNvSpPr>
          <p:nvPr>
            <p:ph type="body" idx="1"/>
          </p:nvPr>
        </p:nvSpPr>
        <p:spPr>
          <a:xfrm>
            <a:off x="362309" y="1600200"/>
            <a:ext cx="11050438" cy="4114800"/>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Many software developers argue that</a:t>
            </a:r>
          </a:p>
          <a:p>
            <a:pPr lvl="1">
              <a:lnSpc>
                <a:spcPct val="90000"/>
              </a:lnSpc>
            </a:pPr>
            <a:r>
              <a:rPr lang="en-US" altLang="en-US" sz="2000" dirty="0">
                <a:latin typeface="Times New Roman" panose="02020603050405020304" pitchFamily="18" charset="0"/>
                <a:cs typeface="Times New Roman" panose="02020603050405020304" pitchFamily="18" charset="0"/>
              </a:rPr>
              <a:t>Building software is so compelling that we want to jump right in (before having a clear understanding of what is needed)</a:t>
            </a:r>
          </a:p>
          <a:p>
            <a:pPr lvl="1">
              <a:lnSpc>
                <a:spcPct val="90000"/>
              </a:lnSpc>
            </a:pPr>
            <a:r>
              <a:rPr lang="en-US" altLang="en-US" sz="2000" dirty="0">
                <a:latin typeface="Times New Roman" panose="02020603050405020304" pitchFamily="18" charset="0"/>
                <a:cs typeface="Times New Roman" panose="02020603050405020304" pitchFamily="18" charset="0"/>
              </a:rPr>
              <a:t>Things will become clear as we build the software</a:t>
            </a:r>
          </a:p>
          <a:p>
            <a:pPr lvl="1">
              <a:lnSpc>
                <a:spcPct val="90000"/>
              </a:lnSpc>
            </a:pPr>
            <a:r>
              <a:rPr lang="en-US" altLang="en-US" sz="2000" dirty="0">
                <a:latin typeface="Times New Roman" panose="02020603050405020304" pitchFamily="18" charset="0"/>
                <a:cs typeface="Times New Roman" panose="02020603050405020304" pitchFamily="18" charset="0"/>
              </a:rPr>
              <a:t>Project stakeholders will be able to better understand what they need only after examining early iterations of the software</a:t>
            </a:r>
          </a:p>
          <a:p>
            <a:pPr lvl="1">
              <a:lnSpc>
                <a:spcPct val="90000"/>
              </a:lnSpc>
            </a:pPr>
            <a:r>
              <a:rPr lang="en-US" altLang="en-US" sz="2000" dirty="0">
                <a:latin typeface="Times New Roman" panose="02020603050405020304" pitchFamily="18" charset="0"/>
                <a:cs typeface="Times New Roman" panose="02020603050405020304" pitchFamily="18" charset="0"/>
              </a:rPr>
              <a:t>Things change so rapidly that requirements engineering is a waste of time</a:t>
            </a:r>
          </a:p>
          <a:p>
            <a:pPr lvl="1">
              <a:lnSpc>
                <a:spcPct val="90000"/>
              </a:lnSpc>
            </a:pPr>
            <a:r>
              <a:rPr lang="en-US" altLang="en-US" sz="2000" dirty="0">
                <a:latin typeface="Times New Roman" panose="02020603050405020304" pitchFamily="18" charset="0"/>
                <a:cs typeface="Times New Roman" panose="02020603050405020304" pitchFamily="18" charset="0"/>
              </a:rPr>
              <a:t>The bottom line is producing a working program and that all else is secondary</a:t>
            </a:r>
          </a:p>
          <a:p>
            <a:pPr>
              <a:lnSpc>
                <a:spcPct val="90000"/>
              </a:lnSpc>
            </a:pPr>
            <a:r>
              <a:rPr lang="en-US" altLang="en-US" sz="2000" dirty="0">
                <a:latin typeface="Times New Roman" panose="02020603050405020304" pitchFamily="18" charset="0"/>
                <a:cs typeface="Times New Roman" panose="02020603050405020304" pitchFamily="18" charset="0"/>
              </a:rPr>
              <a:t>All of these arguments contain some truth, especially for small projects that take less than one month to complete</a:t>
            </a:r>
          </a:p>
          <a:p>
            <a:pPr>
              <a:lnSpc>
                <a:spcPct val="90000"/>
              </a:lnSpc>
            </a:pPr>
            <a:r>
              <a:rPr lang="en-US" altLang="en-US" sz="2000" dirty="0">
                <a:latin typeface="Times New Roman" panose="02020603050405020304" pitchFamily="18" charset="0"/>
                <a:cs typeface="Times New Roman" panose="02020603050405020304" pitchFamily="18" charset="0"/>
              </a:rPr>
              <a:t>However, as software grows in size and complexity, these arguments begin to break down and can lead to a failed software project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02B7AFF-76A3-B5A9-DEAD-5594AA5E7A13}"/>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10</a:t>
            </a:fld>
            <a:endParaRPr lang="en-US" altLang="en-US"/>
          </a:p>
        </p:txBody>
      </p:sp>
      <p:sp>
        <p:nvSpPr>
          <p:cNvPr id="350210" name="Rectangle 2">
            <a:extLst>
              <a:ext uri="{FF2B5EF4-FFF2-40B4-BE49-F238E27FC236}">
                <a16:creationId xmlns:a16="http://schemas.microsoft.com/office/drawing/2014/main" id="{1EC26A3F-9D28-753E-21E1-CDF7B8921426}"/>
              </a:ext>
            </a:extLst>
          </p:cNvPr>
          <p:cNvSpPr>
            <a:spLocks noGrp="1" noChangeArrowheads="1"/>
          </p:cNvSpPr>
          <p:nvPr>
            <p:ph type="title"/>
          </p:nvPr>
        </p:nvSpPr>
        <p:spPr>
          <a:xfrm>
            <a:off x="715992" y="228600"/>
            <a:ext cx="10256808" cy="1143000"/>
          </a:xfrm>
        </p:spPr>
        <p:txBody>
          <a:bodyPr/>
          <a:lstStyle/>
          <a:p>
            <a:r>
              <a:rPr lang="en-US" altLang="en-US" dirty="0">
                <a:latin typeface="Times New Roman" panose="02020603050405020304" pitchFamily="18" charset="0"/>
                <a:cs typeface="Times New Roman" panose="02020603050405020304" pitchFamily="18" charset="0"/>
              </a:rPr>
              <a:t>A Solution: Requirements Engineering</a:t>
            </a:r>
          </a:p>
        </p:txBody>
      </p:sp>
      <p:sp>
        <p:nvSpPr>
          <p:cNvPr id="350211" name="Rectangle 3">
            <a:extLst>
              <a:ext uri="{FF2B5EF4-FFF2-40B4-BE49-F238E27FC236}">
                <a16:creationId xmlns:a16="http://schemas.microsoft.com/office/drawing/2014/main" id="{5A706C1C-B00A-9994-82BD-33984B0B5D97}"/>
              </a:ext>
            </a:extLst>
          </p:cNvPr>
          <p:cNvSpPr>
            <a:spLocks noGrp="1" noChangeArrowheads="1"/>
          </p:cNvSpPr>
          <p:nvPr>
            <p:ph type="body" idx="1"/>
          </p:nvPr>
        </p:nvSpPr>
        <p:spPr>
          <a:xfrm>
            <a:off x="802257" y="1561381"/>
            <a:ext cx="10506973" cy="4382219"/>
          </a:xfrm>
        </p:spPr>
        <p:txBody>
          <a:bodyPr/>
          <a:lstStyle/>
          <a:p>
            <a:r>
              <a:rPr lang="en-US" altLang="en-US" sz="2000" dirty="0">
                <a:latin typeface="Times New Roman" panose="02020603050405020304" pitchFamily="18" charset="0"/>
                <a:cs typeface="Times New Roman" panose="02020603050405020304" pitchFamily="18" charset="0"/>
              </a:rPr>
              <a:t>Begins during the communication activity and continues into the modeling activity</a:t>
            </a:r>
          </a:p>
          <a:p>
            <a:r>
              <a:rPr lang="en-US" altLang="en-US" sz="2000" dirty="0">
                <a:latin typeface="Times New Roman" panose="02020603050405020304" pitchFamily="18" charset="0"/>
                <a:cs typeface="Times New Roman" panose="02020603050405020304" pitchFamily="18" charset="0"/>
              </a:rPr>
              <a:t>Builds a bridge from the system requirements into software design and construction</a:t>
            </a:r>
          </a:p>
          <a:p>
            <a:r>
              <a:rPr lang="en-US" altLang="en-US" sz="2000" dirty="0">
                <a:latin typeface="Times New Roman" panose="02020603050405020304" pitchFamily="18" charset="0"/>
                <a:cs typeface="Times New Roman" panose="02020603050405020304" pitchFamily="18" charset="0"/>
              </a:rPr>
              <a:t>Allows  the requirements engineer to examine</a:t>
            </a:r>
          </a:p>
          <a:p>
            <a:pPr lvl="1"/>
            <a:r>
              <a:rPr lang="en-US" altLang="en-US" sz="2000" dirty="0">
                <a:latin typeface="Times New Roman" panose="02020603050405020304" pitchFamily="18" charset="0"/>
                <a:cs typeface="Times New Roman" panose="02020603050405020304" pitchFamily="18" charset="0"/>
              </a:rPr>
              <a:t>the context of the software work to be performed</a:t>
            </a:r>
          </a:p>
          <a:p>
            <a:pPr lvl="1"/>
            <a:r>
              <a:rPr lang="en-US" altLang="en-US" sz="2000" dirty="0">
                <a:latin typeface="Times New Roman" panose="02020603050405020304" pitchFamily="18" charset="0"/>
                <a:cs typeface="Times New Roman" panose="02020603050405020304" pitchFamily="18" charset="0"/>
              </a:rPr>
              <a:t>the specific needs that design and construction must address</a:t>
            </a:r>
          </a:p>
          <a:p>
            <a:pPr lvl="1"/>
            <a:r>
              <a:rPr lang="en-US" altLang="en-US" sz="2000" dirty="0">
                <a:latin typeface="Times New Roman" panose="02020603050405020304" pitchFamily="18" charset="0"/>
                <a:cs typeface="Times New Roman" panose="02020603050405020304" pitchFamily="18" charset="0"/>
              </a:rPr>
              <a:t>the priorities that guide the order in which work is to be completed</a:t>
            </a:r>
          </a:p>
          <a:p>
            <a:pPr lvl="1"/>
            <a:r>
              <a:rPr lang="en-US" altLang="en-US" sz="2000" dirty="0">
                <a:latin typeface="Times New Roman" panose="02020603050405020304" pitchFamily="18" charset="0"/>
                <a:cs typeface="Times New Roman" panose="02020603050405020304" pitchFamily="18" charset="0"/>
              </a:rPr>
              <a:t>the information, function, and behavior that will have a profound impact on the resultant design</a:t>
            </a:r>
          </a:p>
          <a:p>
            <a:pPr lvl="1"/>
            <a:endParaRPr lang="en-US" altLang="en-US" sz="1800" dirty="0"/>
          </a:p>
          <a:p>
            <a:pPr lvl="1"/>
            <a:endParaRPr lang="en-US" altLang="en-US" sz="1800" dirty="0"/>
          </a:p>
          <a:p>
            <a:endParaRPr lang="en-US"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AD7AC41-9B7E-B842-D80D-FE7112BC82D8}"/>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11</a:t>
            </a:fld>
            <a:endParaRPr lang="en-US" altLang="en-US"/>
          </a:p>
        </p:txBody>
      </p:sp>
      <p:sp>
        <p:nvSpPr>
          <p:cNvPr id="337922" name="Rectangle 2">
            <a:extLst>
              <a:ext uri="{FF2B5EF4-FFF2-40B4-BE49-F238E27FC236}">
                <a16:creationId xmlns:a16="http://schemas.microsoft.com/office/drawing/2014/main" id="{FA7FAC49-1F69-3217-D504-CC5BAF92D7F2}"/>
              </a:ext>
            </a:extLst>
          </p:cNvPr>
          <p:cNvSpPr>
            <a:spLocks noGrp="1" noChangeArrowheads="1"/>
          </p:cNvSpPr>
          <p:nvPr>
            <p:ph type="title"/>
          </p:nvPr>
        </p:nvSpPr>
        <p:spPr>
          <a:xfrm>
            <a:off x="1181819" y="228600"/>
            <a:ext cx="8724181" cy="1143000"/>
          </a:xfrm>
        </p:spPr>
        <p:txBody>
          <a:bodyPr/>
          <a:lstStyle/>
          <a:p>
            <a:r>
              <a:rPr lang="en-US" altLang="en-US" dirty="0">
                <a:latin typeface="Times New Roman" panose="02020603050405020304" pitchFamily="18" charset="0"/>
                <a:cs typeface="Times New Roman" panose="02020603050405020304" pitchFamily="18" charset="0"/>
              </a:rPr>
              <a:t>Requirements Engineering Tasks</a:t>
            </a:r>
          </a:p>
        </p:txBody>
      </p:sp>
      <p:sp>
        <p:nvSpPr>
          <p:cNvPr id="337923" name="Rectangle 3">
            <a:extLst>
              <a:ext uri="{FF2B5EF4-FFF2-40B4-BE49-F238E27FC236}">
                <a16:creationId xmlns:a16="http://schemas.microsoft.com/office/drawing/2014/main" id="{76FA602D-842D-4D23-1ECD-7FE1E547D64C}"/>
              </a:ext>
            </a:extLst>
          </p:cNvPr>
          <p:cNvSpPr>
            <a:spLocks noGrp="1" noChangeArrowheads="1"/>
          </p:cNvSpPr>
          <p:nvPr>
            <p:ph type="body" idx="1"/>
          </p:nvPr>
        </p:nvSpPr>
        <p:spPr>
          <a:xfrm>
            <a:off x="767751" y="1552755"/>
            <a:ext cx="10127411" cy="4238445"/>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Seven distinct tasks</a:t>
            </a:r>
          </a:p>
          <a:p>
            <a:pPr lvl="1">
              <a:lnSpc>
                <a:spcPct val="90000"/>
              </a:lnSpc>
            </a:pPr>
            <a:r>
              <a:rPr lang="en-US" altLang="en-US" sz="2000" dirty="0">
                <a:latin typeface="Times New Roman" panose="02020603050405020304" pitchFamily="18" charset="0"/>
                <a:cs typeface="Times New Roman" panose="02020603050405020304" pitchFamily="18" charset="0"/>
              </a:rPr>
              <a:t>Inception</a:t>
            </a:r>
          </a:p>
          <a:p>
            <a:pPr lvl="1">
              <a:lnSpc>
                <a:spcPct val="90000"/>
              </a:lnSpc>
            </a:pPr>
            <a:r>
              <a:rPr lang="en-US" altLang="en-US" sz="2000" dirty="0">
                <a:latin typeface="Times New Roman" panose="02020603050405020304" pitchFamily="18" charset="0"/>
                <a:cs typeface="Times New Roman" panose="02020603050405020304" pitchFamily="18" charset="0"/>
              </a:rPr>
              <a:t>Elicitation</a:t>
            </a:r>
          </a:p>
          <a:p>
            <a:pPr lvl="1">
              <a:lnSpc>
                <a:spcPct val="90000"/>
              </a:lnSpc>
            </a:pPr>
            <a:r>
              <a:rPr lang="en-US" altLang="en-US" sz="2000" dirty="0">
                <a:latin typeface="Times New Roman" panose="02020603050405020304" pitchFamily="18" charset="0"/>
                <a:cs typeface="Times New Roman" panose="02020603050405020304" pitchFamily="18" charset="0"/>
              </a:rPr>
              <a:t>Elaboration</a:t>
            </a:r>
          </a:p>
          <a:p>
            <a:pPr lvl="1">
              <a:lnSpc>
                <a:spcPct val="90000"/>
              </a:lnSpc>
            </a:pPr>
            <a:r>
              <a:rPr lang="en-US" altLang="en-US" sz="2000" dirty="0">
                <a:latin typeface="Times New Roman" panose="02020603050405020304" pitchFamily="18" charset="0"/>
                <a:cs typeface="Times New Roman" panose="02020603050405020304" pitchFamily="18" charset="0"/>
              </a:rPr>
              <a:t>Negotiation</a:t>
            </a:r>
          </a:p>
          <a:p>
            <a:pPr lvl="1">
              <a:lnSpc>
                <a:spcPct val="90000"/>
              </a:lnSpc>
            </a:pPr>
            <a:r>
              <a:rPr lang="en-US" altLang="en-US" sz="2000" dirty="0">
                <a:latin typeface="Times New Roman" panose="02020603050405020304" pitchFamily="18" charset="0"/>
                <a:cs typeface="Times New Roman" panose="02020603050405020304" pitchFamily="18" charset="0"/>
              </a:rPr>
              <a:t>Specification</a:t>
            </a:r>
          </a:p>
          <a:p>
            <a:pPr lvl="1">
              <a:lnSpc>
                <a:spcPct val="90000"/>
              </a:lnSpc>
            </a:pPr>
            <a:r>
              <a:rPr lang="en-US" altLang="en-US" sz="2000" dirty="0">
                <a:latin typeface="Times New Roman" panose="02020603050405020304" pitchFamily="18" charset="0"/>
                <a:cs typeface="Times New Roman" panose="02020603050405020304" pitchFamily="18" charset="0"/>
              </a:rPr>
              <a:t>Validation</a:t>
            </a:r>
          </a:p>
          <a:p>
            <a:pPr lvl="1">
              <a:lnSpc>
                <a:spcPct val="90000"/>
              </a:lnSpc>
            </a:pPr>
            <a:r>
              <a:rPr lang="en-US" altLang="en-US" sz="2000" dirty="0">
                <a:latin typeface="Times New Roman" panose="02020603050405020304" pitchFamily="18" charset="0"/>
                <a:cs typeface="Times New Roman" panose="02020603050405020304" pitchFamily="18" charset="0"/>
              </a:rPr>
              <a:t>Requirements Management</a:t>
            </a:r>
          </a:p>
          <a:p>
            <a:pPr>
              <a:lnSpc>
                <a:spcPct val="90000"/>
              </a:lnSpc>
            </a:pPr>
            <a:r>
              <a:rPr lang="en-US" altLang="en-US" sz="2000" dirty="0">
                <a:latin typeface="Times New Roman" panose="02020603050405020304" pitchFamily="18" charset="0"/>
                <a:cs typeface="Times New Roman" panose="02020603050405020304" pitchFamily="18" charset="0"/>
              </a:rPr>
              <a:t>Some of these tasks may occur in parallel and all are adapted to the needs of the project</a:t>
            </a:r>
          </a:p>
          <a:p>
            <a:pPr>
              <a:lnSpc>
                <a:spcPct val="90000"/>
              </a:lnSpc>
            </a:pPr>
            <a:r>
              <a:rPr lang="en-US" altLang="en-US" sz="2000" dirty="0">
                <a:latin typeface="Times New Roman" panose="02020603050405020304" pitchFamily="18" charset="0"/>
                <a:cs typeface="Times New Roman" panose="02020603050405020304" pitchFamily="18" charset="0"/>
              </a:rPr>
              <a:t>All strive to define what the customer wants</a:t>
            </a:r>
          </a:p>
          <a:p>
            <a:pPr>
              <a:lnSpc>
                <a:spcPct val="90000"/>
              </a:lnSpc>
            </a:pPr>
            <a:r>
              <a:rPr lang="en-US" altLang="en-US" sz="2000" dirty="0">
                <a:latin typeface="Times New Roman" panose="02020603050405020304" pitchFamily="18" charset="0"/>
                <a:cs typeface="Times New Roman" panose="02020603050405020304" pitchFamily="18" charset="0"/>
              </a:rPr>
              <a:t>All serve to establish a solid foundation for the design and construction of the software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D25D18C-327D-D47D-D92C-EF12955BFECB}"/>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12</a:t>
            </a:fld>
            <a:endParaRPr lang="en-US" altLang="en-US"/>
          </a:p>
        </p:txBody>
      </p:sp>
      <p:sp>
        <p:nvSpPr>
          <p:cNvPr id="373762" name="Rectangle 2">
            <a:extLst>
              <a:ext uri="{FF2B5EF4-FFF2-40B4-BE49-F238E27FC236}">
                <a16:creationId xmlns:a16="http://schemas.microsoft.com/office/drawing/2014/main" id="{70AE9890-6909-F110-82FF-410FD48023BC}"/>
              </a:ext>
            </a:extLst>
          </p:cNvPr>
          <p:cNvSpPr>
            <a:spLocks noGrp="1" noChangeArrowheads="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Example Project: Campus Information Access Kiosk</a:t>
            </a:r>
          </a:p>
        </p:txBody>
      </p:sp>
      <p:sp>
        <p:nvSpPr>
          <p:cNvPr id="373763" name="Rectangle 3">
            <a:extLst>
              <a:ext uri="{FF2B5EF4-FFF2-40B4-BE49-F238E27FC236}">
                <a16:creationId xmlns:a16="http://schemas.microsoft.com/office/drawing/2014/main" id="{6157957B-FFBA-B01F-9591-3A2068DD7782}"/>
              </a:ext>
            </a:extLst>
          </p:cNvPr>
          <p:cNvSpPr>
            <a:spLocks noGrp="1" noChangeArrowheads="1"/>
          </p:cNvSpPr>
          <p:nvPr>
            <p:ph type="body" idx="1"/>
          </p:nvPr>
        </p:nvSpPr>
        <p:spPr>
          <a:xfrm>
            <a:off x="810883" y="1673525"/>
            <a:ext cx="10196423" cy="4879675"/>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Both podium-high and desk-high terminals located throughout the campus in all classroom buildings, admin buildings, labs, and dormitories</a:t>
            </a:r>
          </a:p>
          <a:p>
            <a:pPr>
              <a:lnSpc>
                <a:spcPct val="90000"/>
              </a:lnSpc>
            </a:pPr>
            <a:r>
              <a:rPr lang="en-US" altLang="en-US" sz="2000" dirty="0">
                <a:latin typeface="Times New Roman" panose="02020603050405020304" pitchFamily="18" charset="0"/>
                <a:cs typeface="Times New Roman" panose="02020603050405020304" pitchFamily="18" charset="0"/>
              </a:rPr>
              <a:t>Hand/Palm-login and logout (seamlessly)</a:t>
            </a:r>
          </a:p>
          <a:p>
            <a:pPr>
              <a:lnSpc>
                <a:spcPct val="90000"/>
              </a:lnSpc>
            </a:pPr>
            <a:r>
              <a:rPr lang="en-US" altLang="en-US" sz="2000" dirty="0">
                <a:latin typeface="Times New Roman" panose="02020603050405020304" pitchFamily="18" charset="0"/>
                <a:cs typeface="Times New Roman" panose="02020603050405020304" pitchFamily="18" charset="0"/>
              </a:rPr>
              <a:t>Voice input</a:t>
            </a:r>
          </a:p>
          <a:p>
            <a:pPr>
              <a:lnSpc>
                <a:spcPct val="90000"/>
              </a:lnSpc>
            </a:pPr>
            <a:r>
              <a:rPr lang="en-US" altLang="en-US" sz="2000" dirty="0">
                <a:latin typeface="Times New Roman" panose="02020603050405020304" pitchFamily="18" charset="0"/>
                <a:cs typeface="Times New Roman" panose="02020603050405020304" pitchFamily="18" charset="0"/>
              </a:rPr>
              <a:t>Optional audio/visual or just visual output</a:t>
            </a:r>
          </a:p>
          <a:p>
            <a:pPr>
              <a:lnSpc>
                <a:spcPct val="90000"/>
              </a:lnSpc>
            </a:pPr>
            <a:r>
              <a:rPr lang="en-US" altLang="en-US" sz="2000" dirty="0">
                <a:latin typeface="Times New Roman" panose="02020603050405020304" pitchFamily="18" charset="0"/>
                <a:cs typeface="Times New Roman" panose="02020603050405020304" pitchFamily="18" charset="0"/>
              </a:rPr>
              <a:t>Immediate access to all campus information plus</a:t>
            </a:r>
          </a:p>
          <a:p>
            <a:pPr lvl="1">
              <a:lnSpc>
                <a:spcPct val="90000"/>
              </a:lnSpc>
            </a:pPr>
            <a:r>
              <a:rPr lang="en-US" altLang="en-US" sz="2000" dirty="0">
                <a:latin typeface="Times New Roman" panose="02020603050405020304" pitchFamily="18" charset="0"/>
                <a:cs typeface="Times New Roman" panose="02020603050405020304" pitchFamily="18" charset="0"/>
              </a:rPr>
              <a:t>E-mail </a:t>
            </a:r>
          </a:p>
          <a:p>
            <a:pPr lvl="1">
              <a:lnSpc>
                <a:spcPct val="90000"/>
              </a:lnSpc>
            </a:pPr>
            <a:r>
              <a:rPr lang="en-US" altLang="en-US" sz="2000" dirty="0">
                <a:latin typeface="Times New Roman" panose="02020603050405020304" pitchFamily="18" charset="0"/>
                <a:cs typeface="Times New Roman" panose="02020603050405020304" pitchFamily="18" charset="0"/>
              </a:rPr>
              <a:t>Cell phone voice messaging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AAC6FB2-CBBD-A4F9-017D-46C26704A82E}"/>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6DB0EDC1-2BC5-479B-8C2B-0BB6D77B9373}" type="slidenum">
              <a:rPr lang="en-US" altLang="en-US" smtClean="0"/>
              <a:pPr/>
              <a:t>13</a:t>
            </a:fld>
            <a:endParaRPr lang="en-US" altLang="en-US"/>
          </a:p>
        </p:txBody>
      </p:sp>
      <p:sp>
        <p:nvSpPr>
          <p:cNvPr id="365571" name="Rectangle 3">
            <a:extLst>
              <a:ext uri="{FF2B5EF4-FFF2-40B4-BE49-F238E27FC236}">
                <a16:creationId xmlns:a16="http://schemas.microsoft.com/office/drawing/2014/main" id="{E86EC308-8D64-B500-224F-27AFE844998E}"/>
              </a:ext>
            </a:extLst>
          </p:cNvPr>
          <p:cNvSpPr>
            <a:spLocks noChangeArrowheads="1"/>
          </p:cNvSpPr>
          <p:nvPr/>
        </p:nvSpPr>
        <p:spPr bwMode="auto">
          <a:xfrm>
            <a:off x="8077200" y="5266426"/>
            <a:ext cx="1731034" cy="5334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dirty="0"/>
              <a:t>Requirements</a:t>
            </a:r>
          </a:p>
          <a:p>
            <a:r>
              <a:rPr lang="en-US" altLang="en-US" dirty="0"/>
              <a:t>Management</a:t>
            </a:r>
          </a:p>
        </p:txBody>
      </p:sp>
      <p:sp>
        <p:nvSpPr>
          <p:cNvPr id="365572" name="Rectangle 4">
            <a:extLst>
              <a:ext uri="{FF2B5EF4-FFF2-40B4-BE49-F238E27FC236}">
                <a16:creationId xmlns:a16="http://schemas.microsoft.com/office/drawing/2014/main" id="{4432C761-921C-B6F3-7235-4BD37214D74E}"/>
              </a:ext>
            </a:extLst>
          </p:cNvPr>
          <p:cNvSpPr>
            <a:spLocks noChangeArrowheads="1"/>
          </p:cNvSpPr>
          <p:nvPr/>
        </p:nvSpPr>
        <p:spPr bwMode="auto">
          <a:xfrm>
            <a:off x="7086600" y="4572000"/>
            <a:ext cx="1371600" cy="4572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Validation</a:t>
            </a:r>
          </a:p>
        </p:txBody>
      </p:sp>
      <p:sp>
        <p:nvSpPr>
          <p:cNvPr id="365573" name="Rectangle 5">
            <a:extLst>
              <a:ext uri="{FF2B5EF4-FFF2-40B4-BE49-F238E27FC236}">
                <a16:creationId xmlns:a16="http://schemas.microsoft.com/office/drawing/2014/main" id="{5E688617-D54C-EB38-C707-E74A39A8760C}"/>
              </a:ext>
            </a:extLst>
          </p:cNvPr>
          <p:cNvSpPr>
            <a:spLocks noChangeArrowheads="1"/>
          </p:cNvSpPr>
          <p:nvPr/>
        </p:nvSpPr>
        <p:spPr bwMode="auto">
          <a:xfrm>
            <a:off x="2209800" y="1143000"/>
            <a:ext cx="1371600" cy="457200"/>
          </a:xfrm>
          <a:prstGeom prst="rect">
            <a:avLst/>
          </a:prstGeom>
          <a:solidFill>
            <a:srgbClr val="FF99CC"/>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Inception</a:t>
            </a:r>
          </a:p>
        </p:txBody>
      </p:sp>
      <p:sp>
        <p:nvSpPr>
          <p:cNvPr id="365574" name="Rectangle 6">
            <a:extLst>
              <a:ext uri="{FF2B5EF4-FFF2-40B4-BE49-F238E27FC236}">
                <a16:creationId xmlns:a16="http://schemas.microsoft.com/office/drawing/2014/main" id="{BB569B6D-10DF-89F1-8138-AE6378B2557B}"/>
              </a:ext>
            </a:extLst>
          </p:cNvPr>
          <p:cNvSpPr>
            <a:spLocks noChangeArrowheads="1"/>
          </p:cNvSpPr>
          <p:nvPr/>
        </p:nvSpPr>
        <p:spPr bwMode="auto">
          <a:xfrm>
            <a:off x="3048000" y="1828800"/>
            <a:ext cx="13716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Elicitation</a:t>
            </a:r>
          </a:p>
        </p:txBody>
      </p:sp>
      <p:sp>
        <p:nvSpPr>
          <p:cNvPr id="365575" name="Rectangle 7">
            <a:extLst>
              <a:ext uri="{FF2B5EF4-FFF2-40B4-BE49-F238E27FC236}">
                <a16:creationId xmlns:a16="http://schemas.microsoft.com/office/drawing/2014/main" id="{6EBE2107-D28D-A992-C97F-EFCAEED86330}"/>
              </a:ext>
            </a:extLst>
          </p:cNvPr>
          <p:cNvSpPr>
            <a:spLocks noChangeArrowheads="1"/>
          </p:cNvSpPr>
          <p:nvPr/>
        </p:nvSpPr>
        <p:spPr bwMode="auto">
          <a:xfrm>
            <a:off x="4038600" y="2514600"/>
            <a:ext cx="1371600" cy="457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Elaboration</a:t>
            </a:r>
          </a:p>
        </p:txBody>
      </p:sp>
      <p:sp>
        <p:nvSpPr>
          <p:cNvPr id="365576" name="Rectangle 8">
            <a:extLst>
              <a:ext uri="{FF2B5EF4-FFF2-40B4-BE49-F238E27FC236}">
                <a16:creationId xmlns:a16="http://schemas.microsoft.com/office/drawing/2014/main" id="{8D91DD96-EADD-C495-2B11-06E785AA8152}"/>
              </a:ext>
            </a:extLst>
          </p:cNvPr>
          <p:cNvSpPr>
            <a:spLocks noChangeArrowheads="1"/>
          </p:cNvSpPr>
          <p:nvPr/>
        </p:nvSpPr>
        <p:spPr bwMode="auto">
          <a:xfrm>
            <a:off x="5029200" y="3200400"/>
            <a:ext cx="13716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Negotiation</a:t>
            </a:r>
          </a:p>
        </p:txBody>
      </p:sp>
      <p:sp>
        <p:nvSpPr>
          <p:cNvPr id="365577" name="Rectangle 9">
            <a:extLst>
              <a:ext uri="{FF2B5EF4-FFF2-40B4-BE49-F238E27FC236}">
                <a16:creationId xmlns:a16="http://schemas.microsoft.com/office/drawing/2014/main" id="{97938386-F991-2EF6-520A-6A4941AD3E6A}"/>
              </a:ext>
            </a:extLst>
          </p:cNvPr>
          <p:cNvSpPr>
            <a:spLocks noChangeArrowheads="1"/>
          </p:cNvSpPr>
          <p:nvPr/>
        </p:nvSpPr>
        <p:spPr bwMode="auto">
          <a:xfrm>
            <a:off x="6019800" y="3886200"/>
            <a:ext cx="13716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Specification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12524B8-471F-6034-9395-F0FFEAC6DAEA}"/>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14</a:t>
            </a:fld>
            <a:endParaRPr lang="en-US" altLang="en-US"/>
          </a:p>
        </p:txBody>
      </p:sp>
      <p:sp>
        <p:nvSpPr>
          <p:cNvPr id="338946" name="Rectangle 2">
            <a:extLst>
              <a:ext uri="{FF2B5EF4-FFF2-40B4-BE49-F238E27FC236}">
                <a16:creationId xmlns:a16="http://schemas.microsoft.com/office/drawing/2014/main" id="{7F25F94E-B252-BA7D-078F-B716A9FB37DA}"/>
              </a:ext>
            </a:extLst>
          </p:cNvPr>
          <p:cNvSpPr>
            <a:spLocks noGrp="1" noChangeArrowheads="1"/>
          </p:cNvSpPr>
          <p:nvPr>
            <p:ph type="title"/>
          </p:nvPr>
        </p:nvSpPr>
        <p:spPr>
          <a:xfrm>
            <a:off x="2286000" y="228600"/>
            <a:ext cx="7772400" cy="1143000"/>
          </a:xfrm>
        </p:spPr>
        <p:txBody>
          <a:bodyPr/>
          <a:lstStyle/>
          <a:p>
            <a:r>
              <a:rPr lang="en-US" altLang="en-US" dirty="0">
                <a:latin typeface="Times New Roman" panose="02020603050405020304" pitchFamily="18" charset="0"/>
                <a:cs typeface="Times New Roman" panose="02020603050405020304" pitchFamily="18" charset="0"/>
              </a:rPr>
              <a:t>Inception Task</a:t>
            </a:r>
          </a:p>
        </p:txBody>
      </p:sp>
      <p:sp>
        <p:nvSpPr>
          <p:cNvPr id="338947" name="Rectangle 3">
            <a:extLst>
              <a:ext uri="{FF2B5EF4-FFF2-40B4-BE49-F238E27FC236}">
                <a16:creationId xmlns:a16="http://schemas.microsoft.com/office/drawing/2014/main" id="{52BD730A-5C3E-C7A1-2158-F2241A025BC6}"/>
              </a:ext>
            </a:extLst>
          </p:cNvPr>
          <p:cNvSpPr>
            <a:spLocks noGrp="1" noChangeArrowheads="1"/>
          </p:cNvSpPr>
          <p:nvPr>
            <p:ph type="body" idx="1"/>
          </p:nvPr>
        </p:nvSpPr>
        <p:spPr>
          <a:xfrm>
            <a:off x="1086927" y="1302589"/>
            <a:ext cx="10075653" cy="4412411"/>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During inception, the requirements engineer asks a set of questions to establish…</a:t>
            </a:r>
          </a:p>
          <a:p>
            <a:pPr lvl="1">
              <a:lnSpc>
                <a:spcPct val="90000"/>
              </a:lnSpc>
            </a:pPr>
            <a:r>
              <a:rPr lang="en-US" altLang="en-US" sz="2000" dirty="0">
                <a:latin typeface="Times New Roman" panose="02020603050405020304" pitchFamily="18" charset="0"/>
                <a:cs typeface="Times New Roman" panose="02020603050405020304" pitchFamily="18" charset="0"/>
              </a:rPr>
              <a:t>A basic understanding of the problem</a:t>
            </a:r>
          </a:p>
          <a:p>
            <a:pPr lvl="1">
              <a:lnSpc>
                <a:spcPct val="90000"/>
              </a:lnSpc>
            </a:pPr>
            <a:r>
              <a:rPr lang="en-US" altLang="en-US" sz="2000" dirty="0">
                <a:latin typeface="Times New Roman" panose="02020603050405020304" pitchFamily="18" charset="0"/>
                <a:cs typeface="Times New Roman" panose="02020603050405020304" pitchFamily="18" charset="0"/>
              </a:rPr>
              <a:t>The people who want a solution</a:t>
            </a:r>
          </a:p>
          <a:p>
            <a:pPr lvl="1">
              <a:lnSpc>
                <a:spcPct val="90000"/>
              </a:lnSpc>
            </a:pPr>
            <a:r>
              <a:rPr lang="en-US" altLang="en-US" sz="2000" dirty="0">
                <a:latin typeface="Times New Roman" panose="02020603050405020304" pitchFamily="18" charset="0"/>
                <a:cs typeface="Times New Roman" panose="02020603050405020304" pitchFamily="18" charset="0"/>
              </a:rPr>
              <a:t>The nature of the solution that is desired</a:t>
            </a:r>
          </a:p>
          <a:p>
            <a:pPr lvl="1">
              <a:lnSpc>
                <a:spcPct val="90000"/>
              </a:lnSpc>
            </a:pPr>
            <a:r>
              <a:rPr lang="en-US" altLang="en-US" sz="2000" dirty="0">
                <a:latin typeface="Times New Roman" panose="02020603050405020304" pitchFamily="18" charset="0"/>
                <a:cs typeface="Times New Roman" panose="02020603050405020304" pitchFamily="18" charset="0"/>
              </a:rPr>
              <a:t>The effectiveness of preliminary communication and collaboration between the customer and the developer</a:t>
            </a:r>
          </a:p>
          <a:p>
            <a:pPr>
              <a:lnSpc>
                <a:spcPct val="90000"/>
              </a:lnSpc>
            </a:pPr>
            <a:r>
              <a:rPr lang="en-US" altLang="en-US" sz="2000" dirty="0">
                <a:latin typeface="Times New Roman" panose="02020603050405020304" pitchFamily="18" charset="0"/>
                <a:cs typeface="Times New Roman" panose="02020603050405020304" pitchFamily="18" charset="0"/>
              </a:rPr>
              <a:t>Through these questions, the requirements engineer needs to… </a:t>
            </a:r>
          </a:p>
          <a:p>
            <a:pPr lvl="1">
              <a:lnSpc>
                <a:spcPct val="90000"/>
              </a:lnSpc>
            </a:pPr>
            <a:r>
              <a:rPr lang="en-US" altLang="en-US" sz="2000" dirty="0">
                <a:latin typeface="Times New Roman" panose="02020603050405020304" pitchFamily="18" charset="0"/>
                <a:cs typeface="Times New Roman" panose="02020603050405020304" pitchFamily="18" charset="0"/>
              </a:rPr>
              <a:t>Identify the stakeholders</a:t>
            </a:r>
          </a:p>
          <a:p>
            <a:pPr lvl="1">
              <a:lnSpc>
                <a:spcPct val="90000"/>
              </a:lnSpc>
            </a:pPr>
            <a:r>
              <a:rPr lang="en-US" altLang="en-US" sz="2000" dirty="0">
                <a:latin typeface="Times New Roman" panose="02020603050405020304" pitchFamily="18" charset="0"/>
                <a:cs typeface="Times New Roman" panose="02020603050405020304" pitchFamily="18" charset="0"/>
              </a:rPr>
              <a:t>Recognize multiple viewpoints</a:t>
            </a:r>
          </a:p>
          <a:p>
            <a:pPr lvl="1">
              <a:lnSpc>
                <a:spcPct val="90000"/>
              </a:lnSpc>
            </a:pPr>
            <a:r>
              <a:rPr lang="en-US" altLang="en-US" sz="2000" dirty="0">
                <a:latin typeface="Times New Roman" panose="02020603050405020304" pitchFamily="18" charset="0"/>
                <a:cs typeface="Times New Roman" panose="02020603050405020304" pitchFamily="18" charset="0"/>
              </a:rPr>
              <a:t>Work toward collaboration</a:t>
            </a:r>
          </a:p>
          <a:p>
            <a:pPr lvl="1">
              <a:lnSpc>
                <a:spcPct val="90000"/>
              </a:lnSpc>
            </a:pPr>
            <a:r>
              <a:rPr lang="en-US" altLang="en-US" sz="2000" dirty="0">
                <a:latin typeface="Times New Roman" panose="02020603050405020304" pitchFamily="18" charset="0"/>
                <a:cs typeface="Times New Roman" panose="02020603050405020304" pitchFamily="18" charset="0"/>
              </a:rPr>
              <a:t>Break the ice and initiate the communication</a:t>
            </a:r>
          </a:p>
          <a:p>
            <a:pPr>
              <a:lnSpc>
                <a:spcPct val="90000"/>
              </a:lnSpc>
              <a:buFontTx/>
              <a:buNone/>
            </a:pPr>
            <a:endParaRPr lang="en-US" alt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C94794D-B1B2-4FE2-E38F-258E68068647}"/>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15</a:t>
            </a:fld>
            <a:endParaRPr lang="en-US" altLang="en-US"/>
          </a:p>
        </p:txBody>
      </p:sp>
      <p:sp>
        <p:nvSpPr>
          <p:cNvPr id="355330" name="Rectangle 2">
            <a:extLst>
              <a:ext uri="{FF2B5EF4-FFF2-40B4-BE49-F238E27FC236}">
                <a16:creationId xmlns:a16="http://schemas.microsoft.com/office/drawing/2014/main" id="{C123D07B-A9F8-CA61-CFE9-B40D6881B354}"/>
              </a:ext>
            </a:extLst>
          </p:cNvPr>
          <p:cNvSpPr>
            <a:spLocks noGrp="1" noChangeArrowheads="1"/>
          </p:cNvSpPr>
          <p:nvPr>
            <p:ph type="title"/>
          </p:nvPr>
        </p:nvSpPr>
        <p:spPr>
          <a:xfrm>
            <a:off x="2209800" y="152400"/>
            <a:ext cx="7772400" cy="1143000"/>
          </a:xfrm>
        </p:spPr>
        <p:txBody>
          <a:bodyPr/>
          <a:lstStyle/>
          <a:p>
            <a:r>
              <a:rPr lang="en-US" altLang="en-US" dirty="0">
                <a:latin typeface="Times New Roman" panose="02020603050405020304" pitchFamily="18" charset="0"/>
                <a:cs typeface="Times New Roman" panose="02020603050405020304" pitchFamily="18" charset="0"/>
              </a:rPr>
              <a:t>The First Set of Questions</a:t>
            </a:r>
          </a:p>
        </p:txBody>
      </p:sp>
      <p:sp>
        <p:nvSpPr>
          <p:cNvPr id="355331" name="Rectangle 3">
            <a:extLst>
              <a:ext uri="{FF2B5EF4-FFF2-40B4-BE49-F238E27FC236}">
                <a16:creationId xmlns:a16="http://schemas.microsoft.com/office/drawing/2014/main" id="{1888AB14-F218-56A9-9322-0D1B4C3E2607}"/>
              </a:ext>
            </a:extLst>
          </p:cNvPr>
          <p:cNvSpPr>
            <a:spLocks noGrp="1" noChangeArrowheads="1"/>
          </p:cNvSpPr>
          <p:nvPr>
            <p:ph type="body" idx="1"/>
          </p:nvPr>
        </p:nvSpPr>
        <p:spPr>
          <a:xfrm>
            <a:off x="1690777" y="2475781"/>
            <a:ext cx="8264106" cy="3010619"/>
          </a:xfrm>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000" dirty="0">
                <a:latin typeface="Times New Roman" panose="02020603050405020304" pitchFamily="18" charset="0"/>
                <a:cs typeface="Times New Roman" panose="02020603050405020304" pitchFamily="18" charset="0"/>
              </a:rPr>
              <a:t>Who is behind the request for this work?</a:t>
            </a:r>
          </a:p>
          <a:p>
            <a:r>
              <a:rPr lang="en-US" altLang="en-US" sz="2000" dirty="0">
                <a:latin typeface="Times New Roman" panose="02020603050405020304" pitchFamily="18" charset="0"/>
                <a:cs typeface="Times New Roman" panose="02020603050405020304" pitchFamily="18" charset="0"/>
              </a:rPr>
              <a:t>Who will use the solution?</a:t>
            </a:r>
          </a:p>
          <a:p>
            <a:r>
              <a:rPr lang="en-US" altLang="en-US" sz="2000" dirty="0">
                <a:latin typeface="Times New Roman" panose="02020603050405020304" pitchFamily="18" charset="0"/>
                <a:cs typeface="Times New Roman" panose="02020603050405020304" pitchFamily="18" charset="0"/>
              </a:rPr>
              <a:t>What will be the economic benefit of a successful solution?</a:t>
            </a:r>
          </a:p>
          <a:p>
            <a:r>
              <a:rPr lang="en-US" altLang="en-US" sz="2000" dirty="0">
                <a:latin typeface="Times New Roman" panose="02020603050405020304" pitchFamily="18" charset="0"/>
                <a:cs typeface="Times New Roman" panose="02020603050405020304" pitchFamily="18" charset="0"/>
              </a:rPr>
              <a:t>Is there another source for the solution that you need?</a:t>
            </a:r>
          </a:p>
        </p:txBody>
      </p:sp>
      <p:sp>
        <p:nvSpPr>
          <p:cNvPr id="355332" name="Text Box 4">
            <a:extLst>
              <a:ext uri="{FF2B5EF4-FFF2-40B4-BE49-F238E27FC236}">
                <a16:creationId xmlns:a16="http://schemas.microsoft.com/office/drawing/2014/main" id="{CB39EDE6-827A-9113-B4BA-F1ABDCAF6814}"/>
              </a:ext>
            </a:extLst>
          </p:cNvPr>
          <p:cNvSpPr txBox="1">
            <a:spLocks noChangeArrowheads="1"/>
          </p:cNvSpPr>
          <p:nvPr/>
        </p:nvSpPr>
        <p:spPr bwMode="auto">
          <a:xfrm>
            <a:off x="1595887" y="1371600"/>
            <a:ext cx="8170413" cy="7112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dirty="0">
                <a:latin typeface="Times New Roman" panose="02020603050405020304" pitchFamily="18" charset="0"/>
                <a:cs typeface="Times New Roman" panose="02020603050405020304" pitchFamily="18" charset="0"/>
              </a:rPr>
              <a:t>These questions focus on the customer, other stakeholders, the overall goals, and the benefits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38B0269-2C47-BD5E-F183-601E067B3D8A}"/>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16</a:t>
            </a:fld>
            <a:endParaRPr lang="en-US" altLang="en-US"/>
          </a:p>
        </p:txBody>
      </p:sp>
      <p:sp>
        <p:nvSpPr>
          <p:cNvPr id="356354" name="Rectangle 2">
            <a:extLst>
              <a:ext uri="{FF2B5EF4-FFF2-40B4-BE49-F238E27FC236}">
                <a16:creationId xmlns:a16="http://schemas.microsoft.com/office/drawing/2014/main" id="{29C76F84-FBA0-451B-F408-EC059B4F025C}"/>
              </a:ext>
            </a:extLst>
          </p:cNvPr>
          <p:cNvSpPr>
            <a:spLocks noGrp="1" noChangeArrowheads="1"/>
          </p:cNvSpPr>
          <p:nvPr>
            <p:ph type="title"/>
          </p:nvPr>
        </p:nvSpPr>
        <p:spPr>
          <a:xfrm>
            <a:off x="2133600" y="152400"/>
            <a:ext cx="7772400" cy="692989"/>
          </a:xfrm>
        </p:spPr>
        <p:txBody>
          <a:bodyPr/>
          <a:lstStyle/>
          <a:p>
            <a:r>
              <a:rPr lang="en-US" altLang="en-US" dirty="0">
                <a:latin typeface="Times New Roman" panose="02020603050405020304" pitchFamily="18" charset="0"/>
                <a:cs typeface="Times New Roman" panose="02020603050405020304" pitchFamily="18" charset="0"/>
              </a:rPr>
              <a:t>The Next Set of Questions</a:t>
            </a:r>
          </a:p>
        </p:txBody>
      </p:sp>
      <p:sp>
        <p:nvSpPr>
          <p:cNvPr id="356355" name="Rectangle 3">
            <a:extLst>
              <a:ext uri="{FF2B5EF4-FFF2-40B4-BE49-F238E27FC236}">
                <a16:creationId xmlns:a16="http://schemas.microsoft.com/office/drawing/2014/main" id="{A0CC739E-4F98-37A7-905B-4CB5B755D968}"/>
              </a:ext>
            </a:extLst>
          </p:cNvPr>
          <p:cNvSpPr>
            <a:spLocks noGrp="1" noChangeArrowheads="1"/>
          </p:cNvSpPr>
          <p:nvPr>
            <p:ph type="body" idx="1"/>
          </p:nvPr>
        </p:nvSpPr>
        <p:spPr>
          <a:xfrm>
            <a:off x="1423358" y="2467155"/>
            <a:ext cx="9299276" cy="3705045"/>
          </a:xfrm>
        </p:spPr>
        <p:txBody>
          <a:bodyPr/>
          <a:lstStyle/>
          <a:p>
            <a:pPr algn="just"/>
            <a:r>
              <a:rPr lang="en-US" altLang="en-US" sz="2000" dirty="0">
                <a:latin typeface="Times New Roman" panose="02020603050405020304" pitchFamily="18" charset="0"/>
                <a:cs typeface="Times New Roman" panose="02020603050405020304" pitchFamily="18" charset="0"/>
              </a:rPr>
              <a:t>How would you characterize "good" output that would be generated by a successful solution?</a:t>
            </a:r>
          </a:p>
          <a:p>
            <a:pPr algn="just"/>
            <a:r>
              <a:rPr lang="en-US" altLang="en-US" sz="2000" dirty="0">
                <a:latin typeface="Times New Roman" panose="02020603050405020304" pitchFamily="18" charset="0"/>
                <a:cs typeface="Times New Roman" panose="02020603050405020304" pitchFamily="18" charset="0"/>
              </a:rPr>
              <a:t>What problem(s) will this solution address?</a:t>
            </a:r>
          </a:p>
          <a:p>
            <a:pPr algn="just"/>
            <a:r>
              <a:rPr lang="en-US" altLang="en-US" sz="2000" dirty="0">
                <a:latin typeface="Times New Roman" panose="02020603050405020304" pitchFamily="18" charset="0"/>
                <a:cs typeface="Times New Roman" panose="02020603050405020304" pitchFamily="18" charset="0"/>
              </a:rPr>
              <a:t>Can you show me (or describe) the business environment in which the solution will be used?</a:t>
            </a:r>
          </a:p>
          <a:p>
            <a:pPr algn="just"/>
            <a:r>
              <a:rPr lang="en-US" altLang="en-US" sz="2000" dirty="0">
                <a:latin typeface="Times New Roman" panose="02020603050405020304" pitchFamily="18" charset="0"/>
                <a:cs typeface="Times New Roman" panose="02020603050405020304" pitchFamily="18" charset="0"/>
              </a:rPr>
              <a:t>Will special performance issues or constraints affect the way the solution is approached?</a:t>
            </a:r>
          </a:p>
        </p:txBody>
      </p:sp>
      <p:sp>
        <p:nvSpPr>
          <p:cNvPr id="356356" name="Text Box 4">
            <a:extLst>
              <a:ext uri="{FF2B5EF4-FFF2-40B4-BE49-F238E27FC236}">
                <a16:creationId xmlns:a16="http://schemas.microsoft.com/office/drawing/2014/main" id="{14C2D3EA-29CE-3FE2-6E4A-396ADB2BF627}"/>
              </a:ext>
            </a:extLst>
          </p:cNvPr>
          <p:cNvSpPr txBox="1">
            <a:spLocks noChangeArrowheads="1"/>
          </p:cNvSpPr>
          <p:nvPr/>
        </p:nvSpPr>
        <p:spPr bwMode="auto">
          <a:xfrm>
            <a:off x="1751162" y="1219200"/>
            <a:ext cx="9299275" cy="7078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dirty="0">
                <a:latin typeface="Times New Roman" panose="02020603050405020304" pitchFamily="18" charset="0"/>
                <a:cs typeface="Times New Roman" panose="02020603050405020304" pitchFamily="18" charset="0"/>
              </a:rPr>
              <a:t>These questions enable the requirements engineer to gain a better understanding of the problem and allow the customer to voice his or her perceptions about a solution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35495FE-B838-9EFE-6CC3-2F2C430D361E}"/>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17</a:t>
            </a:fld>
            <a:endParaRPr lang="en-US" altLang="en-US"/>
          </a:p>
        </p:txBody>
      </p:sp>
      <p:sp>
        <p:nvSpPr>
          <p:cNvPr id="357378" name="Rectangle 2">
            <a:extLst>
              <a:ext uri="{FF2B5EF4-FFF2-40B4-BE49-F238E27FC236}">
                <a16:creationId xmlns:a16="http://schemas.microsoft.com/office/drawing/2014/main" id="{27C4BBBE-260A-78C3-2447-3BA2041E157E}"/>
              </a:ext>
            </a:extLst>
          </p:cNvPr>
          <p:cNvSpPr>
            <a:spLocks noGrp="1" noChangeArrowheads="1"/>
          </p:cNvSpPr>
          <p:nvPr>
            <p:ph type="title"/>
          </p:nvPr>
        </p:nvSpPr>
        <p:spPr>
          <a:xfrm>
            <a:off x="2133600" y="228600"/>
            <a:ext cx="7772400" cy="1143000"/>
          </a:xfrm>
        </p:spPr>
        <p:txBody>
          <a:bodyPr/>
          <a:lstStyle/>
          <a:p>
            <a:r>
              <a:rPr lang="en-US" altLang="en-US" dirty="0">
                <a:latin typeface="Times New Roman" panose="02020603050405020304" pitchFamily="18" charset="0"/>
                <a:cs typeface="Times New Roman" panose="02020603050405020304" pitchFamily="18" charset="0"/>
              </a:rPr>
              <a:t>The Final Set of Questions</a:t>
            </a:r>
          </a:p>
        </p:txBody>
      </p:sp>
      <p:sp>
        <p:nvSpPr>
          <p:cNvPr id="357379" name="Rectangle 3">
            <a:extLst>
              <a:ext uri="{FF2B5EF4-FFF2-40B4-BE49-F238E27FC236}">
                <a16:creationId xmlns:a16="http://schemas.microsoft.com/office/drawing/2014/main" id="{DDF3B0EF-7FC7-6995-FA07-A8E3988D12F6}"/>
              </a:ext>
            </a:extLst>
          </p:cNvPr>
          <p:cNvSpPr>
            <a:spLocks noGrp="1" noChangeArrowheads="1"/>
          </p:cNvSpPr>
          <p:nvPr>
            <p:ph type="body" idx="1"/>
          </p:nvPr>
        </p:nvSpPr>
        <p:spPr>
          <a:xfrm>
            <a:off x="1768415" y="2424023"/>
            <a:ext cx="8137585" cy="3748177"/>
          </a:xfrm>
        </p:spPr>
        <p:txBody>
          <a:bodyPr/>
          <a:lstStyle/>
          <a:p>
            <a:r>
              <a:rPr lang="en-US" altLang="en-US" sz="2000" dirty="0">
                <a:latin typeface="Times New Roman" panose="02020603050405020304" pitchFamily="18" charset="0"/>
                <a:cs typeface="Times New Roman" panose="02020603050405020304" pitchFamily="18" charset="0"/>
              </a:rPr>
              <a:t>Are you the right person to answer these questions?  Are your answers "official"?</a:t>
            </a:r>
          </a:p>
          <a:p>
            <a:r>
              <a:rPr lang="en-US" altLang="en-US" sz="2000" dirty="0">
                <a:latin typeface="Times New Roman" panose="02020603050405020304" pitchFamily="18" charset="0"/>
                <a:cs typeface="Times New Roman" panose="02020603050405020304" pitchFamily="18" charset="0"/>
              </a:rPr>
              <a:t>Are my questions relevant to the problem that you have?</a:t>
            </a:r>
          </a:p>
          <a:p>
            <a:r>
              <a:rPr lang="en-US" altLang="en-US" sz="2000" dirty="0">
                <a:latin typeface="Times New Roman" panose="02020603050405020304" pitchFamily="18" charset="0"/>
                <a:cs typeface="Times New Roman" panose="02020603050405020304" pitchFamily="18" charset="0"/>
              </a:rPr>
              <a:t>Am I asking too many questions?</a:t>
            </a:r>
          </a:p>
          <a:p>
            <a:r>
              <a:rPr lang="en-US" altLang="en-US" sz="2000" dirty="0">
                <a:latin typeface="Times New Roman" panose="02020603050405020304" pitchFamily="18" charset="0"/>
                <a:cs typeface="Times New Roman" panose="02020603050405020304" pitchFamily="18" charset="0"/>
              </a:rPr>
              <a:t>Can anyone else provide additional information?</a:t>
            </a:r>
          </a:p>
          <a:p>
            <a:r>
              <a:rPr lang="en-US" altLang="en-US" sz="2000" dirty="0">
                <a:latin typeface="Times New Roman" panose="02020603050405020304" pitchFamily="18" charset="0"/>
                <a:cs typeface="Times New Roman" panose="02020603050405020304" pitchFamily="18" charset="0"/>
              </a:rPr>
              <a:t>Should I be asking you anything else?</a:t>
            </a:r>
          </a:p>
        </p:txBody>
      </p:sp>
      <p:sp>
        <p:nvSpPr>
          <p:cNvPr id="357381" name="Text Box 5">
            <a:extLst>
              <a:ext uri="{FF2B5EF4-FFF2-40B4-BE49-F238E27FC236}">
                <a16:creationId xmlns:a16="http://schemas.microsoft.com/office/drawing/2014/main" id="{C026663A-D930-7FE5-3264-9D43DB7C3A75}"/>
              </a:ext>
            </a:extLst>
          </p:cNvPr>
          <p:cNvSpPr txBox="1">
            <a:spLocks noChangeArrowheads="1"/>
          </p:cNvSpPr>
          <p:nvPr/>
        </p:nvSpPr>
        <p:spPr bwMode="auto">
          <a:xfrm>
            <a:off x="1889185" y="1600200"/>
            <a:ext cx="8540151" cy="40011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dirty="0">
                <a:latin typeface="Times New Roman" panose="02020603050405020304" pitchFamily="18" charset="0"/>
                <a:cs typeface="Times New Roman" panose="02020603050405020304" pitchFamily="18" charset="0"/>
              </a:rPr>
              <a:t>These questions focus on the effectiveness of the communication activity itself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E6A7C43B-D4B4-2A62-4392-DD4439D525F6}"/>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6DB0EDC1-2BC5-479B-8C2B-0BB6D77B9373}" type="slidenum">
              <a:rPr lang="en-US" altLang="en-US" smtClean="0"/>
              <a:pPr/>
              <a:t>18</a:t>
            </a:fld>
            <a:endParaRPr lang="en-US" altLang="en-US"/>
          </a:p>
        </p:txBody>
      </p:sp>
      <p:sp>
        <p:nvSpPr>
          <p:cNvPr id="367618" name="Rectangle 2">
            <a:extLst>
              <a:ext uri="{FF2B5EF4-FFF2-40B4-BE49-F238E27FC236}">
                <a16:creationId xmlns:a16="http://schemas.microsoft.com/office/drawing/2014/main" id="{DCD8A1E0-CDD6-9B76-9405-E3BF7F329CD9}"/>
              </a:ext>
            </a:extLst>
          </p:cNvPr>
          <p:cNvSpPr>
            <a:spLocks noChangeArrowheads="1"/>
          </p:cNvSpPr>
          <p:nvPr/>
        </p:nvSpPr>
        <p:spPr bwMode="auto">
          <a:xfrm>
            <a:off x="8077200" y="5257800"/>
            <a:ext cx="1371600" cy="5334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Requirements</a:t>
            </a:r>
          </a:p>
          <a:p>
            <a:r>
              <a:rPr lang="en-US" altLang="en-US"/>
              <a:t>Management</a:t>
            </a:r>
          </a:p>
        </p:txBody>
      </p:sp>
      <p:sp>
        <p:nvSpPr>
          <p:cNvPr id="367619" name="Rectangle 3">
            <a:extLst>
              <a:ext uri="{FF2B5EF4-FFF2-40B4-BE49-F238E27FC236}">
                <a16:creationId xmlns:a16="http://schemas.microsoft.com/office/drawing/2014/main" id="{533BC41A-ADA6-8FF4-6E45-78BA9FEEA4EB}"/>
              </a:ext>
            </a:extLst>
          </p:cNvPr>
          <p:cNvSpPr>
            <a:spLocks noChangeArrowheads="1"/>
          </p:cNvSpPr>
          <p:nvPr/>
        </p:nvSpPr>
        <p:spPr bwMode="auto">
          <a:xfrm>
            <a:off x="7086600" y="4572000"/>
            <a:ext cx="1371600" cy="4572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Validation</a:t>
            </a:r>
          </a:p>
        </p:txBody>
      </p:sp>
      <p:sp>
        <p:nvSpPr>
          <p:cNvPr id="367620" name="Rectangle 4">
            <a:extLst>
              <a:ext uri="{FF2B5EF4-FFF2-40B4-BE49-F238E27FC236}">
                <a16:creationId xmlns:a16="http://schemas.microsoft.com/office/drawing/2014/main" id="{99B22A15-EC4D-03F7-3C16-C403B09DAD11}"/>
              </a:ext>
            </a:extLst>
          </p:cNvPr>
          <p:cNvSpPr>
            <a:spLocks noChangeArrowheads="1"/>
          </p:cNvSpPr>
          <p:nvPr/>
        </p:nvSpPr>
        <p:spPr bwMode="auto">
          <a:xfrm>
            <a:off x="2209800" y="1143000"/>
            <a:ext cx="1371600" cy="457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Inception</a:t>
            </a:r>
          </a:p>
        </p:txBody>
      </p:sp>
      <p:sp>
        <p:nvSpPr>
          <p:cNvPr id="367621" name="Rectangle 5">
            <a:extLst>
              <a:ext uri="{FF2B5EF4-FFF2-40B4-BE49-F238E27FC236}">
                <a16:creationId xmlns:a16="http://schemas.microsoft.com/office/drawing/2014/main" id="{A385576B-3A3A-A558-5C37-AFB194208354}"/>
              </a:ext>
            </a:extLst>
          </p:cNvPr>
          <p:cNvSpPr>
            <a:spLocks noChangeArrowheads="1"/>
          </p:cNvSpPr>
          <p:nvPr/>
        </p:nvSpPr>
        <p:spPr bwMode="auto">
          <a:xfrm>
            <a:off x="3048000" y="1828800"/>
            <a:ext cx="1371600" cy="457200"/>
          </a:xfrm>
          <a:prstGeom prst="rect">
            <a:avLst/>
          </a:prstGeom>
          <a:solidFill>
            <a:srgbClr val="FFCC99"/>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Elicitation</a:t>
            </a:r>
          </a:p>
        </p:txBody>
      </p:sp>
      <p:sp>
        <p:nvSpPr>
          <p:cNvPr id="367622" name="Rectangle 6">
            <a:extLst>
              <a:ext uri="{FF2B5EF4-FFF2-40B4-BE49-F238E27FC236}">
                <a16:creationId xmlns:a16="http://schemas.microsoft.com/office/drawing/2014/main" id="{24B95E74-99F2-8EB1-E3EB-0E6258941F03}"/>
              </a:ext>
            </a:extLst>
          </p:cNvPr>
          <p:cNvSpPr>
            <a:spLocks noChangeArrowheads="1"/>
          </p:cNvSpPr>
          <p:nvPr/>
        </p:nvSpPr>
        <p:spPr bwMode="auto">
          <a:xfrm>
            <a:off x="4038600" y="2514600"/>
            <a:ext cx="1371600" cy="457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Elaboration</a:t>
            </a:r>
          </a:p>
        </p:txBody>
      </p:sp>
      <p:sp>
        <p:nvSpPr>
          <p:cNvPr id="367623" name="Rectangle 7">
            <a:extLst>
              <a:ext uri="{FF2B5EF4-FFF2-40B4-BE49-F238E27FC236}">
                <a16:creationId xmlns:a16="http://schemas.microsoft.com/office/drawing/2014/main" id="{4BC77985-2309-3A15-B202-45C8A99C5CCF}"/>
              </a:ext>
            </a:extLst>
          </p:cNvPr>
          <p:cNvSpPr>
            <a:spLocks noChangeArrowheads="1"/>
          </p:cNvSpPr>
          <p:nvPr/>
        </p:nvSpPr>
        <p:spPr bwMode="auto">
          <a:xfrm>
            <a:off x="5029200" y="3200400"/>
            <a:ext cx="13716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Negotiation</a:t>
            </a:r>
          </a:p>
        </p:txBody>
      </p:sp>
      <p:sp>
        <p:nvSpPr>
          <p:cNvPr id="367624" name="Rectangle 8">
            <a:extLst>
              <a:ext uri="{FF2B5EF4-FFF2-40B4-BE49-F238E27FC236}">
                <a16:creationId xmlns:a16="http://schemas.microsoft.com/office/drawing/2014/main" id="{5BA6C50B-CDCB-2DEA-0481-FFC4232ED1E1}"/>
              </a:ext>
            </a:extLst>
          </p:cNvPr>
          <p:cNvSpPr>
            <a:spLocks noChangeArrowheads="1"/>
          </p:cNvSpPr>
          <p:nvPr/>
        </p:nvSpPr>
        <p:spPr bwMode="auto">
          <a:xfrm>
            <a:off x="6019800" y="3886200"/>
            <a:ext cx="13716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Specification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D37A9FD-CFD6-85F4-8453-50E07A47798A}"/>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19</a:t>
            </a:fld>
            <a:endParaRPr lang="en-US" altLang="en-US"/>
          </a:p>
        </p:txBody>
      </p:sp>
      <p:sp>
        <p:nvSpPr>
          <p:cNvPr id="339970" name="Rectangle 2">
            <a:extLst>
              <a:ext uri="{FF2B5EF4-FFF2-40B4-BE49-F238E27FC236}">
                <a16:creationId xmlns:a16="http://schemas.microsoft.com/office/drawing/2014/main" id="{37EA395A-60D9-6A81-D356-F26E0A2C2C40}"/>
              </a:ext>
            </a:extLst>
          </p:cNvPr>
          <p:cNvSpPr>
            <a:spLocks noGrp="1" noChangeArrowheads="1"/>
          </p:cNvSpPr>
          <p:nvPr>
            <p:ph type="title"/>
          </p:nvPr>
        </p:nvSpPr>
        <p:spPr>
          <a:xfrm>
            <a:off x="2209800" y="0"/>
            <a:ext cx="7772400" cy="1143000"/>
          </a:xfrm>
        </p:spPr>
        <p:txBody>
          <a:bodyPr/>
          <a:lstStyle/>
          <a:p>
            <a:r>
              <a:rPr lang="en-US" altLang="en-US" dirty="0">
                <a:latin typeface="Times New Roman" panose="02020603050405020304" pitchFamily="18" charset="0"/>
                <a:cs typeface="Times New Roman" panose="02020603050405020304" pitchFamily="18" charset="0"/>
              </a:rPr>
              <a:t>Elicitation Task</a:t>
            </a:r>
          </a:p>
        </p:txBody>
      </p:sp>
      <p:sp>
        <p:nvSpPr>
          <p:cNvPr id="339971" name="Rectangle 3">
            <a:extLst>
              <a:ext uri="{FF2B5EF4-FFF2-40B4-BE49-F238E27FC236}">
                <a16:creationId xmlns:a16="http://schemas.microsoft.com/office/drawing/2014/main" id="{1350F444-3716-D123-7279-45C9663668CE}"/>
              </a:ext>
            </a:extLst>
          </p:cNvPr>
          <p:cNvSpPr>
            <a:spLocks noGrp="1" noChangeArrowheads="1"/>
          </p:cNvSpPr>
          <p:nvPr>
            <p:ph type="body" idx="1"/>
          </p:nvPr>
        </p:nvSpPr>
        <p:spPr>
          <a:xfrm>
            <a:off x="1216325" y="1371600"/>
            <a:ext cx="9282022" cy="4321834"/>
          </a:xfrm>
        </p:spPr>
        <p:txBody>
          <a:bodyPr/>
          <a:lstStyle/>
          <a:p>
            <a:pPr algn="just">
              <a:lnSpc>
                <a:spcPct val="90000"/>
              </a:lnSpc>
            </a:pPr>
            <a:r>
              <a:rPr lang="en-US" altLang="en-US" sz="2000" dirty="0">
                <a:latin typeface="Times New Roman" panose="02020603050405020304" pitchFamily="18" charset="0"/>
                <a:cs typeface="Times New Roman" panose="02020603050405020304" pitchFamily="18" charset="0"/>
              </a:rPr>
              <a:t>Eliciting requirements is difficult because of </a:t>
            </a:r>
          </a:p>
          <a:p>
            <a:pPr lvl="1" algn="just">
              <a:lnSpc>
                <a:spcPct val="90000"/>
              </a:lnSpc>
            </a:pPr>
            <a:r>
              <a:rPr lang="en-US" altLang="en-US" sz="2000" u="sng" dirty="0">
                <a:latin typeface="Times New Roman" panose="02020603050405020304" pitchFamily="18" charset="0"/>
                <a:cs typeface="Times New Roman" panose="02020603050405020304" pitchFamily="18" charset="0"/>
              </a:rPr>
              <a:t>Problems of scope</a:t>
            </a:r>
            <a:r>
              <a:rPr lang="en-US" altLang="en-US" sz="2000" dirty="0">
                <a:latin typeface="Times New Roman" panose="02020603050405020304" pitchFamily="18" charset="0"/>
                <a:cs typeface="Times New Roman" panose="02020603050405020304" pitchFamily="18" charset="0"/>
              </a:rPr>
              <a:t> in identifying the boundaries of the system or specifying too much technical detail rather than overall system objectives</a:t>
            </a:r>
          </a:p>
          <a:p>
            <a:pPr lvl="1" algn="just">
              <a:lnSpc>
                <a:spcPct val="90000"/>
              </a:lnSpc>
            </a:pPr>
            <a:r>
              <a:rPr lang="en-US" altLang="en-US" sz="2000" u="sng" dirty="0">
                <a:latin typeface="Times New Roman" panose="02020603050405020304" pitchFamily="18" charset="0"/>
                <a:cs typeface="Times New Roman" panose="02020603050405020304" pitchFamily="18" charset="0"/>
              </a:rPr>
              <a:t>Problems of understanding</a:t>
            </a:r>
            <a:r>
              <a:rPr lang="en-US" altLang="en-US" sz="2000" dirty="0">
                <a:latin typeface="Times New Roman" panose="02020603050405020304" pitchFamily="18" charset="0"/>
                <a:cs typeface="Times New Roman" panose="02020603050405020304" pitchFamily="18" charset="0"/>
              </a:rPr>
              <a:t> what is wanted, what the problem domain is, and what the computing environment can handle (Information that is believed to be "obvious" is often omitted)</a:t>
            </a:r>
          </a:p>
          <a:p>
            <a:pPr lvl="1" algn="just">
              <a:lnSpc>
                <a:spcPct val="90000"/>
              </a:lnSpc>
            </a:pPr>
            <a:r>
              <a:rPr lang="en-US" altLang="en-US" sz="2000" u="sng" dirty="0">
                <a:latin typeface="Times New Roman" panose="02020603050405020304" pitchFamily="18" charset="0"/>
                <a:cs typeface="Times New Roman" panose="02020603050405020304" pitchFamily="18" charset="0"/>
              </a:rPr>
              <a:t>Problems of volatility</a:t>
            </a:r>
            <a:r>
              <a:rPr lang="en-US" altLang="en-US" sz="2000" dirty="0">
                <a:latin typeface="Times New Roman" panose="02020603050405020304" pitchFamily="18" charset="0"/>
                <a:cs typeface="Times New Roman" panose="02020603050405020304" pitchFamily="18" charset="0"/>
              </a:rPr>
              <a:t> because the requirements change over time</a:t>
            </a:r>
          </a:p>
          <a:p>
            <a:pPr algn="just">
              <a:lnSpc>
                <a:spcPct val="90000"/>
              </a:lnSpc>
            </a:pPr>
            <a:r>
              <a:rPr lang="en-US" altLang="en-US" sz="2000" dirty="0">
                <a:latin typeface="Times New Roman" panose="02020603050405020304" pitchFamily="18" charset="0"/>
                <a:cs typeface="Times New Roman" panose="02020603050405020304" pitchFamily="18" charset="0"/>
              </a:rPr>
              <a:t>Elicitation may be accomplished through two activities</a:t>
            </a:r>
          </a:p>
          <a:p>
            <a:pPr lvl="1" algn="just">
              <a:lnSpc>
                <a:spcPct val="90000"/>
              </a:lnSpc>
            </a:pPr>
            <a:r>
              <a:rPr lang="en-US" altLang="en-US" sz="2000" dirty="0">
                <a:latin typeface="Times New Roman" panose="02020603050405020304" pitchFamily="18" charset="0"/>
                <a:cs typeface="Times New Roman" panose="02020603050405020304" pitchFamily="18" charset="0"/>
              </a:rPr>
              <a:t>Collaborative requirements gathering</a:t>
            </a:r>
          </a:p>
          <a:p>
            <a:pPr lvl="1" algn="just">
              <a:lnSpc>
                <a:spcPct val="90000"/>
              </a:lnSpc>
            </a:pPr>
            <a:r>
              <a:rPr lang="en-US" altLang="en-US" sz="2000" dirty="0">
                <a:latin typeface="Times New Roman" panose="02020603050405020304" pitchFamily="18" charset="0"/>
                <a:cs typeface="Times New Roman" panose="02020603050405020304" pitchFamily="18" charset="0"/>
              </a:rPr>
              <a:t>Quality function deployment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979185A-9990-CAB1-7C7F-869965A487D5}"/>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20</a:t>
            </a:fld>
            <a:endParaRPr lang="en-US" altLang="en-US"/>
          </a:p>
        </p:txBody>
      </p:sp>
      <p:sp>
        <p:nvSpPr>
          <p:cNvPr id="358402" name="Rectangle 2">
            <a:extLst>
              <a:ext uri="{FF2B5EF4-FFF2-40B4-BE49-F238E27FC236}">
                <a16:creationId xmlns:a16="http://schemas.microsoft.com/office/drawing/2014/main" id="{09AB9E51-2473-5590-A5ED-DF702CEC1DD7}"/>
              </a:ext>
            </a:extLst>
          </p:cNvPr>
          <p:cNvSpPr>
            <a:spLocks noGrp="1" noChangeArrowheads="1"/>
          </p:cNvSpPr>
          <p:nvPr>
            <p:ph type="title"/>
          </p:nvPr>
        </p:nvSpPr>
        <p:spPr>
          <a:xfrm>
            <a:off x="1043795" y="228600"/>
            <a:ext cx="10239555" cy="1143000"/>
          </a:xfrm>
        </p:spPr>
        <p:txBody>
          <a:bodyPr/>
          <a:lstStyle/>
          <a:p>
            <a:r>
              <a:rPr lang="en-US" altLang="en-US" dirty="0">
                <a:latin typeface="Times New Roman" panose="02020603050405020304" pitchFamily="18" charset="0"/>
                <a:cs typeface="Times New Roman" panose="02020603050405020304" pitchFamily="18" charset="0"/>
              </a:rPr>
              <a:t>Basic Guidelines of Collaborative Requirements Gathering</a:t>
            </a:r>
          </a:p>
        </p:txBody>
      </p:sp>
      <p:sp>
        <p:nvSpPr>
          <p:cNvPr id="358403" name="Rectangle 3">
            <a:extLst>
              <a:ext uri="{FF2B5EF4-FFF2-40B4-BE49-F238E27FC236}">
                <a16:creationId xmlns:a16="http://schemas.microsoft.com/office/drawing/2014/main" id="{3A4B1C46-7399-58F7-EDF1-56A983790C62}"/>
              </a:ext>
            </a:extLst>
          </p:cNvPr>
          <p:cNvSpPr>
            <a:spLocks noGrp="1" noChangeArrowheads="1"/>
          </p:cNvSpPr>
          <p:nvPr>
            <p:ph type="body" idx="1"/>
          </p:nvPr>
        </p:nvSpPr>
        <p:spPr>
          <a:xfrm>
            <a:off x="1000664" y="1600200"/>
            <a:ext cx="10558732" cy="4114800"/>
          </a:xfrm>
        </p:spPr>
        <p:txBody>
          <a:bodyPr/>
          <a:lstStyle/>
          <a:p>
            <a:pPr algn="just">
              <a:lnSpc>
                <a:spcPct val="90000"/>
              </a:lnSpc>
            </a:pPr>
            <a:r>
              <a:rPr lang="en-US" altLang="en-US" sz="2000" dirty="0">
                <a:latin typeface="Times New Roman" panose="02020603050405020304" pitchFamily="18" charset="0"/>
                <a:cs typeface="Times New Roman" panose="02020603050405020304" pitchFamily="18" charset="0"/>
              </a:rPr>
              <a:t>Meetings are conducted and attended by both software engineers, customers, and other interested stakeholders</a:t>
            </a:r>
          </a:p>
          <a:p>
            <a:pPr algn="just">
              <a:lnSpc>
                <a:spcPct val="90000"/>
              </a:lnSpc>
            </a:pPr>
            <a:r>
              <a:rPr lang="en-US" altLang="en-US" sz="2000" dirty="0">
                <a:latin typeface="Times New Roman" panose="02020603050405020304" pitchFamily="18" charset="0"/>
                <a:cs typeface="Times New Roman" panose="02020603050405020304" pitchFamily="18" charset="0"/>
              </a:rPr>
              <a:t>Rules for preparation and participation are established</a:t>
            </a:r>
          </a:p>
          <a:p>
            <a:pPr algn="just">
              <a:lnSpc>
                <a:spcPct val="90000"/>
              </a:lnSpc>
            </a:pPr>
            <a:r>
              <a:rPr lang="en-US" altLang="en-US" sz="2000" dirty="0">
                <a:latin typeface="Times New Roman" panose="02020603050405020304" pitchFamily="18" charset="0"/>
                <a:cs typeface="Times New Roman" panose="02020603050405020304" pitchFamily="18" charset="0"/>
              </a:rPr>
              <a:t>An agenda is suggested that is formal enough to cover all important points but informal enough to encourage the free flow of ideas</a:t>
            </a:r>
          </a:p>
          <a:p>
            <a:pPr algn="just">
              <a:lnSpc>
                <a:spcPct val="90000"/>
              </a:lnSpc>
            </a:pPr>
            <a:r>
              <a:rPr lang="en-US" altLang="en-US" sz="2000" dirty="0">
                <a:latin typeface="Times New Roman" panose="02020603050405020304" pitchFamily="18" charset="0"/>
                <a:cs typeface="Times New Roman" panose="02020603050405020304" pitchFamily="18" charset="0"/>
              </a:rPr>
              <a:t>A "facilitator" (customer, developer, or outsider) controls the meeting</a:t>
            </a:r>
          </a:p>
          <a:p>
            <a:pPr algn="just">
              <a:lnSpc>
                <a:spcPct val="90000"/>
              </a:lnSpc>
            </a:pPr>
            <a:r>
              <a:rPr lang="en-US" altLang="en-US" sz="2000" dirty="0">
                <a:latin typeface="Times New Roman" panose="02020603050405020304" pitchFamily="18" charset="0"/>
                <a:cs typeface="Times New Roman" panose="02020603050405020304" pitchFamily="18" charset="0"/>
              </a:rPr>
              <a:t>A "definition mechanism" is used such as work sheets, flip charts, wall stickers, electronic bulletin board, chat room, or some other virtual forum</a:t>
            </a:r>
          </a:p>
          <a:p>
            <a:pPr algn="just">
              <a:lnSpc>
                <a:spcPct val="90000"/>
              </a:lnSpc>
            </a:pPr>
            <a:r>
              <a:rPr lang="en-US" altLang="en-US" sz="2000" dirty="0">
                <a:latin typeface="Times New Roman" panose="02020603050405020304" pitchFamily="18" charset="0"/>
                <a:cs typeface="Times New Roman" panose="02020603050405020304" pitchFamily="18" charset="0"/>
              </a:rPr>
              <a:t>The goal is to identify the problem, propose elements of the solution, negotiate different approaches, and specify a preliminary set of solution requirements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BA9CCF7-7B0E-8148-F033-F9D1A96C0C4B}"/>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21</a:t>
            </a:fld>
            <a:endParaRPr lang="en-US" altLang="en-US"/>
          </a:p>
        </p:txBody>
      </p:sp>
      <p:sp>
        <p:nvSpPr>
          <p:cNvPr id="359426" name="Rectangle 2">
            <a:extLst>
              <a:ext uri="{FF2B5EF4-FFF2-40B4-BE49-F238E27FC236}">
                <a16:creationId xmlns:a16="http://schemas.microsoft.com/office/drawing/2014/main" id="{CA98370D-887C-88F1-28F2-6EEF40869BF6}"/>
              </a:ext>
            </a:extLst>
          </p:cNvPr>
          <p:cNvSpPr>
            <a:spLocks noGrp="1" noChangeArrowheads="1"/>
          </p:cNvSpPr>
          <p:nvPr>
            <p:ph type="title"/>
          </p:nvPr>
        </p:nvSpPr>
        <p:spPr>
          <a:xfrm>
            <a:off x="1371600" y="194094"/>
            <a:ext cx="8610600" cy="1143000"/>
          </a:xfrm>
        </p:spPr>
        <p:txBody>
          <a:bodyPr/>
          <a:lstStyle/>
          <a:p>
            <a:r>
              <a:rPr lang="en-US" altLang="en-US" dirty="0">
                <a:latin typeface="Times New Roman" panose="02020603050405020304" pitchFamily="18" charset="0"/>
                <a:cs typeface="Times New Roman" panose="02020603050405020304" pitchFamily="18" charset="0"/>
              </a:rPr>
              <a:t>Quality Function Deployment</a:t>
            </a:r>
          </a:p>
        </p:txBody>
      </p:sp>
      <p:sp>
        <p:nvSpPr>
          <p:cNvPr id="359427" name="Rectangle 3">
            <a:extLst>
              <a:ext uri="{FF2B5EF4-FFF2-40B4-BE49-F238E27FC236}">
                <a16:creationId xmlns:a16="http://schemas.microsoft.com/office/drawing/2014/main" id="{7D10F166-6FD0-5ED3-7001-B5B2590608D0}"/>
              </a:ext>
            </a:extLst>
          </p:cNvPr>
          <p:cNvSpPr>
            <a:spLocks noGrp="1" noChangeArrowheads="1"/>
          </p:cNvSpPr>
          <p:nvPr>
            <p:ph type="body" idx="1"/>
          </p:nvPr>
        </p:nvSpPr>
        <p:spPr>
          <a:xfrm>
            <a:off x="992037" y="1447800"/>
            <a:ext cx="10205049" cy="4114800"/>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This is a technique that translates the needs of the customer into technical requirements for software</a:t>
            </a:r>
          </a:p>
          <a:p>
            <a:pPr>
              <a:lnSpc>
                <a:spcPct val="90000"/>
              </a:lnSpc>
            </a:pPr>
            <a:r>
              <a:rPr lang="en-US" altLang="en-US" sz="2000" dirty="0">
                <a:latin typeface="Times New Roman" panose="02020603050405020304" pitchFamily="18" charset="0"/>
                <a:cs typeface="Times New Roman" panose="02020603050405020304" pitchFamily="18" charset="0"/>
              </a:rPr>
              <a:t>It emphasizes an understanding of what is valuable to the customer and then deploys these values throughout the engineering process through functions, information, and tasks</a:t>
            </a:r>
          </a:p>
          <a:p>
            <a:pPr>
              <a:lnSpc>
                <a:spcPct val="90000"/>
              </a:lnSpc>
            </a:pPr>
            <a:r>
              <a:rPr lang="en-US" altLang="en-US" sz="2000" dirty="0">
                <a:latin typeface="Times New Roman" panose="02020603050405020304" pitchFamily="18" charset="0"/>
                <a:cs typeface="Times New Roman" panose="02020603050405020304" pitchFamily="18" charset="0"/>
              </a:rPr>
              <a:t>It identifies three types of requirements</a:t>
            </a:r>
          </a:p>
          <a:p>
            <a:pPr lvl="1">
              <a:lnSpc>
                <a:spcPct val="90000"/>
              </a:lnSpc>
            </a:pPr>
            <a:r>
              <a:rPr lang="en-US" altLang="en-US" sz="2000" u="sng" dirty="0">
                <a:latin typeface="Times New Roman" panose="02020603050405020304" pitchFamily="18" charset="0"/>
                <a:cs typeface="Times New Roman" panose="02020603050405020304" pitchFamily="18" charset="0"/>
              </a:rPr>
              <a:t>Normal requirements</a:t>
            </a:r>
            <a:r>
              <a:rPr lang="en-US" altLang="en-US" sz="2000" dirty="0">
                <a:latin typeface="Times New Roman" panose="02020603050405020304" pitchFamily="18" charset="0"/>
                <a:cs typeface="Times New Roman" panose="02020603050405020304" pitchFamily="18" charset="0"/>
              </a:rPr>
              <a:t>: These requirements are the objectives and goals stated for a product or system during meetings with the customer</a:t>
            </a:r>
          </a:p>
          <a:p>
            <a:pPr lvl="1">
              <a:lnSpc>
                <a:spcPct val="90000"/>
              </a:lnSpc>
            </a:pPr>
            <a:r>
              <a:rPr lang="en-US" altLang="en-US" sz="2000" u="sng" dirty="0">
                <a:latin typeface="Times New Roman" panose="02020603050405020304" pitchFamily="18" charset="0"/>
                <a:cs typeface="Times New Roman" panose="02020603050405020304" pitchFamily="18" charset="0"/>
              </a:rPr>
              <a:t>Expected requirements</a:t>
            </a:r>
            <a:r>
              <a:rPr lang="en-US" altLang="en-US" sz="2000" dirty="0">
                <a:latin typeface="Times New Roman" panose="02020603050405020304" pitchFamily="18" charset="0"/>
                <a:cs typeface="Times New Roman" panose="02020603050405020304" pitchFamily="18" charset="0"/>
              </a:rPr>
              <a:t>:  These requirements are implicit to the product or system and may be so fundamental that the customer does not explicitly state them</a:t>
            </a:r>
          </a:p>
          <a:p>
            <a:pPr lvl="1">
              <a:lnSpc>
                <a:spcPct val="90000"/>
              </a:lnSpc>
            </a:pPr>
            <a:r>
              <a:rPr lang="en-US" altLang="en-US" sz="2000" u="sng" dirty="0">
                <a:latin typeface="Times New Roman" panose="02020603050405020304" pitchFamily="18" charset="0"/>
                <a:cs typeface="Times New Roman" panose="02020603050405020304" pitchFamily="18" charset="0"/>
              </a:rPr>
              <a:t>Exciting requirements</a:t>
            </a:r>
            <a:r>
              <a:rPr lang="en-US" altLang="en-US" sz="2000" dirty="0">
                <a:latin typeface="Times New Roman" panose="02020603050405020304" pitchFamily="18" charset="0"/>
                <a:cs typeface="Times New Roman" panose="02020603050405020304" pitchFamily="18" charset="0"/>
              </a:rPr>
              <a:t>: These requirements are for features that go beyond the customer's expectations and prove to be very satisfying when present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21E1395-0D05-254D-6DCE-442EC7EA6D39}"/>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22</a:t>
            </a:fld>
            <a:endParaRPr lang="en-US" altLang="en-US"/>
          </a:p>
        </p:txBody>
      </p:sp>
      <p:sp>
        <p:nvSpPr>
          <p:cNvPr id="360450" name="Rectangle 2">
            <a:extLst>
              <a:ext uri="{FF2B5EF4-FFF2-40B4-BE49-F238E27FC236}">
                <a16:creationId xmlns:a16="http://schemas.microsoft.com/office/drawing/2014/main" id="{4DCF6AE6-3486-1FFC-F142-A63CE42AB71F}"/>
              </a:ext>
            </a:extLst>
          </p:cNvPr>
          <p:cNvSpPr>
            <a:spLocks noGrp="1" noChangeArrowheads="1"/>
          </p:cNvSpPr>
          <p:nvPr>
            <p:ph type="title"/>
          </p:nvPr>
        </p:nvSpPr>
        <p:spPr>
          <a:xfrm>
            <a:off x="1362974" y="76200"/>
            <a:ext cx="8543026" cy="1143000"/>
          </a:xfrm>
        </p:spPr>
        <p:txBody>
          <a:bodyPr/>
          <a:lstStyle/>
          <a:p>
            <a:r>
              <a:rPr lang="en-US" altLang="en-US" dirty="0">
                <a:latin typeface="Times New Roman" panose="02020603050405020304" pitchFamily="18" charset="0"/>
                <a:cs typeface="Times New Roman" panose="02020603050405020304" pitchFamily="18" charset="0"/>
              </a:rPr>
              <a:t>Elicitation Work Products</a:t>
            </a:r>
          </a:p>
        </p:txBody>
      </p:sp>
      <p:sp>
        <p:nvSpPr>
          <p:cNvPr id="360451" name="Rectangle 3">
            <a:extLst>
              <a:ext uri="{FF2B5EF4-FFF2-40B4-BE49-F238E27FC236}">
                <a16:creationId xmlns:a16="http://schemas.microsoft.com/office/drawing/2014/main" id="{CA7E4094-15A2-1928-EB40-5B67404E7FB5}"/>
              </a:ext>
            </a:extLst>
          </p:cNvPr>
          <p:cNvSpPr>
            <a:spLocks noGrp="1" noChangeArrowheads="1"/>
          </p:cNvSpPr>
          <p:nvPr>
            <p:ph type="body" idx="1"/>
          </p:nvPr>
        </p:nvSpPr>
        <p:spPr>
          <a:xfrm>
            <a:off x="845389" y="2209800"/>
            <a:ext cx="10696754" cy="3886200"/>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A statement of need and feasibility</a:t>
            </a:r>
          </a:p>
          <a:p>
            <a:pPr>
              <a:lnSpc>
                <a:spcPct val="90000"/>
              </a:lnSpc>
            </a:pPr>
            <a:r>
              <a:rPr lang="en-US" altLang="en-US" sz="2000" dirty="0">
                <a:latin typeface="Times New Roman" panose="02020603050405020304" pitchFamily="18" charset="0"/>
                <a:cs typeface="Times New Roman" panose="02020603050405020304" pitchFamily="18" charset="0"/>
              </a:rPr>
              <a:t>A bounded statement of scope for the system or product</a:t>
            </a:r>
          </a:p>
          <a:p>
            <a:pPr>
              <a:lnSpc>
                <a:spcPct val="90000"/>
              </a:lnSpc>
            </a:pPr>
            <a:r>
              <a:rPr lang="en-US" altLang="en-US" sz="2000" dirty="0">
                <a:latin typeface="Times New Roman" panose="02020603050405020304" pitchFamily="18" charset="0"/>
                <a:cs typeface="Times New Roman" panose="02020603050405020304" pitchFamily="18" charset="0"/>
              </a:rPr>
              <a:t>A list of customers, users, and other stakeholders who participated in requirements elicitation</a:t>
            </a:r>
          </a:p>
          <a:p>
            <a:pPr>
              <a:lnSpc>
                <a:spcPct val="90000"/>
              </a:lnSpc>
            </a:pPr>
            <a:r>
              <a:rPr lang="en-US" altLang="en-US" sz="2000" dirty="0">
                <a:latin typeface="Times New Roman" panose="02020603050405020304" pitchFamily="18" charset="0"/>
                <a:cs typeface="Times New Roman" panose="02020603050405020304" pitchFamily="18" charset="0"/>
              </a:rPr>
              <a:t>A description of the system's technical environment</a:t>
            </a:r>
          </a:p>
          <a:p>
            <a:pPr>
              <a:lnSpc>
                <a:spcPct val="90000"/>
              </a:lnSpc>
            </a:pPr>
            <a:r>
              <a:rPr lang="en-US" altLang="en-US" sz="2000" dirty="0">
                <a:latin typeface="Times New Roman" panose="02020603050405020304" pitchFamily="18" charset="0"/>
                <a:cs typeface="Times New Roman" panose="02020603050405020304" pitchFamily="18" charset="0"/>
              </a:rPr>
              <a:t>A list of requirements (organized by function) and the domain constraints that apply to each</a:t>
            </a:r>
          </a:p>
          <a:p>
            <a:pPr>
              <a:lnSpc>
                <a:spcPct val="90000"/>
              </a:lnSpc>
            </a:pPr>
            <a:r>
              <a:rPr lang="en-US" altLang="en-US" sz="2000" dirty="0">
                <a:latin typeface="Times New Roman" panose="02020603050405020304" pitchFamily="18" charset="0"/>
                <a:cs typeface="Times New Roman" panose="02020603050405020304" pitchFamily="18" charset="0"/>
              </a:rPr>
              <a:t>A set of preliminary </a:t>
            </a:r>
            <a:r>
              <a:rPr lang="en-US" altLang="en-US" sz="2000" u="sng" dirty="0">
                <a:latin typeface="Times New Roman" panose="02020603050405020304" pitchFamily="18" charset="0"/>
                <a:cs typeface="Times New Roman" panose="02020603050405020304" pitchFamily="18" charset="0"/>
              </a:rPr>
              <a:t>usage scenarios</a:t>
            </a:r>
            <a:r>
              <a:rPr lang="en-US" altLang="en-US" sz="2000" dirty="0">
                <a:latin typeface="Times New Roman" panose="02020603050405020304" pitchFamily="18" charset="0"/>
                <a:cs typeface="Times New Roman" panose="02020603050405020304" pitchFamily="18" charset="0"/>
              </a:rPr>
              <a:t> (in the form of use cases) that provide insight into the use of the system or product under different operating conditions</a:t>
            </a:r>
          </a:p>
          <a:p>
            <a:pPr>
              <a:lnSpc>
                <a:spcPct val="90000"/>
              </a:lnSpc>
            </a:pPr>
            <a:r>
              <a:rPr lang="en-US" altLang="en-US" sz="2000" dirty="0">
                <a:latin typeface="Times New Roman" panose="02020603050405020304" pitchFamily="18" charset="0"/>
                <a:cs typeface="Times New Roman" panose="02020603050405020304" pitchFamily="18" charset="0"/>
              </a:rPr>
              <a:t>Any </a:t>
            </a:r>
            <a:r>
              <a:rPr lang="en-US" altLang="en-US" sz="2000" u="sng" dirty="0">
                <a:latin typeface="Times New Roman" panose="02020603050405020304" pitchFamily="18" charset="0"/>
                <a:cs typeface="Times New Roman" panose="02020603050405020304" pitchFamily="18" charset="0"/>
              </a:rPr>
              <a:t>prototypes</a:t>
            </a:r>
            <a:r>
              <a:rPr lang="en-US" altLang="en-US" sz="2000" dirty="0">
                <a:latin typeface="Times New Roman" panose="02020603050405020304" pitchFamily="18" charset="0"/>
                <a:cs typeface="Times New Roman" panose="02020603050405020304" pitchFamily="18" charset="0"/>
              </a:rPr>
              <a:t> developed to better define requirements</a:t>
            </a:r>
          </a:p>
        </p:txBody>
      </p:sp>
      <p:sp>
        <p:nvSpPr>
          <p:cNvPr id="360452" name="Text Box 4">
            <a:extLst>
              <a:ext uri="{FF2B5EF4-FFF2-40B4-BE49-F238E27FC236}">
                <a16:creationId xmlns:a16="http://schemas.microsoft.com/office/drawing/2014/main" id="{F8415931-0979-D3FF-94DB-AFAC56398E9D}"/>
              </a:ext>
            </a:extLst>
          </p:cNvPr>
          <p:cNvSpPr txBox="1">
            <a:spLocks noChangeArrowheads="1"/>
          </p:cNvSpPr>
          <p:nvPr/>
        </p:nvSpPr>
        <p:spPr bwMode="auto">
          <a:xfrm>
            <a:off x="1673525" y="1149350"/>
            <a:ext cx="7775275" cy="7112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dirty="0">
                <a:latin typeface="Times New Roman" panose="02020603050405020304" pitchFamily="18" charset="0"/>
                <a:cs typeface="Times New Roman" panose="02020603050405020304" pitchFamily="18" charset="0"/>
              </a:rPr>
              <a:t>The work products will vary depending on the system, but should include one or more of the following items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B4C048F-86E7-7C52-1477-BB23DA85CB46}"/>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6DB0EDC1-2BC5-479B-8C2B-0BB6D77B9373}" type="slidenum">
              <a:rPr lang="en-US" altLang="en-US" smtClean="0"/>
              <a:pPr/>
              <a:t>23</a:t>
            </a:fld>
            <a:endParaRPr lang="en-US" altLang="en-US"/>
          </a:p>
        </p:txBody>
      </p:sp>
      <p:sp>
        <p:nvSpPr>
          <p:cNvPr id="372738" name="Rectangle 2">
            <a:extLst>
              <a:ext uri="{FF2B5EF4-FFF2-40B4-BE49-F238E27FC236}">
                <a16:creationId xmlns:a16="http://schemas.microsoft.com/office/drawing/2014/main" id="{1F48ACFB-7F00-DAD1-5258-BAFEDC10F6BB}"/>
              </a:ext>
            </a:extLst>
          </p:cNvPr>
          <p:cNvSpPr>
            <a:spLocks noChangeArrowheads="1"/>
          </p:cNvSpPr>
          <p:nvPr/>
        </p:nvSpPr>
        <p:spPr bwMode="auto">
          <a:xfrm>
            <a:off x="8077200" y="5257800"/>
            <a:ext cx="1371600" cy="5334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Requirements</a:t>
            </a:r>
          </a:p>
          <a:p>
            <a:r>
              <a:rPr lang="en-US" altLang="en-US"/>
              <a:t>Management</a:t>
            </a:r>
          </a:p>
        </p:txBody>
      </p:sp>
      <p:sp>
        <p:nvSpPr>
          <p:cNvPr id="372739" name="Rectangle 3">
            <a:extLst>
              <a:ext uri="{FF2B5EF4-FFF2-40B4-BE49-F238E27FC236}">
                <a16:creationId xmlns:a16="http://schemas.microsoft.com/office/drawing/2014/main" id="{4BBC4886-127C-AB04-2171-7589713D144E}"/>
              </a:ext>
            </a:extLst>
          </p:cNvPr>
          <p:cNvSpPr>
            <a:spLocks noChangeArrowheads="1"/>
          </p:cNvSpPr>
          <p:nvPr/>
        </p:nvSpPr>
        <p:spPr bwMode="auto">
          <a:xfrm>
            <a:off x="7086600" y="4572000"/>
            <a:ext cx="1371600" cy="4572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Validation</a:t>
            </a:r>
          </a:p>
        </p:txBody>
      </p:sp>
      <p:sp>
        <p:nvSpPr>
          <p:cNvPr id="372740" name="Rectangle 4">
            <a:extLst>
              <a:ext uri="{FF2B5EF4-FFF2-40B4-BE49-F238E27FC236}">
                <a16:creationId xmlns:a16="http://schemas.microsoft.com/office/drawing/2014/main" id="{7F61C85E-4DC8-F825-BFC3-F3D0DB846E34}"/>
              </a:ext>
            </a:extLst>
          </p:cNvPr>
          <p:cNvSpPr>
            <a:spLocks noChangeArrowheads="1"/>
          </p:cNvSpPr>
          <p:nvPr/>
        </p:nvSpPr>
        <p:spPr bwMode="auto">
          <a:xfrm>
            <a:off x="2209800" y="1143000"/>
            <a:ext cx="1371600" cy="457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Inception</a:t>
            </a:r>
          </a:p>
        </p:txBody>
      </p:sp>
      <p:sp>
        <p:nvSpPr>
          <p:cNvPr id="372741" name="Rectangle 5">
            <a:extLst>
              <a:ext uri="{FF2B5EF4-FFF2-40B4-BE49-F238E27FC236}">
                <a16:creationId xmlns:a16="http://schemas.microsoft.com/office/drawing/2014/main" id="{B8AB4556-C67E-FB93-4E3B-91865097068A}"/>
              </a:ext>
            </a:extLst>
          </p:cNvPr>
          <p:cNvSpPr>
            <a:spLocks noChangeArrowheads="1"/>
          </p:cNvSpPr>
          <p:nvPr/>
        </p:nvSpPr>
        <p:spPr bwMode="auto">
          <a:xfrm>
            <a:off x="3048000" y="1828800"/>
            <a:ext cx="13716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Elicitation</a:t>
            </a:r>
          </a:p>
        </p:txBody>
      </p:sp>
      <p:sp>
        <p:nvSpPr>
          <p:cNvPr id="372742" name="Rectangle 6">
            <a:extLst>
              <a:ext uri="{FF2B5EF4-FFF2-40B4-BE49-F238E27FC236}">
                <a16:creationId xmlns:a16="http://schemas.microsoft.com/office/drawing/2014/main" id="{33D269FB-D1CD-A02D-8789-7EB94817E996}"/>
              </a:ext>
            </a:extLst>
          </p:cNvPr>
          <p:cNvSpPr>
            <a:spLocks noChangeArrowheads="1"/>
          </p:cNvSpPr>
          <p:nvPr/>
        </p:nvSpPr>
        <p:spPr bwMode="auto">
          <a:xfrm>
            <a:off x="4038600" y="2514600"/>
            <a:ext cx="1371600" cy="457200"/>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Elaboration</a:t>
            </a:r>
          </a:p>
        </p:txBody>
      </p:sp>
      <p:sp>
        <p:nvSpPr>
          <p:cNvPr id="372743" name="Rectangle 7">
            <a:extLst>
              <a:ext uri="{FF2B5EF4-FFF2-40B4-BE49-F238E27FC236}">
                <a16:creationId xmlns:a16="http://schemas.microsoft.com/office/drawing/2014/main" id="{67CE36AC-5630-E0B8-7BE7-DE70EC114C39}"/>
              </a:ext>
            </a:extLst>
          </p:cNvPr>
          <p:cNvSpPr>
            <a:spLocks noChangeArrowheads="1"/>
          </p:cNvSpPr>
          <p:nvPr/>
        </p:nvSpPr>
        <p:spPr bwMode="auto">
          <a:xfrm>
            <a:off x="5029200" y="3200400"/>
            <a:ext cx="13716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Negotiation</a:t>
            </a:r>
          </a:p>
        </p:txBody>
      </p:sp>
      <p:sp>
        <p:nvSpPr>
          <p:cNvPr id="372744" name="Rectangle 8">
            <a:extLst>
              <a:ext uri="{FF2B5EF4-FFF2-40B4-BE49-F238E27FC236}">
                <a16:creationId xmlns:a16="http://schemas.microsoft.com/office/drawing/2014/main" id="{93264244-9D8A-C745-6753-3D5443D45E11}"/>
              </a:ext>
            </a:extLst>
          </p:cNvPr>
          <p:cNvSpPr>
            <a:spLocks noChangeArrowheads="1"/>
          </p:cNvSpPr>
          <p:nvPr/>
        </p:nvSpPr>
        <p:spPr bwMode="auto">
          <a:xfrm>
            <a:off x="6019800" y="3886200"/>
            <a:ext cx="13716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Specification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AE0DBC1-EE69-518C-C98A-71FF17405519}"/>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24</a:t>
            </a:fld>
            <a:endParaRPr lang="en-US" altLang="en-US"/>
          </a:p>
        </p:txBody>
      </p:sp>
      <p:sp>
        <p:nvSpPr>
          <p:cNvPr id="351234" name="Rectangle 2">
            <a:extLst>
              <a:ext uri="{FF2B5EF4-FFF2-40B4-BE49-F238E27FC236}">
                <a16:creationId xmlns:a16="http://schemas.microsoft.com/office/drawing/2014/main" id="{F62F7629-E997-FA5B-78BA-13E570E69C54}"/>
              </a:ext>
            </a:extLst>
          </p:cNvPr>
          <p:cNvSpPr>
            <a:spLocks noGrp="1" noChangeArrowheads="1"/>
          </p:cNvSpPr>
          <p:nvPr>
            <p:ph type="title"/>
          </p:nvPr>
        </p:nvSpPr>
        <p:spPr>
          <a:xfrm>
            <a:off x="2209800" y="152400"/>
            <a:ext cx="7772400" cy="744747"/>
          </a:xfrm>
        </p:spPr>
        <p:txBody>
          <a:bodyPr/>
          <a:lstStyle/>
          <a:p>
            <a:r>
              <a:rPr lang="en-US" altLang="en-US" dirty="0">
                <a:latin typeface="Times New Roman" panose="02020603050405020304" pitchFamily="18" charset="0"/>
                <a:cs typeface="Times New Roman" panose="02020603050405020304" pitchFamily="18" charset="0"/>
              </a:rPr>
              <a:t>Elaboration Task</a:t>
            </a:r>
          </a:p>
        </p:txBody>
      </p:sp>
      <p:sp>
        <p:nvSpPr>
          <p:cNvPr id="351235" name="Rectangle 3">
            <a:extLst>
              <a:ext uri="{FF2B5EF4-FFF2-40B4-BE49-F238E27FC236}">
                <a16:creationId xmlns:a16="http://schemas.microsoft.com/office/drawing/2014/main" id="{7531E7D4-358B-874C-5ACF-CB2E25324902}"/>
              </a:ext>
            </a:extLst>
          </p:cNvPr>
          <p:cNvSpPr>
            <a:spLocks noGrp="1" noChangeArrowheads="1"/>
          </p:cNvSpPr>
          <p:nvPr>
            <p:ph type="body" idx="1"/>
          </p:nvPr>
        </p:nvSpPr>
        <p:spPr>
          <a:xfrm>
            <a:off x="1155940" y="1043796"/>
            <a:ext cx="10110158" cy="4442604"/>
          </a:xfrm>
        </p:spPr>
        <p:txBody>
          <a:bodyPr/>
          <a:lstStyle/>
          <a:p>
            <a:pPr algn="just">
              <a:lnSpc>
                <a:spcPct val="90000"/>
              </a:lnSpc>
            </a:pPr>
            <a:r>
              <a:rPr lang="en-US" altLang="en-US" sz="2000" dirty="0">
                <a:latin typeface="Times New Roman" panose="02020603050405020304" pitchFamily="18" charset="0"/>
                <a:cs typeface="Times New Roman" panose="02020603050405020304" pitchFamily="18" charset="0"/>
              </a:rPr>
              <a:t>During elaboration, the software engineer takes the information obtained during inception and elicitation and begins to expand and refine it</a:t>
            </a:r>
          </a:p>
          <a:p>
            <a:pPr algn="just">
              <a:lnSpc>
                <a:spcPct val="90000"/>
              </a:lnSpc>
            </a:pPr>
            <a:r>
              <a:rPr lang="en-US" altLang="en-US" sz="2000" dirty="0">
                <a:latin typeface="Times New Roman" panose="02020603050405020304" pitchFamily="18" charset="0"/>
                <a:cs typeface="Times New Roman" panose="02020603050405020304" pitchFamily="18" charset="0"/>
              </a:rPr>
              <a:t>Elaboration focuses on developing a refined technical model of software functions, features, and constraints</a:t>
            </a:r>
          </a:p>
          <a:p>
            <a:pPr algn="just">
              <a:lnSpc>
                <a:spcPct val="90000"/>
              </a:lnSpc>
            </a:pPr>
            <a:r>
              <a:rPr lang="en-US" altLang="en-US" sz="2000" dirty="0">
                <a:latin typeface="Times New Roman" panose="02020603050405020304" pitchFamily="18" charset="0"/>
                <a:cs typeface="Times New Roman" panose="02020603050405020304" pitchFamily="18" charset="0"/>
              </a:rPr>
              <a:t>It is an analysis modeling task</a:t>
            </a:r>
          </a:p>
          <a:p>
            <a:pPr lvl="1" algn="just">
              <a:lnSpc>
                <a:spcPct val="90000"/>
              </a:lnSpc>
            </a:pPr>
            <a:r>
              <a:rPr lang="en-US" altLang="en-US" sz="2000" dirty="0">
                <a:latin typeface="Times New Roman" panose="02020603050405020304" pitchFamily="18" charset="0"/>
                <a:cs typeface="Times New Roman" panose="02020603050405020304" pitchFamily="18" charset="0"/>
              </a:rPr>
              <a:t>Use cases are developed</a:t>
            </a:r>
          </a:p>
          <a:p>
            <a:pPr lvl="1" algn="just">
              <a:lnSpc>
                <a:spcPct val="90000"/>
              </a:lnSpc>
            </a:pPr>
            <a:r>
              <a:rPr lang="en-US" altLang="en-US" sz="2000" dirty="0">
                <a:latin typeface="Times New Roman" panose="02020603050405020304" pitchFamily="18" charset="0"/>
                <a:cs typeface="Times New Roman" panose="02020603050405020304" pitchFamily="18" charset="0"/>
              </a:rPr>
              <a:t>Domain classes are identified along with their attributes and relationships</a:t>
            </a:r>
          </a:p>
          <a:p>
            <a:pPr lvl="1" algn="just">
              <a:lnSpc>
                <a:spcPct val="90000"/>
              </a:lnSpc>
            </a:pPr>
            <a:r>
              <a:rPr lang="en-US" altLang="en-US" sz="2000" dirty="0">
                <a:latin typeface="Times New Roman" panose="02020603050405020304" pitchFamily="18" charset="0"/>
                <a:cs typeface="Times New Roman" panose="02020603050405020304" pitchFamily="18" charset="0"/>
              </a:rPr>
              <a:t>State machine diagrams are used to capture the life on an object</a:t>
            </a:r>
          </a:p>
          <a:p>
            <a:pPr algn="just">
              <a:lnSpc>
                <a:spcPct val="90000"/>
              </a:lnSpc>
            </a:pPr>
            <a:r>
              <a:rPr lang="en-US" altLang="en-US" sz="2000" dirty="0">
                <a:latin typeface="Times New Roman" panose="02020603050405020304" pitchFamily="18" charset="0"/>
                <a:cs typeface="Times New Roman" panose="02020603050405020304" pitchFamily="18" charset="0"/>
              </a:rPr>
              <a:t>The end result is an analysis model that defines the functional, informational, and behavioral domains of the problem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CAAA609-1917-6FFF-C57D-FF1144715111}"/>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25</a:t>
            </a:fld>
            <a:endParaRPr lang="en-US" altLang="en-US"/>
          </a:p>
        </p:txBody>
      </p:sp>
      <p:sp>
        <p:nvSpPr>
          <p:cNvPr id="340994" name="Rectangle 2">
            <a:extLst>
              <a:ext uri="{FF2B5EF4-FFF2-40B4-BE49-F238E27FC236}">
                <a16:creationId xmlns:a16="http://schemas.microsoft.com/office/drawing/2014/main" id="{399D05C2-F5F6-D5A7-2A4B-AE869E5BDC8F}"/>
              </a:ext>
            </a:extLst>
          </p:cNvPr>
          <p:cNvSpPr>
            <a:spLocks noGrp="1" noChangeArrowheads="1"/>
          </p:cNvSpPr>
          <p:nvPr>
            <p:ph type="title"/>
          </p:nvPr>
        </p:nvSpPr>
        <p:spPr>
          <a:xfrm>
            <a:off x="2209800" y="381000"/>
            <a:ext cx="7772400" cy="662796"/>
          </a:xfrm>
        </p:spPr>
        <p:txBody>
          <a:bodyPr/>
          <a:lstStyle/>
          <a:p>
            <a:r>
              <a:rPr lang="en-US" altLang="en-US" dirty="0">
                <a:latin typeface="Times New Roman" panose="02020603050405020304" pitchFamily="18" charset="0"/>
                <a:cs typeface="Times New Roman" panose="02020603050405020304" pitchFamily="18" charset="0"/>
              </a:rPr>
              <a:t>Developing Use Cases</a:t>
            </a:r>
          </a:p>
        </p:txBody>
      </p:sp>
      <p:sp>
        <p:nvSpPr>
          <p:cNvPr id="340995" name="Rectangle 3">
            <a:extLst>
              <a:ext uri="{FF2B5EF4-FFF2-40B4-BE49-F238E27FC236}">
                <a16:creationId xmlns:a16="http://schemas.microsoft.com/office/drawing/2014/main" id="{F7DC05E0-B544-23EB-95C7-3A6FA97E535D}"/>
              </a:ext>
            </a:extLst>
          </p:cNvPr>
          <p:cNvSpPr>
            <a:spLocks noGrp="1" noChangeArrowheads="1"/>
          </p:cNvSpPr>
          <p:nvPr>
            <p:ph type="body" idx="1"/>
          </p:nvPr>
        </p:nvSpPr>
        <p:spPr>
          <a:xfrm>
            <a:off x="609600" y="1483743"/>
            <a:ext cx="10972800" cy="4642421"/>
          </a:xfrm>
        </p:spPr>
        <p:txBody>
          <a:bodyPr/>
          <a:lstStyle/>
          <a:p>
            <a:r>
              <a:rPr lang="en-US" altLang="en-US" sz="2000" dirty="0">
                <a:latin typeface="Times New Roman" panose="02020603050405020304" pitchFamily="18" charset="0"/>
                <a:cs typeface="Times New Roman" panose="02020603050405020304" pitchFamily="18" charset="0"/>
              </a:rPr>
              <a:t>Step One – Define the set of actors that will be involved in the story</a:t>
            </a:r>
          </a:p>
          <a:p>
            <a:pPr lvl="1"/>
            <a:r>
              <a:rPr lang="en-US" altLang="en-US" sz="2000" dirty="0">
                <a:latin typeface="Times New Roman" panose="02020603050405020304" pitchFamily="18" charset="0"/>
                <a:cs typeface="Times New Roman" panose="02020603050405020304" pitchFamily="18" charset="0"/>
              </a:rPr>
              <a:t>Actors are people, devices, or other systems that use the system or product within the context of the function and behavior that is to be described</a:t>
            </a:r>
          </a:p>
          <a:p>
            <a:pPr lvl="1"/>
            <a:r>
              <a:rPr lang="en-US" altLang="en-US" sz="2000" dirty="0">
                <a:latin typeface="Times New Roman" panose="02020603050405020304" pitchFamily="18" charset="0"/>
                <a:cs typeface="Times New Roman" panose="02020603050405020304" pitchFamily="18" charset="0"/>
              </a:rPr>
              <a:t>Actors are anything that communicate with the system or product and that are external to the system itself</a:t>
            </a:r>
          </a:p>
          <a:p>
            <a:r>
              <a:rPr lang="en-US" altLang="en-US" sz="2000" dirty="0">
                <a:latin typeface="Times New Roman" panose="02020603050405020304" pitchFamily="18" charset="0"/>
                <a:cs typeface="Times New Roman" panose="02020603050405020304" pitchFamily="18" charset="0"/>
              </a:rPr>
              <a:t>Step Two – Develop use cases, where each one answers a set of questions</a:t>
            </a:r>
          </a:p>
          <a:p>
            <a:endParaRPr lang="en-US"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9B65D63-6ADC-433C-5B69-3FA5A3905E77}"/>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26</a:t>
            </a:fld>
            <a:endParaRPr lang="en-US" altLang="en-US"/>
          </a:p>
        </p:txBody>
      </p:sp>
      <p:sp>
        <p:nvSpPr>
          <p:cNvPr id="342018" name="Rectangle 2">
            <a:extLst>
              <a:ext uri="{FF2B5EF4-FFF2-40B4-BE49-F238E27FC236}">
                <a16:creationId xmlns:a16="http://schemas.microsoft.com/office/drawing/2014/main" id="{2BA5A80B-6BC9-765A-4AF3-934A02CC5649}"/>
              </a:ext>
            </a:extLst>
          </p:cNvPr>
          <p:cNvSpPr>
            <a:spLocks noGrp="1" noChangeArrowheads="1"/>
          </p:cNvSpPr>
          <p:nvPr>
            <p:ph type="title"/>
          </p:nvPr>
        </p:nvSpPr>
        <p:spPr>
          <a:xfrm>
            <a:off x="767751" y="304800"/>
            <a:ext cx="10084279" cy="1143000"/>
          </a:xfrm>
        </p:spPr>
        <p:txBody>
          <a:bodyPr/>
          <a:lstStyle/>
          <a:p>
            <a:r>
              <a:rPr lang="en-US" altLang="en-US" dirty="0">
                <a:latin typeface="Times New Roman" panose="02020603050405020304" pitchFamily="18" charset="0"/>
                <a:cs typeface="Times New Roman" panose="02020603050405020304" pitchFamily="18" charset="0"/>
              </a:rPr>
              <a:t>Questions Commonly Answered by a Use Case</a:t>
            </a:r>
          </a:p>
        </p:txBody>
      </p:sp>
      <p:sp>
        <p:nvSpPr>
          <p:cNvPr id="342019" name="Rectangle 3">
            <a:extLst>
              <a:ext uri="{FF2B5EF4-FFF2-40B4-BE49-F238E27FC236}">
                <a16:creationId xmlns:a16="http://schemas.microsoft.com/office/drawing/2014/main" id="{C9589C98-78E4-352F-9F4B-3D4A39818879}"/>
              </a:ext>
            </a:extLst>
          </p:cNvPr>
          <p:cNvSpPr>
            <a:spLocks noGrp="1" noChangeArrowheads="1"/>
          </p:cNvSpPr>
          <p:nvPr>
            <p:ph type="body" idx="1"/>
          </p:nvPr>
        </p:nvSpPr>
        <p:spPr>
          <a:xfrm>
            <a:off x="888521" y="1328468"/>
            <a:ext cx="9474679" cy="4691332"/>
          </a:xfrm>
        </p:spPr>
        <p:txBody>
          <a:bodyPr/>
          <a:lstStyle/>
          <a:p>
            <a:pPr algn="just">
              <a:lnSpc>
                <a:spcPct val="80000"/>
              </a:lnSpc>
            </a:pPr>
            <a:r>
              <a:rPr lang="en-US" altLang="en-US" sz="2000" dirty="0">
                <a:latin typeface="Times New Roman" panose="02020603050405020304" pitchFamily="18" charset="0"/>
                <a:cs typeface="Times New Roman" panose="02020603050405020304" pitchFamily="18" charset="0"/>
              </a:rPr>
              <a:t>Who is the primary actor(s), the secondary actor(s)?</a:t>
            </a:r>
          </a:p>
          <a:p>
            <a:pPr algn="just">
              <a:lnSpc>
                <a:spcPct val="80000"/>
              </a:lnSpc>
            </a:pPr>
            <a:r>
              <a:rPr lang="en-US" altLang="en-US" sz="2000" dirty="0">
                <a:latin typeface="Times New Roman" panose="02020603050405020304" pitchFamily="18" charset="0"/>
                <a:cs typeface="Times New Roman" panose="02020603050405020304" pitchFamily="18" charset="0"/>
              </a:rPr>
              <a:t>What are the actor’s goals?</a:t>
            </a:r>
          </a:p>
          <a:p>
            <a:pPr algn="just">
              <a:lnSpc>
                <a:spcPct val="80000"/>
              </a:lnSpc>
            </a:pPr>
            <a:r>
              <a:rPr lang="en-US" altLang="en-US" sz="2000" dirty="0">
                <a:latin typeface="Times New Roman" panose="02020603050405020304" pitchFamily="18" charset="0"/>
                <a:cs typeface="Times New Roman" panose="02020603050405020304" pitchFamily="18" charset="0"/>
              </a:rPr>
              <a:t>What preconditions should exist before the scenario begins?</a:t>
            </a:r>
          </a:p>
          <a:p>
            <a:pPr algn="just">
              <a:lnSpc>
                <a:spcPct val="80000"/>
              </a:lnSpc>
            </a:pPr>
            <a:r>
              <a:rPr lang="en-US" altLang="en-US" sz="2000" dirty="0">
                <a:latin typeface="Times New Roman" panose="02020603050405020304" pitchFamily="18" charset="0"/>
                <a:cs typeface="Times New Roman" panose="02020603050405020304" pitchFamily="18" charset="0"/>
              </a:rPr>
              <a:t>What main tasks or functions are performed by the actor?</a:t>
            </a:r>
          </a:p>
          <a:p>
            <a:pPr algn="just">
              <a:lnSpc>
                <a:spcPct val="80000"/>
              </a:lnSpc>
            </a:pPr>
            <a:r>
              <a:rPr lang="en-US" altLang="en-US" sz="2000" dirty="0">
                <a:latin typeface="Times New Roman" panose="02020603050405020304" pitchFamily="18" charset="0"/>
                <a:cs typeface="Times New Roman" panose="02020603050405020304" pitchFamily="18" charset="0"/>
              </a:rPr>
              <a:t>What exceptions might be considered as the scenario is described?</a:t>
            </a:r>
          </a:p>
          <a:p>
            <a:pPr algn="just">
              <a:lnSpc>
                <a:spcPct val="80000"/>
              </a:lnSpc>
            </a:pPr>
            <a:r>
              <a:rPr lang="en-US" altLang="en-US" sz="2000" dirty="0">
                <a:latin typeface="Times New Roman" panose="02020603050405020304" pitchFamily="18" charset="0"/>
                <a:cs typeface="Times New Roman" panose="02020603050405020304" pitchFamily="18" charset="0"/>
              </a:rPr>
              <a:t>What variations in the actor’s interaction are possible?</a:t>
            </a:r>
          </a:p>
          <a:p>
            <a:pPr algn="just">
              <a:lnSpc>
                <a:spcPct val="80000"/>
              </a:lnSpc>
            </a:pPr>
            <a:r>
              <a:rPr lang="en-US" altLang="en-US" sz="2000" dirty="0">
                <a:latin typeface="Times New Roman" panose="02020603050405020304" pitchFamily="18" charset="0"/>
                <a:cs typeface="Times New Roman" panose="02020603050405020304" pitchFamily="18" charset="0"/>
              </a:rPr>
              <a:t>What system information will the actor acquire, produce, or change?</a:t>
            </a:r>
          </a:p>
          <a:p>
            <a:pPr algn="just">
              <a:lnSpc>
                <a:spcPct val="80000"/>
              </a:lnSpc>
            </a:pPr>
            <a:r>
              <a:rPr lang="en-US" altLang="en-US" sz="2000" dirty="0">
                <a:latin typeface="Times New Roman" panose="02020603050405020304" pitchFamily="18" charset="0"/>
                <a:cs typeface="Times New Roman" panose="02020603050405020304" pitchFamily="18" charset="0"/>
              </a:rPr>
              <a:t>Will the actor have to inform the system about changes in the external environment?</a:t>
            </a:r>
          </a:p>
          <a:p>
            <a:pPr algn="just">
              <a:lnSpc>
                <a:spcPct val="80000"/>
              </a:lnSpc>
            </a:pPr>
            <a:r>
              <a:rPr lang="en-US" altLang="en-US" sz="2000" dirty="0">
                <a:latin typeface="Times New Roman" panose="02020603050405020304" pitchFamily="18" charset="0"/>
                <a:cs typeface="Times New Roman" panose="02020603050405020304" pitchFamily="18" charset="0"/>
              </a:rPr>
              <a:t>What information does the actor desire from the system?</a:t>
            </a:r>
          </a:p>
          <a:p>
            <a:pPr algn="just">
              <a:lnSpc>
                <a:spcPct val="80000"/>
              </a:lnSpc>
            </a:pPr>
            <a:r>
              <a:rPr lang="en-US" altLang="en-US" sz="2000" dirty="0">
                <a:latin typeface="Times New Roman" panose="02020603050405020304" pitchFamily="18" charset="0"/>
                <a:cs typeface="Times New Roman" panose="02020603050405020304" pitchFamily="18" charset="0"/>
              </a:rPr>
              <a:t>Does the actor wish to be informed about unexpected changes?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897DB18-E466-F7E6-98D9-9A6CF6363B25}"/>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27</a:t>
            </a:fld>
            <a:endParaRPr lang="en-US" altLang="en-US"/>
          </a:p>
        </p:txBody>
      </p:sp>
      <p:sp>
        <p:nvSpPr>
          <p:cNvPr id="343042" name="Rectangle 2">
            <a:extLst>
              <a:ext uri="{FF2B5EF4-FFF2-40B4-BE49-F238E27FC236}">
                <a16:creationId xmlns:a16="http://schemas.microsoft.com/office/drawing/2014/main" id="{3190DF51-402E-8226-56FB-D1C80ECF0BCD}"/>
              </a:ext>
            </a:extLst>
          </p:cNvPr>
          <p:cNvSpPr>
            <a:spLocks noGrp="1" noChangeArrowheads="1"/>
          </p:cNvSpPr>
          <p:nvPr>
            <p:ph type="title"/>
          </p:nvPr>
        </p:nvSpPr>
        <p:spPr>
          <a:xfrm>
            <a:off x="1000664" y="228600"/>
            <a:ext cx="9286336" cy="780691"/>
          </a:xfrm>
        </p:spPr>
        <p:txBody>
          <a:bodyPr/>
          <a:lstStyle/>
          <a:p>
            <a:r>
              <a:rPr lang="en-US" altLang="en-US" dirty="0">
                <a:latin typeface="Times New Roman" panose="02020603050405020304" pitchFamily="18" charset="0"/>
                <a:cs typeface="Times New Roman" panose="02020603050405020304" pitchFamily="18" charset="0"/>
              </a:rPr>
              <a:t>Elements of the Analysis Model</a:t>
            </a:r>
          </a:p>
        </p:txBody>
      </p:sp>
      <p:sp>
        <p:nvSpPr>
          <p:cNvPr id="343043" name="Rectangle 3">
            <a:extLst>
              <a:ext uri="{FF2B5EF4-FFF2-40B4-BE49-F238E27FC236}">
                <a16:creationId xmlns:a16="http://schemas.microsoft.com/office/drawing/2014/main" id="{DAFC9D96-170F-1F2B-222A-942826C27148}"/>
              </a:ext>
            </a:extLst>
          </p:cNvPr>
          <p:cNvSpPr>
            <a:spLocks noGrp="1" noChangeArrowheads="1"/>
          </p:cNvSpPr>
          <p:nvPr>
            <p:ph type="body" idx="1"/>
          </p:nvPr>
        </p:nvSpPr>
        <p:spPr>
          <a:xfrm>
            <a:off x="534837" y="1147313"/>
            <a:ext cx="10757139" cy="4720087"/>
          </a:xfrm>
        </p:spPr>
        <p:txBody>
          <a:bodyPr/>
          <a:lstStyle/>
          <a:p>
            <a:pPr algn="just">
              <a:lnSpc>
                <a:spcPct val="90000"/>
              </a:lnSpc>
            </a:pPr>
            <a:r>
              <a:rPr lang="en-US" altLang="en-US" sz="2000" dirty="0">
                <a:latin typeface="Times New Roman" panose="02020603050405020304" pitchFamily="18" charset="0"/>
                <a:cs typeface="Times New Roman" panose="02020603050405020304" pitchFamily="18" charset="0"/>
              </a:rPr>
              <a:t>Scenario-based elements</a:t>
            </a:r>
          </a:p>
          <a:p>
            <a:pPr lvl="1" algn="just">
              <a:lnSpc>
                <a:spcPct val="90000"/>
              </a:lnSpc>
            </a:pPr>
            <a:r>
              <a:rPr lang="en-US" altLang="en-US" sz="2000" dirty="0">
                <a:latin typeface="Times New Roman" panose="02020603050405020304" pitchFamily="18" charset="0"/>
                <a:cs typeface="Times New Roman" panose="02020603050405020304" pitchFamily="18" charset="0"/>
              </a:rPr>
              <a:t>Describe the system from the user's point of view using scenarios that are depicted in use cases and activity diagrams</a:t>
            </a:r>
          </a:p>
          <a:p>
            <a:pPr algn="just">
              <a:lnSpc>
                <a:spcPct val="90000"/>
              </a:lnSpc>
            </a:pPr>
            <a:r>
              <a:rPr lang="en-US" altLang="en-US" sz="2000" dirty="0">
                <a:latin typeface="Times New Roman" panose="02020603050405020304" pitchFamily="18" charset="0"/>
                <a:cs typeface="Times New Roman" panose="02020603050405020304" pitchFamily="18" charset="0"/>
              </a:rPr>
              <a:t>Class-based elements</a:t>
            </a:r>
          </a:p>
          <a:p>
            <a:pPr lvl="1" algn="just">
              <a:lnSpc>
                <a:spcPct val="90000"/>
              </a:lnSpc>
            </a:pPr>
            <a:r>
              <a:rPr lang="en-US" altLang="en-US" sz="2000" dirty="0">
                <a:latin typeface="Times New Roman" panose="02020603050405020304" pitchFamily="18" charset="0"/>
                <a:cs typeface="Times New Roman" panose="02020603050405020304" pitchFamily="18" charset="0"/>
              </a:rPr>
              <a:t>Identify the domain classes for the objects manipulated by the actors, the attributes of these classes, and how they interact with one another; they utilize class diagrams to do this</a:t>
            </a:r>
          </a:p>
          <a:p>
            <a:pPr algn="just">
              <a:lnSpc>
                <a:spcPct val="90000"/>
              </a:lnSpc>
            </a:pPr>
            <a:r>
              <a:rPr lang="en-US" altLang="en-US" sz="2000" dirty="0">
                <a:latin typeface="Times New Roman" panose="02020603050405020304" pitchFamily="18" charset="0"/>
                <a:cs typeface="Times New Roman" panose="02020603050405020304" pitchFamily="18" charset="0"/>
              </a:rPr>
              <a:t>Behavioral elements</a:t>
            </a:r>
          </a:p>
          <a:p>
            <a:pPr lvl="1" algn="just">
              <a:lnSpc>
                <a:spcPct val="90000"/>
              </a:lnSpc>
            </a:pPr>
            <a:r>
              <a:rPr lang="en-US" altLang="en-US" sz="2000" dirty="0">
                <a:latin typeface="Times New Roman" panose="02020603050405020304" pitchFamily="18" charset="0"/>
                <a:cs typeface="Times New Roman" panose="02020603050405020304" pitchFamily="18" charset="0"/>
              </a:rPr>
              <a:t>Use state diagrams to represent the state of the system, the events that cause the system to change state, and the actions that are taken as a result of a particular event; can also be applied to each class in the system</a:t>
            </a:r>
          </a:p>
          <a:p>
            <a:pPr algn="just">
              <a:lnSpc>
                <a:spcPct val="90000"/>
              </a:lnSpc>
            </a:pPr>
            <a:r>
              <a:rPr lang="en-US" altLang="en-US" sz="2000" dirty="0">
                <a:latin typeface="Times New Roman" panose="02020603050405020304" pitchFamily="18" charset="0"/>
                <a:cs typeface="Times New Roman" panose="02020603050405020304" pitchFamily="18" charset="0"/>
              </a:rPr>
              <a:t>Flow-oriented elements</a:t>
            </a:r>
          </a:p>
          <a:p>
            <a:pPr lvl="1" algn="just">
              <a:lnSpc>
                <a:spcPct val="90000"/>
              </a:lnSpc>
            </a:pPr>
            <a:r>
              <a:rPr lang="en-US" altLang="en-US" sz="2000" dirty="0">
                <a:latin typeface="Times New Roman" panose="02020603050405020304" pitchFamily="18" charset="0"/>
                <a:cs typeface="Times New Roman" panose="02020603050405020304" pitchFamily="18" charset="0"/>
              </a:rPr>
              <a:t>Use data flow diagrams to show the input data that comes into a system, what functions are applied to that data to do transformations, and what resulting output data are produced</a:t>
            </a:r>
          </a:p>
          <a:p>
            <a:pPr>
              <a:lnSpc>
                <a:spcPct val="90000"/>
              </a:lnSpc>
            </a:pPr>
            <a:endParaRPr lang="en-US" alt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82D31A6-EC43-2F72-4769-CCBD1508D063}"/>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6DB0EDC1-2BC5-479B-8C2B-0BB6D77B9373}" type="slidenum">
              <a:rPr lang="en-US" altLang="en-US" smtClean="0"/>
              <a:pPr/>
              <a:t>28</a:t>
            </a:fld>
            <a:endParaRPr lang="en-US" altLang="en-US"/>
          </a:p>
        </p:txBody>
      </p:sp>
      <p:sp>
        <p:nvSpPr>
          <p:cNvPr id="368642" name="Rectangle 2">
            <a:extLst>
              <a:ext uri="{FF2B5EF4-FFF2-40B4-BE49-F238E27FC236}">
                <a16:creationId xmlns:a16="http://schemas.microsoft.com/office/drawing/2014/main" id="{3608C640-15EE-0417-58F4-E525036E543D}"/>
              </a:ext>
            </a:extLst>
          </p:cNvPr>
          <p:cNvSpPr>
            <a:spLocks noChangeArrowheads="1"/>
          </p:cNvSpPr>
          <p:nvPr/>
        </p:nvSpPr>
        <p:spPr bwMode="auto">
          <a:xfrm>
            <a:off x="8077200" y="5257800"/>
            <a:ext cx="1371600" cy="5334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Requirements</a:t>
            </a:r>
          </a:p>
          <a:p>
            <a:r>
              <a:rPr lang="en-US" altLang="en-US"/>
              <a:t>Management</a:t>
            </a:r>
          </a:p>
        </p:txBody>
      </p:sp>
      <p:sp>
        <p:nvSpPr>
          <p:cNvPr id="368643" name="Rectangle 3">
            <a:extLst>
              <a:ext uri="{FF2B5EF4-FFF2-40B4-BE49-F238E27FC236}">
                <a16:creationId xmlns:a16="http://schemas.microsoft.com/office/drawing/2014/main" id="{C78F5566-8256-1D11-A3DE-4ADC5BD133C0}"/>
              </a:ext>
            </a:extLst>
          </p:cNvPr>
          <p:cNvSpPr>
            <a:spLocks noChangeArrowheads="1"/>
          </p:cNvSpPr>
          <p:nvPr/>
        </p:nvSpPr>
        <p:spPr bwMode="auto">
          <a:xfrm>
            <a:off x="7086600" y="4572000"/>
            <a:ext cx="1371600" cy="4572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Validation</a:t>
            </a:r>
          </a:p>
        </p:txBody>
      </p:sp>
      <p:sp>
        <p:nvSpPr>
          <p:cNvPr id="368644" name="Rectangle 4">
            <a:extLst>
              <a:ext uri="{FF2B5EF4-FFF2-40B4-BE49-F238E27FC236}">
                <a16:creationId xmlns:a16="http://schemas.microsoft.com/office/drawing/2014/main" id="{5164F935-BAAC-C235-6A0F-63B304568FDD}"/>
              </a:ext>
            </a:extLst>
          </p:cNvPr>
          <p:cNvSpPr>
            <a:spLocks noChangeArrowheads="1"/>
          </p:cNvSpPr>
          <p:nvPr/>
        </p:nvSpPr>
        <p:spPr bwMode="auto">
          <a:xfrm>
            <a:off x="2209800" y="1143000"/>
            <a:ext cx="1371600" cy="457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Inception</a:t>
            </a:r>
          </a:p>
        </p:txBody>
      </p:sp>
      <p:sp>
        <p:nvSpPr>
          <p:cNvPr id="368645" name="Rectangle 5">
            <a:extLst>
              <a:ext uri="{FF2B5EF4-FFF2-40B4-BE49-F238E27FC236}">
                <a16:creationId xmlns:a16="http://schemas.microsoft.com/office/drawing/2014/main" id="{4C8074CF-371E-B4EB-DDF0-F2C15398B9B1}"/>
              </a:ext>
            </a:extLst>
          </p:cNvPr>
          <p:cNvSpPr>
            <a:spLocks noChangeArrowheads="1"/>
          </p:cNvSpPr>
          <p:nvPr/>
        </p:nvSpPr>
        <p:spPr bwMode="auto">
          <a:xfrm>
            <a:off x="3048000" y="1828800"/>
            <a:ext cx="13716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Elicitation</a:t>
            </a:r>
          </a:p>
        </p:txBody>
      </p:sp>
      <p:sp>
        <p:nvSpPr>
          <p:cNvPr id="368646" name="Rectangle 6">
            <a:extLst>
              <a:ext uri="{FF2B5EF4-FFF2-40B4-BE49-F238E27FC236}">
                <a16:creationId xmlns:a16="http://schemas.microsoft.com/office/drawing/2014/main" id="{BD94B4B9-7446-34CC-905A-B0C758F5A025}"/>
              </a:ext>
            </a:extLst>
          </p:cNvPr>
          <p:cNvSpPr>
            <a:spLocks noChangeArrowheads="1"/>
          </p:cNvSpPr>
          <p:nvPr/>
        </p:nvSpPr>
        <p:spPr bwMode="auto">
          <a:xfrm>
            <a:off x="4038600" y="2514600"/>
            <a:ext cx="1371600" cy="457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Elaboration</a:t>
            </a:r>
          </a:p>
        </p:txBody>
      </p:sp>
      <p:sp>
        <p:nvSpPr>
          <p:cNvPr id="368647" name="Rectangle 7">
            <a:extLst>
              <a:ext uri="{FF2B5EF4-FFF2-40B4-BE49-F238E27FC236}">
                <a16:creationId xmlns:a16="http://schemas.microsoft.com/office/drawing/2014/main" id="{038F30FF-4D72-7654-B52A-CB2B1BBFB347}"/>
              </a:ext>
            </a:extLst>
          </p:cNvPr>
          <p:cNvSpPr>
            <a:spLocks noChangeArrowheads="1"/>
          </p:cNvSpPr>
          <p:nvPr/>
        </p:nvSpPr>
        <p:spPr bwMode="auto">
          <a:xfrm>
            <a:off x="5029200" y="3200400"/>
            <a:ext cx="1371600" cy="457200"/>
          </a:xfrm>
          <a:prstGeom prst="rect">
            <a:avLst/>
          </a:prstGeom>
          <a:solidFill>
            <a:srgbClr val="CCFFCC"/>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Negotiation</a:t>
            </a:r>
          </a:p>
        </p:txBody>
      </p:sp>
      <p:sp>
        <p:nvSpPr>
          <p:cNvPr id="368648" name="Rectangle 8">
            <a:extLst>
              <a:ext uri="{FF2B5EF4-FFF2-40B4-BE49-F238E27FC236}">
                <a16:creationId xmlns:a16="http://schemas.microsoft.com/office/drawing/2014/main" id="{D45AC575-8EAB-9F45-3511-757A5EF291ED}"/>
              </a:ext>
            </a:extLst>
          </p:cNvPr>
          <p:cNvSpPr>
            <a:spLocks noChangeArrowheads="1"/>
          </p:cNvSpPr>
          <p:nvPr/>
        </p:nvSpPr>
        <p:spPr bwMode="auto">
          <a:xfrm>
            <a:off x="6019800" y="3886200"/>
            <a:ext cx="13716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Specification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63F4B91-7765-ACE7-7330-74AA65A10C99}"/>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29</a:t>
            </a:fld>
            <a:endParaRPr lang="en-US" altLang="en-US"/>
          </a:p>
        </p:txBody>
      </p:sp>
      <p:sp>
        <p:nvSpPr>
          <p:cNvPr id="344066" name="Rectangle 2">
            <a:extLst>
              <a:ext uri="{FF2B5EF4-FFF2-40B4-BE49-F238E27FC236}">
                <a16:creationId xmlns:a16="http://schemas.microsoft.com/office/drawing/2014/main" id="{070E259B-E1C5-7281-4BE1-A501A62F6A14}"/>
              </a:ext>
            </a:extLst>
          </p:cNvPr>
          <p:cNvSpPr>
            <a:spLocks noGrp="1" noChangeArrowheads="1"/>
          </p:cNvSpPr>
          <p:nvPr>
            <p:ph type="title"/>
          </p:nvPr>
        </p:nvSpPr>
        <p:spPr>
          <a:xfrm>
            <a:off x="2209800" y="152400"/>
            <a:ext cx="7772400" cy="1143000"/>
          </a:xfrm>
        </p:spPr>
        <p:txBody>
          <a:bodyPr/>
          <a:lstStyle/>
          <a:p>
            <a:r>
              <a:rPr lang="en-US" altLang="en-US" dirty="0">
                <a:latin typeface="Times New Roman" panose="02020603050405020304" pitchFamily="18" charset="0"/>
                <a:cs typeface="Times New Roman" panose="02020603050405020304" pitchFamily="18" charset="0"/>
              </a:rPr>
              <a:t>Negotiation Task</a:t>
            </a:r>
          </a:p>
        </p:txBody>
      </p:sp>
      <p:sp>
        <p:nvSpPr>
          <p:cNvPr id="344067" name="Rectangle 3">
            <a:extLst>
              <a:ext uri="{FF2B5EF4-FFF2-40B4-BE49-F238E27FC236}">
                <a16:creationId xmlns:a16="http://schemas.microsoft.com/office/drawing/2014/main" id="{B10024A1-4B54-FB96-A48F-27DC38A7CAC0}"/>
              </a:ext>
            </a:extLst>
          </p:cNvPr>
          <p:cNvSpPr>
            <a:spLocks noGrp="1" noChangeArrowheads="1"/>
          </p:cNvSpPr>
          <p:nvPr>
            <p:ph type="body" idx="1"/>
          </p:nvPr>
        </p:nvSpPr>
        <p:spPr>
          <a:xfrm>
            <a:off x="879894" y="1524000"/>
            <a:ext cx="10041148" cy="4114800"/>
          </a:xfrm>
        </p:spPr>
        <p:txBody>
          <a:bodyPr/>
          <a:lstStyle/>
          <a:p>
            <a:pPr algn="just">
              <a:lnSpc>
                <a:spcPct val="90000"/>
              </a:lnSpc>
            </a:pPr>
            <a:r>
              <a:rPr lang="en-US" altLang="en-US" sz="2000" dirty="0">
                <a:latin typeface="Times New Roman" panose="02020603050405020304" pitchFamily="18" charset="0"/>
                <a:cs typeface="Times New Roman" panose="02020603050405020304" pitchFamily="18" charset="0"/>
              </a:rPr>
              <a:t>During negotiation, the software engineer reconciles the conflicts between what the customer wants and what can be achieved given limited business resources</a:t>
            </a:r>
          </a:p>
          <a:p>
            <a:pPr algn="just">
              <a:lnSpc>
                <a:spcPct val="90000"/>
              </a:lnSpc>
            </a:pPr>
            <a:r>
              <a:rPr lang="en-US" altLang="en-US" sz="2000" dirty="0">
                <a:latin typeface="Times New Roman" panose="02020603050405020304" pitchFamily="18" charset="0"/>
                <a:cs typeface="Times New Roman" panose="02020603050405020304" pitchFamily="18" charset="0"/>
              </a:rPr>
              <a:t>Requirements are ranked (i.e., prioritized) by the customers, users, and other stakeholders</a:t>
            </a:r>
          </a:p>
          <a:p>
            <a:pPr algn="just">
              <a:lnSpc>
                <a:spcPct val="90000"/>
              </a:lnSpc>
            </a:pPr>
            <a:r>
              <a:rPr lang="en-US" altLang="en-US" sz="2000" dirty="0">
                <a:latin typeface="Times New Roman" panose="02020603050405020304" pitchFamily="18" charset="0"/>
                <a:cs typeface="Times New Roman" panose="02020603050405020304" pitchFamily="18" charset="0"/>
              </a:rPr>
              <a:t>Risks associated with each requirement are identified and analyzed</a:t>
            </a:r>
          </a:p>
          <a:p>
            <a:pPr algn="just">
              <a:lnSpc>
                <a:spcPct val="90000"/>
              </a:lnSpc>
            </a:pPr>
            <a:r>
              <a:rPr lang="en-US" altLang="en-US" sz="2000" dirty="0">
                <a:latin typeface="Times New Roman" panose="02020603050405020304" pitchFamily="18" charset="0"/>
                <a:cs typeface="Times New Roman" panose="02020603050405020304" pitchFamily="18" charset="0"/>
              </a:rPr>
              <a:t>Rough guesses of development effort are made and used to assess the impact of each requirement on project cost and delivery time</a:t>
            </a:r>
          </a:p>
          <a:p>
            <a:pPr algn="just">
              <a:lnSpc>
                <a:spcPct val="90000"/>
              </a:lnSpc>
            </a:pPr>
            <a:r>
              <a:rPr lang="en-US" altLang="en-US" sz="2000" dirty="0">
                <a:latin typeface="Times New Roman" panose="02020603050405020304" pitchFamily="18" charset="0"/>
                <a:cs typeface="Times New Roman" panose="02020603050405020304" pitchFamily="18" charset="0"/>
              </a:rPr>
              <a:t>Using an iterative approach, requirements are eliminated, combined and/or modified so that each party achieves some measure of satisfaction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8D7C8A0-475B-36E4-A368-56A6810290D8}"/>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30</a:t>
            </a:fld>
            <a:endParaRPr lang="en-US" altLang="en-US"/>
          </a:p>
        </p:txBody>
      </p:sp>
      <p:sp>
        <p:nvSpPr>
          <p:cNvPr id="345090" name="Rectangle 2">
            <a:extLst>
              <a:ext uri="{FF2B5EF4-FFF2-40B4-BE49-F238E27FC236}">
                <a16:creationId xmlns:a16="http://schemas.microsoft.com/office/drawing/2014/main" id="{881D570B-2C35-8F29-4570-9A6A5A280A5D}"/>
              </a:ext>
            </a:extLst>
          </p:cNvPr>
          <p:cNvSpPr>
            <a:spLocks noGrp="1" noChangeArrowheads="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The Art of Negotiation</a:t>
            </a:r>
          </a:p>
        </p:txBody>
      </p:sp>
      <p:sp>
        <p:nvSpPr>
          <p:cNvPr id="345091" name="Rectangle 3">
            <a:extLst>
              <a:ext uri="{FF2B5EF4-FFF2-40B4-BE49-F238E27FC236}">
                <a16:creationId xmlns:a16="http://schemas.microsoft.com/office/drawing/2014/main" id="{515AD40E-08F3-E4DA-C7F2-5A8B5915B5E9}"/>
              </a:ext>
            </a:extLst>
          </p:cNvPr>
          <p:cNvSpPr>
            <a:spLocks noGrp="1" noChangeArrowheads="1"/>
          </p:cNvSpPr>
          <p:nvPr>
            <p:ph type="body" idx="1"/>
          </p:nvPr>
        </p:nvSpPr>
        <p:spPr>
          <a:xfrm>
            <a:off x="1207698" y="1699404"/>
            <a:ext cx="8393502" cy="4701396"/>
          </a:xfrm>
        </p:spPr>
        <p:txBody>
          <a:bodyPr/>
          <a:lstStyle/>
          <a:p>
            <a:r>
              <a:rPr lang="en-US" altLang="en-US" sz="2000" dirty="0">
                <a:latin typeface="Times New Roman" panose="02020603050405020304" pitchFamily="18" charset="0"/>
                <a:cs typeface="Times New Roman" panose="02020603050405020304" pitchFamily="18" charset="0"/>
              </a:rPr>
              <a:t>Recognize that it is not competition</a:t>
            </a:r>
          </a:p>
          <a:p>
            <a:r>
              <a:rPr lang="en-US" altLang="en-US" sz="2000" dirty="0">
                <a:latin typeface="Times New Roman" panose="02020603050405020304" pitchFamily="18" charset="0"/>
                <a:cs typeface="Times New Roman" panose="02020603050405020304" pitchFamily="18" charset="0"/>
              </a:rPr>
              <a:t>Map out a strategy</a:t>
            </a:r>
          </a:p>
          <a:p>
            <a:r>
              <a:rPr lang="en-US" altLang="en-US" sz="2000" dirty="0">
                <a:latin typeface="Times New Roman" panose="02020603050405020304" pitchFamily="18" charset="0"/>
                <a:cs typeface="Times New Roman" panose="02020603050405020304" pitchFamily="18" charset="0"/>
              </a:rPr>
              <a:t>Listen actively</a:t>
            </a:r>
          </a:p>
          <a:p>
            <a:r>
              <a:rPr lang="en-US" altLang="en-US" sz="2000" dirty="0">
                <a:latin typeface="Times New Roman" panose="02020603050405020304" pitchFamily="18" charset="0"/>
                <a:cs typeface="Times New Roman" panose="02020603050405020304" pitchFamily="18" charset="0"/>
              </a:rPr>
              <a:t>Focus on the other party’s interests</a:t>
            </a:r>
          </a:p>
          <a:p>
            <a:r>
              <a:rPr lang="en-US" altLang="en-US" sz="2000" dirty="0">
                <a:latin typeface="Times New Roman" panose="02020603050405020304" pitchFamily="18" charset="0"/>
                <a:cs typeface="Times New Roman" panose="02020603050405020304" pitchFamily="18" charset="0"/>
              </a:rPr>
              <a:t>Don’t let it get personal</a:t>
            </a:r>
          </a:p>
          <a:p>
            <a:r>
              <a:rPr lang="en-US" altLang="en-US" sz="2000" dirty="0">
                <a:latin typeface="Times New Roman" panose="02020603050405020304" pitchFamily="18" charset="0"/>
                <a:cs typeface="Times New Roman" panose="02020603050405020304" pitchFamily="18" charset="0"/>
              </a:rPr>
              <a:t>Be creative</a:t>
            </a:r>
          </a:p>
          <a:p>
            <a:r>
              <a:rPr lang="en-US" altLang="en-US" sz="2000" dirty="0">
                <a:latin typeface="Times New Roman" panose="02020603050405020304" pitchFamily="18" charset="0"/>
                <a:cs typeface="Times New Roman" panose="02020603050405020304" pitchFamily="18" charset="0"/>
              </a:rPr>
              <a:t>Be ready to commit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D603707-BF62-D82D-C9D6-5BE1C66ABAAB}"/>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6DB0EDC1-2BC5-479B-8C2B-0BB6D77B9373}" type="slidenum">
              <a:rPr lang="en-US" altLang="en-US" smtClean="0"/>
              <a:pPr/>
              <a:t>31</a:t>
            </a:fld>
            <a:endParaRPr lang="en-US" altLang="en-US"/>
          </a:p>
        </p:txBody>
      </p:sp>
      <p:sp>
        <p:nvSpPr>
          <p:cNvPr id="369666" name="Rectangle 2">
            <a:extLst>
              <a:ext uri="{FF2B5EF4-FFF2-40B4-BE49-F238E27FC236}">
                <a16:creationId xmlns:a16="http://schemas.microsoft.com/office/drawing/2014/main" id="{212535CC-A8CE-87E7-A48D-B536B075D2FE}"/>
              </a:ext>
            </a:extLst>
          </p:cNvPr>
          <p:cNvSpPr>
            <a:spLocks noChangeArrowheads="1"/>
          </p:cNvSpPr>
          <p:nvPr/>
        </p:nvSpPr>
        <p:spPr bwMode="auto">
          <a:xfrm>
            <a:off x="8077200" y="5257800"/>
            <a:ext cx="1371600" cy="5334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Requirements</a:t>
            </a:r>
          </a:p>
          <a:p>
            <a:r>
              <a:rPr lang="en-US" altLang="en-US"/>
              <a:t>Management</a:t>
            </a:r>
          </a:p>
        </p:txBody>
      </p:sp>
      <p:sp>
        <p:nvSpPr>
          <p:cNvPr id="369667" name="Rectangle 3">
            <a:extLst>
              <a:ext uri="{FF2B5EF4-FFF2-40B4-BE49-F238E27FC236}">
                <a16:creationId xmlns:a16="http://schemas.microsoft.com/office/drawing/2014/main" id="{212784B8-8182-A2B1-33F1-89027A9FF597}"/>
              </a:ext>
            </a:extLst>
          </p:cNvPr>
          <p:cNvSpPr>
            <a:spLocks noChangeArrowheads="1"/>
          </p:cNvSpPr>
          <p:nvPr/>
        </p:nvSpPr>
        <p:spPr bwMode="auto">
          <a:xfrm>
            <a:off x="7086600" y="4572000"/>
            <a:ext cx="1371600" cy="4572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Validation</a:t>
            </a:r>
          </a:p>
        </p:txBody>
      </p:sp>
      <p:sp>
        <p:nvSpPr>
          <p:cNvPr id="369668" name="Rectangle 4">
            <a:extLst>
              <a:ext uri="{FF2B5EF4-FFF2-40B4-BE49-F238E27FC236}">
                <a16:creationId xmlns:a16="http://schemas.microsoft.com/office/drawing/2014/main" id="{6129757D-EC82-C849-B720-98FFA78FD83D}"/>
              </a:ext>
            </a:extLst>
          </p:cNvPr>
          <p:cNvSpPr>
            <a:spLocks noChangeArrowheads="1"/>
          </p:cNvSpPr>
          <p:nvPr/>
        </p:nvSpPr>
        <p:spPr bwMode="auto">
          <a:xfrm>
            <a:off x="2209800" y="1143000"/>
            <a:ext cx="1371600" cy="457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Inception</a:t>
            </a:r>
          </a:p>
        </p:txBody>
      </p:sp>
      <p:sp>
        <p:nvSpPr>
          <p:cNvPr id="369669" name="Rectangle 5">
            <a:extLst>
              <a:ext uri="{FF2B5EF4-FFF2-40B4-BE49-F238E27FC236}">
                <a16:creationId xmlns:a16="http://schemas.microsoft.com/office/drawing/2014/main" id="{751A4ADD-06D5-FBE8-1F59-5BC17D0187BB}"/>
              </a:ext>
            </a:extLst>
          </p:cNvPr>
          <p:cNvSpPr>
            <a:spLocks noChangeArrowheads="1"/>
          </p:cNvSpPr>
          <p:nvPr/>
        </p:nvSpPr>
        <p:spPr bwMode="auto">
          <a:xfrm>
            <a:off x="3048000" y="1828800"/>
            <a:ext cx="13716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Elicitation</a:t>
            </a:r>
          </a:p>
        </p:txBody>
      </p:sp>
      <p:sp>
        <p:nvSpPr>
          <p:cNvPr id="369670" name="Rectangle 6">
            <a:extLst>
              <a:ext uri="{FF2B5EF4-FFF2-40B4-BE49-F238E27FC236}">
                <a16:creationId xmlns:a16="http://schemas.microsoft.com/office/drawing/2014/main" id="{78962CDE-244E-3DBC-1438-E958A13D64AC}"/>
              </a:ext>
            </a:extLst>
          </p:cNvPr>
          <p:cNvSpPr>
            <a:spLocks noChangeArrowheads="1"/>
          </p:cNvSpPr>
          <p:nvPr/>
        </p:nvSpPr>
        <p:spPr bwMode="auto">
          <a:xfrm>
            <a:off x="4038600" y="2514600"/>
            <a:ext cx="1371600" cy="457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Elaboration</a:t>
            </a:r>
          </a:p>
        </p:txBody>
      </p:sp>
      <p:sp>
        <p:nvSpPr>
          <p:cNvPr id="369671" name="Rectangle 7">
            <a:extLst>
              <a:ext uri="{FF2B5EF4-FFF2-40B4-BE49-F238E27FC236}">
                <a16:creationId xmlns:a16="http://schemas.microsoft.com/office/drawing/2014/main" id="{27B0DCB8-D36D-D574-3D46-1F8FBA2AD316}"/>
              </a:ext>
            </a:extLst>
          </p:cNvPr>
          <p:cNvSpPr>
            <a:spLocks noChangeArrowheads="1"/>
          </p:cNvSpPr>
          <p:nvPr/>
        </p:nvSpPr>
        <p:spPr bwMode="auto">
          <a:xfrm>
            <a:off x="5029200" y="3200400"/>
            <a:ext cx="13716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Negotiation</a:t>
            </a:r>
          </a:p>
        </p:txBody>
      </p:sp>
      <p:sp>
        <p:nvSpPr>
          <p:cNvPr id="369672" name="Rectangle 8">
            <a:extLst>
              <a:ext uri="{FF2B5EF4-FFF2-40B4-BE49-F238E27FC236}">
                <a16:creationId xmlns:a16="http://schemas.microsoft.com/office/drawing/2014/main" id="{1DFFFD56-ACEA-CC6B-98DA-37DE4EEA23FC}"/>
              </a:ext>
            </a:extLst>
          </p:cNvPr>
          <p:cNvSpPr>
            <a:spLocks noChangeArrowheads="1"/>
          </p:cNvSpPr>
          <p:nvPr/>
        </p:nvSpPr>
        <p:spPr bwMode="auto">
          <a:xfrm>
            <a:off x="6019800" y="3886200"/>
            <a:ext cx="1371600" cy="457200"/>
          </a:xfrm>
          <a:prstGeom prst="rect">
            <a:avLst/>
          </a:prstGeom>
          <a:solidFill>
            <a:srgbClr val="CC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Specification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D365FC5-8E38-5A6F-D6C3-386452918A53}"/>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32</a:t>
            </a:fld>
            <a:endParaRPr lang="en-US" altLang="en-US"/>
          </a:p>
        </p:txBody>
      </p:sp>
      <p:sp>
        <p:nvSpPr>
          <p:cNvPr id="352258" name="Rectangle 2">
            <a:extLst>
              <a:ext uri="{FF2B5EF4-FFF2-40B4-BE49-F238E27FC236}">
                <a16:creationId xmlns:a16="http://schemas.microsoft.com/office/drawing/2014/main" id="{EDB33E70-720C-2BA9-F336-E27DF5CEFE20}"/>
              </a:ext>
            </a:extLst>
          </p:cNvPr>
          <p:cNvSpPr>
            <a:spLocks noGrp="1" noChangeArrowheads="1"/>
          </p:cNvSpPr>
          <p:nvPr>
            <p:ph type="title"/>
          </p:nvPr>
        </p:nvSpPr>
        <p:spPr>
          <a:xfrm>
            <a:off x="1570008" y="228600"/>
            <a:ext cx="9066362" cy="694426"/>
          </a:xfrm>
        </p:spPr>
        <p:txBody>
          <a:bodyPr/>
          <a:lstStyle/>
          <a:p>
            <a:r>
              <a:rPr lang="en-US" altLang="en-US" dirty="0">
                <a:latin typeface="Times New Roman" panose="02020603050405020304" pitchFamily="18" charset="0"/>
                <a:cs typeface="Times New Roman" panose="02020603050405020304" pitchFamily="18" charset="0"/>
              </a:rPr>
              <a:t>Specification Task</a:t>
            </a:r>
          </a:p>
        </p:txBody>
      </p:sp>
      <p:sp>
        <p:nvSpPr>
          <p:cNvPr id="352259" name="Rectangle 3">
            <a:extLst>
              <a:ext uri="{FF2B5EF4-FFF2-40B4-BE49-F238E27FC236}">
                <a16:creationId xmlns:a16="http://schemas.microsoft.com/office/drawing/2014/main" id="{BD93CE91-DB30-369E-14B2-C4A1D0B94509}"/>
              </a:ext>
            </a:extLst>
          </p:cNvPr>
          <p:cNvSpPr>
            <a:spLocks noGrp="1" noChangeArrowheads="1"/>
          </p:cNvSpPr>
          <p:nvPr>
            <p:ph type="body" idx="1"/>
          </p:nvPr>
        </p:nvSpPr>
        <p:spPr>
          <a:xfrm>
            <a:off x="1138687" y="1095555"/>
            <a:ext cx="10023894" cy="4771845"/>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A specification is the final work product produced by the requirements engineer</a:t>
            </a:r>
          </a:p>
          <a:p>
            <a:pPr>
              <a:lnSpc>
                <a:spcPct val="90000"/>
              </a:lnSpc>
            </a:pPr>
            <a:r>
              <a:rPr lang="en-US" altLang="en-US" sz="2000" dirty="0">
                <a:latin typeface="Times New Roman" panose="02020603050405020304" pitchFamily="18" charset="0"/>
                <a:cs typeface="Times New Roman" panose="02020603050405020304" pitchFamily="18" charset="0"/>
              </a:rPr>
              <a:t>It is normally in the form of a software requirements specification</a:t>
            </a:r>
          </a:p>
          <a:p>
            <a:pPr>
              <a:lnSpc>
                <a:spcPct val="90000"/>
              </a:lnSpc>
            </a:pPr>
            <a:r>
              <a:rPr lang="en-US" altLang="en-US" sz="2000" dirty="0">
                <a:latin typeface="Times New Roman" panose="02020603050405020304" pitchFamily="18" charset="0"/>
                <a:cs typeface="Times New Roman" panose="02020603050405020304" pitchFamily="18" charset="0"/>
              </a:rPr>
              <a:t>It serves as the foundation for subsequent software engineering activities</a:t>
            </a:r>
          </a:p>
          <a:p>
            <a:pPr>
              <a:lnSpc>
                <a:spcPct val="90000"/>
              </a:lnSpc>
            </a:pPr>
            <a:r>
              <a:rPr lang="en-US" altLang="en-US" sz="2000" dirty="0">
                <a:latin typeface="Times New Roman" panose="02020603050405020304" pitchFamily="18" charset="0"/>
                <a:cs typeface="Times New Roman" panose="02020603050405020304" pitchFamily="18" charset="0"/>
              </a:rPr>
              <a:t>It describes the function and performance of a computer-based system and the constraints that will govern its development</a:t>
            </a:r>
          </a:p>
          <a:p>
            <a:pPr>
              <a:lnSpc>
                <a:spcPct val="90000"/>
              </a:lnSpc>
            </a:pPr>
            <a:r>
              <a:rPr lang="en-US" altLang="en-US" sz="2000" dirty="0">
                <a:latin typeface="Times New Roman" panose="02020603050405020304" pitchFamily="18" charset="0"/>
                <a:cs typeface="Times New Roman" panose="02020603050405020304" pitchFamily="18" charset="0"/>
              </a:rPr>
              <a:t>It formalizes the </a:t>
            </a:r>
            <a:r>
              <a:rPr lang="en-US" altLang="en-US" sz="2000" u="sng" dirty="0">
                <a:latin typeface="Times New Roman" panose="02020603050405020304" pitchFamily="18" charset="0"/>
                <a:cs typeface="Times New Roman" panose="02020603050405020304" pitchFamily="18" charset="0"/>
              </a:rPr>
              <a:t>informational</a:t>
            </a:r>
            <a:r>
              <a:rPr lang="en-US" altLang="en-US" sz="2000" dirty="0">
                <a:latin typeface="Times New Roman" panose="02020603050405020304" pitchFamily="18" charset="0"/>
                <a:cs typeface="Times New Roman" panose="02020603050405020304" pitchFamily="18" charset="0"/>
              </a:rPr>
              <a:t>, </a:t>
            </a:r>
            <a:r>
              <a:rPr lang="en-US" altLang="en-US" sz="2000" u="sng" dirty="0">
                <a:latin typeface="Times New Roman" panose="02020603050405020304" pitchFamily="18" charset="0"/>
                <a:cs typeface="Times New Roman" panose="02020603050405020304" pitchFamily="18" charset="0"/>
              </a:rPr>
              <a:t>functional</a:t>
            </a:r>
            <a:r>
              <a:rPr lang="en-US" altLang="en-US" sz="2000" dirty="0">
                <a:latin typeface="Times New Roman" panose="02020603050405020304" pitchFamily="18" charset="0"/>
                <a:cs typeface="Times New Roman" panose="02020603050405020304" pitchFamily="18" charset="0"/>
              </a:rPr>
              <a:t>, and </a:t>
            </a:r>
            <a:r>
              <a:rPr lang="en-US" altLang="en-US" sz="2000" u="sng" dirty="0">
                <a:latin typeface="Times New Roman" panose="02020603050405020304" pitchFamily="18" charset="0"/>
                <a:cs typeface="Times New Roman" panose="02020603050405020304" pitchFamily="18" charset="0"/>
              </a:rPr>
              <a:t>behavioral</a:t>
            </a:r>
            <a:r>
              <a:rPr lang="en-US" altLang="en-US" sz="2000" dirty="0">
                <a:latin typeface="Times New Roman" panose="02020603050405020304" pitchFamily="18" charset="0"/>
                <a:cs typeface="Times New Roman" panose="02020603050405020304" pitchFamily="18" charset="0"/>
              </a:rPr>
              <a:t> requirements of the proposed software in both a graphical and textual format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96C1F24-4DFC-47C5-EDF8-7CAE09AFCE28}"/>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33</a:t>
            </a:fld>
            <a:endParaRPr lang="en-US" altLang="en-US"/>
          </a:p>
        </p:txBody>
      </p:sp>
      <p:sp>
        <p:nvSpPr>
          <p:cNvPr id="362498" name="Rectangle 2">
            <a:extLst>
              <a:ext uri="{FF2B5EF4-FFF2-40B4-BE49-F238E27FC236}">
                <a16:creationId xmlns:a16="http://schemas.microsoft.com/office/drawing/2014/main" id="{B6CD478C-E6AF-B452-8D1F-73C820067362}"/>
              </a:ext>
            </a:extLst>
          </p:cNvPr>
          <p:cNvSpPr>
            <a:spLocks noGrp="1" noChangeArrowheads="1"/>
          </p:cNvSpPr>
          <p:nvPr>
            <p:ph type="title"/>
          </p:nvPr>
        </p:nvSpPr>
        <p:spPr>
          <a:xfrm>
            <a:off x="267419" y="304800"/>
            <a:ext cx="10895162" cy="1143000"/>
          </a:xfrm>
        </p:spPr>
        <p:txBody>
          <a:bodyPr/>
          <a:lstStyle/>
          <a:p>
            <a:r>
              <a:rPr lang="en-US" altLang="en-US" dirty="0">
                <a:latin typeface="Times New Roman" panose="02020603050405020304" pitchFamily="18" charset="0"/>
                <a:cs typeface="Times New Roman" panose="02020603050405020304" pitchFamily="18" charset="0"/>
              </a:rPr>
              <a:t>Typical Contents of a Software Requirements Specification</a:t>
            </a:r>
          </a:p>
        </p:txBody>
      </p:sp>
      <p:sp>
        <p:nvSpPr>
          <p:cNvPr id="362499" name="Rectangle 3">
            <a:extLst>
              <a:ext uri="{FF2B5EF4-FFF2-40B4-BE49-F238E27FC236}">
                <a16:creationId xmlns:a16="http://schemas.microsoft.com/office/drawing/2014/main" id="{5C9728B0-5A8D-7EAB-A945-6139DB8C8F7C}"/>
              </a:ext>
            </a:extLst>
          </p:cNvPr>
          <p:cNvSpPr>
            <a:spLocks noGrp="1" noChangeArrowheads="1"/>
          </p:cNvSpPr>
          <p:nvPr>
            <p:ph type="body" idx="1"/>
          </p:nvPr>
        </p:nvSpPr>
        <p:spPr/>
        <p:txBody>
          <a:bodyPr/>
          <a:lstStyle/>
          <a:p>
            <a:pPr>
              <a:lnSpc>
                <a:spcPct val="80000"/>
              </a:lnSpc>
            </a:pPr>
            <a:r>
              <a:rPr lang="en-US" altLang="en-US" sz="2000" dirty="0">
                <a:latin typeface="Times New Roman" panose="02020603050405020304" pitchFamily="18" charset="0"/>
                <a:cs typeface="Times New Roman" panose="02020603050405020304" pitchFamily="18" charset="0"/>
              </a:rPr>
              <a:t>Requirements</a:t>
            </a:r>
          </a:p>
          <a:p>
            <a:pPr lvl="1">
              <a:lnSpc>
                <a:spcPct val="80000"/>
              </a:lnSpc>
            </a:pPr>
            <a:r>
              <a:rPr lang="en-US" altLang="en-US" sz="2000" dirty="0">
                <a:latin typeface="Times New Roman" panose="02020603050405020304" pitchFamily="18" charset="0"/>
                <a:cs typeface="Times New Roman" panose="02020603050405020304" pitchFamily="18" charset="0"/>
              </a:rPr>
              <a:t>Required states and modes</a:t>
            </a:r>
          </a:p>
          <a:p>
            <a:pPr lvl="1">
              <a:lnSpc>
                <a:spcPct val="80000"/>
              </a:lnSpc>
            </a:pPr>
            <a:r>
              <a:rPr lang="en-US" altLang="en-US" sz="2000" dirty="0">
                <a:latin typeface="Times New Roman" panose="02020603050405020304" pitchFamily="18" charset="0"/>
                <a:cs typeface="Times New Roman" panose="02020603050405020304" pitchFamily="18" charset="0"/>
              </a:rPr>
              <a:t>Software requirements grouped by capabilities (i.e., functions, objects)</a:t>
            </a:r>
          </a:p>
          <a:p>
            <a:pPr lvl="1">
              <a:lnSpc>
                <a:spcPct val="80000"/>
              </a:lnSpc>
            </a:pPr>
            <a:r>
              <a:rPr lang="en-US" altLang="en-US" sz="2000" dirty="0">
                <a:latin typeface="Times New Roman" panose="02020603050405020304" pitchFamily="18" charset="0"/>
                <a:cs typeface="Times New Roman" panose="02020603050405020304" pitchFamily="18" charset="0"/>
              </a:rPr>
              <a:t>Software external interface requirements</a:t>
            </a:r>
          </a:p>
          <a:p>
            <a:pPr lvl="1">
              <a:lnSpc>
                <a:spcPct val="80000"/>
              </a:lnSpc>
            </a:pPr>
            <a:r>
              <a:rPr lang="en-US" altLang="en-US" sz="2000" dirty="0">
                <a:latin typeface="Times New Roman" panose="02020603050405020304" pitchFamily="18" charset="0"/>
                <a:cs typeface="Times New Roman" panose="02020603050405020304" pitchFamily="18" charset="0"/>
              </a:rPr>
              <a:t>Software internal interface requirements</a:t>
            </a:r>
          </a:p>
          <a:p>
            <a:pPr lvl="1">
              <a:lnSpc>
                <a:spcPct val="80000"/>
              </a:lnSpc>
            </a:pPr>
            <a:r>
              <a:rPr lang="en-US" altLang="en-US" sz="2000" dirty="0">
                <a:latin typeface="Times New Roman" panose="02020603050405020304" pitchFamily="18" charset="0"/>
                <a:cs typeface="Times New Roman" panose="02020603050405020304" pitchFamily="18" charset="0"/>
              </a:rPr>
              <a:t>Software internal data requirements</a:t>
            </a:r>
          </a:p>
          <a:p>
            <a:pPr lvl="1">
              <a:lnSpc>
                <a:spcPct val="80000"/>
              </a:lnSpc>
            </a:pPr>
            <a:r>
              <a:rPr lang="en-US" altLang="en-US" sz="2000" dirty="0">
                <a:latin typeface="Times New Roman" panose="02020603050405020304" pitchFamily="18" charset="0"/>
                <a:cs typeface="Times New Roman" panose="02020603050405020304" pitchFamily="18" charset="0"/>
              </a:rPr>
              <a:t>Other software requirements (safety, security, privacy, environment, hardware, software, communications, quality, personnel, training, logistics, etc.)</a:t>
            </a:r>
          </a:p>
          <a:p>
            <a:pPr lvl="1">
              <a:lnSpc>
                <a:spcPct val="80000"/>
              </a:lnSpc>
            </a:pPr>
            <a:r>
              <a:rPr lang="en-US" altLang="en-US" sz="2000" dirty="0">
                <a:latin typeface="Times New Roman" panose="02020603050405020304" pitchFamily="18" charset="0"/>
                <a:cs typeface="Times New Roman" panose="02020603050405020304" pitchFamily="18" charset="0"/>
              </a:rPr>
              <a:t>Design and implementation constraints</a:t>
            </a:r>
          </a:p>
          <a:p>
            <a:pPr>
              <a:lnSpc>
                <a:spcPct val="80000"/>
              </a:lnSpc>
            </a:pPr>
            <a:r>
              <a:rPr lang="en-US" altLang="en-US" sz="2000" dirty="0">
                <a:latin typeface="Times New Roman" panose="02020603050405020304" pitchFamily="18" charset="0"/>
                <a:cs typeface="Times New Roman" panose="02020603050405020304" pitchFamily="18" charset="0"/>
              </a:rPr>
              <a:t>Qualification provisions to ensure each requirement has been met</a:t>
            </a:r>
          </a:p>
          <a:p>
            <a:pPr lvl="1">
              <a:lnSpc>
                <a:spcPct val="80000"/>
              </a:lnSpc>
            </a:pPr>
            <a:r>
              <a:rPr lang="en-US" altLang="en-US" sz="2000" dirty="0">
                <a:latin typeface="Times New Roman" panose="02020603050405020304" pitchFamily="18" charset="0"/>
                <a:cs typeface="Times New Roman" panose="02020603050405020304" pitchFamily="18" charset="0"/>
              </a:rPr>
              <a:t>Demonstration, test, analysis, inspection, etc.</a:t>
            </a:r>
          </a:p>
          <a:p>
            <a:pPr>
              <a:lnSpc>
                <a:spcPct val="80000"/>
              </a:lnSpc>
            </a:pPr>
            <a:r>
              <a:rPr lang="en-US" altLang="en-US" sz="2000" dirty="0">
                <a:latin typeface="Times New Roman" panose="02020603050405020304" pitchFamily="18" charset="0"/>
                <a:cs typeface="Times New Roman" panose="02020603050405020304" pitchFamily="18" charset="0"/>
              </a:rPr>
              <a:t>Requirements traceability</a:t>
            </a:r>
          </a:p>
          <a:p>
            <a:pPr lvl="1">
              <a:lnSpc>
                <a:spcPct val="80000"/>
              </a:lnSpc>
            </a:pPr>
            <a:r>
              <a:rPr lang="en-US" altLang="en-US" sz="2000" dirty="0">
                <a:latin typeface="Times New Roman" panose="02020603050405020304" pitchFamily="18" charset="0"/>
                <a:cs typeface="Times New Roman" panose="02020603050405020304" pitchFamily="18" charset="0"/>
              </a:rPr>
              <a:t>Trace back to the system or subsystem where each requirement applies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0993AF62-816F-0380-A8C3-1B9D1BF9BCAB}"/>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6DB0EDC1-2BC5-479B-8C2B-0BB6D77B9373}" type="slidenum">
              <a:rPr lang="en-US" altLang="en-US" smtClean="0"/>
              <a:pPr/>
              <a:t>34</a:t>
            </a:fld>
            <a:endParaRPr lang="en-US" altLang="en-US"/>
          </a:p>
        </p:txBody>
      </p:sp>
      <p:sp>
        <p:nvSpPr>
          <p:cNvPr id="370690" name="Rectangle 2">
            <a:extLst>
              <a:ext uri="{FF2B5EF4-FFF2-40B4-BE49-F238E27FC236}">
                <a16:creationId xmlns:a16="http://schemas.microsoft.com/office/drawing/2014/main" id="{538EE36C-2AA3-2AED-2B16-6B7156B83F94}"/>
              </a:ext>
            </a:extLst>
          </p:cNvPr>
          <p:cNvSpPr>
            <a:spLocks noChangeArrowheads="1"/>
          </p:cNvSpPr>
          <p:nvPr/>
        </p:nvSpPr>
        <p:spPr bwMode="auto">
          <a:xfrm>
            <a:off x="8077200" y="5257800"/>
            <a:ext cx="1371600" cy="5334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Requirements</a:t>
            </a:r>
          </a:p>
          <a:p>
            <a:r>
              <a:rPr lang="en-US" altLang="en-US"/>
              <a:t>Management</a:t>
            </a:r>
          </a:p>
        </p:txBody>
      </p:sp>
      <p:sp>
        <p:nvSpPr>
          <p:cNvPr id="370691" name="Rectangle 3">
            <a:extLst>
              <a:ext uri="{FF2B5EF4-FFF2-40B4-BE49-F238E27FC236}">
                <a16:creationId xmlns:a16="http://schemas.microsoft.com/office/drawing/2014/main" id="{11E1DC18-0B83-26A8-FBD9-54FA4412326E}"/>
              </a:ext>
            </a:extLst>
          </p:cNvPr>
          <p:cNvSpPr>
            <a:spLocks noChangeArrowheads="1"/>
          </p:cNvSpPr>
          <p:nvPr/>
        </p:nvSpPr>
        <p:spPr bwMode="auto">
          <a:xfrm>
            <a:off x="7086600" y="4572000"/>
            <a:ext cx="1371600" cy="457200"/>
          </a:xfrm>
          <a:prstGeom prst="rect">
            <a:avLst/>
          </a:prstGeom>
          <a:solidFill>
            <a:srgbClr val="99CC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Validation</a:t>
            </a:r>
          </a:p>
        </p:txBody>
      </p:sp>
      <p:sp>
        <p:nvSpPr>
          <p:cNvPr id="370692" name="Rectangle 4">
            <a:extLst>
              <a:ext uri="{FF2B5EF4-FFF2-40B4-BE49-F238E27FC236}">
                <a16:creationId xmlns:a16="http://schemas.microsoft.com/office/drawing/2014/main" id="{0D195A73-46C5-FDA1-E932-D41C25530028}"/>
              </a:ext>
            </a:extLst>
          </p:cNvPr>
          <p:cNvSpPr>
            <a:spLocks noChangeArrowheads="1"/>
          </p:cNvSpPr>
          <p:nvPr/>
        </p:nvSpPr>
        <p:spPr bwMode="auto">
          <a:xfrm>
            <a:off x="2209800" y="1143000"/>
            <a:ext cx="1371600" cy="457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Inception</a:t>
            </a:r>
          </a:p>
        </p:txBody>
      </p:sp>
      <p:sp>
        <p:nvSpPr>
          <p:cNvPr id="370693" name="Rectangle 5">
            <a:extLst>
              <a:ext uri="{FF2B5EF4-FFF2-40B4-BE49-F238E27FC236}">
                <a16:creationId xmlns:a16="http://schemas.microsoft.com/office/drawing/2014/main" id="{54FC7244-5032-D63B-7F3C-A835A092B6F8}"/>
              </a:ext>
            </a:extLst>
          </p:cNvPr>
          <p:cNvSpPr>
            <a:spLocks noChangeArrowheads="1"/>
          </p:cNvSpPr>
          <p:nvPr/>
        </p:nvSpPr>
        <p:spPr bwMode="auto">
          <a:xfrm>
            <a:off x="3048000" y="1828800"/>
            <a:ext cx="13716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Elicitation</a:t>
            </a:r>
          </a:p>
        </p:txBody>
      </p:sp>
      <p:sp>
        <p:nvSpPr>
          <p:cNvPr id="370694" name="Rectangle 6">
            <a:extLst>
              <a:ext uri="{FF2B5EF4-FFF2-40B4-BE49-F238E27FC236}">
                <a16:creationId xmlns:a16="http://schemas.microsoft.com/office/drawing/2014/main" id="{F61F88CE-85CA-35B7-C415-5A84CF51EE66}"/>
              </a:ext>
            </a:extLst>
          </p:cNvPr>
          <p:cNvSpPr>
            <a:spLocks noChangeArrowheads="1"/>
          </p:cNvSpPr>
          <p:nvPr/>
        </p:nvSpPr>
        <p:spPr bwMode="auto">
          <a:xfrm>
            <a:off x="4038600" y="2514600"/>
            <a:ext cx="1371600" cy="457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Elaboration</a:t>
            </a:r>
          </a:p>
        </p:txBody>
      </p:sp>
      <p:sp>
        <p:nvSpPr>
          <p:cNvPr id="370695" name="Rectangle 7">
            <a:extLst>
              <a:ext uri="{FF2B5EF4-FFF2-40B4-BE49-F238E27FC236}">
                <a16:creationId xmlns:a16="http://schemas.microsoft.com/office/drawing/2014/main" id="{A11B401A-12A8-D284-BC0A-F40145373B56}"/>
              </a:ext>
            </a:extLst>
          </p:cNvPr>
          <p:cNvSpPr>
            <a:spLocks noChangeArrowheads="1"/>
          </p:cNvSpPr>
          <p:nvPr/>
        </p:nvSpPr>
        <p:spPr bwMode="auto">
          <a:xfrm>
            <a:off x="5029200" y="3200400"/>
            <a:ext cx="13716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Negotiation</a:t>
            </a:r>
          </a:p>
        </p:txBody>
      </p:sp>
      <p:sp>
        <p:nvSpPr>
          <p:cNvPr id="370696" name="Rectangle 8">
            <a:extLst>
              <a:ext uri="{FF2B5EF4-FFF2-40B4-BE49-F238E27FC236}">
                <a16:creationId xmlns:a16="http://schemas.microsoft.com/office/drawing/2014/main" id="{0D0FB804-6D8D-2B70-79F4-B30869239F41}"/>
              </a:ext>
            </a:extLst>
          </p:cNvPr>
          <p:cNvSpPr>
            <a:spLocks noChangeArrowheads="1"/>
          </p:cNvSpPr>
          <p:nvPr/>
        </p:nvSpPr>
        <p:spPr bwMode="auto">
          <a:xfrm>
            <a:off x="6019800" y="3886200"/>
            <a:ext cx="13716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Specification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A499803-38B5-B7BA-B369-37F96B9F951E}"/>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35</a:t>
            </a:fld>
            <a:endParaRPr lang="en-US" altLang="en-US"/>
          </a:p>
        </p:txBody>
      </p:sp>
      <p:sp>
        <p:nvSpPr>
          <p:cNvPr id="353282" name="Rectangle 2">
            <a:extLst>
              <a:ext uri="{FF2B5EF4-FFF2-40B4-BE49-F238E27FC236}">
                <a16:creationId xmlns:a16="http://schemas.microsoft.com/office/drawing/2014/main" id="{793D39E2-CC23-EAFF-6272-EA63FA1D9F59}"/>
              </a:ext>
            </a:extLst>
          </p:cNvPr>
          <p:cNvSpPr>
            <a:spLocks noGrp="1" noChangeArrowheads="1"/>
          </p:cNvSpPr>
          <p:nvPr>
            <p:ph type="title"/>
          </p:nvPr>
        </p:nvSpPr>
        <p:spPr>
          <a:xfrm>
            <a:off x="776377" y="228600"/>
            <a:ext cx="9205823" cy="1143000"/>
          </a:xfrm>
        </p:spPr>
        <p:txBody>
          <a:bodyPr/>
          <a:lstStyle/>
          <a:p>
            <a:r>
              <a:rPr lang="en-US" altLang="en-US" dirty="0">
                <a:latin typeface="Times New Roman" panose="02020603050405020304" pitchFamily="18" charset="0"/>
                <a:cs typeface="Times New Roman" panose="02020603050405020304" pitchFamily="18" charset="0"/>
              </a:rPr>
              <a:t>Validation Task</a:t>
            </a:r>
          </a:p>
        </p:txBody>
      </p:sp>
      <p:sp>
        <p:nvSpPr>
          <p:cNvPr id="353283" name="Rectangle 3">
            <a:extLst>
              <a:ext uri="{FF2B5EF4-FFF2-40B4-BE49-F238E27FC236}">
                <a16:creationId xmlns:a16="http://schemas.microsoft.com/office/drawing/2014/main" id="{34F27472-AB0F-951A-3643-3F1908FB82A0}"/>
              </a:ext>
            </a:extLst>
          </p:cNvPr>
          <p:cNvSpPr>
            <a:spLocks noGrp="1" noChangeArrowheads="1"/>
          </p:cNvSpPr>
          <p:nvPr>
            <p:ph type="body" idx="1"/>
          </p:nvPr>
        </p:nvSpPr>
        <p:spPr>
          <a:xfrm>
            <a:off x="672859" y="1475117"/>
            <a:ext cx="10532853" cy="4316083"/>
          </a:xfrm>
        </p:spPr>
        <p:txBody>
          <a:bodyPr/>
          <a:lstStyle/>
          <a:p>
            <a:pPr>
              <a:lnSpc>
                <a:spcPct val="90000"/>
              </a:lnSpc>
            </a:pPr>
            <a:r>
              <a:rPr lang="en-US" altLang="en-US" sz="2000" dirty="0">
                <a:latin typeface="Times New Roman" panose="02020603050405020304" pitchFamily="18" charset="0"/>
                <a:cs typeface="Times New Roman" panose="02020603050405020304" pitchFamily="18" charset="0"/>
              </a:rPr>
              <a:t>During validation, the work products produced as a result of requirements engineering are assessed for quality</a:t>
            </a:r>
          </a:p>
          <a:p>
            <a:pPr>
              <a:lnSpc>
                <a:spcPct val="90000"/>
              </a:lnSpc>
            </a:pPr>
            <a:r>
              <a:rPr lang="en-US" altLang="en-US" sz="2000" dirty="0">
                <a:latin typeface="Times New Roman" panose="02020603050405020304" pitchFamily="18" charset="0"/>
                <a:cs typeface="Times New Roman" panose="02020603050405020304" pitchFamily="18" charset="0"/>
              </a:rPr>
              <a:t>The specification is examined to ensure that</a:t>
            </a:r>
          </a:p>
          <a:p>
            <a:pPr lvl="1">
              <a:lnSpc>
                <a:spcPct val="90000"/>
              </a:lnSpc>
            </a:pPr>
            <a:r>
              <a:rPr lang="en-US" altLang="en-US" sz="2000" dirty="0">
                <a:latin typeface="Times New Roman" panose="02020603050405020304" pitchFamily="18" charset="0"/>
                <a:cs typeface="Times New Roman" panose="02020603050405020304" pitchFamily="18" charset="0"/>
              </a:rPr>
              <a:t>all software requirements have been stated unambiguously</a:t>
            </a:r>
          </a:p>
          <a:p>
            <a:pPr lvl="1">
              <a:lnSpc>
                <a:spcPct val="90000"/>
              </a:lnSpc>
            </a:pPr>
            <a:r>
              <a:rPr lang="en-US" altLang="en-US" sz="2000" dirty="0">
                <a:latin typeface="Times New Roman" panose="02020603050405020304" pitchFamily="18" charset="0"/>
                <a:cs typeface="Times New Roman" panose="02020603050405020304" pitchFamily="18" charset="0"/>
              </a:rPr>
              <a:t>inconsistencies, omissions, and errors have been detected and corrected</a:t>
            </a:r>
          </a:p>
          <a:p>
            <a:pPr lvl="1">
              <a:lnSpc>
                <a:spcPct val="90000"/>
              </a:lnSpc>
            </a:pPr>
            <a:r>
              <a:rPr lang="en-US" altLang="en-US" sz="2000" dirty="0">
                <a:latin typeface="Times New Roman" panose="02020603050405020304" pitchFamily="18" charset="0"/>
                <a:cs typeface="Times New Roman" panose="02020603050405020304" pitchFamily="18" charset="0"/>
              </a:rPr>
              <a:t>the work products conform to the standards established for the process, the project, and the product</a:t>
            </a:r>
          </a:p>
          <a:p>
            <a:pPr>
              <a:lnSpc>
                <a:spcPct val="90000"/>
              </a:lnSpc>
            </a:pPr>
            <a:r>
              <a:rPr lang="en-US" altLang="en-US" sz="2000" dirty="0">
                <a:latin typeface="Times New Roman" panose="02020603050405020304" pitchFamily="18" charset="0"/>
                <a:cs typeface="Times New Roman" panose="02020603050405020304" pitchFamily="18" charset="0"/>
              </a:rPr>
              <a:t>The formal technical review serves as the primary requirements validation mechanism</a:t>
            </a:r>
          </a:p>
          <a:p>
            <a:pPr lvl="1">
              <a:lnSpc>
                <a:spcPct val="90000"/>
              </a:lnSpc>
            </a:pPr>
            <a:r>
              <a:rPr lang="en-US" altLang="en-US" sz="2000" dirty="0">
                <a:latin typeface="Times New Roman" panose="02020603050405020304" pitchFamily="18" charset="0"/>
                <a:cs typeface="Times New Roman" panose="02020603050405020304" pitchFamily="18" charset="0"/>
              </a:rPr>
              <a:t>Members include software engineers, customers, users, and other stakeholders</a:t>
            </a:r>
          </a:p>
          <a:p>
            <a:pPr lvl="1">
              <a:lnSpc>
                <a:spcPct val="90000"/>
              </a:lnSpc>
              <a:buFontTx/>
              <a:buNone/>
            </a:pPr>
            <a:endParaRPr lang="en-US" alt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AC3EEC5-15E8-1F00-B25A-6FB9E80EC7C4}"/>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36</a:t>
            </a:fld>
            <a:endParaRPr lang="en-US" altLang="en-US"/>
          </a:p>
        </p:txBody>
      </p:sp>
      <p:sp>
        <p:nvSpPr>
          <p:cNvPr id="346114" name="Rectangle 2">
            <a:extLst>
              <a:ext uri="{FF2B5EF4-FFF2-40B4-BE49-F238E27FC236}">
                <a16:creationId xmlns:a16="http://schemas.microsoft.com/office/drawing/2014/main" id="{79C62D85-7E66-7F36-2419-53502EB9C114}"/>
              </a:ext>
            </a:extLst>
          </p:cNvPr>
          <p:cNvSpPr>
            <a:spLocks noGrp="1" noChangeArrowheads="1"/>
          </p:cNvSpPr>
          <p:nvPr>
            <p:ph type="title"/>
          </p:nvPr>
        </p:nvSpPr>
        <p:spPr>
          <a:xfrm>
            <a:off x="810883" y="152400"/>
            <a:ext cx="9463177" cy="1143000"/>
          </a:xfrm>
        </p:spPr>
        <p:txBody>
          <a:bodyPr/>
          <a:lstStyle/>
          <a:p>
            <a:r>
              <a:rPr lang="en-US" altLang="en-US" dirty="0">
                <a:latin typeface="Times New Roman" panose="02020603050405020304" pitchFamily="18" charset="0"/>
                <a:cs typeface="Times New Roman" panose="02020603050405020304" pitchFamily="18" charset="0"/>
              </a:rPr>
              <a:t>Questions to ask when Validating Requirements</a:t>
            </a:r>
          </a:p>
        </p:txBody>
      </p:sp>
      <p:sp>
        <p:nvSpPr>
          <p:cNvPr id="346115" name="Rectangle 3">
            <a:extLst>
              <a:ext uri="{FF2B5EF4-FFF2-40B4-BE49-F238E27FC236}">
                <a16:creationId xmlns:a16="http://schemas.microsoft.com/office/drawing/2014/main" id="{D237B429-42FE-36B8-8841-30F70F2A5661}"/>
              </a:ext>
            </a:extLst>
          </p:cNvPr>
          <p:cNvSpPr>
            <a:spLocks noGrp="1" noChangeArrowheads="1"/>
          </p:cNvSpPr>
          <p:nvPr>
            <p:ph type="body" idx="1"/>
          </p:nvPr>
        </p:nvSpPr>
        <p:spPr>
          <a:xfrm>
            <a:off x="621101" y="1587260"/>
            <a:ext cx="10748513" cy="4280140"/>
          </a:xfrm>
        </p:spPr>
        <p:txBody>
          <a:bodyPr/>
          <a:lstStyle/>
          <a:p>
            <a:pPr>
              <a:lnSpc>
                <a:spcPct val="80000"/>
              </a:lnSpc>
            </a:pPr>
            <a:r>
              <a:rPr lang="en-US" altLang="en-US" sz="2000" dirty="0">
                <a:latin typeface="Times New Roman" panose="02020603050405020304" pitchFamily="18" charset="0"/>
                <a:cs typeface="Times New Roman" panose="02020603050405020304" pitchFamily="18" charset="0"/>
              </a:rPr>
              <a:t>Is each requirement consistent with the overall objective for the system/product?</a:t>
            </a:r>
          </a:p>
          <a:p>
            <a:pPr>
              <a:lnSpc>
                <a:spcPct val="80000"/>
              </a:lnSpc>
            </a:pPr>
            <a:r>
              <a:rPr lang="en-US" altLang="en-US" sz="2000" dirty="0">
                <a:latin typeface="Times New Roman" panose="02020603050405020304" pitchFamily="18" charset="0"/>
                <a:cs typeface="Times New Roman" panose="02020603050405020304" pitchFamily="18" charset="0"/>
              </a:rPr>
              <a:t>Have all requirements been specified at the proper level of abstraction? That is, do some requirements provide a level of technical detail that is inappropriate at this stage?</a:t>
            </a:r>
          </a:p>
          <a:p>
            <a:pPr>
              <a:lnSpc>
                <a:spcPct val="80000"/>
              </a:lnSpc>
            </a:pPr>
            <a:r>
              <a:rPr lang="en-US" altLang="en-US" sz="2000" dirty="0">
                <a:latin typeface="Times New Roman" panose="02020603050405020304" pitchFamily="18" charset="0"/>
                <a:cs typeface="Times New Roman" panose="02020603050405020304" pitchFamily="18" charset="0"/>
              </a:rPr>
              <a:t>Is the requirement really necessary or does it represent an add-on feature that may not be essential to the objective of the system?</a:t>
            </a:r>
          </a:p>
          <a:p>
            <a:pPr>
              <a:lnSpc>
                <a:spcPct val="80000"/>
              </a:lnSpc>
            </a:pPr>
            <a:r>
              <a:rPr lang="en-US" altLang="en-US" sz="2000" dirty="0">
                <a:latin typeface="Times New Roman" panose="02020603050405020304" pitchFamily="18" charset="0"/>
                <a:cs typeface="Times New Roman" panose="02020603050405020304" pitchFamily="18" charset="0"/>
              </a:rPr>
              <a:t>Is each requirement bounded and unambiguous?</a:t>
            </a:r>
          </a:p>
          <a:p>
            <a:pPr>
              <a:lnSpc>
                <a:spcPct val="80000"/>
              </a:lnSpc>
            </a:pPr>
            <a:r>
              <a:rPr lang="en-US" altLang="en-US" sz="2000" dirty="0">
                <a:latin typeface="Times New Roman" panose="02020603050405020304" pitchFamily="18" charset="0"/>
                <a:cs typeface="Times New Roman" panose="02020603050405020304" pitchFamily="18" charset="0"/>
              </a:rPr>
              <a:t>Does each requirement have attribution? That is, is a source (generally, a specific individual) noted for each requirement?</a:t>
            </a:r>
          </a:p>
        </p:txBody>
      </p:sp>
      <p:sp>
        <p:nvSpPr>
          <p:cNvPr id="346116" name="Text Box 4">
            <a:extLst>
              <a:ext uri="{FF2B5EF4-FFF2-40B4-BE49-F238E27FC236}">
                <a16:creationId xmlns:a16="http://schemas.microsoft.com/office/drawing/2014/main" id="{1EEBAD81-4402-5CE0-25A5-A2D15548E1C6}"/>
              </a:ext>
            </a:extLst>
          </p:cNvPr>
          <p:cNvSpPr txBox="1">
            <a:spLocks noChangeArrowheads="1"/>
          </p:cNvSpPr>
          <p:nvPr/>
        </p:nvSpPr>
        <p:spPr bwMode="auto">
          <a:xfrm>
            <a:off x="4953000" y="6248400"/>
            <a:ext cx="24481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(more on next slide)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152A635-8905-7024-AB32-37029150DB56}"/>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37</a:t>
            </a:fld>
            <a:endParaRPr lang="en-US" altLang="en-US"/>
          </a:p>
        </p:txBody>
      </p:sp>
      <p:sp>
        <p:nvSpPr>
          <p:cNvPr id="348162" name="Rectangle 2">
            <a:extLst>
              <a:ext uri="{FF2B5EF4-FFF2-40B4-BE49-F238E27FC236}">
                <a16:creationId xmlns:a16="http://schemas.microsoft.com/office/drawing/2014/main" id="{2D4025D6-55E6-7B62-CACD-E322B72776DB}"/>
              </a:ext>
            </a:extLst>
          </p:cNvPr>
          <p:cNvSpPr>
            <a:spLocks noGrp="1" noChangeArrowheads="1"/>
          </p:cNvSpPr>
          <p:nvPr>
            <p:ph type="title"/>
          </p:nvPr>
        </p:nvSpPr>
        <p:spPr>
          <a:xfrm>
            <a:off x="672860" y="304800"/>
            <a:ext cx="9920378" cy="1143000"/>
          </a:xfrm>
        </p:spPr>
        <p:txBody>
          <a:bodyPr/>
          <a:lstStyle/>
          <a:p>
            <a:r>
              <a:rPr lang="en-US" altLang="en-US" dirty="0">
                <a:latin typeface="Times New Roman" panose="02020603050405020304" pitchFamily="18" charset="0"/>
                <a:cs typeface="Times New Roman" panose="02020603050405020304" pitchFamily="18" charset="0"/>
              </a:rPr>
              <a:t>Questions to ask when Validating Requirements (continued)</a:t>
            </a:r>
          </a:p>
        </p:txBody>
      </p:sp>
      <p:sp>
        <p:nvSpPr>
          <p:cNvPr id="348163" name="Rectangle 3">
            <a:extLst>
              <a:ext uri="{FF2B5EF4-FFF2-40B4-BE49-F238E27FC236}">
                <a16:creationId xmlns:a16="http://schemas.microsoft.com/office/drawing/2014/main" id="{3B7ED9C7-1482-560C-8A97-79A853E8E042}"/>
              </a:ext>
            </a:extLst>
          </p:cNvPr>
          <p:cNvSpPr>
            <a:spLocks noGrp="1" noChangeArrowheads="1"/>
          </p:cNvSpPr>
          <p:nvPr>
            <p:ph type="body" idx="1"/>
          </p:nvPr>
        </p:nvSpPr>
        <p:spPr/>
        <p:txBody>
          <a:bodyPr/>
          <a:lstStyle/>
          <a:p>
            <a:pPr>
              <a:lnSpc>
                <a:spcPct val="80000"/>
              </a:lnSpc>
            </a:pPr>
            <a:r>
              <a:rPr lang="en-US" altLang="en-US" sz="2000" dirty="0">
                <a:latin typeface="Times New Roman" panose="02020603050405020304" pitchFamily="18" charset="0"/>
                <a:cs typeface="Times New Roman" panose="02020603050405020304" pitchFamily="18" charset="0"/>
              </a:rPr>
              <a:t>Do any requirements conflict with other requirements?</a:t>
            </a:r>
          </a:p>
          <a:p>
            <a:pPr>
              <a:lnSpc>
                <a:spcPct val="80000"/>
              </a:lnSpc>
            </a:pPr>
            <a:r>
              <a:rPr lang="en-US" altLang="en-US" sz="2000" dirty="0">
                <a:latin typeface="Times New Roman" panose="02020603050405020304" pitchFamily="18" charset="0"/>
                <a:cs typeface="Times New Roman" panose="02020603050405020304" pitchFamily="18" charset="0"/>
              </a:rPr>
              <a:t>Is each requirement achievable in the technical environment that will house the system or product?</a:t>
            </a:r>
          </a:p>
          <a:p>
            <a:pPr>
              <a:lnSpc>
                <a:spcPct val="80000"/>
              </a:lnSpc>
            </a:pPr>
            <a:r>
              <a:rPr lang="en-US" altLang="en-US" sz="2000" dirty="0">
                <a:latin typeface="Times New Roman" panose="02020603050405020304" pitchFamily="18" charset="0"/>
                <a:cs typeface="Times New Roman" panose="02020603050405020304" pitchFamily="18" charset="0"/>
              </a:rPr>
              <a:t>Is each requirement testable, once implemented?</a:t>
            </a:r>
          </a:p>
          <a:p>
            <a:pPr lvl="1">
              <a:lnSpc>
                <a:spcPct val="80000"/>
              </a:lnSpc>
            </a:pPr>
            <a:r>
              <a:rPr lang="en-US" altLang="en-US" sz="2000" dirty="0">
                <a:latin typeface="Times New Roman" panose="02020603050405020304" pitchFamily="18" charset="0"/>
                <a:cs typeface="Times New Roman" panose="02020603050405020304" pitchFamily="18" charset="0"/>
              </a:rPr>
              <a:t>Approaches: Demonstration, actual test, analysis, or inspection</a:t>
            </a:r>
          </a:p>
          <a:p>
            <a:pPr>
              <a:lnSpc>
                <a:spcPct val="80000"/>
              </a:lnSpc>
            </a:pPr>
            <a:r>
              <a:rPr lang="en-US" altLang="en-US" sz="2000" dirty="0">
                <a:latin typeface="Times New Roman" panose="02020603050405020304" pitchFamily="18" charset="0"/>
                <a:cs typeface="Times New Roman" panose="02020603050405020304" pitchFamily="18" charset="0"/>
              </a:rPr>
              <a:t>Does the requirements model properly reflect the information, function, and behavior of the system to be built?</a:t>
            </a:r>
          </a:p>
          <a:p>
            <a:pPr>
              <a:lnSpc>
                <a:spcPct val="80000"/>
              </a:lnSpc>
            </a:pPr>
            <a:r>
              <a:rPr lang="en-US" altLang="en-US" sz="2000" dirty="0">
                <a:latin typeface="Times New Roman" panose="02020603050405020304" pitchFamily="18" charset="0"/>
                <a:cs typeface="Times New Roman" panose="02020603050405020304" pitchFamily="18" charset="0"/>
              </a:rPr>
              <a:t>Has the requirements model been “partitioned” in a way that exposes progressively more detailed information about the system?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DE43D50-EF81-C3C7-C56B-8E4E9A81BD68}"/>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6DB0EDC1-2BC5-479B-8C2B-0BB6D77B9373}" type="slidenum">
              <a:rPr lang="en-US" altLang="en-US" smtClean="0"/>
              <a:pPr/>
              <a:t>38</a:t>
            </a:fld>
            <a:endParaRPr lang="en-US" altLang="en-US"/>
          </a:p>
        </p:txBody>
      </p:sp>
      <p:sp>
        <p:nvSpPr>
          <p:cNvPr id="371714" name="Rectangle 2">
            <a:extLst>
              <a:ext uri="{FF2B5EF4-FFF2-40B4-BE49-F238E27FC236}">
                <a16:creationId xmlns:a16="http://schemas.microsoft.com/office/drawing/2014/main" id="{245D26FF-F93C-191C-70CC-95CCDCCB4FBD}"/>
              </a:ext>
            </a:extLst>
          </p:cNvPr>
          <p:cNvSpPr>
            <a:spLocks noChangeArrowheads="1"/>
          </p:cNvSpPr>
          <p:nvPr/>
        </p:nvSpPr>
        <p:spPr bwMode="auto">
          <a:xfrm>
            <a:off x="8077200" y="5257800"/>
            <a:ext cx="1371600" cy="533400"/>
          </a:xfrm>
          <a:prstGeom prst="rect">
            <a:avLst/>
          </a:prstGeom>
          <a:solidFill>
            <a:srgbClr val="FFCC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Requirements</a:t>
            </a:r>
          </a:p>
          <a:p>
            <a:r>
              <a:rPr lang="en-US" altLang="en-US"/>
              <a:t>Management</a:t>
            </a:r>
          </a:p>
        </p:txBody>
      </p:sp>
      <p:sp>
        <p:nvSpPr>
          <p:cNvPr id="371715" name="Rectangle 3">
            <a:extLst>
              <a:ext uri="{FF2B5EF4-FFF2-40B4-BE49-F238E27FC236}">
                <a16:creationId xmlns:a16="http://schemas.microsoft.com/office/drawing/2014/main" id="{8BA1C392-52C2-346F-CB8C-CB10E8CD11F4}"/>
              </a:ext>
            </a:extLst>
          </p:cNvPr>
          <p:cNvSpPr>
            <a:spLocks noChangeArrowheads="1"/>
          </p:cNvSpPr>
          <p:nvPr/>
        </p:nvSpPr>
        <p:spPr bwMode="auto">
          <a:xfrm>
            <a:off x="7086600" y="4572000"/>
            <a:ext cx="1371600" cy="4572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Validation</a:t>
            </a:r>
          </a:p>
        </p:txBody>
      </p:sp>
      <p:sp>
        <p:nvSpPr>
          <p:cNvPr id="371716" name="Rectangle 4">
            <a:extLst>
              <a:ext uri="{FF2B5EF4-FFF2-40B4-BE49-F238E27FC236}">
                <a16:creationId xmlns:a16="http://schemas.microsoft.com/office/drawing/2014/main" id="{E8B57483-5AD0-6E35-62E2-9842D07D9583}"/>
              </a:ext>
            </a:extLst>
          </p:cNvPr>
          <p:cNvSpPr>
            <a:spLocks noChangeArrowheads="1"/>
          </p:cNvSpPr>
          <p:nvPr/>
        </p:nvSpPr>
        <p:spPr bwMode="auto">
          <a:xfrm>
            <a:off x="2209800" y="1143000"/>
            <a:ext cx="1371600" cy="457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Inception</a:t>
            </a:r>
          </a:p>
        </p:txBody>
      </p:sp>
      <p:sp>
        <p:nvSpPr>
          <p:cNvPr id="371717" name="Rectangle 5">
            <a:extLst>
              <a:ext uri="{FF2B5EF4-FFF2-40B4-BE49-F238E27FC236}">
                <a16:creationId xmlns:a16="http://schemas.microsoft.com/office/drawing/2014/main" id="{8E3317F4-2F1F-381A-2225-7479F393030B}"/>
              </a:ext>
            </a:extLst>
          </p:cNvPr>
          <p:cNvSpPr>
            <a:spLocks noChangeArrowheads="1"/>
          </p:cNvSpPr>
          <p:nvPr/>
        </p:nvSpPr>
        <p:spPr bwMode="auto">
          <a:xfrm>
            <a:off x="3048000" y="1828800"/>
            <a:ext cx="1371600" cy="457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Elicitation</a:t>
            </a:r>
          </a:p>
        </p:txBody>
      </p:sp>
      <p:sp>
        <p:nvSpPr>
          <p:cNvPr id="371718" name="Rectangle 6">
            <a:extLst>
              <a:ext uri="{FF2B5EF4-FFF2-40B4-BE49-F238E27FC236}">
                <a16:creationId xmlns:a16="http://schemas.microsoft.com/office/drawing/2014/main" id="{3E93E28B-FB92-5DAC-6ABD-FDE5DF850308}"/>
              </a:ext>
            </a:extLst>
          </p:cNvPr>
          <p:cNvSpPr>
            <a:spLocks noChangeArrowheads="1"/>
          </p:cNvSpPr>
          <p:nvPr/>
        </p:nvSpPr>
        <p:spPr bwMode="auto">
          <a:xfrm>
            <a:off x="4038600" y="2514600"/>
            <a:ext cx="1371600" cy="457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Elaboration</a:t>
            </a:r>
          </a:p>
        </p:txBody>
      </p:sp>
      <p:sp>
        <p:nvSpPr>
          <p:cNvPr id="371719" name="Rectangle 7">
            <a:extLst>
              <a:ext uri="{FF2B5EF4-FFF2-40B4-BE49-F238E27FC236}">
                <a16:creationId xmlns:a16="http://schemas.microsoft.com/office/drawing/2014/main" id="{2143CE08-E630-D938-CD98-B44F6B3F5167}"/>
              </a:ext>
            </a:extLst>
          </p:cNvPr>
          <p:cNvSpPr>
            <a:spLocks noChangeArrowheads="1"/>
          </p:cNvSpPr>
          <p:nvPr/>
        </p:nvSpPr>
        <p:spPr bwMode="auto">
          <a:xfrm>
            <a:off x="5029200" y="3200400"/>
            <a:ext cx="13716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Negotiation</a:t>
            </a:r>
          </a:p>
        </p:txBody>
      </p:sp>
      <p:sp>
        <p:nvSpPr>
          <p:cNvPr id="371720" name="Rectangle 8">
            <a:extLst>
              <a:ext uri="{FF2B5EF4-FFF2-40B4-BE49-F238E27FC236}">
                <a16:creationId xmlns:a16="http://schemas.microsoft.com/office/drawing/2014/main" id="{79E528F3-0BB0-945A-8C1C-8A808D8F29E5}"/>
              </a:ext>
            </a:extLst>
          </p:cNvPr>
          <p:cNvSpPr>
            <a:spLocks noChangeArrowheads="1"/>
          </p:cNvSpPr>
          <p:nvPr/>
        </p:nvSpPr>
        <p:spPr bwMode="auto">
          <a:xfrm>
            <a:off x="6019800" y="3886200"/>
            <a:ext cx="13716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Specification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B489DDF-1466-00C9-C684-668B29D5D136}"/>
              </a:ext>
            </a:extLst>
          </p:cNvPr>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u="none" kern="1200">
                <a:solidFill>
                  <a:schemeClr val="tx1"/>
                </a:solidFill>
                <a:latin typeface="Times New Roman" panose="02020603050405020304" pitchFamily="18" charset="0"/>
                <a:ea typeface="+mn-ea"/>
                <a:cs typeface="+mn-cs"/>
              </a:defRPr>
            </a:lvl1pPr>
            <a:lvl2pPr marL="457200" algn="ctr" rtl="0" fontAlgn="base">
              <a:spcBef>
                <a:spcPct val="0"/>
              </a:spcBef>
              <a:spcAft>
                <a:spcPct val="0"/>
              </a:spcAft>
              <a:defRPr u="sng" kern="1200">
                <a:solidFill>
                  <a:schemeClr val="tx1"/>
                </a:solidFill>
                <a:latin typeface="Times New Roman" panose="02020603050405020304" pitchFamily="18" charset="0"/>
                <a:ea typeface="+mn-ea"/>
                <a:cs typeface="+mn-cs"/>
              </a:defRPr>
            </a:lvl2pPr>
            <a:lvl3pPr marL="914400" algn="ctr" rtl="0" fontAlgn="base">
              <a:spcBef>
                <a:spcPct val="0"/>
              </a:spcBef>
              <a:spcAft>
                <a:spcPct val="0"/>
              </a:spcAft>
              <a:defRPr u="sng" kern="1200">
                <a:solidFill>
                  <a:schemeClr val="tx1"/>
                </a:solidFill>
                <a:latin typeface="Times New Roman" panose="02020603050405020304" pitchFamily="18" charset="0"/>
                <a:ea typeface="+mn-ea"/>
                <a:cs typeface="+mn-cs"/>
              </a:defRPr>
            </a:lvl3pPr>
            <a:lvl4pPr marL="1371600" algn="ctr" rtl="0" fontAlgn="base">
              <a:spcBef>
                <a:spcPct val="0"/>
              </a:spcBef>
              <a:spcAft>
                <a:spcPct val="0"/>
              </a:spcAft>
              <a:defRPr u="sng" kern="1200">
                <a:solidFill>
                  <a:schemeClr val="tx1"/>
                </a:solidFill>
                <a:latin typeface="Times New Roman" panose="02020603050405020304" pitchFamily="18" charset="0"/>
                <a:ea typeface="+mn-ea"/>
                <a:cs typeface="+mn-cs"/>
              </a:defRPr>
            </a:lvl4pPr>
            <a:lvl5pPr marL="1828800" algn="ctr" rtl="0" fontAlgn="base">
              <a:spcBef>
                <a:spcPct val="0"/>
              </a:spcBef>
              <a:spcAft>
                <a:spcPct val="0"/>
              </a:spcAft>
              <a:defRPr u="sng" kern="1200">
                <a:solidFill>
                  <a:schemeClr val="tx1"/>
                </a:solidFill>
                <a:latin typeface="Times New Roman" panose="02020603050405020304" pitchFamily="18" charset="0"/>
                <a:ea typeface="+mn-ea"/>
                <a:cs typeface="+mn-cs"/>
              </a:defRPr>
            </a:lvl5pPr>
            <a:lvl6pPr marL="2286000" algn="l" defTabSz="914400" rtl="0" eaLnBrk="1" latinLnBrk="0" hangingPunct="1">
              <a:defRPr u="sng" kern="1200">
                <a:solidFill>
                  <a:schemeClr val="tx1"/>
                </a:solidFill>
                <a:latin typeface="Times New Roman" panose="02020603050405020304" pitchFamily="18" charset="0"/>
                <a:ea typeface="+mn-ea"/>
                <a:cs typeface="+mn-cs"/>
              </a:defRPr>
            </a:lvl6pPr>
            <a:lvl7pPr marL="2743200" algn="l" defTabSz="914400" rtl="0" eaLnBrk="1" latinLnBrk="0" hangingPunct="1">
              <a:defRPr u="sng" kern="1200">
                <a:solidFill>
                  <a:schemeClr val="tx1"/>
                </a:solidFill>
                <a:latin typeface="Times New Roman" panose="02020603050405020304" pitchFamily="18" charset="0"/>
                <a:ea typeface="+mn-ea"/>
                <a:cs typeface="+mn-cs"/>
              </a:defRPr>
            </a:lvl7pPr>
            <a:lvl8pPr marL="3200400" algn="l" defTabSz="914400" rtl="0" eaLnBrk="1" latinLnBrk="0" hangingPunct="1">
              <a:defRPr u="sng" kern="1200">
                <a:solidFill>
                  <a:schemeClr val="tx1"/>
                </a:solidFill>
                <a:latin typeface="Times New Roman" panose="02020603050405020304" pitchFamily="18" charset="0"/>
                <a:ea typeface="+mn-ea"/>
                <a:cs typeface="+mn-cs"/>
              </a:defRPr>
            </a:lvl8pPr>
            <a:lvl9pPr marL="3657600" algn="l" defTabSz="914400" rtl="0" eaLnBrk="1" latinLnBrk="0" hangingPunct="1">
              <a:defRPr u="sng" kern="1200">
                <a:solidFill>
                  <a:schemeClr val="tx1"/>
                </a:solidFill>
                <a:latin typeface="Times New Roman" panose="02020603050405020304" pitchFamily="18" charset="0"/>
                <a:ea typeface="+mn-ea"/>
                <a:cs typeface="+mn-cs"/>
              </a:defRPr>
            </a:lvl9pPr>
          </a:lstStyle>
          <a:p>
            <a:fld id="{82B6B6C5-6D69-4D9E-AE52-E4ED04502512}" type="slidenum">
              <a:rPr lang="en-US" altLang="en-US" smtClean="0"/>
              <a:pPr/>
              <a:t>39</a:t>
            </a:fld>
            <a:endParaRPr lang="en-US" altLang="en-US"/>
          </a:p>
        </p:txBody>
      </p:sp>
      <p:sp>
        <p:nvSpPr>
          <p:cNvPr id="354306" name="Rectangle 2">
            <a:extLst>
              <a:ext uri="{FF2B5EF4-FFF2-40B4-BE49-F238E27FC236}">
                <a16:creationId xmlns:a16="http://schemas.microsoft.com/office/drawing/2014/main" id="{1B85E655-8E2E-D3B2-F9CD-28BA1476D52E}"/>
              </a:ext>
            </a:extLst>
          </p:cNvPr>
          <p:cNvSpPr>
            <a:spLocks noGrp="1" noChangeArrowheads="1"/>
          </p:cNvSpPr>
          <p:nvPr>
            <p:ph type="title"/>
          </p:nvPr>
        </p:nvSpPr>
        <p:spPr>
          <a:xfrm>
            <a:off x="767751" y="228600"/>
            <a:ext cx="10161917" cy="1143000"/>
          </a:xfrm>
        </p:spPr>
        <p:txBody>
          <a:bodyPr/>
          <a:lstStyle/>
          <a:p>
            <a:r>
              <a:rPr lang="en-US" altLang="en-US" dirty="0">
                <a:latin typeface="Times New Roman" panose="02020603050405020304" pitchFamily="18" charset="0"/>
                <a:cs typeface="Times New Roman" panose="02020603050405020304" pitchFamily="18" charset="0"/>
              </a:rPr>
              <a:t>Requirements Management Task</a:t>
            </a:r>
          </a:p>
        </p:txBody>
      </p:sp>
      <p:sp>
        <p:nvSpPr>
          <p:cNvPr id="354307" name="Rectangle 3">
            <a:extLst>
              <a:ext uri="{FF2B5EF4-FFF2-40B4-BE49-F238E27FC236}">
                <a16:creationId xmlns:a16="http://schemas.microsoft.com/office/drawing/2014/main" id="{3C1C0AA2-5FBF-CF14-A0A1-C8F7B4068029}"/>
              </a:ext>
            </a:extLst>
          </p:cNvPr>
          <p:cNvSpPr>
            <a:spLocks noGrp="1" noChangeArrowheads="1"/>
          </p:cNvSpPr>
          <p:nvPr>
            <p:ph type="body" idx="1"/>
          </p:nvPr>
        </p:nvSpPr>
        <p:spPr>
          <a:xfrm>
            <a:off x="552091" y="1600200"/>
            <a:ext cx="10679501" cy="4114800"/>
          </a:xfrm>
        </p:spPr>
        <p:txBody>
          <a:bodyPr/>
          <a:lstStyle/>
          <a:p>
            <a:pPr algn="just">
              <a:lnSpc>
                <a:spcPct val="90000"/>
              </a:lnSpc>
            </a:pPr>
            <a:r>
              <a:rPr lang="en-US" altLang="en-US" sz="2000" dirty="0">
                <a:latin typeface="Times New Roman" panose="02020603050405020304" pitchFamily="18" charset="0"/>
                <a:cs typeface="Times New Roman" panose="02020603050405020304" pitchFamily="18" charset="0"/>
              </a:rPr>
              <a:t>During requirements management, the project team performs a set of activities to identify, control, and track requirements and changes to the requirements at any time as the project proceeds</a:t>
            </a:r>
          </a:p>
          <a:p>
            <a:pPr algn="just">
              <a:lnSpc>
                <a:spcPct val="90000"/>
              </a:lnSpc>
            </a:pPr>
            <a:r>
              <a:rPr lang="en-US" altLang="en-US" sz="2000" dirty="0">
                <a:latin typeface="Times New Roman" panose="02020603050405020304" pitchFamily="18" charset="0"/>
                <a:cs typeface="Times New Roman" panose="02020603050405020304" pitchFamily="18" charset="0"/>
              </a:rPr>
              <a:t>Each requirement is assigned a unique identifier</a:t>
            </a:r>
          </a:p>
          <a:p>
            <a:pPr algn="just">
              <a:lnSpc>
                <a:spcPct val="90000"/>
              </a:lnSpc>
            </a:pPr>
            <a:r>
              <a:rPr lang="en-US" altLang="en-US" sz="2000" dirty="0">
                <a:latin typeface="Times New Roman" panose="02020603050405020304" pitchFamily="18" charset="0"/>
                <a:cs typeface="Times New Roman" panose="02020603050405020304" pitchFamily="18" charset="0"/>
              </a:rPr>
              <a:t>The requirements are then placed into one or more traceability tables </a:t>
            </a:r>
          </a:p>
          <a:p>
            <a:pPr algn="just">
              <a:lnSpc>
                <a:spcPct val="90000"/>
              </a:lnSpc>
            </a:pPr>
            <a:r>
              <a:rPr lang="en-US" altLang="en-US" sz="2000" dirty="0">
                <a:latin typeface="Times New Roman" panose="02020603050405020304" pitchFamily="18" charset="0"/>
                <a:cs typeface="Times New Roman" panose="02020603050405020304" pitchFamily="18" charset="0"/>
              </a:rPr>
              <a:t>These tables may be stored in a database that relate features, sources, dependencies, subsystems, and interfaces to the requirements</a:t>
            </a:r>
          </a:p>
          <a:p>
            <a:pPr algn="just">
              <a:lnSpc>
                <a:spcPct val="90000"/>
              </a:lnSpc>
            </a:pPr>
            <a:r>
              <a:rPr lang="en-US" altLang="en-US" sz="2000" dirty="0">
                <a:latin typeface="Times New Roman" panose="02020603050405020304" pitchFamily="18" charset="0"/>
                <a:cs typeface="Times New Roman" panose="02020603050405020304" pitchFamily="18" charset="0"/>
              </a:rPr>
              <a:t>A requirements traceability table is also placed at the end of the software requirements specification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Modeling requirements is a crucial step in the software development process, where abstract requirements are transformed into visual representations. This helps stakeholders understand, validate, and refine the system's design.</a:t>
            </a:r>
          </a:p>
          <a:p>
            <a:pPr marL="0" indent="0" algn="just">
              <a:buNone/>
            </a:pPr>
            <a:r>
              <a:rPr lang="en-US" sz="2000" b="1" dirty="0">
                <a:latin typeface="Times New Roman" panose="02020603050405020304" pitchFamily="18" charset="0"/>
                <a:cs typeface="Times New Roman" panose="02020603050405020304" pitchFamily="18" charset="0"/>
              </a:rPr>
              <a:t>1. Data Flow Diagram (DFD):</a:t>
            </a:r>
          </a:p>
          <a:p>
            <a:pPr algn="just"/>
            <a:r>
              <a:rPr lang="en-US" sz="2000" dirty="0">
                <a:latin typeface="Times New Roman" panose="02020603050405020304" pitchFamily="18" charset="0"/>
                <a:cs typeface="Times New Roman" panose="02020603050405020304" pitchFamily="18" charset="0"/>
              </a:rPr>
              <a:t>A Data Flow Diagram (DFD) is a graphical representation of the flow of data within a system. It shows how data is processed by the system in terms of inputs and outputs.</a:t>
            </a:r>
          </a:p>
          <a:p>
            <a:pPr algn="just"/>
            <a:r>
              <a:rPr lang="en-US" sz="2000" b="1" dirty="0">
                <a:latin typeface="Times New Roman" panose="02020603050405020304" pitchFamily="18" charset="0"/>
                <a:cs typeface="Times New Roman" panose="02020603050405020304" pitchFamily="18" charset="0"/>
              </a:rPr>
              <a:t>Components:</a:t>
            </a:r>
          </a:p>
          <a:p>
            <a:pPr lvl="1" algn="just"/>
            <a:r>
              <a:rPr lang="en-US" sz="2000" b="1" dirty="0">
                <a:latin typeface="Times New Roman" panose="02020603050405020304" pitchFamily="18" charset="0"/>
                <a:cs typeface="Times New Roman" panose="02020603050405020304" pitchFamily="18" charset="0"/>
              </a:rPr>
              <a:t>Processes:</a:t>
            </a:r>
            <a:r>
              <a:rPr lang="en-US" sz="2000" dirty="0">
                <a:latin typeface="Times New Roman" panose="02020603050405020304" pitchFamily="18" charset="0"/>
                <a:cs typeface="Times New Roman" panose="02020603050405020304" pitchFamily="18" charset="0"/>
              </a:rPr>
              <a:t> Represented by circles or ovals, they depict activities that transform inputs into outputs.</a:t>
            </a:r>
          </a:p>
          <a:p>
            <a:pPr lvl="1" algn="just"/>
            <a:r>
              <a:rPr lang="en-US" sz="2000" b="1" dirty="0">
                <a:latin typeface="Times New Roman" panose="02020603050405020304" pitchFamily="18" charset="0"/>
                <a:cs typeface="Times New Roman" panose="02020603050405020304" pitchFamily="18" charset="0"/>
              </a:rPr>
              <a:t>Data Stores:</a:t>
            </a:r>
            <a:r>
              <a:rPr lang="en-US" sz="2000" dirty="0">
                <a:latin typeface="Times New Roman" panose="02020603050405020304" pitchFamily="18" charset="0"/>
                <a:cs typeface="Times New Roman" panose="02020603050405020304" pitchFamily="18" charset="0"/>
              </a:rPr>
              <a:t> Represented by open-ended rectangles, they show where data is stored.</a:t>
            </a:r>
          </a:p>
          <a:p>
            <a:pPr lvl="1" algn="just"/>
            <a:r>
              <a:rPr lang="en-US" sz="2000" b="1" dirty="0">
                <a:latin typeface="Times New Roman" panose="02020603050405020304" pitchFamily="18" charset="0"/>
                <a:cs typeface="Times New Roman" panose="02020603050405020304" pitchFamily="18" charset="0"/>
              </a:rPr>
              <a:t>Data Flows:</a:t>
            </a:r>
            <a:r>
              <a:rPr lang="en-US" sz="2000" dirty="0">
                <a:latin typeface="Times New Roman" panose="02020603050405020304" pitchFamily="18" charset="0"/>
                <a:cs typeface="Times New Roman" panose="02020603050405020304" pitchFamily="18" charset="0"/>
              </a:rPr>
              <a:t> Represented by arrows, they illustrate the movement of data between processes, data stores, and external entities.</a:t>
            </a:r>
          </a:p>
          <a:p>
            <a:pPr lvl="1" algn="just"/>
            <a:r>
              <a:rPr lang="en-US" sz="2000" b="1" dirty="0">
                <a:latin typeface="Times New Roman" panose="02020603050405020304" pitchFamily="18" charset="0"/>
                <a:cs typeface="Times New Roman" panose="02020603050405020304" pitchFamily="18" charset="0"/>
              </a:rPr>
              <a:t>External Entities:</a:t>
            </a:r>
            <a:r>
              <a:rPr lang="en-US" sz="2000" dirty="0">
                <a:latin typeface="Times New Roman" panose="02020603050405020304" pitchFamily="18" charset="0"/>
                <a:cs typeface="Times New Roman" panose="02020603050405020304" pitchFamily="18" charset="0"/>
              </a:rPr>
              <a:t> Represented by rectangles, these are outside the system but interact with it (e.g., users, external systems).</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3710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algn="just"/>
            <a:r>
              <a:rPr lang="en-US" sz="2000" dirty="0">
                <a:latin typeface="Times New Roman" panose="02020603050405020304" pitchFamily="18" charset="0"/>
                <a:cs typeface="Times New Roman" panose="02020603050405020304" pitchFamily="18" charset="0"/>
              </a:rPr>
              <a:t>Consider a library management system. A simple DFD might include:</a:t>
            </a:r>
          </a:p>
          <a:p>
            <a:pPr lvl="1" algn="just"/>
            <a:r>
              <a:rPr lang="en-US" sz="2000" b="1" dirty="0">
                <a:latin typeface="Times New Roman" panose="02020603050405020304" pitchFamily="18" charset="0"/>
                <a:cs typeface="Times New Roman" panose="02020603050405020304" pitchFamily="18" charset="0"/>
              </a:rPr>
              <a:t>Processes:</a:t>
            </a:r>
            <a:r>
              <a:rPr lang="en-US" sz="2000" dirty="0">
                <a:latin typeface="Times New Roman" panose="02020603050405020304" pitchFamily="18" charset="0"/>
                <a:cs typeface="Times New Roman" panose="02020603050405020304" pitchFamily="18" charset="0"/>
              </a:rPr>
              <a:t> "Issue Book," "Return Book"</a:t>
            </a:r>
          </a:p>
          <a:p>
            <a:pPr lvl="1" algn="just"/>
            <a:r>
              <a:rPr lang="en-US" sz="2000" b="1" dirty="0">
                <a:latin typeface="Times New Roman" panose="02020603050405020304" pitchFamily="18" charset="0"/>
                <a:cs typeface="Times New Roman" panose="02020603050405020304" pitchFamily="18" charset="0"/>
              </a:rPr>
              <a:t>Data Stores:</a:t>
            </a:r>
            <a:r>
              <a:rPr lang="en-US" sz="2000" dirty="0">
                <a:latin typeface="Times New Roman" panose="02020603050405020304" pitchFamily="18" charset="0"/>
                <a:cs typeface="Times New Roman" panose="02020603050405020304" pitchFamily="18" charset="0"/>
              </a:rPr>
              <a:t> "Book Inventory," "Member Records"</a:t>
            </a:r>
          </a:p>
          <a:p>
            <a:pPr lvl="1" algn="just"/>
            <a:r>
              <a:rPr lang="en-US" sz="2000" b="1" dirty="0">
                <a:latin typeface="Times New Roman" panose="02020603050405020304" pitchFamily="18" charset="0"/>
                <a:cs typeface="Times New Roman" panose="02020603050405020304" pitchFamily="18" charset="0"/>
              </a:rPr>
              <a:t>External Entities:</a:t>
            </a:r>
            <a:r>
              <a:rPr lang="en-US" sz="2000" dirty="0">
                <a:latin typeface="Times New Roman" panose="02020603050405020304" pitchFamily="18" charset="0"/>
                <a:cs typeface="Times New Roman" panose="02020603050405020304" pitchFamily="18" charset="0"/>
              </a:rPr>
              <a:t> "Librarian," "Member"</a:t>
            </a:r>
          </a:p>
          <a:p>
            <a:pPr lvl="1" algn="just"/>
            <a:r>
              <a:rPr lang="en-US" sz="2000" b="1" dirty="0">
                <a:latin typeface="Times New Roman" panose="02020603050405020304" pitchFamily="18" charset="0"/>
                <a:cs typeface="Times New Roman" panose="02020603050405020304" pitchFamily="18" charset="0"/>
              </a:rPr>
              <a:t>Data Flows:</a:t>
            </a:r>
            <a:r>
              <a:rPr lang="en-US" sz="2000" dirty="0">
                <a:latin typeface="Times New Roman" panose="02020603050405020304" pitchFamily="18" charset="0"/>
                <a:cs typeface="Times New Roman" panose="02020603050405020304" pitchFamily="18" charset="0"/>
              </a:rPr>
              <a:t> "Book Request" flows from Member to Issue Book process; "Book Details" flows from Book Inventory to Issue Book process.</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53349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2DCEA839-7F5D-7686-BFEF-3DE1E2B56F9F}"/>
              </a:ext>
            </a:extLst>
          </p:cNvPr>
          <p:cNvPicPr>
            <a:picLocks noGrp="1" noChangeAspect="1"/>
          </p:cNvPicPr>
          <p:nvPr>
            <p:ph idx="1"/>
          </p:nvPr>
        </p:nvPicPr>
        <p:blipFill>
          <a:blip r:embed="rId2"/>
          <a:stretch>
            <a:fillRect/>
          </a:stretch>
        </p:blipFill>
        <p:spPr>
          <a:xfrm>
            <a:off x="121920" y="904240"/>
            <a:ext cx="11460480" cy="5781040"/>
          </a:xfrm>
          <a:prstGeom prst="rect">
            <a:avLst/>
          </a:prstGeom>
        </p:spPr>
      </p:pic>
    </p:spTree>
    <p:extLst>
      <p:ext uri="{BB962C8B-B14F-4D97-AF65-F5344CB8AC3E}">
        <p14:creationId xmlns:p14="http://schemas.microsoft.com/office/powerpoint/2010/main" val="33959029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25A8-E3AB-29F2-B0BF-D53F43A6709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p>
        </p:txBody>
      </p:sp>
      <p:pic>
        <p:nvPicPr>
          <p:cNvPr id="5" name="Content Placeholder 4">
            <a:extLst>
              <a:ext uri="{FF2B5EF4-FFF2-40B4-BE49-F238E27FC236}">
                <a16:creationId xmlns:a16="http://schemas.microsoft.com/office/drawing/2014/main" id="{5D07961D-F55F-062C-C0C8-AF00B9ED8264}"/>
              </a:ext>
            </a:extLst>
          </p:cNvPr>
          <p:cNvPicPr>
            <a:picLocks noGrp="1" noChangeAspect="1"/>
          </p:cNvPicPr>
          <p:nvPr>
            <p:ph idx="1"/>
          </p:nvPr>
        </p:nvPicPr>
        <p:blipFill>
          <a:blip r:embed="rId2"/>
          <a:stretch>
            <a:fillRect/>
          </a:stretch>
        </p:blipFill>
        <p:spPr>
          <a:xfrm>
            <a:off x="2932073" y="1600200"/>
            <a:ext cx="6327854" cy="4525963"/>
          </a:xfrm>
          <a:prstGeom prst="rect">
            <a:avLst/>
          </a:prstGeom>
        </p:spPr>
      </p:pic>
    </p:spTree>
    <p:extLst>
      <p:ext uri="{BB962C8B-B14F-4D97-AF65-F5344CB8AC3E}">
        <p14:creationId xmlns:p14="http://schemas.microsoft.com/office/powerpoint/2010/main" val="1834926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68C19-A655-9C67-D936-B571684044DB}"/>
              </a:ext>
            </a:extLst>
          </p:cNvPr>
          <p:cNvSpPr>
            <a:spLocks noGrp="1"/>
          </p:cNvSpPr>
          <p:nvPr>
            <p:ph type="title"/>
          </p:nvPr>
        </p:nvSpPr>
        <p:spPr/>
        <p:txBody>
          <a:bodyPr/>
          <a:lstStyle/>
          <a:p>
            <a:r>
              <a:rPr lang="pt-BR" dirty="0">
                <a:latin typeface="Times New Roman" panose="02020603050405020304" pitchFamily="18" charset="0"/>
                <a:cs typeface="Times New Roman" panose="02020603050405020304" pitchFamily="18" charset="0"/>
              </a:rPr>
              <a:t>Logical Data Flow Diagram (DFD)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F513E2-A629-B09A-69B7-67F484566466}"/>
              </a:ext>
            </a:extLst>
          </p:cNvPr>
          <p:cNvSpPr>
            <a:spLocks noGrp="1"/>
          </p:cNvSpPr>
          <p:nvPr>
            <p:ph idx="1"/>
          </p:nvPr>
        </p:nvSpPr>
        <p:spPr/>
        <p:txBody>
          <a:bodyPr/>
          <a:lstStyle/>
          <a:p>
            <a:pPr algn="just" rtl="0" fontAlgn="base"/>
            <a:r>
              <a:rPr lang="en-US" sz="2400" b="0" i="0" dirty="0">
                <a:solidFill>
                  <a:srgbClr val="273239"/>
                </a:solidFill>
                <a:effectLst/>
                <a:latin typeface="Times New Roman" panose="02020603050405020304" pitchFamily="18" charset="0"/>
                <a:cs typeface="Times New Roman" panose="02020603050405020304" pitchFamily="18" charset="0"/>
              </a:rPr>
              <a:t>The </a:t>
            </a:r>
            <a:r>
              <a:rPr lang="en-US" sz="2400" b="1" i="0" dirty="0">
                <a:solidFill>
                  <a:srgbClr val="273239"/>
                </a:solidFill>
                <a:effectLst/>
                <a:latin typeface="Times New Roman" panose="02020603050405020304" pitchFamily="18" charset="0"/>
                <a:cs typeface="Times New Roman" panose="02020603050405020304" pitchFamily="18" charset="0"/>
              </a:rPr>
              <a:t>Logical Data Flow Diagram</a:t>
            </a:r>
            <a:r>
              <a:rPr lang="en-US" sz="2400" b="0" i="0" dirty="0">
                <a:solidFill>
                  <a:srgbClr val="273239"/>
                </a:solidFill>
                <a:effectLst/>
                <a:latin typeface="Times New Roman" panose="02020603050405020304" pitchFamily="18" charset="0"/>
                <a:cs typeface="Times New Roman" panose="02020603050405020304" pitchFamily="18" charset="0"/>
              </a:rPr>
              <a:t> mainly focuses on the </a:t>
            </a:r>
            <a:r>
              <a:rPr lang="en-US" sz="2400" b="1" i="0" dirty="0">
                <a:solidFill>
                  <a:srgbClr val="273239"/>
                </a:solidFill>
                <a:effectLst/>
                <a:latin typeface="Times New Roman" panose="02020603050405020304" pitchFamily="18" charset="0"/>
                <a:cs typeface="Times New Roman" panose="02020603050405020304" pitchFamily="18" charset="0"/>
              </a:rPr>
              <a:t>system process</a:t>
            </a:r>
            <a:r>
              <a:rPr lang="en-US" sz="2400" b="0" i="0" dirty="0">
                <a:solidFill>
                  <a:srgbClr val="273239"/>
                </a:solidFill>
                <a:effectLst/>
                <a:latin typeface="Times New Roman" panose="02020603050405020304" pitchFamily="18" charset="0"/>
                <a:cs typeface="Times New Roman" panose="02020603050405020304" pitchFamily="18" charset="0"/>
              </a:rPr>
              <a:t>. It illustrates how data flows in the system. Logical Data Flow Diagram (DFD) mainly focuses on high level processes and data flow without diving deep into technical implementation details.</a:t>
            </a:r>
          </a:p>
          <a:p>
            <a:pPr algn="just" rtl="0" fontAlgn="base"/>
            <a:r>
              <a:rPr lang="en-US" sz="2400" b="1" i="0" dirty="0">
                <a:solidFill>
                  <a:srgbClr val="273239"/>
                </a:solidFill>
                <a:effectLst/>
                <a:latin typeface="Times New Roman" panose="02020603050405020304" pitchFamily="18" charset="0"/>
                <a:cs typeface="Times New Roman" panose="02020603050405020304" pitchFamily="18" charset="0"/>
              </a:rPr>
              <a:t>Logical DFDs</a:t>
            </a:r>
            <a:r>
              <a:rPr lang="en-US" sz="2400" b="0" i="0" dirty="0">
                <a:solidFill>
                  <a:srgbClr val="273239"/>
                </a:solidFill>
                <a:effectLst/>
                <a:latin typeface="Times New Roman" panose="02020603050405020304" pitchFamily="18" charset="0"/>
                <a:cs typeface="Times New Roman" panose="02020603050405020304" pitchFamily="18" charset="0"/>
              </a:rPr>
              <a:t> is used in various organizations for the smooth running of system. Like in a Banking software system, it is used to describe how data is moved from one entity to another.</a:t>
            </a:r>
          </a:p>
          <a:p>
            <a:endParaRPr lang="en-IN" dirty="0"/>
          </a:p>
        </p:txBody>
      </p:sp>
    </p:spTree>
    <p:extLst>
      <p:ext uri="{BB962C8B-B14F-4D97-AF65-F5344CB8AC3E}">
        <p14:creationId xmlns:p14="http://schemas.microsoft.com/office/powerpoint/2010/main" val="132643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57135C-C265-CF11-474D-6C597C01E334}"/>
              </a:ext>
            </a:extLst>
          </p:cNvPr>
          <p:cNvPicPr>
            <a:picLocks noChangeAspect="1"/>
          </p:cNvPicPr>
          <p:nvPr/>
        </p:nvPicPr>
        <p:blipFill>
          <a:blip r:embed="rId2"/>
          <a:stretch>
            <a:fillRect/>
          </a:stretch>
        </p:blipFill>
        <p:spPr>
          <a:xfrm>
            <a:off x="836762" y="379563"/>
            <a:ext cx="10679501" cy="5960852"/>
          </a:xfrm>
          <a:prstGeom prst="rect">
            <a:avLst/>
          </a:prstGeom>
        </p:spPr>
      </p:pic>
    </p:spTree>
    <p:extLst>
      <p:ext uri="{BB962C8B-B14F-4D97-AF65-F5344CB8AC3E}">
        <p14:creationId xmlns:p14="http://schemas.microsoft.com/office/powerpoint/2010/main" val="1154266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DC1B5-E35C-4299-0E41-8773B89F6507}"/>
              </a:ext>
            </a:extLst>
          </p:cNvPr>
          <p:cNvSpPr>
            <a:spLocks noGrp="1"/>
          </p:cNvSpPr>
          <p:nvPr>
            <p:ph type="title"/>
          </p:nvPr>
        </p:nvSpPr>
        <p:spPr>
          <a:xfrm>
            <a:off x="609600" y="274638"/>
            <a:ext cx="10972800" cy="743279"/>
          </a:xfrm>
        </p:spPr>
        <p:txBody>
          <a:bodyPr/>
          <a:lstStyle/>
          <a:p>
            <a:r>
              <a:rPr lang="en-IN" b="1" i="0" dirty="0">
                <a:solidFill>
                  <a:srgbClr val="273239"/>
                </a:solidFill>
                <a:effectLst/>
                <a:latin typeface="Times New Roman" panose="02020603050405020304" pitchFamily="18" charset="0"/>
                <a:cs typeface="Times New Roman" panose="02020603050405020304" pitchFamily="18" charset="0"/>
              </a:rPr>
              <a:t> </a:t>
            </a:r>
            <a:br>
              <a:rPr lang="en-IN" b="1" i="0" dirty="0">
                <a:solidFill>
                  <a:srgbClr val="273239"/>
                </a:solidFill>
                <a:effectLst/>
                <a:latin typeface="Times New Roman" panose="02020603050405020304" pitchFamily="18" charset="0"/>
                <a:cs typeface="Times New Roman" panose="02020603050405020304" pitchFamily="18" charset="0"/>
              </a:rPr>
            </a:br>
            <a:r>
              <a:rPr lang="en-IN" b="1" i="0" dirty="0">
                <a:solidFill>
                  <a:srgbClr val="273239"/>
                </a:solidFill>
                <a:effectLst/>
                <a:latin typeface="Times New Roman" panose="02020603050405020304" pitchFamily="18" charset="0"/>
                <a:cs typeface="Times New Roman" panose="02020603050405020304" pitchFamily="18" charset="0"/>
              </a:rPr>
              <a:t>Physical Data Flow Diagram</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49AF9955-D41D-044E-BF98-094C6B1294D4}"/>
              </a:ext>
            </a:extLst>
          </p:cNvPr>
          <p:cNvSpPr>
            <a:spLocks noGrp="1"/>
          </p:cNvSpPr>
          <p:nvPr>
            <p:ph idx="1"/>
          </p:nvPr>
        </p:nvSpPr>
        <p:spPr>
          <a:xfrm>
            <a:off x="609600" y="1207699"/>
            <a:ext cx="10972800" cy="4918466"/>
          </a:xfrm>
        </p:spPr>
        <p:txBody>
          <a:bodyPr/>
          <a:lstStyle/>
          <a:p>
            <a:pPr algn="just"/>
            <a:r>
              <a:rPr lang="en-US" sz="2400" b="0" i="0" dirty="0">
                <a:solidFill>
                  <a:srgbClr val="273239"/>
                </a:solidFill>
                <a:effectLst/>
                <a:latin typeface="Times New Roman" panose="02020603050405020304" pitchFamily="18" charset="0"/>
                <a:cs typeface="Times New Roman" panose="02020603050405020304" pitchFamily="18" charset="0"/>
              </a:rPr>
              <a:t>Physical data flow diagram shows </a:t>
            </a:r>
            <a:r>
              <a:rPr lang="en-US" sz="2400" b="1" i="0" dirty="0">
                <a:solidFill>
                  <a:srgbClr val="273239"/>
                </a:solidFill>
                <a:effectLst/>
                <a:latin typeface="Times New Roman" panose="02020603050405020304" pitchFamily="18" charset="0"/>
                <a:cs typeface="Times New Roman" panose="02020603050405020304" pitchFamily="18" charset="0"/>
              </a:rPr>
              <a:t>how the data flow is actually implemented</a:t>
            </a:r>
            <a:r>
              <a:rPr lang="en-US" sz="2400" b="0" i="0" dirty="0">
                <a:solidFill>
                  <a:srgbClr val="273239"/>
                </a:solidFill>
                <a:effectLst/>
                <a:latin typeface="Times New Roman" panose="02020603050405020304" pitchFamily="18" charset="0"/>
                <a:cs typeface="Times New Roman" panose="02020603050405020304" pitchFamily="18" charset="0"/>
              </a:rPr>
              <a:t> in the system.</a:t>
            </a:r>
          </a:p>
          <a:p>
            <a:pPr algn="just"/>
            <a:r>
              <a:rPr lang="en-US" sz="2400" b="0" i="0" dirty="0">
                <a:solidFill>
                  <a:srgbClr val="273239"/>
                </a:solidFill>
                <a:effectLst/>
                <a:latin typeface="Times New Roman" panose="02020603050405020304" pitchFamily="18" charset="0"/>
                <a:cs typeface="Times New Roman" panose="02020603050405020304" pitchFamily="18" charset="0"/>
              </a:rPr>
              <a:t> In the Physical Data Flow Diagram (DFD), we include additional details such as data storage, data transmission, and specific technology or system components. </a:t>
            </a:r>
          </a:p>
          <a:p>
            <a:pPr algn="just"/>
            <a:r>
              <a:rPr lang="en-US" sz="2400" b="1" i="0" dirty="0">
                <a:solidFill>
                  <a:srgbClr val="273239"/>
                </a:solidFill>
                <a:effectLst/>
                <a:latin typeface="Times New Roman" panose="02020603050405020304" pitchFamily="18" charset="0"/>
                <a:cs typeface="Times New Roman" panose="02020603050405020304" pitchFamily="18" charset="0"/>
              </a:rPr>
              <a:t>Physical DFDs</a:t>
            </a:r>
            <a:r>
              <a:rPr lang="en-US" sz="2400" b="0" i="0" dirty="0">
                <a:solidFill>
                  <a:srgbClr val="273239"/>
                </a:solidFill>
                <a:effectLst/>
                <a:latin typeface="Times New Roman" panose="02020603050405020304" pitchFamily="18" charset="0"/>
                <a:cs typeface="Times New Roman" panose="02020603050405020304" pitchFamily="18" charset="0"/>
              </a:rPr>
              <a:t> are more detailed and provide a closer look at the </a:t>
            </a:r>
            <a:r>
              <a:rPr lang="en-US" sz="2400" b="1" i="0" dirty="0">
                <a:solidFill>
                  <a:srgbClr val="273239"/>
                </a:solidFill>
                <a:effectLst/>
                <a:latin typeface="Times New Roman" panose="02020603050405020304" pitchFamily="18" charset="0"/>
                <a:cs typeface="Times New Roman" panose="02020603050405020304" pitchFamily="18" charset="0"/>
              </a:rPr>
              <a:t>actual implementation</a:t>
            </a:r>
            <a:r>
              <a:rPr lang="en-US" sz="2400" b="0" i="0" dirty="0">
                <a:solidFill>
                  <a:srgbClr val="273239"/>
                </a:solidFill>
                <a:effectLst/>
                <a:latin typeface="Times New Roman" panose="02020603050405020304" pitchFamily="18" charset="0"/>
                <a:cs typeface="Times New Roman" panose="02020603050405020304" pitchFamily="18" charset="0"/>
              </a:rPr>
              <a:t> of the system, including the hardware, software, and physical aspects of data processing.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73551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DC1B5-E35C-4299-0E41-8773B89F6507}"/>
              </a:ext>
            </a:extLst>
          </p:cNvPr>
          <p:cNvSpPr>
            <a:spLocks noGrp="1"/>
          </p:cNvSpPr>
          <p:nvPr>
            <p:ph type="title"/>
          </p:nvPr>
        </p:nvSpPr>
        <p:spPr>
          <a:xfrm>
            <a:off x="609600" y="274638"/>
            <a:ext cx="10972800" cy="743279"/>
          </a:xfrm>
        </p:spPr>
        <p:txBody>
          <a:bodyPr/>
          <a:lstStyle/>
          <a:p>
            <a:r>
              <a:rPr lang="en-IN" b="1" i="0" dirty="0">
                <a:solidFill>
                  <a:srgbClr val="273239"/>
                </a:solidFill>
                <a:effectLst/>
                <a:latin typeface="Times New Roman" panose="02020603050405020304" pitchFamily="18" charset="0"/>
                <a:cs typeface="Times New Roman" panose="02020603050405020304" pitchFamily="18" charset="0"/>
              </a:rPr>
              <a:t> </a:t>
            </a:r>
            <a:br>
              <a:rPr lang="en-IN" b="1" i="0" dirty="0">
                <a:solidFill>
                  <a:srgbClr val="273239"/>
                </a:solidFill>
                <a:effectLst/>
                <a:latin typeface="Times New Roman" panose="02020603050405020304" pitchFamily="18" charset="0"/>
                <a:cs typeface="Times New Roman" panose="02020603050405020304" pitchFamily="18" charset="0"/>
              </a:rPr>
            </a:br>
            <a:r>
              <a:rPr lang="en-IN" b="1" i="0" dirty="0">
                <a:solidFill>
                  <a:srgbClr val="273239"/>
                </a:solidFill>
                <a:effectLst/>
                <a:latin typeface="Times New Roman" panose="02020603050405020304" pitchFamily="18" charset="0"/>
                <a:cs typeface="Times New Roman" panose="02020603050405020304" pitchFamily="18" charset="0"/>
              </a:rPr>
              <a:t>Physical Data Flow Diagram</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49AF9955-D41D-044E-BF98-094C6B1294D4}"/>
              </a:ext>
            </a:extLst>
          </p:cNvPr>
          <p:cNvSpPr>
            <a:spLocks noGrp="1"/>
          </p:cNvSpPr>
          <p:nvPr>
            <p:ph idx="1"/>
          </p:nvPr>
        </p:nvSpPr>
        <p:spPr>
          <a:xfrm>
            <a:off x="609600" y="1207699"/>
            <a:ext cx="10972800" cy="4918466"/>
          </a:xfrm>
        </p:spPr>
        <p:txBody>
          <a:bodyPr/>
          <a:lstStyle/>
          <a:p>
            <a:pPr algn="just"/>
            <a:r>
              <a:rPr lang="en-US" sz="2400" b="0" i="0" dirty="0">
                <a:solidFill>
                  <a:srgbClr val="273239"/>
                </a:solidFill>
                <a:effectLst/>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FDEA00D-879B-D0C5-8FC0-2B9A0156B40D}"/>
              </a:ext>
            </a:extLst>
          </p:cNvPr>
          <p:cNvPicPr>
            <a:picLocks noChangeAspect="1"/>
          </p:cNvPicPr>
          <p:nvPr/>
        </p:nvPicPr>
        <p:blipFill>
          <a:blip r:embed="rId2"/>
          <a:stretch>
            <a:fillRect/>
          </a:stretch>
        </p:blipFill>
        <p:spPr>
          <a:xfrm>
            <a:off x="396240" y="223520"/>
            <a:ext cx="11369039" cy="6366575"/>
          </a:xfrm>
          <a:prstGeom prst="rect">
            <a:avLst/>
          </a:prstGeom>
        </p:spPr>
      </p:pic>
    </p:spTree>
    <p:extLst>
      <p:ext uri="{BB962C8B-B14F-4D97-AF65-F5344CB8AC3E}">
        <p14:creationId xmlns:p14="http://schemas.microsoft.com/office/powerpoint/2010/main" val="4011766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57944F-8E34-7660-775A-F397F9291858}"/>
              </a:ext>
            </a:extLst>
          </p:cNvPr>
          <p:cNvPicPr>
            <a:picLocks noChangeAspect="1"/>
          </p:cNvPicPr>
          <p:nvPr/>
        </p:nvPicPr>
        <p:blipFill>
          <a:blip r:embed="rId2"/>
          <a:stretch>
            <a:fillRect/>
          </a:stretch>
        </p:blipFill>
        <p:spPr>
          <a:xfrm>
            <a:off x="690880" y="304240"/>
            <a:ext cx="10515600" cy="6358523"/>
          </a:xfrm>
          <a:prstGeom prst="rect">
            <a:avLst/>
          </a:prstGeom>
        </p:spPr>
      </p:pic>
    </p:spTree>
    <p:extLst>
      <p:ext uri="{BB962C8B-B14F-4D97-AF65-F5344CB8AC3E}">
        <p14:creationId xmlns:p14="http://schemas.microsoft.com/office/powerpoint/2010/main" val="4832239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091B78-634B-1D15-A1D8-82D848F3C709}"/>
              </a:ext>
            </a:extLst>
          </p:cNvPr>
          <p:cNvPicPr>
            <a:picLocks noChangeAspect="1"/>
          </p:cNvPicPr>
          <p:nvPr/>
        </p:nvPicPr>
        <p:blipFill>
          <a:blip r:embed="rId2"/>
          <a:stretch>
            <a:fillRect/>
          </a:stretch>
        </p:blipFill>
        <p:spPr>
          <a:xfrm>
            <a:off x="447040" y="-163901"/>
            <a:ext cx="11104880" cy="6902570"/>
          </a:xfrm>
          <a:prstGeom prst="rect">
            <a:avLst/>
          </a:prstGeom>
        </p:spPr>
      </p:pic>
    </p:spTree>
    <p:extLst>
      <p:ext uri="{BB962C8B-B14F-4D97-AF65-F5344CB8AC3E}">
        <p14:creationId xmlns:p14="http://schemas.microsoft.com/office/powerpoint/2010/main" val="7052530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buNone/>
            </a:pPr>
            <a:r>
              <a:rPr lang="en-US" sz="2000" b="1" dirty="0">
                <a:latin typeface="Times New Roman" panose="02020603050405020304" pitchFamily="18" charset="0"/>
                <a:cs typeface="Times New Roman" panose="02020603050405020304" pitchFamily="18" charset="0"/>
              </a:rPr>
              <a:t>2. Entity-Relation Diagram (ERD):</a:t>
            </a:r>
          </a:p>
          <a:p>
            <a:r>
              <a:rPr lang="en-US" sz="2000" dirty="0">
                <a:latin typeface="Times New Roman" panose="02020603050405020304" pitchFamily="18" charset="0"/>
                <a:cs typeface="Times New Roman" panose="02020603050405020304" pitchFamily="18" charset="0"/>
              </a:rPr>
              <a:t>An Entity-Relation Diagram (ERD) is a visual representation of the data structure, showing entities (objects) and the relationships between them.</a:t>
            </a:r>
          </a:p>
          <a:p>
            <a:r>
              <a:rPr lang="en-US" sz="2000" b="1" dirty="0">
                <a:latin typeface="Times New Roman" panose="02020603050405020304" pitchFamily="18" charset="0"/>
                <a:cs typeface="Times New Roman" panose="02020603050405020304" pitchFamily="18" charset="0"/>
              </a:rPr>
              <a:t>Components:</a:t>
            </a:r>
          </a:p>
          <a:p>
            <a:pPr lvl="1"/>
            <a:r>
              <a:rPr lang="en-US" sz="2000" b="1" dirty="0">
                <a:latin typeface="Times New Roman" panose="02020603050405020304" pitchFamily="18" charset="0"/>
                <a:cs typeface="Times New Roman" panose="02020603050405020304" pitchFamily="18" charset="0"/>
              </a:rPr>
              <a:t>Entities:</a:t>
            </a:r>
            <a:r>
              <a:rPr lang="en-US" sz="2000" dirty="0">
                <a:latin typeface="Times New Roman" panose="02020603050405020304" pitchFamily="18" charset="0"/>
                <a:cs typeface="Times New Roman" panose="02020603050405020304" pitchFamily="18" charset="0"/>
              </a:rPr>
              <a:t> Represented by rectangles, these are objects or concepts within the system (e.g., "Student," "Course").</a:t>
            </a:r>
          </a:p>
          <a:p>
            <a:pPr lvl="1"/>
            <a:r>
              <a:rPr lang="en-US" sz="2000" b="1" dirty="0">
                <a:latin typeface="Times New Roman" panose="02020603050405020304" pitchFamily="18" charset="0"/>
                <a:cs typeface="Times New Roman" panose="02020603050405020304" pitchFamily="18" charset="0"/>
              </a:rPr>
              <a:t>Attributes:</a:t>
            </a:r>
            <a:r>
              <a:rPr lang="en-US" sz="2000" dirty="0">
                <a:latin typeface="Times New Roman" panose="02020603050405020304" pitchFamily="18" charset="0"/>
                <a:cs typeface="Times New Roman" panose="02020603050405020304" pitchFamily="18" charset="0"/>
              </a:rPr>
              <a:t> Represented by ovals, these describe properties of entities (e.g., "Student ID," "Course Name").</a:t>
            </a:r>
          </a:p>
          <a:p>
            <a:pPr lvl="1"/>
            <a:r>
              <a:rPr lang="en-US" sz="2000" b="1" dirty="0">
                <a:latin typeface="Times New Roman" panose="02020603050405020304" pitchFamily="18" charset="0"/>
                <a:cs typeface="Times New Roman" panose="02020603050405020304" pitchFamily="18" charset="0"/>
              </a:rPr>
              <a:t>Relationships:</a:t>
            </a:r>
            <a:r>
              <a:rPr lang="en-US" sz="2000" dirty="0">
                <a:latin typeface="Times New Roman" panose="02020603050405020304" pitchFamily="18" charset="0"/>
                <a:cs typeface="Times New Roman" panose="02020603050405020304" pitchFamily="18" charset="0"/>
              </a:rPr>
              <a:t> Represented by diamonds or labeled lines, these show how entities are related (e.g., "Enrolls" relationship between Student and Course).</a:t>
            </a:r>
          </a:p>
          <a:p>
            <a:pPr lvl="1"/>
            <a:r>
              <a:rPr lang="en-US" sz="2000" b="1" dirty="0">
                <a:latin typeface="Times New Roman" panose="02020603050405020304" pitchFamily="18" charset="0"/>
                <a:cs typeface="Times New Roman" panose="02020603050405020304" pitchFamily="18" charset="0"/>
              </a:rPr>
              <a:t>Primary Key:</a:t>
            </a:r>
            <a:r>
              <a:rPr lang="en-US" sz="2000" dirty="0">
                <a:latin typeface="Times New Roman" panose="02020603050405020304" pitchFamily="18" charset="0"/>
                <a:cs typeface="Times New Roman" panose="02020603050405020304" pitchFamily="18" charset="0"/>
              </a:rPr>
              <a:t> An attribute that uniquely identifies an entity.</a:t>
            </a:r>
          </a:p>
          <a:p>
            <a:pPr lvl="1"/>
            <a:r>
              <a:rPr lang="en-US" sz="2000" b="1" dirty="0">
                <a:latin typeface="Times New Roman" panose="02020603050405020304" pitchFamily="18" charset="0"/>
                <a:cs typeface="Times New Roman" panose="02020603050405020304" pitchFamily="18" charset="0"/>
              </a:rPr>
              <a:t>Foreign Key:</a:t>
            </a:r>
            <a:r>
              <a:rPr lang="en-US" sz="2000" dirty="0">
                <a:latin typeface="Times New Roman" panose="02020603050405020304" pitchFamily="18" charset="0"/>
                <a:cs typeface="Times New Roman" panose="02020603050405020304" pitchFamily="18" charset="0"/>
              </a:rPr>
              <a:t> An attribute in one entity that links to the primary key of another entity.</a:t>
            </a:r>
          </a:p>
        </p:txBody>
      </p:sp>
    </p:spTree>
    <p:extLst>
      <p:ext uri="{BB962C8B-B14F-4D97-AF65-F5344CB8AC3E}">
        <p14:creationId xmlns:p14="http://schemas.microsoft.com/office/powerpoint/2010/main" val="19646360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2000" b="1" dirty="0">
                <a:latin typeface="Times New Roman" panose="02020603050405020304" pitchFamily="18" charset="0"/>
                <a:cs typeface="Times New Roman" panose="02020603050405020304" pitchFamily="18" charset="0"/>
              </a:rPr>
              <a:t>Example:</a:t>
            </a:r>
          </a:p>
          <a:p>
            <a:pPr algn="just"/>
            <a:r>
              <a:rPr lang="en-US" sz="2000" dirty="0">
                <a:latin typeface="Times New Roman" panose="02020603050405020304" pitchFamily="18" charset="0"/>
                <a:cs typeface="Times New Roman" panose="02020603050405020304" pitchFamily="18" charset="0"/>
              </a:rPr>
              <a:t>In a university database:</a:t>
            </a:r>
          </a:p>
          <a:p>
            <a:pPr lvl="1" algn="just"/>
            <a:r>
              <a:rPr lang="en-US" sz="2000" b="1" dirty="0">
                <a:latin typeface="Times New Roman" panose="02020603050405020304" pitchFamily="18" charset="0"/>
                <a:cs typeface="Times New Roman" panose="02020603050405020304" pitchFamily="18" charset="0"/>
              </a:rPr>
              <a:t>Entities:</a:t>
            </a:r>
            <a:r>
              <a:rPr lang="en-US" sz="2000" dirty="0">
                <a:latin typeface="Times New Roman" panose="02020603050405020304" pitchFamily="18" charset="0"/>
                <a:cs typeface="Times New Roman" panose="02020603050405020304" pitchFamily="18" charset="0"/>
              </a:rPr>
              <a:t> "Student," "Course," "Instructor"</a:t>
            </a:r>
          </a:p>
          <a:p>
            <a:pPr lvl="1" algn="just"/>
            <a:r>
              <a:rPr lang="en-US" sz="2000" b="1" dirty="0">
                <a:latin typeface="Times New Roman" panose="02020603050405020304" pitchFamily="18" charset="0"/>
                <a:cs typeface="Times New Roman" panose="02020603050405020304" pitchFamily="18" charset="0"/>
              </a:rPr>
              <a:t>Relationships:</a:t>
            </a:r>
            <a:r>
              <a:rPr lang="en-US" sz="2000" dirty="0">
                <a:latin typeface="Times New Roman" panose="02020603050405020304" pitchFamily="18" charset="0"/>
                <a:cs typeface="Times New Roman" panose="02020603050405020304" pitchFamily="18" charset="0"/>
              </a:rPr>
              <a:t> "Enrolls" between Student and Course, "Teaches" between Instructor and Course</a:t>
            </a:r>
          </a:p>
          <a:p>
            <a:pPr lvl="1" algn="just"/>
            <a:r>
              <a:rPr lang="en-US" sz="2000" b="1" dirty="0">
                <a:latin typeface="Times New Roman" panose="02020603050405020304" pitchFamily="18" charset="0"/>
                <a:cs typeface="Times New Roman" panose="02020603050405020304" pitchFamily="18" charset="0"/>
              </a:rPr>
              <a:t>Attributes:</a:t>
            </a:r>
            <a:r>
              <a:rPr lang="en-US" sz="2000" dirty="0">
                <a:latin typeface="Times New Roman" panose="02020603050405020304" pitchFamily="18" charset="0"/>
                <a:cs typeface="Times New Roman" panose="02020603050405020304" pitchFamily="18" charset="0"/>
              </a:rPr>
              <a:t> "Student ID," "Student Name" for Student; "Course ID," "Course Name" for Course.</a:t>
            </a:r>
          </a:p>
          <a:p>
            <a:pPr algn="just"/>
            <a:r>
              <a:rPr lang="en-US" sz="2000" dirty="0">
                <a:latin typeface="Times New Roman" panose="02020603050405020304" pitchFamily="18" charset="0"/>
                <a:cs typeface="Times New Roman" panose="02020603050405020304" pitchFamily="18" charset="0"/>
              </a:rPr>
              <a:t>ERDs are used to design the database structure and ensure that all relationships between data entities are accurately represented.</a:t>
            </a:r>
          </a:p>
        </p:txBody>
      </p:sp>
    </p:spTree>
    <p:extLst>
      <p:ext uri="{BB962C8B-B14F-4D97-AF65-F5344CB8AC3E}">
        <p14:creationId xmlns:p14="http://schemas.microsoft.com/office/powerpoint/2010/main" val="21085969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2200" b="1" dirty="0">
                <a:latin typeface="Times New Roman" panose="02020603050405020304" pitchFamily="18" charset="0"/>
                <a:cs typeface="Times New Roman" panose="02020603050405020304" pitchFamily="18" charset="0"/>
              </a:rPr>
              <a:t>3. Data Dictionary:</a:t>
            </a:r>
          </a:p>
          <a:p>
            <a:pPr algn="just"/>
            <a:r>
              <a:rPr lang="en-US" sz="2200" dirty="0">
                <a:latin typeface="Times New Roman" panose="02020603050405020304" pitchFamily="18" charset="0"/>
                <a:cs typeface="Times New Roman" panose="02020603050405020304" pitchFamily="18" charset="0"/>
              </a:rPr>
              <a:t>A Data Dictionary is a detailed description of the data elements within the system. It acts as a reference that defines each data element's meaning, data type, format, allowable values, and relationships with other data elements.</a:t>
            </a:r>
          </a:p>
          <a:p>
            <a:pPr algn="just"/>
            <a:r>
              <a:rPr lang="en-US" sz="2200" b="1" dirty="0">
                <a:latin typeface="Times New Roman" panose="02020603050405020304" pitchFamily="18" charset="0"/>
                <a:cs typeface="Times New Roman" panose="02020603050405020304" pitchFamily="18" charset="0"/>
              </a:rPr>
              <a:t>Components:</a:t>
            </a:r>
          </a:p>
          <a:p>
            <a:pPr marL="685800" lvl="1" algn="just"/>
            <a:r>
              <a:rPr lang="en-US" sz="2200" b="1" dirty="0">
                <a:latin typeface="Times New Roman" panose="02020603050405020304" pitchFamily="18" charset="0"/>
                <a:cs typeface="Times New Roman" panose="02020603050405020304" pitchFamily="18" charset="0"/>
              </a:rPr>
              <a:t>Data Element Name:</a:t>
            </a:r>
            <a:r>
              <a:rPr lang="en-US" sz="2200" dirty="0">
                <a:latin typeface="Times New Roman" panose="02020603050405020304" pitchFamily="18" charset="0"/>
                <a:cs typeface="Times New Roman" panose="02020603050405020304" pitchFamily="18" charset="0"/>
              </a:rPr>
              <a:t> The name of the data field (e.g., "Student ID").</a:t>
            </a:r>
          </a:p>
          <a:p>
            <a:pPr marL="685800" lvl="1" algn="just"/>
            <a:r>
              <a:rPr lang="en-US" sz="2200" b="1" dirty="0">
                <a:latin typeface="Times New Roman" panose="02020603050405020304" pitchFamily="18" charset="0"/>
                <a:cs typeface="Times New Roman" panose="02020603050405020304" pitchFamily="18" charset="0"/>
              </a:rPr>
              <a:t>Description:</a:t>
            </a:r>
            <a:r>
              <a:rPr lang="en-US" sz="2200" dirty="0">
                <a:latin typeface="Times New Roman" panose="02020603050405020304" pitchFamily="18" charset="0"/>
                <a:cs typeface="Times New Roman" panose="02020603050405020304" pitchFamily="18" charset="0"/>
              </a:rPr>
              <a:t> A brief explanation of what the data element represents.</a:t>
            </a:r>
          </a:p>
          <a:p>
            <a:pPr marL="685800" lvl="1" algn="just"/>
            <a:r>
              <a:rPr lang="en-US" sz="2200" b="1" dirty="0">
                <a:latin typeface="Times New Roman" panose="02020603050405020304" pitchFamily="18" charset="0"/>
                <a:cs typeface="Times New Roman" panose="02020603050405020304" pitchFamily="18" charset="0"/>
              </a:rPr>
              <a:t>Data Type:</a:t>
            </a:r>
            <a:r>
              <a:rPr lang="en-US" sz="2200" dirty="0">
                <a:latin typeface="Times New Roman" panose="02020603050405020304" pitchFamily="18" charset="0"/>
                <a:cs typeface="Times New Roman" panose="02020603050405020304" pitchFamily="18" charset="0"/>
              </a:rPr>
              <a:t> The type of data (e.g., integer, string, date).</a:t>
            </a:r>
          </a:p>
          <a:p>
            <a:pPr marL="685800" lvl="1" algn="just"/>
            <a:r>
              <a:rPr lang="en-US" sz="2200" b="1" dirty="0">
                <a:latin typeface="Times New Roman" panose="02020603050405020304" pitchFamily="18" charset="0"/>
                <a:cs typeface="Times New Roman" panose="02020603050405020304" pitchFamily="18" charset="0"/>
              </a:rPr>
              <a:t>Format:</a:t>
            </a:r>
            <a:r>
              <a:rPr lang="en-US" sz="2200" dirty="0">
                <a:latin typeface="Times New Roman" panose="02020603050405020304" pitchFamily="18" charset="0"/>
                <a:cs typeface="Times New Roman" panose="02020603050405020304" pitchFamily="18" charset="0"/>
              </a:rPr>
              <a:t> The format of the data (e.g., "MM/DD/YYYY" for dates).</a:t>
            </a:r>
          </a:p>
          <a:p>
            <a:pPr marL="685800" lvl="1" algn="just"/>
            <a:r>
              <a:rPr lang="en-US" sz="2200" b="1" dirty="0">
                <a:latin typeface="Times New Roman" panose="02020603050405020304" pitchFamily="18" charset="0"/>
                <a:cs typeface="Times New Roman" panose="02020603050405020304" pitchFamily="18" charset="0"/>
              </a:rPr>
              <a:t>Allowed Values:</a:t>
            </a:r>
            <a:r>
              <a:rPr lang="en-US" sz="2200" dirty="0">
                <a:latin typeface="Times New Roman" panose="02020603050405020304" pitchFamily="18" charset="0"/>
                <a:cs typeface="Times New Roman" panose="02020603050405020304" pitchFamily="18" charset="0"/>
              </a:rPr>
              <a:t> The range or list of permissible values (e.g., "Male, Female, Other" for gender).</a:t>
            </a:r>
          </a:p>
          <a:p>
            <a:pPr marL="685800" lvl="1" algn="just"/>
            <a:r>
              <a:rPr lang="en-US" sz="2200" b="1" dirty="0">
                <a:latin typeface="Times New Roman" panose="02020603050405020304" pitchFamily="18" charset="0"/>
                <a:cs typeface="Times New Roman" panose="02020603050405020304" pitchFamily="18" charset="0"/>
              </a:rPr>
              <a:t>Default Value:</a:t>
            </a:r>
            <a:r>
              <a:rPr lang="en-US" sz="2200" dirty="0">
                <a:latin typeface="Times New Roman" panose="02020603050405020304" pitchFamily="18" charset="0"/>
                <a:cs typeface="Times New Roman" panose="02020603050405020304" pitchFamily="18" charset="0"/>
              </a:rPr>
              <a:t> The default value if none is provided.</a:t>
            </a:r>
          </a:p>
          <a:p>
            <a:pPr marL="685800" lvl="1" algn="just"/>
            <a:r>
              <a:rPr lang="en-US" sz="2200" b="1" dirty="0">
                <a:latin typeface="Times New Roman" panose="02020603050405020304" pitchFamily="18" charset="0"/>
                <a:cs typeface="Times New Roman" panose="02020603050405020304" pitchFamily="18" charset="0"/>
              </a:rPr>
              <a:t>Relationships:</a:t>
            </a:r>
            <a:r>
              <a:rPr lang="en-US" sz="2200" dirty="0">
                <a:latin typeface="Times New Roman" panose="02020603050405020304" pitchFamily="18" charset="0"/>
                <a:cs typeface="Times New Roman" panose="02020603050405020304" pitchFamily="18" charset="0"/>
              </a:rPr>
              <a:t> How this data element relates to others.</a:t>
            </a:r>
          </a:p>
          <a:p>
            <a:pPr marL="0" indent="0" algn="just">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20890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For a "Student ID":</a:t>
            </a:r>
          </a:p>
          <a:p>
            <a:pPr lvl="1" algn="just"/>
            <a:r>
              <a:rPr lang="en-US" sz="1800" b="1" dirty="0">
                <a:latin typeface="Times New Roman" panose="02020603050405020304" pitchFamily="18" charset="0"/>
                <a:cs typeface="Times New Roman" panose="02020603050405020304" pitchFamily="18" charset="0"/>
              </a:rPr>
              <a:t>Data Element Name:</a:t>
            </a:r>
            <a:r>
              <a:rPr lang="en-US" sz="1800" dirty="0">
                <a:latin typeface="Times New Roman" panose="02020603050405020304" pitchFamily="18" charset="0"/>
                <a:cs typeface="Times New Roman" panose="02020603050405020304" pitchFamily="18" charset="0"/>
              </a:rPr>
              <a:t> Student ID</a:t>
            </a:r>
          </a:p>
          <a:p>
            <a:pPr lvl="1" algn="just"/>
            <a:r>
              <a:rPr lang="en-US" sz="1800" b="1" dirty="0">
                <a:latin typeface="Times New Roman" panose="02020603050405020304" pitchFamily="18" charset="0"/>
                <a:cs typeface="Times New Roman" panose="02020603050405020304" pitchFamily="18" charset="0"/>
              </a:rPr>
              <a:t>Description:</a:t>
            </a:r>
            <a:r>
              <a:rPr lang="en-US" sz="1800" dirty="0">
                <a:latin typeface="Times New Roman" panose="02020603050405020304" pitchFamily="18" charset="0"/>
                <a:cs typeface="Times New Roman" panose="02020603050405020304" pitchFamily="18" charset="0"/>
              </a:rPr>
              <a:t> A unique identifier for each student.</a:t>
            </a:r>
          </a:p>
          <a:p>
            <a:pPr lvl="1" algn="just"/>
            <a:r>
              <a:rPr lang="en-US" sz="1800" b="1" dirty="0">
                <a:latin typeface="Times New Roman" panose="02020603050405020304" pitchFamily="18" charset="0"/>
                <a:cs typeface="Times New Roman" panose="02020603050405020304" pitchFamily="18" charset="0"/>
              </a:rPr>
              <a:t>Data Type:</a:t>
            </a:r>
            <a:r>
              <a:rPr lang="en-US" sz="1800" dirty="0">
                <a:latin typeface="Times New Roman" panose="02020603050405020304" pitchFamily="18" charset="0"/>
                <a:cs typeface="Times New Roman" panose="02020603050405020304" pitchFamily="18" charset="0"/>
              </a:rPr>
              <a:t> Integer</a:t>
            </a:r>
          </a:p>
          <a:p>
            <a:pPr lvl="1" algn="just"/>
            <a:r>
              <a:rPr lang="en-US" sz="1800" b="1" dirty="0">
                <a:latin typeface="Times New Roman" panose="02020603050405020304" pitchFamily="18" charset="0"/>
                <a:cs typeface="Times New Roman" panose="02020603050405020304" pitchFamily="18" charset="0"/>
              </a:rPr>
              <a:t>Format:</a:t>
            </a:r>
            <a:r>
              <a:rPr lang="en-US" sz="1800" dirty="0">
                <a:latin typeface="Times New Roman" panose="02020603050405020304" pitchFamily="18" charset="0"/>
                <a:cs typeface="Times New Roman" panose="02020603050405020304" pitchFamily="18" charset="0"/>
              </a:rPr>
              <a:t> 7-digit number</a:t>
            </a:r>
          </a:p>
          <a:p>
            <a:pPr lvl="1" algn="just"/>
            <a:r>
              <a:rPr lang="en-US" sz="1800" b="1" dirty="0">
                <a:latin typeface="Times New Roman" panose="02020603050405020304" pitchFamily="18" charset="0"/>
                <a:cs typeface="Times New Roman" panose="02020603050405020304" pitchFamily="18" charset="0"/>
              </a:rPr>
              <a:t>Allowed Values:</a:t>
            </a:r>
            <a:r>
              <a:rPr lang="en-US" sz="1800" dirty="0">
                <a:latin typeface="Times New Roman" panose="02020603050405020304" pitchFamily="18" charset="0"/>
                <a:cs typeface="Times New Roman" panose="02020603050405020304" pitchFamily="18" charset="0"/>
              </a:rPr>
              <a:t> 1000000 to 9999999</a:t>
            </a:r>
          </a:p>
          <a:p>
            <a:pPr algn="just"/>
            <a:r>
              <a:rPr lang="en-US" sz="1800" dirty="0">
                <a:latin typeface="Times New Roman" panose="02020603050405020304" pitchFamily="18" charset="0"/>
                <a:cs typeface="Times New Roman" panose="02020603050405020304" pitchFamily="18" charset="0"/>
              </a:rPr>
              <a:t>The Data Dictionary ensures consistency in data use and helps developers understand how to handle each data element.</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23770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3ED42-3B0C-948A-D64E-7E4918F5218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F9090E-57CD-7D4E-D7AB-762E9AB88211}"/>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online bookstore</a:t>
            </a:r>
            <a:r>
              <a:rPr lang="en-US" dirty="0">
                <a:latin typeface="Times New Roman" panose="02020603050405020304" pitchFamily="18" charset="0"/>
                <a:cs typeface="Times New Roman" panose="02020603050405020304" pitchFamily="18" charset="0"/>
              </a:rPr>
              <a:t> allows users to </a:t>
            </a:r>
            <a:r>
              <a:rPr lang="en-US" b="1" dirty="0">
                <a:latin typeface="Times New Roman" panose="02020603050405020304" pitchFamily="18" charset="0"/>
                <a:cs typeface="Times New Roman" panose="02020603050405020304" pitchFamily="18" charset="0"/>
              </a:rPr>
              <a:t>browse, search, and purchase books</a:t>
            </a:r>
            <a:r>
              <a:rPr lang="en-US" dirty="0">
                <a:latin typeface="Times New Roman" panose="02020603050405020304" pitchFamily="18" charset="0"/>
                <a:cs typeface="Times New Roman" panose="02020603050405020304" pitchFamily="18" charset="0"/>
              </a:rPr>
              <a:t>. Users must </a:t>
            </a:r>
            <a:r>
              <a:rPr lang="en-US" b="1" dirty="0">
                <a:latin typeface="Times New Roman" panose="02020603050405020304" pitchFamily="18" charset="0"/>
                <a:cs typeface="Times New Roman" panose="02020603050405020304" pitchFamily="18" charset="0"/>
              </a:rPr>
              <a:t>register</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log in</a:t>
            </a:r>
            <a:r>
              <a:rPr lang="en-US" dirty="0">
                <a:latin typeface="Times New Roman" panose="02020603050405020304" pitchFamily="18" charset="0"/>
                <a:cs typeface="Times New Roman" panose="02020603050405020304" pitchFamily="18" charset="0"/>
              </a:rPr>
              <a:t> to place an order. The system stores information about books, customers, orders, and payments.</a:t>
            </a:r>
          </a:p>
          <a:p>
            <a:endParaRPr lang="en-IN" dirty="0"/>
          </a:p>
        </p:txBody>
      </p:sp>
    </p:spTree>
    <p:extLst>
      <p:ext uri="{BB962C8B-B14F-4D97-AF65-F5344CB8AC3E}">
        <p14:creationId xmlns:p14="http://schemas.microsoft.com/office/powerpoint/2010/main" val="35045645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2000" b="1" dirty="0">
                <a:latin typeface="Times New Roman" panose="02020603050405020304" pitchFamily="18" charset="0"/>
                <a:cs typeface="Times New Roman" panose="02020603050405020304" pitchFamily="18" charset="0"/>
              </a:rPr>
              <a:t>4. State Transition Diagram:</a:t>
            </a:r>
          </a:p>
          <a:p>
            <a:pPr algn="just"/>
            <a:r>
              <a:rPr lang="en-US" sz="2000" dirty="0">
                <a:latin typeface="Times New Roman" panose="02020603050405020304" pitchFamily="18" charset="0"/>
                <a:cs typeface="Times New Roman" panose="02020603050405020304" pitchFamily="18" charset="0"/>
              </a:rPr>
              <a:t>A State Transition Diagram (STD) models the states a system can be in and how it transitions from one state to another in response to events. It’s especially useful for systems where the behavior changes based on different states.</a:t>
            </a:r>
          </a:p>
          <a:p>
            <a:pPr algn="just"/>
            <a:r>
              <a:rPr lang="en-US" sz="2000" b="1" dirty="0">
                <a:latin typeface="Times New Roman" panose="02020603050405020304" pitchFamily="18" charset="0"/>
                <a:cs typeface="Times New Roman" panose="02020603050405020304" pitchFamily="18" charset="0"/>
              </a:rPr>
              <a:t>Components:</a:t>
            </a:r>
          </a:p>
          <a:p>
            <a:pPr lvl="1" algn="just"/>
            <a:r>
              <a:rPr lang="en-US" sz="2000" b="1" dirty="0">
                <a:latin typeface="Times New Roman" panose="02020603050405020304" pitchFamily="18" charset="0"/>
                <a:cs typeface="Times New Roman" panose="02020603050405020304" pitchFamily="18" charset="0"/>
              </a:rPr>
              <a:t>States:</a:t>
            </a:r>
            <a:r>
              <a:rPr lang="en-US" sz="2000" dirty="0">
                <a:latin typeface="Times New Roman" panose="02020603050405020304" pitchFamily="18" charset="0"/>
                <a:cs typeface="Times New Roman" panose="02020603050405020304" pitchFamily="18" charset="0"/>
              </a:rPr>
              <a:t> Represented by circles or rectangles, these are conditions or situations in which the system can exist (e.g., "Logged In," "Logged Out").</a:t>
            </a:r>
          </a:p>
          <a:p>
            <a:pPr lvl="1" algn="just"/>
            <a:r>
              <a:rPr lang="en-US" sz="2000" b="1" dirty="0">
                <a:latin typeface="Times New Roman" panose="02020603050405020304" pitchFamily="18" charset="0"/>
                <a:cs typeface="Times New Roman" panose="02020603050405020304" pitchFamily="18" charset="0"/>
              </a:rPr>
              <a:t>Transitions:</a:t>
            </a:r>
            <a:r>
              <a:rPr lang="en-US" sz="2000" dirty="0">
                <a:latin typeface="Times New Roman" panose="02020603050405020304" pitchFamily="18" charset="0"/>
                <a:cs typeface="Times New Roman" panose="02020603050405020304" pitchFamily="18" charset="0"/>
              </a:rPr>
              <a:t> Represented by arrows, these show how the system moves from one state to another due to an event (e.g., "Click Login" may transition the system from "Logged Out" to "Logged In").</a:t>
            </a:r>
          </a:p>
          <a:p>
            <a:pPr lvl="1" algn="just"/>
            <a:r>
              <a:rPr lang="en-US" sz="2000" b="1" dirty="0">
                <a:latin typeface="Times New Roman" panose="02020603050405020304" pitchFamily="18" charset="0"/>
                <a:cs typeface="Times New Roman" panose="02020603050405020304" pitchFamily="18" charset="0"/>
              </a:rPr>
              <a:t>Events:</a:t>
            </a:r>
            <a:r>
              <a:rPr lang="en-US" sz="2000" dirty="0">
                <a:latin typeface="Times New Roman" panose="02020603050405020304" pitchFamily="18" charset="0"/>
                <a:cs typeface="Times New Roman" panose="02020603050405020304" pitchFamily="18" charset="0"/>
              </a:rPr>
              <a:t> Triggers that cause transitions between states (e.g., "Submit Login Details").</a:t>
            </a:r>
          </a:p>
          <a:p>
            <a:pPr lvl="1" algn="just"/>
            <a:r>
              <a:rPr lang="en-US" sz="2000" b="1" dirty="0">
                <a:latin typeface="Times New Roman" panose="02020603050405020304" pitchFamily="18" charset="0"/>
                <a:cs typeface="Times New Roman" panose="02020603050405020304" pitchFamily="18" charset="0"/>
              </a:rPr>
              <a:t>Actions:</a:t>
            </a:r>
            <a:r>
              <a:rPr lang="en-US" sz="2000" dirty="0">
                <a:latin typeface="Times New Roman" panose="02020603050405020304" pitchFamily="18" charset="0"/>
                <a:cs typeface="Times New Roman" panose="02020603050405020304" pitchFamily="18" charset="0"/>
              </a:rPr>
              <a:t> Operations performed as a result of a transition (e.g., "Display Dashboard" after successful login).</a:t>
            </a:r>
          </a:p>
        </p:txBody>
      </p:sp>
    </p:spTree>
    <p:extLst>
      <p:ext uri="{BB962C8B-B14F-4D97-AF65-F5344CB8AC3E}">
        <p14:creationId xmlns:p14="http://schemas.microsoft.com/office/powerpoint/2010/main" val="23592557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Modelling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In a user authentication system:</a:t>
            </a:r>
          </a:p>
          <a:p>
            <a:pPr lvl="1" algn="just"/>
            <a:r>
              <a:rPr lang="en-US" sz="2000" b="1" dirty="0">
                <a:latin typeface="Times New Roman" panose="02020603050405020304" pitchFamily="18" charset="0"/>
                <a:cs typeface="Times New Roman" panose="02020603050405020304" pitchFamily="18" charset="0"/>
              </a:rPr>
              <a:t>States:</a:t>
            </a:r>
            <a:r>
              <a:rPr lang="en-US" sz="2000" dirty="0">
                <a:latin typeface="Times New Roman" panose="02020603050405020304" pitchFamily="18" charset="0"/>
                <a:cs typeface="Times New Roman" panose="02020603050405020304" pitchFamily="18" charset="0"/>
              </a:rPr>
              <a:t> "Logged Out," "Logged In"</a:t>
            </a:r>
          </a:p>
          <a:p>
            <a:pPr lvl="1" algn="just"/>
            <a:r>
              <a:rPr lang="en-US" sz="2000" b="1" dirty="0">
                <a:latin typeface="Times New Roman" panose="02020603050405020304" pitchFamily="18" charset="0"/>
                <a:cs typeface="Times New Roman" panose="02020603050405020304" pitchFamily="18" charset="0"/>
              </a:rPr>
              <a:t>Transitions:</a:t>
            </a:r>
            <a:r>
              <a:rPr lang="en-US" sz="2000" dirty="0">
                <a:latin typeface="Times New Roman" panose="02020603050405020304" pitchFamily="18" charset="0"/>
                <a:cs typeface="Times New Roman" panose="02020603050405020304" pitchFamily="18" charset="0"/>
              </a:rPr>
              <a:t> "Submit Login Details" (Logged Out to Logged In), "Click Logout" (Logged In to Logged Out)</a:t>
            </a:r>
          </a:p>
          <a:p>
            <a:pPr lvl="1" algn="just"/>
            <a:r>
              <a:rPr lang="en-US" sz="2000" b="1" dirty="0">
                <a:latin typeface="Times New Roman" panose="02020603050405020304" pitchFamily="18" charset="0"/>
                <a:cs typeface="Times New Roman" panose="02020603050405020304" pitchFamily="18" charset="0"/>
              </a:rPr>
              <a:t>Events:</a:t>
            </a:r>
            <a:r>
              <a:rPr lang="en-US" sz="2000" dirty="0">
                <a:latin typeface="Times New Roman" panose="02020603050405020304" pitchFamily="18" charset="0"/>
                <a:cs typeface="Times New Roman" panose="02020603050405020304" pitchFamily="18" charset="0"/>
              </a:rPr>
              <a:t> User enters credentials, User clicks logout</a:t>
            </a:r>
          </a:p>
          <a:p>
            <a:pPr lvl="1" algn="just"/>
            <a:r>
              <a:rPr lang="en-US" sz="2000" b="1" dirty="0">
                <a:latin typeface="Times New Roman" panose="02020603050405020304" pitchFamily="18" charset="0"/>
                <a:cs typeface="Times New Roman" panose="02020603050405020304" pitchFamily="18" charset="0"/>
              </a:rPr>
              <a:t>Actions:</a:t>
            </a:r>
            <a:r>
              <a:rPr lang="en-US" sz="2000" dirty="0">
                <a:latin typeface="Times New Roman" panose="02020603050405020304" pitchFamily="18" charset="0"/>
                <a:cs typeface="Times New Roman" panose="02020603050405020304" pitchFamily="18" charset="0"/>
              </a:rPr>
              <a:t> Validate credentials, End session</a:t>
            </a:r>
          </a:p>
          <a:p>
            <a:pPr algn="just"/>
            <a:r>
              <a:rPr lang="en-US" sz="2000" dirty="0">
                <a:latin typeface="Times New Roman" panose="02020603050405020304" pitchFamily="18" charset="0"/>
                <a:cs typeface="Times New Roman" panose="02020603050405020304" pitchFamily="18" charset="0"/>
              </a:rPr>
              <a:t>State Transition Diagrams help visualize the dynamic behavior of a system, especially where different inputs can lead to different outcomes.</a:t>
            </a:r>
          </a:p>
        </p:txBody>
      </p:sp>
    </p:spTree>
    <p:extLst>
      <p:ext uri="{BB962C8B-B14F-4D97-AF65-F5344CB8AC3E}">
        <p14:creationId xmlns:p14="http://schemas.microsoft.com/office/powerpoint/2010/main" val="17842428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Case Study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Managing Requirements for a To-Do List Application</a:t>
            </a:r>
          </a:p>
          <a:p>
            <a:pPr marL="0" indent="0" algn="just">
              <a:buNone/>
            </a:pPr>
            <a:r>
              <a:rPr lang="en-US" sz="1800" dirty="0">
                <a:latin typeface="Times New Roman" panose="02020603050405020304" pitchFamily="18" charset="0"/>
                <a:cs typeface="Times New Roman" panose="02020603050405020304" pitchFamily="18" charset="0"/>
              </a:rPr>
              <a:t>1. Requirement Identification</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Initial Requirements: You've gathered the initial requirements from the client. These include basic functionalities like adding, deleting, and marking tasks as completed.</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Categorization Feature: The client later requests a feature to categorize tasks (e.g., Work, Personal).</a:t>
            </a:r>
          </a:p>
          <a:p>
            <a:pPr marL="0" indent="0" algn="just">
              <a:buNone/>
            </a:pPr>
            <a:r>
              <a:rPr lang="en-US" sz="1800" dirty="0">
                <a:latin typeface="Times New Roman" panose="02020603050405020304" pitchFamily="18" charset="0"/>
                <a:cs typeface="Times New Roman" panose="02020603050405020304" pitchFamily="18" charset="0"/>
              </a:rPr>
              <a:t>2. Requirement Documentation</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Documentation: You maintain a detailed document or use a tool like JIRA, Trello, or a simple spreadsheet to document all the requirements. Each requirement is given a unique ID for easy tracking.</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Entry:</a:t>
            </a: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ID: R1</a:t>
            </a: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Requirement: Users must be able to add tasks to their to-do list.</a:t>
            </a: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Priority: High</a:t>
            </a: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Status: Approved</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35022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Case Study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3. Requirement Traceability</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Linking Requirements to Development: Each requirement is linked to specific development tasks. For example, R1 (Add Task) is linked to a development task in your project management tool.</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Traceability Matrix:</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Requirement ID: R1</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Linked Task: Develop "Add Task" feature</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Testing Case: Ensure tasks can be added successfully</a:t>
            </a:r>
          </a:p>
          <a:p>
            <a:pPr marL="0" indent="0" algn="just">
              <a:buNone/>
            </a:pPr>
            <a:r>
              <a:rPr lang="en-US" sz="1800" dirty="0">
                <a:latin typeface="Times New Roman" panose="02020603050405020304" pitchFamily="18" charset="0"/>
                <a:cs typeface="Times New Roman" panose="02020603050405020304" pitchFamily="18" charset="0"/>
              </a:rPr>
              <a:t>4. Change Management</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Handling Changes: Suppose the client later decides that tasks should also have due dates. This new requirement must be evaluated for its impact on the existing project scope, timeline, and budget.</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Impact Analysis: You analyze how adding due dates will affect the database design, user interface, and testing. If it's feasible, you update the requirement documentation and inform the development team.</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Change Log:</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Change ID: C1</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Description: Add due dates to tasks</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Impact: Medium (requires changes in database schema and UI)</a:t>
            </a:r>
          </a:p>
          <a:p>
            <a:pPr marL="742950" lvl="1"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Status: Approved</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2717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Case Study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5. Requirement Prioritization</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Prioritizing Requirements: Not all requirements have the same level of importance. Core functionalities like adding and deleting tasks are given higher priority over secondary features like categorization or setting due dates.</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Prioritization:</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High Priority: R1 (Add Task), R2 (Delete Task)</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Medium Priority: R4 (Categorize Task), R5 (Set Due Date)</a:t>
            </a:r>
          </a:p>
          <a:p>
            <a:pPr marL="0" indent="0" algn="just">
              <a:buNone/>
            </a:pPr>
            <a:r>
              <a:rPr lang="en-US" sz="1800" dirty="0">
                <a:latin typeface="Times New Roman" panose="02020603050405020304" pitchFamily="18" charset="0"/>
                <a:cs typeface="Times New Roman" panose="02020603050405020304" pitchFamily="18" charset="0"/>
              </a:rPr>
              <a:t>6. Requirement Verification and Validation</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Verification: You regularly verify that the development is on track and that all requirements are being implemented correctly. For instance, you check that the "Add Task" feature works as specified.</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Validation: You validate with the client that the completed features meet their needs. For example, after implementing the "Categorize Task" feature, you demonstrate it to the client for approval.</a:t>
            </a:r>
          </a:p>
        </p:txBody>
      </p:sp>
    </p:spTree>
    <p:extLst>
      <p:ext uri="{BB962C8B-B14F-4D97-AF65-F5344CB8AC3E}">
        <p14:creationId xmlns:p14="http://schemas.microsoft.com/office/powerpoint/2010/main" val="11455891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Case Study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7. Requirement Tracking and Status Updates</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Tracking Progress: Throughout the development process, you update the status of each requirement (e.g., In Progress, Completed, Verified).</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Example Status Report:</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R1 (Add Task): Completed</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R4 (Categorize Task): In Progress</a:t>
            </a:r>
          </a:p>
          <a:p>
            <a:pPr lvl="2"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C1 (Add Due Date): Approved, Pending Development</a:t>
            </a:r>
          </a:p>
          <a:p>
            <a:pPr marL="0" indent="0" algn="just">
              <a:buNone/>
            </a:pPr>
            <a:r>
              <a:rPr lang="en-US" sz="1800" dirty="0">
                <a:latin typeface="Times New Roman" panose="02020603050405020304" pitchFamily="18" charset="0"/>
                <a:cs typeface="Times New Roman" panose="02020603050405020304" pitchFamily="18" charset="0"/>
              </a:rPr>
              <a:t>8. Final Review and Sign-Off</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Client Review: Once all requirements have been implemented, you conduct a final review with the client to ensure that all expectations have been met.</a:t>
            </a:r>
          </a:p>
          <a:p>
            <a:pPr lvl="1"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Sign-Off: The client signs off on the project, indicating that all requirements have been fulfilled to their satisfaction.</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8512881"/>
      </p:ext>
    </p:extLst>
  </p:cSld>
  <p:clrMapOvr>
    <a:masterClrMapping/>
  </p:clrMapOvr>
</p:sld>
</file>

<file path=ppt/theme/theme1.xml><?xml version="1.0" encoding="utf-8"?>
<a:theme xmlns:a="http://schemas.openxmlformats.org/drawingml/2006/main" name="SSN pres template - Final">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SSN pres template - Final</Template>
  <TotalTime>3627</TotalTime>
  <Words>4732</Words>
  <Application>Microsoft Office PowerPoint</Application>
  <PresentationFormat>Widescreen</PresentationFormat>
  <Paragraphs>469</Paragraphs>
  <Slides>60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Nunito</vt:lpstr>
      <vt:lpstr>Times New Roman</vt:lpstr>
      <vt:lpstr>Verdana</vt:lpstr>
      <vt:lpstr>SSN pres template - Final</vt:lpstr>
      <vt:lpstr>Unit 2</vt:lpstr>
      <vt:lpstr>Understanding Requirements</vt:lpstr>
      <vt:lpstr>Understanding Requirements</vt:lpstr>
      <vt:lpstr>Requirement Engineering</vt:lpstr>
      <vt:lpstr>Requirement Engineering</vt:lpstr>
      <vt:lpstr>Requirement Engineering</vt:lpstr>
      <vt:lpstr>Requirement Engineering</vt:lpstr>
      <vt:lpstr>The Problems with our Requirements Practices</vt:lpstr>
      <vt:lpstr>The Problems with our Requirements Practices (continued)</vt:lpstr>
      <vt:lpstr>A Solution: Requirements Engineering</vt:lpstr>
      <vt:lpstr>Requirements Engineering Tasks</vt:lpstr>
      <vt:lpstr>Example Project: Campus Information Access Kiosk</vt:lpstr>
      <vt:lpstr>PowerPoint Presentation</vt:lpstr>
      <vt:lpstr>Inception Task</vt:lpstr>
      <vt:lpstr>The First Set of Questions</vt:lpstr>
      <vt:lpstr>The Next Set of Questions</vt:lpstr>
      <vt:lpstr>The Final Set of Questions</vt:lpstr>
      <vt:lpstr>PowerPoint Presentation</vt:lpstr>
      <vt:lpstr>Elicitation Task</vt:lpstr>
      <vt:lpstr>Basic Guidelines of Collaborative Requirements Gathering</vt:lpstr>
      <vt:lpstr>Quality Function Deployment</vt:lpstr>
      <vt:lpstr>Elicitation Work Products</vt:lpstr>
      <vt:lpstr>PowerPoint Presentation</vt:lpstr>
      <vt:lpstr>Elaboration Task</vt:lpstr>
      <vt:lpstr>Developing Use Cases</vt:lpstr>
      <vt:lpstr>Questions Commonly Answered by a Use Case</vt:lpstr>
      <vt:lpstr>Elements of the Analysis Model</vt:lpstr>
      <vt:lpstr>PowerPoint Presentation</vt:lpstr>
      <vt:lpstr>Negotiation Task</vt:lpstr>
      <vt:lpstr>The Art of Negotiation</vt:lpstr>
      <vt:lpstr>PowerPoint Presentation</vt:lpstr>
      <vt:lpstr>Specification Task</vt:lpstr>
      <vt:lpstr>Typical Contents of a Software Requirements Specification</vt:lpstr>
      <vt:lpstr>PowerPoint Presentation</vt:lpstr>
      <vt:lpstr>Validation Task</vt:lpstr>
      <vt:lpstr>Questions to ask when Validating Requirements</vt:lpstr>
      <vt:lpstr>Questions to ask when Validating Requirements (continued)</vt:lpstr>
      <vt:lpstr>PowerPoint Presentation</vt:lpstr>
      <vt:lpstr>Requirements Management Task</vt:lpstr>
      <vt:lpstr>Modelling Requirements</vt:lpstr>
      <vt:lpstr>Modelling Requirements</vt:lpstr>
      <vt:lpstr>Modelling Requirements</vt:lpstr>
      <vt:lpstr>Modelling Requirements</vt:lpstr>
      <vt:lpstr>Logical Data Flow Diagram (DFD)</vt:lpstr>
      <vt:lpstr>PowerPoint Presentation</vt:lpstr>
      <vt:lpstr>  Physical Data Flow Diagram </vt:lpstr>
      <vt:lpstr>  Physical Data Flow Diagram </vt:lpstr>
      <vt:lpstr>PowerPoint Presentation</vt:lpstr>
      <vt:lpstr>PowerPoint Presentation</vt:lpstr>
      <vt:lpstr>Modelling Requirements</vt:lpstr>
      <vt:lpstr>Modelling Requirements</vt:lpstr>
      <vt:lpstr>Modelling Requirements</vt:lpstr>
      <vt:lpstr>Modelling Requirements</vt:lpstr>
      <vt:lpstr>Example</vt:lpstr>
      <vt:lpstr>Modelling Requirements</vt:lpstr>
      <vt:lpstr>Modelling Requirements</vt:lpstr>
      <vt:lpstr>Case Study</vt:lpstr>
      <vt:lpstr>Case Study</vt:lpstr>
      <vt:lpstr>Case Study</vt:lpstr>
      <vt:lpstr>Case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Uthayan Kanni Rajendran</dc:creator>
  <cp:lastModifiedBy>Suganya Elavarasan</cp:lastModifiedBy>
  <cp:revision>171</cp:revision>
  <dcterms:created xsi:type="dcterms:W3CDTF">2024-02-19T06:23:27Z</dcterms:created>
  <dcterms:modified xsi:type="dcterms:W3CDTF">2025-07-24T03:11:39Z</dcterms:modified>
</cp:coreProperties>
</file>