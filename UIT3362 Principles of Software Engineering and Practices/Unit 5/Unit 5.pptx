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92" r:id="rId10"/>
    <p:sldId id="29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80301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01178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1797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76114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58081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6377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58347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582561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18259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2676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2837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08057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85655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89045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909073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746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10/30/2025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331110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A9A3-79CD-DD1C-5025-7EDCB21E5CD8}"/>
              </a:ext>
            </a:extLst>
          </p:cNvPr>
          <p:cNvSpPr>
            <a:spLocks noGrp="1"/>
          </p:cNvSpPr>
          <p:nvPr>
            <p:ph type="ctrTitle"/>
          </p:nvPr>
        </p:nvSpPr>
        <p:spPr/>
        <p:txBody>
          <a:bodyPr/>
          <a:lstStyle/>
          <a:p>
            <a:r>
              <a:rPr lang="en-US" dirty="0"/>
              <a:t>Unit 5</a:t>
            </a:r>
            <a:endParaRPr lang="en-IN" dirty="0"/>
          </a:p>
        </p:txBody>
      </p:sp>
      <p:sp>
        <p:nvSpPr>
          <p:cNvPr id="3" name="Subtitle 2">
            <a:extLst>
              <a:ext uri="{FF2B5EF4-FFF2-40B4-BE49-F238E27FC236}">
                <a16:creationId xmlns:a16="http://schemas.microsoft.com/office/drawing/2014/main" id="{5490DE1D-DFA0-D492-A69E-7C0AF0AB975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448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Management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606752"/>
            <a:ext cx="10972800" cy="5922235"/>
          </a:xfrm>
        </p:spPr>
        <p:txBody>
          <a:bodyPr>
            <a:normAutofit fontScale="92500" lnSpcReduction="20000"/>
          </a:bodyPr>
          <a:lstStyle/>
          <a:p>
            <a:pPr algn="just"/>
            <a:r>
              <a:rPr lang="en-US" sz="1600" dirty="0">
                <a:latin typeface="Times New Roman" panose="02020603050405020304" pitchFamily="18" charset="0"/>
                <a:cs typeface="Times New Roman" panose="02020603050405020304" pitchFamily="18" charset="0"/>
              </a:rPr>
              <a:t>Risk management is a structured approach to identifying, analyzing, and responding to risks during the software development life cycle. By managing risks, projects can minimize potential setbacks, budget overruns, and failures.</a:t>
            </a:r>
          </a:p>
          <a:p>
            <a:pPr algn="just"/>
            <a:r>
              <a:rPr lang="en-US" sz="1600" dirty="0">
                <a:latin typeface="Times New Roman" panose="02020603050405020304" pitchFamily="18" charset="0"/>
                <a:cs typeface="Times New Roman" panose="02020603050405020304" pitchFamily="18" charset="0"/>
              </a:rPr>
              <a:t>The goal of risk identification is to uncover all potential risks that might negatively affect the project. These risks can be technical, organizational, or external in nature.</a:t>
            </a:r>
          </a:p>
          <a:p>
            <a:pPr algn="just"/>
            <a:r>
              <a:rPr lang="en-US" sz="1600" dirty="0">
                <a:latin typeface="Times New Roman" panose="02020603050405020304" pitchFamily="18" charset="0"/>
                <a:cs typeface="Times New Roman" panose="02020603050405020304" pitchFamily="18" charset="0"/>
              </a:rPr>
              <a:t>Risks can be divided into several key categories, primarily focused on their origin and potential impact on the software project.</a:t>
            </a:r>
          </a:p>
          <a:p>
            <a:pPr marL="0" indent="0" algn="just">
              <a:buNone/>
            </a:pPr>
            <a:r>
              <a:rPr lang="en-US" sz="1600" b="1" dirty="0">
                <a:latin typeface="Times New Roman" panose="02020603050405020304" pitchFamily="18" charset="0"/>
                <a:cs typeface="Times New Roman" panose="02020603050405020304" pitchFamily="18" charset="0"/>
              </a:rPr>
              <a:t>Project Risks </a:t>
            </a:r>
            <a:r>
              <a:rPr lang="en-US" sz="1600" dirty="0">
                <a:latin typeface="Times New Roman" panose="02020603050405020304" pitchFamily="18" charset="0"/>
                <a:cs typeface="Times New Roman" panose="02020603050405020304" pitchFamily="18" charset="0"/>
              </a:rPr>
              <a:t>- These are risks that affect the project plan and can lead to delays, missed deadlines, or budget overruns. Project risks can influence the overall project timeline, quality, or resource allocation. Ex: Unrealistic deadlines set by upper management without input from the development team can lead to rushed and incomplete development, Insufficient resources available to meet project demands, such as not enough qualified developers.</a:t>
            </a:r>
          </a:p>
          <a:p>
            <a:pPr marL="0" indent="0" algn="just">
              <a:buNone/>
            </a:pPr>
            <a:r>
              <a:rPr lang="en-US" sz="1600" dirty="0">
                <a:latin typeface="Times New Roman" panose="02020603050405020304" pitchFamily="18" charset="0"/>
                <a:cs typeface="Times New Roman" panose="02020603050405020304" pitchFamily="18" charset="0"/>
              </a:rPr>
              <a:t>Project Risk Subtypes:</a:t>
            </a:r>
          </a:p>
          <a:p>
            <a:pPr marL="0" indent="0" algn="just">
              <a:buNone/>
            </a:pPr>
            <a:r>
              <a:rPr lang="en-US" sz="1600" dirty="0">
                <a:latin typeface="Times New Roman" panose="02020603050405020304" pitchFamily="18" charset="0"/>
                <a:cs typeface="Times New Roman" panose="02020603050405020304" pitchFamily="18" charset="0"/>
              </a:rPr>
              <a:t>Schedule Risks:</a:t>
            </a:r>
          </a:p>
          <a:p>
            <a:pPr lvl="1" algn="just"/>
            <a:r>
              <a:rPr lang="en-US" sz="1600" dirty="0">
                <a:latin typeface="Times New Roman" panose="02020603050405020304" pitchFamily="18" charset="0"/>
                <a:cs typeface="Times New Roman" panose="02020603050405020304" pitchFamily="18" charset="0"/>
              </a:rPr>
              <a:t>Impact the project timeline, typically due to poor estimates, missed deadlines, or unexpected staff shortages.</a:t>
            </a:r>
          </a:p>
          <a:p>
            <a:pPr lvl="1" algn="just"/>
            <a:r>
              <a:rPr lang="en-US" sz="1600" dirty="0">
                <a:latin typeface="Times New Roman" panose="02020603050405020304" pitchFamily="18" charset="0"/>
                <a:cs typeface="Times New Roman" panose="02020603050405020304" pitchFamily="18" charset="0"/>
              </a:rPr>
              <a:t>Example: Underestimating the time required to develop a complex software feature.</a:t>
            </a:r>
          </a:p>
          <a:p>
            <a:pPr marL="0" indent="0" algn="just">
              <a:buNone/>
            </a:pPr>
            <a:r>
              <a:rPr lang="en-US" sz="1600" dirty="0">
                <a:latin typeface="Times New Roman" panose="02020603050405020304" pitchFamily="18" charset="0"/>
                <a:cs typeface="Times New Roman" panose="02020603050405020304" pitchFamily="18" charset="0"/>
              </a:rPr>
              <a:t>Budget Risks:</a:t>
            </a:r>
          </a:p>
          <a:p>
            <a:pPr lvl="1" algn="just"/>
            <a:r>
              <a:rPr lang="en-US" sz="1600" dirty="0">
                <a:latin typeface="Times New Roman" panose="02020603050405020304" pitchFamily="18" charset="0"/>
                <a:cs typeface="Times New Roman" panose="02020603050405020304" pitchFamily="18" charset="0"/>
              </a:rPr>
              <a:t>Lead to cost overruns, either due to misestimated costs or unexpected expenses, such as needing extra resources or paying for additional tools and technologies.</a:t>
            </a:r>
          </a:p>
          <a:p>
            <a:pPr lvl="1" algn="just"/>
            <a:r>
              <a:rPr lang="en-US" sz="1600" dirty="0">
                <a:latin typeface="Times New Roman" panose="02020603050405020304" pitchFamily="18" charset="0"/>
                <a:cs typeface="Times New Roman" panose="02020603050405020304" pitchFamily="18" charset="0"/>
              </a:rPr>
              <a:t>Example: Needing to buy additional third-party software licenses halfway through the project.</a:t>
            </a:r>
          </a:p>
          <a:p>
            <a:pPr marL="0" indent="0" algn="just">
              <a:buNone/>
            </a:pPr>
            <a:r>
              <a:rPr lang="en-US" sz="1600" dirty="0">
                <a:latin typeface="Times New Roman" panose="02020603050405020304" pitchFamily="18" charset="0"/>
                <a:cs typeface="Times New Roman" panose="02020603050405020304" pitchFamily="18" charset="0"/>
              </a:rPr>
              <a:t>Staffing Risks:</a:t>
            </a:r>
          </a:p>
          <a:p>
            <a:pPr lvl="1" algn="just"/>
            <a:r>
              <a:rPr lang="en-US" sz="1600" dirty="0">
                <a:latin typeface="Times New Roman" panose="02020603050405020304" pitchFamily="18" charset="0"/>
                <a:cs typeface="Times New Roman" panose="02020603050405020304" pitchFamily="18" charset="0"/>
              </a:rPr>
              <a:t>Occur when key personnel are unavailable, leading to delays or project disruption.</a:t>
            </a:r>
          </a:p>
          <a:p>
            <a:pPr lvl="1" algn="just"/>
            <a:r>
              <a:rPr lang="en-US" sz="1600" dirty="0">
                <a:latin typeface="Times New Roman" panose="02020603050405020304" pitchFamily="18" charset="0"/>
                <a:cs typeface="Times New Roman" panose="02020603050405020304" pitchFamily="18" charset="0"/>
              </a:rPr>
              <a:t>Example: If a project manager or lead developer leaves the team, the remaining team may struggle to fill the gap in knowledge or leadership.</a:t>
            </a: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20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FDECB-7953-F003-1728-014BC94EA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6F48E-C129-4644-BDA9-70AFB8DD9937}"/>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Management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FCE4A1-DE05-C42D-8101-743701B83C5D}"/>
              </a:ext>
            </a:extLst>
          </p:cNvPr>
          <p:cNvSpPr>
            <a:spLocks noGrp="1"/>
          </p:cNvSpPr>
          <p:nvPr>
            <p:ph idx="1"/>
          </p:nvPr>
        </p:nvSpPr>
        <p:spPr>
          <a:xfrm>
            <a:off x="609600" y="606752"/>
            <a:ext cx="10972800" cy="5922235"/>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Technical risks </a:t>
            </a:r>
            <a:r>
              <a:rPr lang="en-US" sz="1800" dirty="0">
                <a:latin typeface="Times New Roman" panose="02020603050405020304" pitchFamily="18" charset="0"/>
                <a:cs typeface="Times New Roman" panose="02020603050405020304" pitchFamily="18" charset="0"/>
              </a:rPr>
              <a:t>- affect the quality and performance of the software being developed. They arise from the technical aspects of the project, such as software architecture, development tools, or platforms.</a:t>
            </a:r>
          </a:p>
          <a:p>
            <a:pPr marL="0" indent="0" algn="just">
              <a:buNone/>
            </a:pPr>
            <a:r>
              <a:rPr lang="en-US" sz="1800" dirty="0">
                <a:latin typeface="Times New Roman" panose="02020603050405020304" pitchFamily="18" charset="0"/>
                <a:cs typeface="Times New Roman" panose="02020603050405020304" pitchFamily="18" charset="0"/>
              </a:rPr>
              <a:t>Technical Risk Subtypes:</a:t>
            </a:r>
          </a:p>
          <a:p>
            <a:pPr marL="0" indent="0" algn="just">
              <a:buNone/>
            </a:pPr>
            <a:r>
              <a:rPr lang="en-US" sz="1800" dirty="0">
                <a:latin typeface="Times New Roman" panose="02020603050405020304" pitchFamily="18" charset="0"/>
                <a:cs typeface="Times New Roman" panose="02020603050405020304" pitchFamily="18" charset="0"/>
              </a:rPr>
              <a:t>Design Risks:</a:t>
            </a:r>
          </a:p>
          <a:p>
            <a:pPr lvl="1" algn="just"/>
            <a:r>
              <a:rPr lang="en-US" sz="1400" dirty="0">
                <a:latin typeface="Times New Roman" panose="02020603050405020304" pitchFamily="18" charset="0"/>
                <a:cs typeface="Times New Roman" panose="02020603050405020304" pitchFamily="18" charset="0"/>
              </a:rPr>
              <a:t>Risks that the system architecture or design is flawed or unsuitable for the problem at hand.</a:t>
            </a:r>
          </a:p>
          <a:p>
            <a:pPr lvl="1" algn="just"/>
            <a:r>
              <a:rPr lang="en-US" sz="1400" dirty="0">
                <a:latin typeface="Times New Roman" panose="02020603050405020304" pitchFamily="18" charset="0"/>
                <a:cs typeface="Times New Roman" panose="02020603050405020304" pitchFamily="18" charset="0"/>
              </a:rPr>
              <a:t>Example: Choosing an inappropriate database design that fails to handle the scale of transactions required.</a:t>
            </a:r>
          </a:p>
          <a:p>
            <a:pPr marL="0" indent="0" algn="just">
              <a:buNone/>
            </a:pPr>
            <a:r>
              <a:rPr lang="en-US" sz="1800" dirty="0">
                <a:latin typeface="Times New Roman" panose="02020603050405020304" pitchFamily="18" charset="0"/>
                <a:cs typeface="Times New Roman" panose="02020603050405020304" pitchFamily="18" charset="0"/>
              </a:rPr>
              <a:t>Implementation Risks:</a:t>
            </a:r>
          </a:p>
          <a:p>
            <a:pPr lvl="1" algn="just"/>
            <a:r>
              <a:rPr lang="en-US" sz="1400" dirty="0">
                <a:latin typeface="Times New Roman" panose="02020603050405020304" pitchFamily="18" charset="0"/>
                <a:cs typeface="Times New Roman" panose="02020603050405020304" pitchFamily="18" charset="0"/>
              </a:rPr>
              <a:t>Issues arise from coding or development activities, such as unforeseen difficulties with programming languages, frameworks, or development environments.</a:t>
            </a:r>
          </a:p>
          <a:p>
            <a:pPr lvl="1" algn="just"/>
            <a:r>
              <a:rPr lang="en-US" sz="1400" dirty="0">
                <a:latin typeface="Times New Roman" panose="02020603050405020304" pitchFamily="18" charset="0"/>
                <a:cs typeface="Times New Roman" panose="02020603050405020304" pitchFamily="18" charset="0"/>
              </a:rPr>
              <a:t>Example: A developer struggles to integrate a third-party library, leading to delays.</a:t>
            </a:r>
          </a:p>
          <a:p>
            <a:pPr marL="0" indent="0" algn="just">
              <a:buNone/>
            </a:pPr>
            <a:r>
              <a:rPr lang="en-US" sz="1800" dirty="0">
                <a:latin typeface="Times New Roman" panose="02020603050405020304" pitchFamily="18" charset="0"/>
                <a:cs typeface="Times New Roman" panose="02020603050405020304" pitchFamily="18" charset="0"/>
              </a:rPr>
              <a:t>Technology Risks:</a:t>
            </a:r>
          </a:p>
          <a:p>
            <a:pPr lvl="1" algn="just"/>
            <a:r>
              <a:rPr lang="en-US" sz="1400" dirty="0">
                <a:latin typeface="Times New Roman" panose="02020603050405020304" pitchFamily="18" charset="0"/>
                <a:cs typeface="Times New Roman" panose="02020603050405020304" pitchFamily="18" charset="0"/>
              </a:rPr>
              <a:t>Risks related to using new, untested, or rapidly evolving technologies, which may be unstable or poorly documented.</a:t>
            </a:r>
          </a:p>
          <a:p>
            <a:pPr lvl="1" algn="just"/>
            <a:r>
              <a:rPr lang="en-US" sz="1400" dirty="0">
                <a:latin typeface="Times New Roman" panose="02020603050405020304" pitchFamily="18" charset="0"/>
                <a:cs typeface="Times New Roman" panose="02020603050405020304" pitchFamily="18" charset="0"/>
              </a:rPr>
              <a:t>Example: Adopting a bleeding-edge AI framework that isn't fully compatible with the existing infrastructure.</a:t>
            </a:r>
          </a:p>
          <a:p>
            <a:pPr marL="0" indent="0" algn="just">
              <a:buNone/>
            </a:pPr>
            <a:r>
              <a:rPr lang="en-US" sz="1800" dirty="0">
                <a:latin typeface="Times New Roman" panose="02020603050405020304" pitchFamily="18" charset="0"/>
                <a:cs typeface="Times New Roman" panose="02020603050405020304" pitchFamily="18" charset="0"/>
              </a:rPr>
              <a:t>Performance Risks:</a:t>
            </a:r>
          </a:p>
          <a:p>
            <a:pPr lvl="1" algn="just"/>
            <a:r>
              <a:rPr lang="en-US" sz="1400" dirty="0">
                <a:latin typeface="Times New Roman" panose="02020603050405020304" pitchFamily="18" charset="0"/>
                <a:cs typeface="Times New Roman" panose="02020603050405020304" pitchFamily="18" charset="0"/>
              </a:rPr>
              <a:t>The software may not meet performance goals, such as speed, scalability, or resource efficiency.</a:t>
            </a:r>
          </a:p>
          <a:p>
            <a:pPr lvl="1" algn="just"/>
            <a:r>
              <a:rPr lang="en-US" sz="1400" dirty="0">
                <a:latin typeface="Times New Roman" panose="02020603050405020304" pitchFamily="18" charset="0"/>
                <a:cs typeface="Times New Roman" panose="02020603050405020304" pitchFamily="18" charset="0"/>
              </a:rPr>
              <a:t>Example: The application performs poorly under high load due to improper load-balancing strategies.</a:t>
            </a:r>
          </a:p>
        </p:txBody>
      </p:sp>
    </p:spTree>
    <p:extLst>
      <p:ext uri="{BB962C8B-B14F-4D97-AF65-F5344CB8AC3E}">
        <p14:creationId xmlns:p14="http://schemas.microsoft.com/office/powerpoint/2010/main" val="2352934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D52AB-AC38-63C7-2B54-7768726C2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4DD8A-5BB1-C19C-77C1-1424FCD90274}"/>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Management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36FC8F-39F0-6B4E-6BB2-28C1C0BB5D1C}"/>
              </a:ext>
            </a:extLst>
          </p:cNvPr>
          <p:cNvSpPr>
            <a:spLocks noGrp="1"/>
          </p:cNvSpPr>
          <p:nvPr>
            <p:ph idx="1"/>
          </p:nvPr>
        </p:nvSpPr>
        <p:spPr>
          <a:xfrm>
            <a:off x="609600" y="606752"/>
            <a:ext cx="10972800" cy="5922235"/>
          </a:xfrm>
        </p:spPr>
        <p:txBody>
          <a:bodyPr>
            <a:normAutofit fontScale="92500" lnSpcReduction="10000"/>
          </a:bodyPr>
          <a:lstStyle/>
          <a:p>
            <a:pPr marL="0" indent="0" algn="just">
              <a:buNone/>
            </a:pPr>
            <a:r>
              <a:rPr lang="en-US" sz="1700" b="1" dirty="0">
                <a:latin typeface="Times New Roman" panose="02020603050405020304" pitchFamily="18" charset="0"/>
                <a:cs typeface="Times New Roman" panose="02020603050405020304" pitchFamily="18" charset="0"/>
              </a:rPr>
              <a:t>Business Risks</a:t>
            </a:r>
          </a:p>
          <a:p>
            <a:pPr marL="0" indent="0" algn="just">
              <a:buNone/>
            </a:pPr>
            <a:r>
              <a:rPr lang="en-US" sz="1700" dirty="0">
                <a:latin typeface="Times New Roman" panose="02020603050405020304" pitchFamily="18" charset="0"/>
                <a:cs typeface="Times New Roman" panose="02020603050405020304" pitchFamily="18" charset="0"/>
              </a:rPr>
              <a:t>Business risks relate to the overall viability and success of the product in the marketplace. These risks typically affect the organization’s bottom line or competitive position.</a:t>
            </a:r>
          </a:p>
          <a:p>
            <a:pPr marL="0" indent="0" algn="just">
              <a:buNone/>
            </a:pPr>
            <a:r>
              <a:rPr lang="en-US" sz="1700" dirty="0">
                <a:latin typeface="Times New Roman" panose="02020603050405020304" pitchFamily="18" charset="0"/>
                <a:cs typeface="Times New Roman" panose="02020603050405020304" pitchFamily="18" charset="0"/>
              </a:rPr>
              <a:t>Business Risk Subtypes:</a:t>
            </a:r>
          </a:p>
          <a:p>
            <a:pPr marL="0" indent="0" algn="just">
              <a:buNone/>
            </a:pPr>
            <a:r>
              <a:rPr lang="en-US" sz="1700" dirty="0">
                <a:latin typeface="Times New Roman" panose="02020603050405020304" pitchFamily="18" charset="0"/>
                <a:cs typeface="Times New Roman" panose="02020603050405020304" pitchFamily="18" charset="0"/>
              </a:rPr>
              <a:t>Market Risks:</a:t>
            </a:r>
          </a:p>
          <a:p>
            <a:pPr lvl="1" algn="just"/>
            <a:r>
              <a:rPr lang="en-US" sz="1700" dirty="0">
                <a:latin typeface="Times New Roman" panose="02020603050405020304" pitchFamily="18" charset="0"/>
                <a:cs typeface="Times New Roman" panose="02020603050405020304" pitchFamily="18" charset="0"/>
              </a:rPr>
              <a:t>Arise if the product fails to meet market needs or expectations, leading to poor sales or customer dissatisfaction.</a:t>
            </a:r>
          </a:p>
          <a:p>
            <a:pPr lvl="1" algn="just"/>
            <a:r>
              <a:rPr lang="en-US" sz="1700" dirty="0">
                <a:latin typeface="Times New Roman" panose="02020603050405020304" pitchFamily="18" charset="0"/>
                <a:cs typeface="Times New Roman" panose="02020603050405020304" pitchFamily="18" charset="0"/>
              </a:rPr>
              <a:t>Example: Releasing a product in a crowded market without adequate differentiation from competitors.</a:t>
            </a:r>
          </a:p>
          <a:p>
            <a:pPr marL="0" indent="0" algn="just">
              <a:buNone/>
            </a:pPr>
            <a:r>
              <a:rPr lang="en-US" sz="1700" dirty="0">
                <a:latin typeface="Times New Roman" panose="02020603050405020304" pitchFamily="18" charset="0"/>
                <a:cs typeface="Times New Roman" panose="02020603050405020304" pitchFamily="18" charset="0"/>
              </a:rPr>
              <a:t>Strategic Risks:</a:t>
            </a:r>
          </a:p>
          <a:p>
            <a:pPr lvl="1" algn="just"/>
            <a:r>
              <a:rPr lang="en-US" sz="1700" dirty="0">
                <a:latin typeface="Times New Roman" panose="02020603050405020304" pitchFamily="18" charset="0"/>
                <a:cs typeface="Times New Roman" panose="02020603050405020304" pitchFamily="18" charset="0"/>
              </a:rPr>
              <a:t>The risk that the project goals don’t align with organizational objectives or strategy.</a:t>
            </a:r>
          </a:p>
          <a:p>
            <a:pPr lvl="1" algn="just"/>
            <a:r>
              <a:rPr lang="en-US" sz="1700" dirty="0">
                <a:latin typeface="Times New Roman" panose="02020603050405020304" pitchFamily="18" charset="0"/>
                <a:cs typeface="Times New Roman" panose="02020603050405020304" pitchFamily="18" charset="0"/>
              </a:rPr>
              <a:t>Example: The company invests heavily in a product that no longer fits its evolving long-term business strategy.</a:t>
            </a:r>
          </a:p>
          <a:p>
            <a:pPr marL="0" indent="0" algn="just">
              <a:buNone/>
            </a:pPr>
            <a:r>
              <a:rPr lang="en-US" sz="1700" dirty="0">
                <a:latin typeface="Times New Roman" panose="02020603050405020304" pitchFamily="18" charset="0"/>
                <a:cs typeface="Times New Roman" panose="02020603050405020304" pitchFamily="18" charset="0"/>
              </a:rPr>
              <a:t>Sales Risks:</a:t>
            </a:r>
          </a:p>
          <a:p>
            <a:pPr lvl="1" algn="just"/>
            <a:r>
              <a:rPr lang="en-US" sz="1700" dirty="0">
                <a:latin typeface="Times New Roman" panose="02020603050405020304" pitchFamily="18" charset="0"/>
                <a:cs typeface="Times New Roman" panose="02020603050405020304" pitchFamily="18" charset="0"/>
              </a:rPr>
              <a:t>Risks that sales forecasts are overestimated, causing financial strain when the product doesn’t meet sales goals.</a:t>
            </a:r>
          </a:p>
          <a:p>
            <a:pPr lvl="1" algn="just"/>
            <a:r>
              <a:rPr lang="en-US" sz="1700" dirty="0">
                <a:latin typeface="Times New Roman" panose="02020603050405020304" pitchFamily="18" charset="0"/>
                <a:cs typeface="Times New Roman" panose="02020603050405020304" pitchFamily="18" charset="0"/>
              </a:rPr>
              <a:t>Example: A new product is predicted to generate high sales, but market research was inadequate, leading to poor uptake.</a:t>
            </a:r>
          </a:p>
          <a:p>
            <a:pPr marL="0" indent="0" algn="just">
              <a:buNone/>
            </a:pPr>
            <a:r>
              <a:rPr lang="en-US" sz="1700" dirty="0">
                <a:latin typeface="Times New Roman" panose="02020603050405020304" pitchFamily="18" charset="0"/>
                <a:cs typeface="Times New Roman" panose="02020603050405020304" pitchFamily="18" charset="0"/>
              </a:rPr>
              <a:t>Management Risks:</a:t>
            </a:r>
          </a:p>
          <a:p>
            <a:pPr lvl="1" algn="just"/>
            <a:r>
              <a:rPr lang="en-US" sz="1700" dirty="0">
                <a:latin typeface="Times New Roman" panose="02020603050405020304" pitchFamily="18" charset="0"/>
                <a:cs typeface="Times New Roman" panose="02020603050405020304" pitchFamily="18" charset="0"/>
              </a:rPr>
              <a:t>Occur when senior management doesn’t provide adequate support, leading to insufficient resources or direction for the project.</a:t>
            </a:r>
          </a:p>
          <a:p>
            <a:pPr lvl="1" algn="just"/>
            <a:r>
              <a:rPr lang="en-US" sz="1700" dirty="0">
                <a:latin typeface="Times New Roman" panose="02020603050405020304" pitchFamily="18" charset="0"/>
                <a:cs typeface="Times New Roman" panose="02020603050405020304" pitchFamily="18" charset="0"/>
              </a:rPr>
              <a:t>Example: Senior leadership changes direction mid-project, causing delays in decision-making and confusion among the development team.</a:t>
            </a:r>
          </a:p>
        </p:txBody>
      </p:sp>
    </p:spTree>
    <p:extLst>
      <p:ext uri="{BB962C8B-B14F-4D97-AF65-F5344CB8AC3E}">
        <p14:creationId xmlns:p14="http://schemas.microsoft.com/office/powerpoint/2010/main" val="1456129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EBFDD-0B3E-176E-0447-2266DB4B0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8519A-0A38-99D6-E614-273FC9D01FB1}"/>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Management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937582-027B-63E5-F5F7-1442A2CEEA48}"/>
              </a:ext>
            </a:extLst>
          </p:cNvPr>
          <p:cNvSpPr>
            <a:spLocks noGrp="1"/>
          </p:cNvSpPr>
          <p:nvPr>
            <p:ph idx="1"/>
          </p:nvPr>
        </p:nvSpPr>
        <p:spPr>
          <a:xfrm>
            <a:off x="609600" y="606752"/>
            <a:ext cx="10972800" cy="5922235"/>
          </a:xfrm>
        </p:spPr>
        <p:txBody>
          <a:bodyPr>
            <a:normAutofit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External Risks </a:t>
            </a:r>
            <a:r>
              <a:rPr lang="en-US" sz="1800" dirty="0">
                <a:latin typeface="Times New Roman" panose="02020603050405020304" pitchFamily="18" charset="0"/>
                <a:cs typeface="Times New Roman" panose="02020603050405020304" pitchFamily="18" charset="0"/>
              </a:rPr>
              <a:t>- External risks come from outside the project or organization and are usually beyond the control of the project team. These risks are typically due to factors like vendors, regulatory changes, or environmental issues.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External Risk Subtypes:</a:t>
            </a:r>
          </a:p>
          <a:p>
            <a:pPr marL="0" indent="0" algn="just">
              <a:buNone/>
            </a:pPr>
            <a:r>
              <a:rPr lang="en-US" sz="1800" dirty="0">
                <a:latin typeface="Times New Roman" panose="02020603050405020304" pitchFamily="18" charset="0"/>
                <a:cs typeface="Times New Roman" panose="02020603050405020304" pitchFamily="18" charset="0"/>
              </a:rPr>
              <a:t>Regulatory and Legal Risks:</a:t>
            </a:r>
          </a:p>
          <a:p>
            <a:pPr lvl="1" algn="just"/>
            <a:r>
              <a:rPr lang="en-US" sz="1800" dirty="0">
                <a:latin typeface="Times New Roman" panose="02020603050405020304" pitchFamily="18" charset="0"/>
                <a:cs typeface="Times New Roman" panose="02020603050405020304" pitchFamily="18" charset="0"/>
              </a:rPr>
              <a:t>Risks due to changes in laws or regulations that impact the project, such as data privacy laws or new standards.</a:t>
            </a:r>
          </a:p>
          <a:p>
            <a:pPr lvl="1" algn="just"/>
            <a:r>
              <a:rPr lang="en-US" sz="1800" dirty="0">
                <a:latin typeface="Times New Roman" panose="02020603050405020304" pitchFamily="18" charset="0"/>
                <a:cs typeface="Times New Roman" panose="02020603050405020304" pitchFamily="18" charset="0"/>
              </a:rPr>
              <a:t>Example: New data protection laws require extensive changes to how user data is stored and processed, causing delays and added costs.</a:t>
            </a:r>
          </a:p>
          <a:p>
            <a:pPr marL="0" indent="0" algn="just">
              <a:buNone/>
            </a:pPr>
            <a:r>
              <a:rPr lang="en-US" sz="1800" dirty="0">
                <a:latin typeface="Times New Roman" panose="02020603050405020304" pitchFamily="18" charset="0"/>
                <a:cs typeface="Times New Roman" panose="02020603050405020304" pitchFamily="18" charset="0"/>
              </a:rPr>
              <a:t>Vendor Risks:</a:t>
            </a:r>
          </a:p>
          <a:p>
            <a:pPr lvl="1" algn="just"/>
            <a:r>
              <a:rPr lang="en-US" sz="1800" dirty="0">
                <a:latin typeface="Times New Roman" panose="02020603050405020304" pitchFamily="18" charset="0"/>
                <a:cs typeface="Times New Roman" panose="02020603050405020304" pitchFamily="18" charset="0"/>
              </a:rPr>
              <a:t>Risks that third-party vendors or service providers fail to meet their obligations, such as delays in providing critical components or services.</a:t>
            </a:r>
          </a:p>
          <a:p>
            <a:pPr lvl="1" algn="just"/>
            <a:r>
              <a:rPr lang="en-US" sz="1800" dirty="0">
                <a:latin typeface="Times New Roman" panose="02020603050405020304" pitchFamily="18" charset="0"/>
                <a:cs typeface="Times New Roman" panose="02020603050405020304" pitchFamily="18" charset="0"/>
              </a:rPr>
              <a:t>Example: A vendor fails to deliver a key component on time, delaying the integration phase of the project.</a:t>
            </a:r>
          </a:p>
          <a:p>
            <a:pPr marL="0" indent="0" algn="just">
              <a:buNone/>
            </a:pPr>
            <a:r>
              <a:rPr lang="en-US" sz="1800" dirty="0">
                <a:latin typeface="Times New Roman" panose="02020603050405020304" pitchFamily="18" charset="0"/>
                <a:cs typeface="Times New Roman" panose="02020603050405020304" pitchFamily="18" charset="0"/>
              </a:rPr>
              <a:t>Environmental Risks:</a:t>
            </a:r>
          </a:p>
          <a:p>
            <a:pPr lvl="1" algn="just"/>
            <a:r>
              <a:rPr lang="en-US" sz="1800" dirty="0">
                <a:latin typeface="Times New Roman" panose="02020603050405020304" pitchFamily="18" charset="0"/>
                <a:cs typeface="Times New Roman" panose="02020603050405020304" pitchFamily="18" charset="0"/>
              </a:rPr>
              <a:t>Risks from natural disasters, economic downturns, or unforeseen events like a pandemic.</a:t>
            </a:r>
          </a:p>
          <a:p>
            <a:pPr lvl="1" algn="just"/>
            <a:r>
              <a:rPr lang="en-US" sz="1800" dirty="0">
                <a:latin typeface="Times New Roman" panose="02020603050405020304" pitchFamily="18" charset="0"/>
                <a:cs typeface="Times New Roman" panose="02020603050405020304" pitchFamily="18" charset="0"/>
              </a:rPr>
              <a:t>Example: A sudden pandemic forces the project team to switch to remote work, causing productivity issues and delays.</a:t>
            </a:r>
          </a:p>
        </p:txBody>
      </p:sp>
    </p:spTree>
    <p:extLst>
      <p:ext uri="{BB962C8B-B14F-4D97-AF65-F5344CB8AC3E}">
        <p14:creationId xmlns:p14="http://schemas.microsoft.com/office/powerpoint/2010/main" val="2093307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14EEE-925A-D971-5679-1D7974E80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87CBF-ECCB-4F0D-FBC2-6CBFB93C1B34}"/>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Management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2E657C-9B77-22E5-4D28-CEA819AF9865}"/>
              </a:ext>
            </a:extLst>
          </p:cNvPr>
          <p:cNvSpPr>
            <a:spLocks noGrp="1"/>
          </p:cNvSpPr>
          <p:nvPr>
            <p:ph idx="1"/>
          </p:nvPr>
        </p:nvSpPr>
        <p:spPr>
          <a:xfrm>
            <a:off x="609600" y="606752"/>
            <a:ext cx="10972800" cy="5922235"/>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Customer-Related Risks</a:t>
            </a:r>
            <a:r>
              <a:rPr lang="en-US" sz="1800" dirty="0">
                <a:latin typeface="Times New Roman" panose="02020603050405020304" pitchFamily="18" charset="0"/>
                <a:cs typeface="Times New Roman" panose="02020603050405020304" pitchFamily="18" charset="0"/>
              </a:rPr>
              <a:t>:</a:t>
            </a:r>
          </a:p>
          <a:p>
            <a:pPr lvl="1" algn="just"/>
            <a:r>
              <a:rPr lang="en-US" sz="1800" dirty="0">
                <a:latin typeface="Times New Roman" panose="02020603050405020304" pitchFamily="18" charset="0"/>
                <a:cs typeface="Times New Roman" panose="02020603050405020304" pitchFamily="18" charset="0"/>
              </a:rPr>
              <a:t>These risks arise from misunderstanding or incorrect assumptions about customer needs, which could result in the product failing to meet user expectations.</a:t>
            </a:r>
          </a:p>
          <a:p>
            <a:pPr lvl="1" algn="just"/>
            <a:r>
              <a:rPr lang="en-US" sz="1800" dirty="0">
                <a:latin typeface="Times New Roman" panose="02020603050405020304" pitchFamily="18" charset="0"/>
                <a:cs typeface="Times New Roman" panose="02020603050405020304" pitchFamily="18" charset="0"/>
              </a:rPr>
              <a:t>Example: Customers requested a specific feature, but the development team misunderstood the requirement, leading to a mismatch in functionality.</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Product Risks</a:t>
            </a:r>
            <a:r>
              <a:rPr lang="en-US" sz="1800" dirty="0">
                <a:latin typeface="Times New Roman" panose="02020603050405020304" pitchFamily="18" charset="0"/>
                <a:cs typeface="Times New Roman" panose="02020603050405020304" pitchFamily="18" charset="0"/>
              </a:rPr>
              <a:t>:</a:t>
            </a:r>
          </a:p>
          <a:p>
            <a:pPr lvl="1" algn="just"/>
            <a:r>
              <a:rPr lang="en-US" sz="1800" dirty="0">
                <a:latin typeface="Times New Roman" panose="02020603050405020304" pitchFamily="18" charset="0"/>
                <a:cs typeface="Times New Roman" panose="02020603050405020304" pitchFamily="18" charset="0"/>
              </a:rPr>
              <a:t>These risks relate to the quality of the final product, including whether it will meet the necessary quality standards, be delivered on time, or satisfy user requirements.</a:t>
            </a:r>
          </a:p>
          <a:p>
            <a:pPr lvl="1" algn="just"/>
            <a:r>
              <a:rPr lang="en-US" sz="1800" dirty="0">
                <a:latin typeface="Times New Roman" panose="02020603050405020304" pitchFamily="18" charset="0"/>
                <a:cs typeface="Times New Roman" panose="02020603050405020304" pitchFamily="18" charset="0"/>
              </a:rPr>
              <a:t>Example: The software is released with a large number of defects, affecting user satisfaction and adoption.</a:t>
            </a:r>
          </a:p>
        </p:txBody>
      </p:sp>
    </p:spTree>
    <p:extLst>
      <p:ext uri="{BB962C8B-B14F-4D97-AF65-F5344CB8AC3E}">
        <p14:creationId xmlns:p14="http://schemas.microsoft.com/office/powerpoint/2010/main" val="652286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4CFD-9803-B997-A11A-21407463F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25D0F-8FFA-5BB8-7213-D443F71862B3}"/>
              </a:ext>
            </a:extLst>
          </p:cNvPr>
          <p:cNvSpPr>
            <a:spLocks noGrp="1"/>
          </p:cNvSpPr>
          <p:nvPr>
            <p:ph type="title"/>
          </p:nvPr>
        </p:nvSpPr>
        <p:spPr>
          <a:xfrm>
            <a:off x="531844" y="153128"/>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Exposure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7C0BD7-940C-5F1E-093B-4DBAF732D72C}"/>
              </a:ext>
            </a:extLst>
          </p:cNvPr>
          <p:cNvSpPr>
            <a:spLocks noGrp="1"/>
          </p:cNvSpPr>
          <p:nvPr>
            <p:ph idx="1"/>
          </p:nvPr>
        </p:nvSpPr>
        <p:spPr>
          <a:xfrm>
            <a:off x="311020" y="866875"/>
            <a:ext cx="11193624" cy="5922235"/>
          </a:xfrm>
        </p:spPr>
        <p:txBody>
          <a:bodyPr/>
          <a:lstStyle/>
          <a:p>
            <a:pPr algn="just"/>
            <a:r>
              <a:rPr lang="en-US" sz="1800" dirty="0">
                <a:latin typeface="Times New Roman" panose="02020603050405020304" pitchFamily="18" charset="0"/>
                <a:cs typeface="Times New Roman" panose="02020603050405020304" pitchFamily="18" charset="0"/>
              </a:rPr>
              <a:t>A metric that quantifies the potential impact of a risk on a project by combining the likelihood of the risk occurring with the severity of its consequences. It helps project managers prioritize risks and allocate resources effectively by determining which risks pose the greatest threat to the project's success.</a:t>
            </a:r>
          </a:p>
          <a:p>
            <a:pPr lvl="1" algn="just"/>
            <a:r>
              <a:rPr lang="en-US" sz="1800" dirty="0">
                <a:latin typeface="Times New Roman" panose="02020603050405020304" pitchFamily="18" charset="0"/>
                <a:cs typeface="Times New Roman" panose="02020603050405020304" pitchFamily="18" charset="0"/>
              </a:rPr>
              <a:t>Risk Exposure (RE)=Probability of Risk </a:t>
            </a:r>
            <a:r>
              <a:rPr lang="en-US" sz="1800" dirty="0" err="1">
                <a:latin typeface="Times New Roman" panose="02020603050405020304" pitchFamily="18" charset="0"/>
                <a:cs typeface="Times New Roman" panose="02020603050405020304" pitchFamily="18" charset="0"/>
              </a:rPr>
              <a:t>Occurrence×Potential</a:t>
            </a:r>
            <a:r>
              <a:rPr lang="en-US" sz="1800" dirty="0">
                <a:latin typeface="Times New Roman" panose="02020603050405020304" pitchFamily="18" charset="0"/>
                <a:cs typeface="Times New Roman" panose="02020603050405020304" pitchFamily="18" charset="0"/>
              </a:rPr>
              <a:t> Loss (Impact)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Probability of Risk Occurrence: This is the likelihood or chance that a specific risk will happen. It can be expressed as a percentage (e.g., 10%, 40%) or as a fraction (e.g., 0.1, 0.4).</a:t>
            </a:r>
          </a:p>
          <a:p>
            <a:pPr algn="just"/>
            <a:r>
              <a:rPr lang="en-US" sz="1800" dirty="0">
                <a:latin typeface="Times New Roman" panose="02020603050405020304" pitchFamily="18" charset="0"/>
                <a:cs typeface="Times New Roman" panose="02020603050405020304" pitchFamily="18" charset="0"/>
              </a:rPr>
              <a:t>Potential Loss (Impact): This refers to the negative impact or damage that would result if the risk becomes a reality. It is typically measured in terms of cost (e.g., dollars) but can also include time, quality, or performance loss.</a:t>
            </a:r>
          </a:p>
          <a:p>
            <a:pPr algn="just"/>
            <a:r>
              <a:rPr lang="en-US" sz="1800" dirty="0">
                <a:latin typeface="Times New Roman" panose="02020603050405020304" pitchFamily="18" charset="0"/>
                <a:cs typeface="Times New Roman" panose="02020603050405020304" pitchFamily="18" charset="0"/>
              </a:rPr>
              <a:t>The result of the Risk Exposure calculation gives a numeric value representing the potential "cost" of the risk, which helps in decision-making. Risks with higher exposure values should typically receive more attention and resources.</a:t>
            </a:r>
          </a:p>
          <a:p>
            <a:pPr algn="just"/>
            <a:r>
              <a:rPr lang="en-US" sz="1800" dirty="0">
                <a:latin typeface="Times New Roman" panose="02020603050405020304" pitchFamily="18" charset="0"/>
                <a:cs typeface="Times New Roman" panose="02020603050405020304" pitchFamily="18" charset="0"/>
              </a:rPr>
              <a:t>Risk Exposure (RE) is a valuable tool for quantifying risks and guiding project managers in decision-making. It helps determine which risks are worth focusing on and allocating resources to, based on their likelihood and potential impact. By calculating risk exposure, teams can proactively manage risks and minimize their negative effects on project success.</a:t>
            </a:r>
          </a:p>
        </p:txBody>
      </p:sp>
    </p:spTree>
    <p:extLst>
      <p:ext uri="{BB962C8B-B14F-4D97-AF65-F5344CB8AC3E}">
        <p14:creationId xmlns:p14="http://schemas.microsoft.com/office/powerpoint/2010/main" val="2004091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FF304-5783-86B0-E997-D419D5E28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9EAF5-350E-D9E4-5A80-36211124BAC0}"/>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Exposure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C82DE5-DFA8-25E7-9718-A04C827FE906}"/>
              </a:ext>
            </a:extLst>
          </p:cNvPr>
          <p:cNvSpPr>
            <a:spLocks noGrp="1"/>
          </p:cNvSpPr>
          <p:nvPr>
            <p:ph idx="1"/>
          </p:nvPr>
        </p:nvSpPr>
        <p:spPr>
          <a:xfrm>
            <a:off x="609600" y="733245"/>
            <a:ext cx="10972800" cy="5795742"/>
          </a:xfrm>
        </p:spPr>
        <p:txBody>
          <a:bodyPr/>
          <a:lstStyle/>
          <a:p>
            <a:pPr algn="just"/>
            <a:r>
              <a:rPr lang="en-US" sz="1800" dirty="0">
                <a:latin typeface="Times New Roman" panose="02020603050405020304" pitchFamily="18" charset="0"/>
                <a:cs typeface="Times New Roman" panose="02020603050405020304" pitchFamily="18" charset="0"/>
              </a:rPr>
              <a:t>Imagine a software development project where there is a risk that the integration phase might take longer than expected due to the complexity of combining various components of the system. This could lead to a delay in delivery. </a:t>
            </a:r>
          </a:p>
          <a:p>
            <a:pPr algn="just"/>
            <a:r>
              <a:rPr lang="en-US" sz="1800" dirty="0">
                <a:latin typeface="Times New Roman" panose="02020603050405020304" pitchFamily="18" charset="0"/>
                <a:cs typeface="Times New Roman" panose="02020603050405020304" pitchFamily="18" charset="0"/>
              </a:rPr>
              <a:t>Probability of Occurrence: The project manager estimates that the likelihood of this delay happening is 40%, or 0.4.</a:t>
            </a:r>
          </a:p>
          <a:p>
            <a:pPr algn="just"/>
            <a:r>
              <a:rPr lang="en-US" sz="1800" dirty="0">
                <a:latin typeface="Times New Roman" panose="02020603050405020304" pitchFamily="18" charset="0"/>
                <a:cs typeface="Times New Roman" panose="02020603050405020304" pitchFamily="18" charset="0"/>
              </a:rPr>
              <a:t>Potential Loss: If this delay happens, it could push back the project completion by 2 months, resulting in a loss of $100,000 in additional costs (e.g., labor, overhead).</a:t>
            </a:r>
          </a:p>
          <a:p>
            <a:pPr algn="just"/>
            <a:r>
              <a:rPr lang="en-US" sz="1800" dirty="0">
                <a:latin typeface="Times New Roman" panose="02020603050405020304" pitchFamily="18" charset="0"/>
                <a:cs typeface="Times New Roman" panose="02020603050405020304" pitchFamily="18" charset="0"/>
              </a:rPr>
              <a:t>RE=0.4×100,000=40,000</a:t>
            </a:r>
          </a:p>
          <a:p>
            <a:pPr algn="just"/>
            <a:r>
              <a:rPr lang="en-US" sz="1800" dirty="0">
                <a:latin typeface="Times New Roman" panose="02020603050405020304" pitchFamily="18" charset="0"/>
                <a:cs typeface="Times New Roman" panose="02020603050405020304" pitchFamily="18" charset="0"/>
              </a:rPr>
              <a:t>This means that the Risk Exposure for this potential delay is $40,000, which represents the estimated cost the project could incur if the risk materializes. The project team can now assess if and how they should mitigate this risk, such as by adding additional resources to speed up the integration process or by using alternative integration techniques.</a:t>
            </a:r>
          </a:p>
        </p:txBody>
      </p:sp>
    </p:spTree>
    <p:extLst>
      <p:ext uri="{BB962C8B-B14F-4D97-AF65-F5344CB8AC3E}">
        <p14:creationId xmlns:p14="http://schemas.microsoft.com/office/powerpoint/2010/main" val="42756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E6ACB-2D11-CDF7-B5E2-9E4CCD027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C7A67-E4B5-5736-886C-03620B1909AF}"/>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Metrics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3FB316-305B-F744-9D45-41E4FE286A3D}"/>
              </a:ext>
            </a:extLst>
          </p:cNvPr>
          <p:cNvSpPr>
            <a:spLocks noGrp="1"/>
          </p:cNvSpPr>
          <p:nvPr>
            <p:ph idx="1"/>
          </p:nvPr>
        </p:nvSpPr>
        <p:spPr>
          <a:xfrm>
            <a:off x="609600" y="606752"/>
            <a:ext cx="11118980" cy="5922235"/>
          </a:xfrm>
        </p:spPr>
        <p:txBody>
          <a:bodyPr/>
          <a:lstStyle/>
          <a:p>
            <a:pPr algn="just"/>
            <a:r>
              <a:rPr lang="en-US" sz="2000" dirty="0">
                <a:latin typeface="Times New Roman" panose="02020603050405020304" pitchFamily="18" charset="0"/>
                <a:cs typeface="Times New Roman" panose="02020603050405020304" pitchFamily="18" charset="0"/>
              </a:rPr>
              <a:t>MTTR (Mean Time to Repair) and MTBF (Mean Time Between Failures) are key metrics in risk management and reliability engineering, often used to evaluate and improve the reliability, availability, and resilience of systems. They help organizations anticipate and manage risks by quantifying the time-related aspects of system failures and repairs.</a:t>
            </a:r>
          </a:p>
          <a:p>
            <a:pPr algn="just"/>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1. Mean Time to Repair (MTTR)</a:t>
            </a:r>
          </a:p>
          <a:p>
            <a:pPr lvl="1" algn="just"/>
            <a:r>
              <a:rPr lang="en-US" sz="1600" dirty="0">
                <a:latin typeface="Times New Roman" panose="02020603050405020304" pitchFamily="18" charset="0"/>
                <a:cs typeface="Times New Roman" panose="02020603050405020304" pitchFamily="18" charset="0"/>
              </a:rPr>
              <a:t>MTTR measures the average time taken to repair a system or component after a failure. It indicates the efficiency and speed of the maintenance or repair process and helps in planning for resource allocation, ensuring that systems can recover quickly from disruptions.</a:t>
            </a:r>
          </a:p>
          <a:p>
            <a:pPr marL="0" indent="0" algn="just">
              <a:buNone/>
            </a:pPr>
            <a:r>
              <a:rPr lang="en-US" sz="2000" dirty="0">
                <a:latin typeface="Times New Roman" panose="02020603050405020304" pitchFamily="18" charset="0"/>
                <a:cs typeface="Times New Roman" panose="02020603050405020304" pitchFamily="18" charset="0"/>
              </a:rPr>
              <a:t>Formula:</a:t>
            </a:r>
          </a:p>
          <a:p>
            <a:pPr marL="0" indent="0" algn="just">
              <a:buNone/>
            </a:pPr>
            <a:r>
              <a:rPr lang="en-US" sz="2000" dirty="0">
                <a:latin typeface="Times New Roman" panose="02020603050405020304" pitchFamily="18" charset="0"/>
                <a:cs typeface="Times New Roman" panose="02020603050405020304" pitchFamily="18" charset="0"/>
              </a:rPr>
              <a:t>MTTR  = Total Downtime / Number of Repairs</a:t>
            </a:r>
          </a:p>
          <a:p>
            <a:pPr algn="just"/>
            <a:r>
              <a:rPr lang="en-US" sz="2000" dirty="0">
                <a:latin typeface="Times New Roman" panose="02020603050405020304" pitchFamily="18" charset="0"/>
                <a:cs typeface="Times New Roman" panose="02020603050405020304" pitchFamily="18" charset="0"/>
              </a:rPr>
              <a:t>To reduce downtime by optimizing repair and recovery processes.</a:t>
            </a:r>
          </a:p>
          <a:p>
            <a:pPr algn="just"/>
            <a:r>
              <a:rPr lang="en-US" sz="2000" dirty="0">
                <a:latin typeface="Times New Roman" panose="02020603050405020304" pitchFamily="18" charset="0"/>
                <a:cs typeface="Times New Roman" panose="02020603050405020304" pitchFamily="18" charset="0"/>
              </a:rPr>
              <a:t>​A lower MTTR means faster recovery from failures, which enhances system availability.</a:t>
            </a:r>
          </a:p>
          <a:p>
            <a:pPr algn="just"/>
            <a:r>
              <a:rPr lang="en-US" sz="2000" dirty="0">
                <a:latin typeface="Times New Roman" panose="02020603050405020304" pitchFamily="18" charset="0"/>
                <a:cs typeface="Times New Roman" panose="02020603050405020304" pitchFamily="18" charset="0"/>
              </a:rPr>
              <a:t>Suppose a database system in a bank fails three times in one month, with total downtime across all failures amounting to six hours. The MTTR would be: 6 hours / 3 = 2 hours. This means, on average, it takes 2 hours to repair the database system each time it fails.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0988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0E35-1AAD-5999-D093-61619D8B6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6D9F7-A968-A192-3130-401305AE38CD}"/>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Risk Metrics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0EE78E-08B0-12D9-F5AF-F8833F699F6A}"/>
              </a:ext>
            </a:extLst>
          </p:cNvPr>
          <p:cNvSpPr>
            <a:spLocks noGrp="1"/>
          </p:cNvSpPr>
          <p:nvPr>
            <p:ph idx="1"/>
          </p:nvPr>
        </p:nvSpPr>
        <p:spPr>
          <a:xfrm>
            <a:off x="609600" y="606752"/>
            <a:ext cx="10972800" cy="5922235"/>
          </a:xfrm>
        </p:spPr>
        <p:txBody>
          <a:bodyPr/>
          <a:lstStyle/>
          <a:p>
            <a:pPr marL="0" indent="0">
              <a:buNone/>
            </a:pPr>
            <a:r>
              <a:rPr lang="en-US" sz="2000" b="1" dirty="0">
                <a:latin typeface="Times New Roman" panose="02020603050405020304" pitchFamily="18" charset="0"/>
                <a:cs typeface="Times New Roman" panose="02020603050405020304" pitchFamily="18" charset="0"/>
              </a:rPr>
              <a:t>2. Mean Time Between Failures (MTBF)</a:t>
            </a:r>
          </a:p>
          <a:p>
            <a:r>
              <a:rPr lang="en-US" sz="2000" dirty="0">
                <a:latin typeface="Times New Roman" panose="02020603050405020304" pitchFamily="18" charset="0"/>
                <a:cs typeface="Times New Roman" panose="02020603050405020304" pitchFamily="18" charset="0"/>
              </a:rPr>
              <a:t>MTBF represents the average time elapsed between two consecutive failures of a system during operation. It reflects the system's reliability: a higher MTBF indicates a more reliable system, as failures occur less frequently.</a:t>
            </a:r>
          </a:p>
          <a:p>
            <a:pPr algn="just"/>
            <a:r>
              <a:rPr lang="en-US" sz="2000" dirty="0">
                <a:latin typeface="Times New Roman" panose="02020603050405020304" pitchFamily="18" charset="0"/>
                <a:cs typeface="Times New Roman" panose="02020603050405020304" pitchFamily="18" charset="0"/>
              </a:rPr>
              <a:t>MTBF= Total operating time / # of failures</a:t>
            </a:r>
          </a:p>
          <a:p>
            <a:pPr algn="just"/>
            <a:r>
              <a:rPr lang="en-US" sz="2000" dirty="0">
                <a:latin typeface="Times New Roman" panose="02020603050405020304" pitchFamily="18" charset="0"/>
                <a:cs typeface="Times New Roman" panose="02020603050405020304" pitchFamily="18" charset="0"/>
              </a:rPr>
              <a:t>To predict how often a system might fail, helping in planning preventive maintenance. A higher MTBF signifies less frequent failures, which can improve uptime and reduce operational risks.</a:t>
            </a:r>
          </a:p>
          <a:p>
            <a:pPr algn="just"/>
            <a:r>
              <a:rPr lang="en-US" sz="2000" dirty="0">
                <a:latin typeface="Times New Roman" panose="02020603050405020304" pitchFamily="18" charset="0"/>
                <a:cs typeface="Times New Roman" panose="02020603050405020304" pitchFamily="18" charset="0"/>
              </a:rPr>
              <a:t>If the same bank database system operates for 720 hours in a month and fails three times during that period, the MTBF would be:720 hours / 3 failures = 240 hours</a:t>
            </a:r>
          </a:p>
          <a:p>
            <a:pPr algn="just"/>
            <a:r>
              <a:rPr lang="en-US" sz="2000" dirty="0">
                <a:latin typeface="Times New Roman" panose="02020603050405020304" pitchFamily="18" charset="0"/>
                <a:cs typeface="Times New Roman" panose="02020603050405020304" pitchFamily="18" charset="0"/>
              </a:rPr>
              <a:t>MTTR helps in planning for quicker recovery, mitigating the risk of prolonged downtime, and reducing potential operational disruptions.</a:t>
            </a:r>
          </a:p>
          <a:p>
            <a:pPr algn="just"/>
            <a:r>
              <a:rPr lang="en-US" sz="2000" dirty="0">
                <a:latin typeface="Times New Roman" panose="02020603050405020304" pitchFamily="18" charset="0"/>
                <a:cs typeface="Times New Roman" panose="02020603050405020304" pitchFamily="18" charset="0"/>
              </a:rPr>
              <a:t>MTBF allows organizations to anticipate and manage the risk of system failures by scheduling preventive maintenance and investing in reliability improvements.</a:t>
            </a:r>
          </a:p>
        </p:txBody>
      </p:sp>
    </p:spTree>
    <p:extLst>
      <p:ext uri="{BB962C8B-B14F-4D97-AF65-F5344CB8AC3E}">
        <p14:creationId xmlns:p14="http://schemas.microsoft.com/office/powerpoint/2010/main" val="1933442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07BE-A657-4F86-A8DA-D63B1CD73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80C61-7D29-4009-0B23-77BAC5B33819}"/>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RMMM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93AF4A-FEC9-A5FA-AA95-DB71298A5CA4}"/>
              </a:ext>
            </a:extLst>
          </p:cNvPr>
          <p:cNvSpPr>
            <a:spLocks noGrp="1"/>
          </p:cNvSpPr>
          <p:nvPr>
            <p:ph idx="1"/>
          </p:nvPr>
        </p:nvSpPr>
        <p:spPr>
          <a:xfrm>
            <a:off x="609600" y="606752"/>
            <a:ext cx="10972800" cy="5922235"/>
          </a:xfrm>
        </p:spPr>
        <p:txBody>
          <a:bodyPr/>
          <a:lstStyle/>
          <a:p>
            <a:pPr algn="just"/>
            <a:r>
              <a:rPr lang="en-US" sz="2000" b="1" dirty="0">
                <a:latin typeface="Times New Roman" panose="02020603050405020304" pitchFamily="18" charset="0"/>
                <a:cs typeface="Times New Roman" panose="02020603050405020304" pitchFamily="18" charset="0"/>
              </a:rPr>
              <a:t>RMMM</a:t>
            </a:r>
            <a:r>
              <a:rPr lang="en-US" sz="2000" dirty="0">
                <a:latin typeface="Times New Roman" panose="02020603050405020304" pitchFamily="18" charset="0"/>
                <a:cs typeface="Times New Roman" panose="02020603050405020304" pitchFamily="18" charset="0"/>
              </a:rPr>
              <a:t> (Risk Mitigation, Monitoring, and Management) is a comprehensive risk management framework. The framework provides a structured process for handling risks that might affect software projects, helping teams minimize the potential negative effects of risks on a project’s success.</a:t>
            </a:r>
          </a:p>
          <a:p>
            <a:pPr algn="just"/>
            <a:r>
              <a:rPr lang="en-US" sz="2000" dirty="0">
                <a:latin typeface="Times New Roman" panose="02020603050405020304" pitchFamily="18" charset="0"/>
                <a:cs typeface="Times New Roman" panose="02020603050405020304" pitchFamily="18" charset="0"/>
              </a:rPr>
              <a:t>The RMMM framework consists of three key components:</a:t>
            </a:r>
          </a:p>
          <a:p>
            <a:pPr algn="just">
              <a:buFont typeface="+mj-lt"/>
              <a:buAutoNum type="arabicPeriod"/>
            </a:pPr>
            <a:r>
              <a:rPr lang="en-US" sz="2000" dirty="0">
                <a:latin typeface="Times New Roman" panose="02020603050405020304" pitchFamily="18" charset="0"/>
                <a:cs typeface="Times New Roman" panose="02020603050405020304" pitchFamily="18" charset="0"/>
              </a:rPr>
              <a:t>Risk Mitigation: Actions taken to reduce the likelihood or impact of a risk.</a:t>
            </a:r>
          </a:p>
          <a:p>
            <a:pPr algn="just">
              <a:buFont typeface="+mj-lt"/>
              <a:buAutoNum type="arabicPeriod"/>
            </a:pPr>
            <a:r>
              <a:rPr lang="en-US" sz="2000" dirty="0">
                <a:latin typeface="Times New Roman" panose="02020603050405020304" pitchFamily="18" charset="0"/>
                <a:cs typeface="Times New Roman" panose="02020603050405020304" pitchFamily="18" charset="0"/>
              </a:rPr>
              <a:t>Risk Monitoring: Ongoing observation of identified risks to detect early warning signs.</a:t>
            </a:r>
          </a:p>
          <a:p>
            <a:pPr algn="just">
              <a:buFont typeface="+mj-lt"/>
              <a:buAutoNum type="arabicPeriod"/>
            </a:pPr>
            <a:r>
              <a:rPr lang="en-US" sz="2000" dirty="0">
                <a:latin typeface="Times New Roman" panose="02020603050405020304" pitchFamily="18" charset="0"/>
                <a:cs typeface="Times New Roman" panose="02020603050405020304" pitchFamily="18" charset="0"/>
              </a:rPr>
              <a:t>Risk Management: Developing contingency plans to manage risks that cannot be fully mitigated.</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052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6F340-D59E-D496-CB01-87D83A74F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5E5D0-EEBD-7722-1594-85CB030E108D}"/>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RMMM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4F22DA-7718-DB77-80C5-BAE2899DD041}"/>
              </a:ext>
            </a:extLst>
          </p:cNvPr>
          <p:cNvSpPr>
            <a:spLocks noGrp="1"/>
          </p:cNvSpPr>
          <p:nvPr>
            <p:ph idx="1"/>
          </p:nvPr>
        </p:nvSpPr>
        <p:spPr>
          <a:xfrm>
            <a:off x="609600" y="606752"/>
            <a:ext cx="10972800" cy="5922235"/>
          </a:xfrm>
        </p:spPr>
        <p:txBody>
          <a:bodyPr>
            <a:normAutofit lnSpcReduction="10000"/>
          </a:bodyPr>
          <a:lstStyle/>
          <a:p>
            <a:pPr algn="just"/>
            <a:r>
              <a:rPr lang="en-US" sz="1900" dirty="0">
                <a:latin typeface="Times New Roman" panose="02020603050405020304" pitchFamily="18" charset="0"/>
                <a:cs typeface="Times New Roman" panose="02020603050405020304" pitchFamily="18" charset="0"/>
              </a:rPr>
              <a:t>Risk Mitigation is the proactive part of risk management where strategies are put in place to reduce the likelihood of a risk occurring or lessen its impact if it does occur. It involves anticipating risks and acting early to reduce their potential harm.</a:t>
            </a:r>
          </a:p>
          <a:p>
            <a:pPr marL="0" indent="0" algn="just">
              <a:buNone/>
            </a:pPr>
            <a:r>
              <a:rPr lang="en-US" sz="1900" dirty="0">
                <a:latin typeface="Times New Roman" panose="02020603050405020304" pitchFamily="18" charset="0"/>
                <a:cs typeface="Times New Roman" panose="02020603050405020304" pitchFamily="18" charset="0"/>
              </a:rPr>
              <a:t>Steps in Risk Mitigation:</a:t>
            </a:r>
          </a:p>
          <a:p>
            <a:pPr marL="457200" indent="-457200" algn="just">
              <a:buFont typeface="+mj-lt"/>
              <a:buAutoNum type="arabicPeriod"/>
            </a:pPr>
            <a:r>
              <a:rPr lang="en-US" sz="1900" dirty="0">
                <a:latin typeface="Times New Roman" panose="02020603050405020304" pitchFamily="18" charset="0"/>
                <a:cs typeface="Times New Roman" panose="02020603050405020304" pitchFamily="18" charset="0"/>
              </a:rPr>
              <a:t>Identify the Risk: The first step in mitigation is to understand what specific risks might arise.</a:t>
            </a:r>
          </a:p>
          <a:p>
            <a:pPr marL="457200" indent="-457200" algn="just">
              <a:buFont typeface="+mj-lt"/>
              <a:buAutoNum type="arabicPeriod"/>
            </a:pPr>
            <a:r>
              <a:rPr lang="en-US" sz="1900" dirty="0">
                <a:latin typeface="Times New Roman" panose="02020603050405020304" pitchFamily="18" charset="0"/>
                <a:cs typeface="Times New Roman" panose="02020603050405020304" pitchFamily="18" charset="0"/>
              </a:rPr>
              <a:t>Develop a Mitigation Strategy: Once a risk is identified, the team must create a plan to prevent the risk or reduce its impact. Mitigation may involve modifying the project plan, adding resources, or changing the technology stack.</a:t>
            </a:r>
          </a:p>
          <a:p>
            <a:pPr marL="457200" indent="-457200" algn="just">
              <a:buFont typeface="+mj-lt"/>
              <a:buAutoNum type="arabicPeriod"/>
            </a:pPr>
            <a:r>
              <a:rPr lang="en-US" sz="1900" dirty="0">
                <a:latin typeface="Times New Roman" panose="02020603050405020304" pitchFamily="18" charset="0"/>
                <a:cs typeface="Times New Roman" panose="02020603050405020304" pitchFamily="18" charset="0"/>
              </a:rPr>
              <a:t>Implement Mitigation Actions: The actions identified in the mitigation strategy are then put into place during the project execution phase.</a:t>
            </a:r>
          </a:p>
          <a:p>
            <a:pPr marL="0" indent="0" algn="just">
              <a:buNone/>
            </a:pPr>
            <a:r>
              <a:rPr lang="en-US" sz="1900" dirty="0">
                <a:latin typeface="Times New Roman" panose="02020603050405020304" pitchFamily="18" charset="0"/>
                <a:cs typeface="Times New Roman" panose="02020603050405020304" pitchFamily="18" charset="0"/>
              </a:rPr>
              <a:t>Example of Risk Mitigation:</a:t>
            </a:r>
          </a:p>
          <a:p>
            <a:pPr marL="0" indent="0" algn="just">
              <a:buNone/>
            </a:pPr>
            <a:r>
              <a:rPr lang="en-US" sz="1900" dirty="0">
                <a:latin typeface="Times New Roman" panose="02020603050405020304" pitchFamily="18" charset="0"/>
                <a:cs typeface="Times New Roman" panose="02020603050405020304" pitchFamily="18" charset="0"/>
              </a:rPr>
              <a:t>Risk: The project depends on the use of a new technology, and there’s a risk that the team might struggle with learning and implementing it.</a:t>
            </a:r>
          </a:p>
          <a:p>
            <a:pPr marL="0" indent="0" algn="just">
              <a:buNone/>
            </a:pPr>
            <a:r>
              <a:rPr lang="en-US" sz="1900" dirty="0">
                <a:latin typeface="Times New Roman" panose="02020603050405020304" pitchFamily="18" charset="0"/>
                <a:cs typeface="Times New Roman" panose="02020603050405020304" pitchFamily="18" charset="0"/>
              </a:rPr>
              <a:t>Mitigation Strategy: To reduce the risk, the team can arrange training sessions for the new technology before full implementation begins. Another mitigation action could be building a prototype to test the new technology's feasibility early in the project.</a:t>
            </a:r>
          </a:p>
          <a:p>
            <a:pPr marL="0" indent="0" algn="just">
              <a:buNone/>
            </a:pPr>
            <a:r>
              <a:rPr lang="en-US" sz="1900" dirty="0">
                <a:latin typeface="Times New Roman" panose="02020603050405020304" pitchFamily="18" charset="0"/>
                <a:cs typeface="Times New Roman" panose="02020603050405020304" pitchFamily="18" charset="0"/>
              </a:rPr>
              <a:t>Action: The team schedules workshops and allocates time for experimentation with the new technology before full-scale development starts.</a:t>
            </a:r>
          </a:p>
        </p:txBody>
      </p:sp>
    </p:spTree>
    <p:extLst>
      <p:ext uri="{BB962C8B-B14F-4D97-AF65-F5344CB8AC3E}">
        <p14:creationId xmlns:p14="http://schemas.microsoft.com/office/powerpoint/2010/main" val="887170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58C9F-457D-4BE6-A799-F3D05C4C3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1917F-01CF-A528-1488-EDE367077D6F}"/>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RMMM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003BAB-BFE8-9990-2D25-3DB249C4E49E}"/>
              </a:ext>
            </a:extLst>
          </p:cNvPr>
          <p:cNvSpPr>
            <a:spLocks noGrp="1"/>
          </p:cNvSpPr>
          <p:nvPr>
            <p:ph idx="1"/>
          </p:nvPr>
        </p:nvSpPr>
        <p:spPr>
          <a:xfrm>
            <a:off x="609600" y="606752"/>
            <a:ext cx="10972800" cy="5922235"/>
          </a:xfrm>
        </p:spPr>
        <p:txBody>
          <a:bodyPr>
            <a:normAutofit fontScale="92500" lnSpcReduction="10000"/>
          </a:bodyPr>
          <a:lstStyle/>
          <a:p>
            <a:pPr marL="0" indent="0" algn="just">
              <a:buNone/>
            </a:pPr>
            <a:r>
              <a:rPr lang="en-US" sz="1700" dirty="0">
                <a:latin typeface="Times New Roman" panose="02020603050405020304" pitchFamily="18" charset="0"/>
                <a:cs typeface="Times New Roman" panose="02020603050405020304" pitchFamily="18" charset="0"/>
              </a:rPr>
              <a:t>Risk Monitoring</a:t>
            </a:r>
          </a:p>
          <a:p>
            <a:pPr algn="just"/>
            <a:r>
              <a:rPr lang="en-US" sz="1700" dirty="0">
                <a:latin typeface="Times New Roman" panose="02020603050405020304" pitchFamily="18" charset="0"/>
                <a:cs typeface="Times New Roman" panose="02020603050405020304" pitchFamily="18" charset="0"/>
              </a:rPr>
              <a:t>Risk Monitoring is the process of continuously tracking the status of identified risks and watching for any new risks that might arise. Monitoring helps ensure that risks are under control and provides early warning signals when a risk might become a problem.</a:t>
            </a:r>
          </a:p>
          <a:p>
            <a:pPr marL="0" indent="0" algn="just">
              <a:buNone/>
            </a:pPr>
            <a:r>
              <a:rPr lang="en-US" sz="1700" dirty="0">
                <a:latin typeface="Times New Roman" panose="02020603050405020304" pitchFamily="18" charset="0"/>
                <a:cs typeface="Times New Roman" panose="02020603050405020304" pitchFamily="18" charset="0"/>
              </a:rPr>
              <a:t>Steps in Risk Monitoring:</a:t>
            </a:r>
          </a:p>
          <a:p>
            <a:pPr marL="457200" indent="-457200" algn="just">
              <a:buFont typeface="+mj-lt"/>
              <a:buAutoNum type="arabicPeriod"/>
            </a:pPr>
            <a:r>
              <a:rPr lang="en-US" sz="1700" dirty="0">
                <a:latin typeface="Times New Roman" panose="02020603050405020304" pitchFamily="18" charset="0"/>
                <a:cs typeface="Times New Roman" panose="02020603050405020304" pitchFamily="18" charset="0"/>
              </a:rPr>
              <a:t>Track Risk Indicators: Set up mechanisms to monitor risk factors or “triggers” (early warning signs) that signal when a risk is likely to materialize.</a:t>
            </a:r>
          </a:p>
          <a:p>
            <a:pPr marL="457200" indent="-457200" algn="just">
              <a:buFont typeface="+mj-lt"/>
              <a:buAutoNum type="arabicPeriod"/>
            </a:pPr>
            <a:r>
              <a:rPr lang="en-US" sz="1700" dirty="0">
                <a:latin typeface="Times New Roman" panose="02020603050405020304" pitchFamily="18" charset="0"/>
                <a:cs typeface="Times New Roman" panose="02020603050405020304" pitchFamily="18" charset="0"/>
              </a:rPr>
              <a:t>Periodic Reviews: Regularly review the list of identified risks and assess their current status. This can be done during status meetings or through formal risk review sessions.</a:t>
            </a:r>
          </a:p>
          <a:p>
            <a:pPr marL="457200" indent="-457200" algn="just">
              <a:buFont typeface="+mj-lt"/>
              <a:buAutoNum type="arabicPeriod"/>
            </a:pPr>
            <a:r>
              <a:rPr lang="en-US" sz="1700" dirty="0">
                <a:latin typeface="Times New Roman" panose="02020603050405020304" pitchFamily="18" charset="0"/>
                <a:cs typeface="Times New Roman" panose="02020603050405020304" pitchFamily="18" charset="0"/>
              </a:rPr>
              <a:t>Re-evaluate Risk Severity and Probability: As the project progresses, risks can change. Risks initially considered unlikely might become more probable, or new risks might emerge.</a:t>
            </a:r>
          </a:p>
          <a:p>
            <a:pPr marL="0" indent="0" algn="just">
              <a:buNone/>
            </a:pPr>
            <a:r>
              <a:rPr lang="en-US" sz="1700" dirty="0">
                <a:latin typeface="Times New Roman" panose="02020603050405020304" pitchFamily="18" charset="0"/>
                <a:cs typeface="Times New Roman" panose="02020603050405020304" pitchFamily="18" charset="0"/>
              </a:rPr>
              <a:t>Examples</a:t>
            </a:r>
          </a:p>
          <a:p>
            <a:pPr marL="0" indent="0" algn="just">
              <a:buNone/>
            </a:pPr>
            <a:r>
              <a:rPr lang="en-US" sz="1700" dirty="0">
                <a:latin typeface="Times New Roman" panose="02020603050405020304" pitchFamily="18" charset="0"/>
                <a:cs typeface="Times New Roman" panose="02020603050405020304" pitchFamily="18" charset="0"/>
              </a:rPr>
              <a:t>Risk: There is a risk that the client requirements are unclear and might lead to misunderstanding or scope creep later in the project.</a:t>
            </a:r>
          </a:p>
          <a:p>
            <a:pPr marL="0" indent="0" algn="just">
              <a:buNone/>
            </a:pPr>
            <a:r>
              <a:rPr lang="en-US" sz="1700" dirty="0">
                <a:latin typeface="Times New Roman" panose="02020603050405020304" pitchFamily="18" charset="0"/>
                <a:cs typeface="Times New Roman" panose="02020603050405020304" pitchFamily="18" charset="0"/>
              </a:rPr>
              <a:t>Monitoring Strategy: The project team schedules regular client meetings to review the progress and verify requirements at each project milestone.</a:t>
            </a:r>
          </a:p>
          <a:p>
            <a:pPr marL="0" indent="0" algn="just">
              <a:buNone/>
            </a:pPr>
            <a:r>
              <a:rPr lang="en-US" sz="1700" dirty="0">
                <a:latin typeface="Times New Roman" panose="02020603050405020304" pitchFamily="18" charset="0"/>
                <a:cs typeface="Times New Roman" panose="02020603050405020304" pitchFamily="18" charset="0"/>
              </a:rPr>
              <a:t>Trigger: If the client is consistently asking for changes or seems uncertain about the requirements during the meetings, it serves as a warning that scope creep might become a real issue.</a:t>
            </a:r>
          </a:p>
          <a:p>
            <a:pPr marL="0" indent="0" algn="just">
              <a:buNone/>
            </a:pPr>
            <a:r>
              <a:rPr lang="en-US" sz="1700" dirty="0">
                <a:latin typeface="Times New Roman" panose="02020603050405020304" pitchFamily="18" charset="0"/>
                <a:cs typeface="Times New Roman" panose="02020603050405020304" pitchFamily="18" charset="0"/>
              </a:rPr>
              <a:t>Action: If the risk seems to be escalating, the team can take corrective action by tightening the change control process to avoid unnecessary scope changes.</a:t>
            </a:r>
          </a:p>
          <a:p>
            <a:pPr marL="0" indent="0" algn="just">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855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21547-8C36-A8D8-F917-EAC0617EE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A7DD9-1230-79F1-1295-FF50712061DF}"/>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RMMM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6D9388-5CC5-2C10-1A09-F40F3313FFAE}"/>
              </a:ext>
            </a:extLst>
          </p:cNvPr>
          <p:cNvSpPr>
            <a:spLocks noGrp="1"/>
          </p:cNvSpPr>
          <p:nvPr>
            <p:ph idx="1"/>
          </p:nvPr>
        </p:nvSpPr>
        <p:spPr>
          <a:xfrm>
            <a:off x="609600" y="606752"/>
            <a:ext cx="10972800" cy="5922235"/>
          </a:xfrm>
        </p:spPr>
        <p:txBody>
          <a:bodyPr/>
          <a:lstStyle/>
          <a:p>
            <a:pPr marL="0" indent="0" algn="just">
              <a:buNone/>
            </a:pPr>
            <a:r>
              <a:rPr lang="en-US" sz="1700" dirty="0">
                <a:latin typeface="Times New Roman" panose="02020603050405020304" pitchFamily="18" charset="0"/>
                <a:cs typeface="Times New Roman" panose="02020603050405020304" pitchFamily="18" charset="0"/>
              </a:rPr>
              <a:t>Risk Management</a:t>
            </a:r>
          </a:p>
          <a:p>
            <a:pPr algn="just"/>
            <a:r>
              <a:rPr lang="en-US" sz="1700" dirty="0">
                <a:latin typeface="Times New Roman" panose="02020603050405020304" pitchFamily="18" charset="0"/>
                <a:cs typeface="Times New Roman" panose="02020603050405020304" pitchFamily="18" charset="0"/>
              </a:rPr>
              <a:t>Risk Management refers to having contingency plans in place to deal with risks that cannot be entirely avoided or mitigated. It is about preparing the team for how they will handle the risk if it becomes a reality. The goal is to minimize the damage and maintain project momentum even when a risk turns into a problem.</a:t>
            </a:r>
          </a:p>
          <a:p>
            <a:pPr marL="0" indent="0" algn="just">
              <a:buNone/>
            </a:pPr>
            <a:r>
              <a:rPr lang="en-US" sz="1700" dirty="0">
                <a:latin typeface="Times New Roman" panose="02020603050405020304" pitchFamily="18" charset="0"/>
                <a:cs typeface="Times New Roman" panose="02020603050405020304" pitchFamily="18" charset="0"/>
              </a:rPr>
              <a:t>Steps in Risk Management:</a:t>
            </a:r>
          </a:p>
          <a:p>
            <a:pPr algn="just">
              <a:buFont typeface="+mj-lt"/>
              <a:buAutoNum type="arabicPeriod"/>
            </a:pPr>
            <a:r>
              <a:rPr lang="en-US" sz="1700" dirty="0">
                <a:latin typeface="Times New Roman" panose="02020603050405020304" pitchFamily="18" charset="0"/>
                <a:cs typeface="Times New Roman" panose="02020603050405020304" pitchFamily="18" charset="0"/>
              </a:rPr>
              <a:t>Create a Contingency Plan: For each significant risk, develop a backup plan that outlines what actions will be taken if the risk occurs. This plan includes the resources, actions, and personnel involved in responding to the risk.</a:t>
            </a:r>
          </a:p>
          <a:p>
            <a:pPr algn="just">
              <a:buFont typeface="+mj-lt"/>
              <a:buAutoNum type="arabicPeriod"/>
            </a:pPr>
            <a:r>
              <a:rPr lang="en-US" sz="1700" dirty="0">
                <a:latin typeface="Times New Roman" panose="02020603050405020304" pitchFamily="18" charset="0"/>
                <a:cs typeface="Times New Roman" panose="02020603050405020304" pitchFamily="18" charset="0"/>
              </a:rPr>
              <a:t>Allocate Resources for Contingency: Ensure that the necessary resources (such as extra budget, time, or team members) are available to implement the contingency plan when needed.</a:t>
            </a:r>
          </a:p>
          <a:p>
            <a:pPr algn="just">
              <a:buFont typeface="+mj-lt"/>
              <a:buAutoNum type="arabicPeriod"/>
            </a:pPr>
            <a:r>
              <a:rPr lang="en-US" sz="1700" dirty="0">
                <a:latin typeface="Times New Roman" panose="02020603050405020304" pitchFamily="18" charset="0"/>
                <a:cs typeface="Times New Roman" panose="02020603050405020304" pitchFamily="18" charset="0"/>
              </a:rPr>
              <a:t>Execute the Contingency Plan: If the risk materializes, the team follows the pre-defined contingency plan to deal with the issue effectively, minimizing the damage to the project.</a:t>
            </a:r>
          </a:p>
          <a:p>
            <a:pPr marL="0" indent="0" algn="just">
              <a:buNone/>
            </a:pPr>
            <a:r>
              <a:rPr lang="en-US" sz="1700" dirty="0">
                <a:latin typeface="Times New Roman" panose="02020603050405020304" pitchFamily="18" charset="0"/>
                <a:cs typeface="Times New Roman" panose="02020603050405020304" pitchFamily="18" charset="0"/>
              </a:rPr>
              <a:t>Example</a:t>
            </a:r>
          </a:p>
          <a:p>
            <a:pPr algn="just"/>
            <a:r>
              <a:rPr lang="en-US" sz="1700" dirty="0">
                <a:latin typeface="Times New Roman" panose="02020603050405020304" pitchFamily="18" charset="0"/>
                <a:cs typeface="Times New Roman" panose="02020603050405020304" pitchFamily="18" charset="0"/>
              </a:rPr>
              <a:t>Risk: A third-party vendor supplying a key component may not deliver on time, potentially causing delays.</a:t>
            </a:r>
          </a:p>
          <a:p>
            <a:pPr algn="just"/>
            <a:r>
              <a:rPr lang="en-US" sz="1700" dirty="0">
                <a:latin typeface="Times New Roman" panose="02020603050405020304" pitchFamily="18" charset="0"/>
                <a:cs typeface="Times New Roman" panose="02020603050405020304" pitchFamily="18" charset="0"/>
              </a:rPr>
              <a:t>Contingency Plan: The team sets up alternative vendors as a backup option in case the main vendor fails to deliver. Additionally, extra buffer time is added to the project schedule to accommodate any delays.</a:t>
            </a:r>
          </a:p>
          <a:p>
            <a:pPr algn="just"/>
            <a:r>
              <a:rPr lang="en-US" sz="1700" dirty="0">
                <a:latin typeface="Times New Roman" panose="02020603050405020304" pitchFamily="18" charset="0"/>
                <a:cs typeface="Times New Roman" panose="02020603050405020304" pitchFamily="18" charset="0"/>
              </a:rPr>
              <a:t>Action: If the vendor misses the deadline, the team quickly switches to the backup vendor and uses the buffer time to stay on track with the project.</a:t>
            </a:r>
          </a:p>
        </p:txBody>
      </p:sp>
    </p:spTree>
    <p:extLst>
      <p:ext uri="{BB962C8B-B14F-4D97-AF65-F5344CB8AC3E}">
        <p14:creationId xmlns:p14="http://schemas.microsoft.com/office/powerpoint/2010/main" val="48585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BCED-41AA-DF0C-571D-D1FC7FA0E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CEF86-42DC-4B64-2543-9D463E0FB154}"/>
              </a:ext>
            </a:extLst>
          </p:cNvPr>
          <p:cNvSpPr>
            <a:spLocks noGrp="1"/>
          </p:cNvSpPr>
          <p:nvPr>
            <p:ph type="title"/>
          </p:nvPr>
        </p:nvSpPr>
        <p:spPr>
          <a:xfrm>
            <a:off x="609600" y="59822"/>
            <a:ext cx="10972800" cy="546930"/>
          </a:xfrm>
        </p:spPr>
        <p:txBody>
          <a:bodyPr>
            <a:normAutofit fontScale="90000"/>
          </a:bodyPr>
          <a:lstStyle/>
          <a:p>
            <a:r>
              <a:rPr lang="en-US" dirty="0">
                <a:latin typeface="Times New Roman" panose="02020603050405020304" pitchFamily="18" charset="0"/>
                <a:cs typeface="Times New Roman" panose="02020603050405020304" pitchFamily="18" charset="0"/>
              </a:rPr>
              <a:t>RMMM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C3E12B-90F1-760B-41AC-F6AB130AD59F}"/>
              </a:ext>
            </a:extLst>
          </p:cNvPr>
          <p:cNvSpPr>
            <a:spLocks noGrp="1"/>
          </p:cNvSpPr>
          <p:nvPr>
            <p:ph idx="1"/>
          </p:nvPr>
        </p:nvSpPr>
        <p:spPr>
          <a:xfrm>
            <a:off x="609600" y="606752"/>
            <a:ext cx="10972800" cy="5922235"/>
          </a:xfrm>
        </p:spPr>
        <p:txBody>
          <a:bodyPr/>
          <a:lstStyle/>
          <a:p>
            <a:pPr marL="0" indent="0" algn="just">
              <a:buNone/>
            </a:pPr>
            <a:r>
              <a:rPr lang="en-US" sz="1700" dirty="0">
                <a:latin typeface="Times New Roman" panose="02020603050405020304" pitchFamily="18" charset="0"/>
                <a:cs typeface="Times New Roman" panose="02020603050405020304" pitchFamily="18" charset="0"/>
              </a:rPr>
              <a:t>Risk Management</a:t>
            </a:r>
          </a:p>
          <a:p>
            <a:pPr algn="just"/>
            <a:r>
              <a:rPr lang="en-US" sz="1700" dirty="0">
                <a:latin typeface="Times New Roman" panose="02020603050405020304" pitchFamily="18" charset="0"/>
                <a:cs typeface="Times New Roman" panose="02020603050405020304" pitchFamily="18" charset="0"/>
              </a:rPr>
              <a:t>Risk Management refers to having contingency plans in place to deal with risks that cannot be entirely avoided or mitigated. It is about preparing the team for how they will handle the risk if it becomes a reality. The goal is to minimize the damage and maintain project momentum even when a risk turns into a problem.</a:t>
            </a:r>
          </a:p>
          <a:p>
            <a:pPr marL="0" indent="0" algn="just">
              <a:buNone/>
            </a:pPr>
            <a:endParaRPr lang="en-US" sz="1700" dirty="0">
              <a:latin typeface="Times New Roman" panose="02020603050405020304" pitchFamily="18" charset="0"/>
              <a:cs typeface="Times New Roman" panose="02020603050405020304" pitchFamily="18" charset="0"/>
            </a:endParaRPr>
          </a:p>
          <a:p>
            <a:pPr marL="0" indent="0" algn="just">
              <a:buNone/>
            </a:pPr>
            <a:r>
              <a:rPr lang="en-US" sz="1700" dirty="0">
                <a:latin typeface="Times New Roman" panose="02020603050405020304" pitchFamily="18" charset="0"/>
                <a:cs typeface="Times New Roman" panose="02020603050405020304" pitchFamily="18" charset="0"/>
              </a:rPr>
              <a:t>Steps in Risk Management:</a:t>
            </a:r>
          </a:p>
          <a:p>
            <a:pPr algn="just">
              <a:buFont typeface="+mj-lt"/>
              <a:buAutoNum type="arabicPeriod"/>
            </a:pPr>
            <a:r>
              <a:rPr lang="en-US" sz="1700" dirty="0">
                <a:latin typeface="Times New Roman" panose="02020603050405020304" pitchFamily="18" charset="0"/>
                <a:cs typeface="Times New Roman" panose="02020603050405020304" pitchFamily="18" charset="0"/>
              </a:rPr>
              <a:t>Create a Contingency Plan: For each significant risk, develop a backup plan that outlines what actions will be taken if the risk occurs. This plan includes the resources, actions, and personnel involved in responding to the risk.</a:t>
            </a:r>
          </a:p>
          <a:p>
            <a:pPr algn="just">
              <a:buFont typeface="+mj-lt"/>
              <a:buAutoNum type="arabicPeriod"/>
            </a:pPr>
            <a:r>
              <a:rPr lang="en-US" sz="1700" dirty="0">
                <a:latin typeface="Times New Roman" panose="02020603050405020304" pitchFamily="18" charset="0"/>
                <a:cs typeface="Times New Roman" panose="02020603050405020304" pitchFamily="18" charset="0"/>
              </a:rPr>
              <a:t>Allocate Resources for Contingency: Ensure that the necessary resources (such as extra budget, time, or team members) are available to implement the contingency plan when needed.</a:t>
            </a:r>
          </a:p>
          <a:p>
            <a:pPr algn="just">
              <a:buFont typeface="+mj-lt"/>
              <a:buAutoNum type="arabicPeriod"/>
            </a:pPr>
            <a:r>
              <a:rPr lang="en-US" sz="1700" dirty="0">
                <a:latin typeface="Times New Roman" panose="02020603050405020304" pitchFamily="18" charset="0"/>
                <a:cs typeface="Times New Roman" panose="02020603050405020304" pitchFamily="18" charset="0"/>
              </a:rPr>
              <a:t>Execute the Contingency Plan: If the risk materializes, the team follows the pre-defined contingency plan to deal with the issue effectively, minimizing the damage to the project.</a:t>
            </a:r>
          </a:p>
        </p:txBody>
      </p:sp>
    </p:spTree>
    <p:extLst>
      <p:ext uri="{BB962C8B-B14F-4D97-AF65-F5344CB8AC3E}">
        <p14:creationId xmlns:p14="http://schemas.microsoft.com/office/powerpoint/2010/main" val="2228175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52D0A-0973-8AF1-4564-B02A34183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51BE2-537D-6526-5B11-FA9710CC46DE}"/>
              </a:ext>
            </a:extLst>
          </p:cNvPr>
          <p:cNvSpPr>
            <a:spLocks noGrp="1"/>
          </p:cNvSpPr>
          <p:nvPr>
            <p:ph type="title"/>
          </p:nvPr>
        </p:nvSpPr>
        <p:spPr>
          <a:xfrm>
            <a:off x="609600" y="59822"/>
            <a:ext cx="10972800" cy="546930"/>
          </a:xfrm>
        </p:spPr>
        <p:txBody>
          <a:bodyPr/>
          <a:lstStyle/>
          <a:p>
            <a:r>
              <a:rPr lang="en-US" sz="2400" dirty="0"/>
              <a:t>RMMM Plan (Risk Mitigation, Monitoring, and Management Plan)</a:t>
            </a: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D95E0F-D983-7577-4155-5852C6A8752E}"/>
              </a:ext>
            </a:extLst>
          </p:cNvPr>
          <p:cNvSpPr>
            <a:spLocks noGrp="1"/>
          </p:cNvSpPr>
          <p:nvPr>
            <p:ph idx="1"/>
          </p:nvPr>
        </p:nvSpPr>
        <p:spPr>
          <a:xfrm>
            <a:off x="609600" y="606752"/>
            <a:ext cx="10972800" cy="5922235"/>
          </a:xfrm>
        </p:spPr>
        <p:txBody>
          <a:bodyPr/>
          <a:lstStyle/>
          <a:p>
            <a:pPr algn="just"/>
            <a:r>
              <a:rPr lang="en-US" sz="1800" dirty="0">
                <a:latin typeface="Times New Roman" panose="02020603050405020304" pitchFamily="18" charset="0"/>
                <a:cs typeface="Times New Roman" panose="02020603050405020304" pitchFamily="18" charset="0"/>
              </a:rPr>
              <a:t>Documents the strategies for handling each risk throughout the project. This formal plan is used by the project team to track risks, document mitigation actions, and monitor progress.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RMMM plan typically contains:</a:t>
            </a:r>
          </a:p>
          <a:p>
            <a:pPr marL="0" indent="0" algn="just">
              <a:buNone/>
            </a:pPr>
            <a:r>
              <a:rPr lang="en-US" sz="1800" dirty="0">
                <a:latin typeface="Times New Roman" panose="02020603050405020304" pitchFamily="18" charset="0"/>
                <a:cs typeface="Times New Roman" panose="02020603050405020304" pitchFamily="18" charset="0"/>
              </a:rPr>
              <a:t>Risk Identification: Description of the risk, its cause, and its category (technical, business, project, external).</a:t>
            </a:r>
          </a:p>
          <a:p>
            <a:pPr marL="0" indent="0" algn="just">
              <a:buNone/>
            </a:pPr>
            <a:r>
              <a:rPr lang="en-US" sz="1800" dirty="0">
                <a:latin typeface="Times New Roman" panose="02020603050405020304" pitchFamily="18" charset="0"/>
                <a:cs typeface="Times New Roman" panose="02020603050405020304" pitchFamily="18" charset="0"/>
              </a:rPr>
              <a:t>Risk Probability: The likelihood of the risk occurring (low, medium, high).</a:t>
            </a:r>
          </a:p>
          <a:p>
            <a:pPr marL="0" indent="0" algn="just">
              <a:buNone/>
            </a:pPr>
            <a:r>
              <a:rPr lang="en-US" sz="1800" dirty="0">
                <a:latin typeface="Times New Roman" panose="02020603050405020304" pitchFamily="18" charset="0"/>
                <a:cs typeface="Times New Roman" panose="02020603050405020304" pitchFamily="18" charset="0"/>
              </a:rPr>
              <a:t>Risk Impact: The potential damage or consequences of the risk (schedule delays, cost overruns, quality issues).</a:t>
            </a:r>
          </a:p>
          <a:p>
            <a:pPr marL="0" indent="0" algn="just">
              <a:buNone/>
            </a:pPr>
            <a:r>
              <a:rPr lang="en-US" sz="1800" dirty="0">
                <a:latin typeface="Times New Roman" panose="02020603050405020304" pitchFamily="18" charset="0"/>
                <a:cs typeface="Times New Roman" panose="02020603050405020304" pitchFamily="18" charset="0"/>
              </a:rPr>
              <a:t>Mitigation Strategy: Specific steps to prevent or reduce the risk.</a:t>
            </a:r>
          </a:p>
          <a:p>
            <a:pPr marL="0" indent="0" algn="just">
              <a:buNone/>
            </a:pPr>
            <a:r>
              <a:rPr lang="en-US" sz="1800" dirty="0">
                <a:latin typeface="Times New Roman" panose="02020603050405020304" pitchFamily="18" charset="0"/>
                <a:cs typeface="Times New Roman" panose="02020603050405020304" pitchFamily="18" charset="0"/>
              </a:rPr>
              <a:t>Monitoring Strategy: Methods to track the risk and identify warning signs.</a:t>
            </a:r>
          </a:p>
          <a:p>
            <a:pPr marL="0" indent="0" algn="just">
              <a:buNone/>
            </a:pPr>
            <a:r>
              <a:rPr lang="en-US" sz="1800" dirty="0">
                <a:latin typeface="Times New Roman" panose="02020603050405020304" pitchFamily="18" charset="0"/>
                <a:cs typeface="Times New Roman" panose="02020603050405020304" pitchFamily="18" charset="0"/>
              </a:rPr>
              <a:t>Management/Contingency Plan: Backup actions to be taken if the risk materializes.</a:t>
            </a:r>
          </a:p>
        </p:txBody>
      </p:sp>
    </p:spTree>
    <p:extLst>
      <p:ext uri="{BB962C8B-B14F-4D97-AF65-F5344CB8AC3E}">
        <p14:creationId xmlns:p14="http://schemas.microsoft.com/office/powerpoint/2010/main" val="3798993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F40E8-0110-E01F-C5F0-3073E92B3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39AF1-466F-7A23-E6D7-3364E2132344}"/>
              </a:ext>
            </a:extLst>
          </p:cNvPr>
          <p:cNvSpPr>
            <a:spLocks noGrp="1"/>
          </p:cNvSpPr>
          <p:nvPr>
            <p:ph type="title"/>
          </p:nvPr>
        </p:nvSpPr>
        <p:spPr>
          <a:xfrm>
            <a:off x="609600" y="59822"/>
            <a:ext cx="10972800" cy="546930"/>
          </a:xfrm>
        </p:spPr>
        <p:txBody>
          <a:bodyPr/>
          <a:lstStyle/>
          <a:p>
            <a:r>
              <a:rPr lang="en-US" sz="2400" dirty="0"/>
              <a:t>RMMM Plan (Risk Mitigation, Monitoring, and Management Plan)</a:t>
            </a: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2B7F65-8BC1-6B90-59F3-C227AAB4248A}"/>
              </a:ext>
            </a:extLst>
          </p:cNvPr>
          <p:cNvSpPr>
            <a:spLocks noGrp="1"/>
          </p:cNvSpPr>
          <p:nvPr>
            <p:ph idx="1"/>
          </p:nvPr>
        </p:nvSpPr>
        <p:spPr>
          <a:xfrm>
            <a:off x="609600" y="606752"/>
            <a:ext cx="10972800" cy="5922235"/>
          </a:xfrm>
        </p:spPr>
        <p:txBody>
          <a:bodyPr>
            <a:normAutofit fontScale="92500"/>
          </a:bodyPr>
          <a:lstStyle/>
          <a:p>
            <a:pPr marL="0" indent="0" algn="just">
              <a:buNone/>
            </a:pPr>
            <a:r>
              <a:rPr lang="en-US" sz="1800" dirty="0">
                <a:latin typeface="Times New Roman" panose="02020603050405020304" pitchFamily="18" charset="0"/>
                <a:cs typeface="Times New Roman" panose="02020603050405020304" pitchFamily="18" charset="0"/>
              </a:rPr>
              <a:t>Consider a software project with the following risk scenario: The project is using a new technology stack that the team is unfamiliar with. If the team struggles with the new technology, it could lead to missed deadlines or poor-quality software.</a:t>
            </a:r>
          </a:p>
          <a:p>
            <a:pPr marL="0" indent="0" algn="just">
              <a:buNone/>
            </a:pPr>
            <a:r>
              <a:rPr lang="en-US" sz="1800" dirty="0">
                <a:latin typeface="Times New Roman" panose="02020603050405020304" pitchFamily="18" charset="0"/>
                <a:cs typeface="Times New Roman" panose="02020603050405020304" pitchFamily="18" charset="0"/>
              </a:rPr>
              <a:t>Risk: The team is unfamiliar with the new technology, leading to delays or quality issues.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Mitigation:</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Training: Arrange for the team to receive formal training on the new technology.</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Prototyping: Develop a small-scale prototype early in the project to test and gain experience with the technology.</a:t>
            </a:r>
          </a:p>
          <a:p>
            <a:pPr marL="0" indent="0" algn="just">
              <a:buNone/>
            </a:pPr>
            <a:r>
              <a:rPr lang="en-US" sz="1800" dirty="0">
                <a:latin typeface="Times New Roman" panose="02020603050405020304" pitchFamily="18" charset="0"/>
                <a:cs typeface="Times New Roman" panose="02020603050405020304" pitchFamily="18" charset="0"/>
              </a:rPr>
              <a:t>Monitoring:</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Track progress: During each sprint, assess the team’s progress in using the new technology. Look for signs of struggle, such as delays or increased defect rates.</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Check for warning signs: Monitor the team's performance metrics (e.g., the number of bugs or slow development velocity) that might indicate difficulty with the technology.</a:t>
            </a:r>
          </a:p>
          <a:p>
            <a:pPr marL="0" indent="0" algn="just">
              <a:buNone/>
            </a:pPr>
            <a:r>
              <a:rPr lang="en-US" sz="1800" dirty="0">
                <a:latin typeface="Times New Roman" panose="02020603050405020304" pitchFamily="18" charset="0"/>
                <a:cs typeface="Times New Roman" panose="02020603050405020304" pitchFamily="18" charset="0"/>
              </a:rPr>
              <a:t>Management:</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Contingency Plan: If the team fails to adopt the new technology smoothly, the project manager will allocate additional time for training, or the team will bring in external technical consultants to assist.</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Resources: Extra time is built into the schedule to accommodate potential slowdowns, and a budget is allocated for hiring consultants if needed.</a:t>
            </a:r>
          </a:p>
        </p:txBody>
      </p:sp>
    </p:spTree>
    <p:extLst>
      <p:ext uri="{BB962C8B-B14F-4D97-AF65-F5344CB8AC3E}">
        <p14:creationId xmlns:p14="http://schemas.microsoft.com/office/powerpoint/2010/main" val="363619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F9340-72C9-C7FE-727C-1F876006F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24226-B1FA-34E7-FCC8-5B3BE77BF3FF}"/>
              </a:ext>
            </a:extLst>
          </p:cNvPr>
          <p:cNvSpPr>
            <a:spLocks noGrp="1"/>
          </p:cNvSpPr>
          <p:nvPr>
            <p:ph type="title"/>
          </p:nvPr>
        </p:nvSpPr>
        <p:spPr>
          <a:xfrm>
            <a:off x="609600" y="59822"/>
            <a:ext cx="10972800" cy="546930"/>
          </a:xfrm>
        </p:spPr>
        <p:txBody>
          <a:bodyPr/>
          <a:lstStyle/>
          <a:p>
            <a:r>
              <a:rPr lang="en-US" sz="2400" dirty="0"/>
              <a:t>RMMM Plan (Risk Mitigation, Monitoring, and Management Plan)</a:t>
            </a: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46FBD7-D9F5-2D19-C654-27940C247523}"/>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A contingency plan is a predefined course of action that is designed to be implemented if a certain risk or unexpected event occurs during the course of a project. It serves as a "backup plan" that helps teams manage and mitigate the effects of risks that cannot be fully avoided. The goal of a contingency plan is to reduce the impact of negative events on the project's progress, schedule, or success.</a:t>
            </a:r>
          </a:p>
          <a:p>
            <a:pPr marL="0" indent="0" algn="just">
              <a:buNone/>
            </a:pPr>
            <a:r>
              <a:rPr lang="en-US" sz="2000" dirty="0">
                <a:latin typeface="Times New Roman" panose="02020603050405020304" pitchFamily="18" charset="0"/>
                <a:cs typeface="Times New Roman" panose="02020603050405020304" pitchFamily="18" charset="0"/>
              </a:rPr>
              <a:t>Risk: A key team member may leave the project, leading to delays in progress and loss of critical knowledge.</a:t>
            </a:r>
          </a:p>
          <a:p>
            <a:pPr marL="0" indent="0" algn="just">
              <a:buNone/>
            </a:pPr>
            <a:r>
              <a:rPr lang="en-US" sz="2000" dirty="0">
                <a:latin typeface="Times New Roman" panose="02020603050405020304" pitchFamily="18" charset="0"/>
                <a:cs typeface="Times New Roman" panose="02020603050405020304" pitchFamily="18" charset="0"/>
              </a:rPr>
              <a:t>Contingency Plan:</a:t>
            </a:r>
          </a:p>
          <a:p>
            <a:pPr marL="0" indent="0" algn="just">
              <a:buNone/>
            </a:pPr>
            <a:r>
              <a:rPr lang="en-US" sz="2000" dirty="0">
                <a:latin typeface="Times New Roman" panose="02020603050405020304" pitchFamily="18" charset="0"/>
                <a:cs typeface="Times New Roman" panose="02020603050405020304" pitchFamily="18" charset="0"/>
              </a:rPr>
              <a:t>Cross-train other team members in the critical tasks or areas handled by the key team member.</a:t>
            </a:r>
          </a:p>
          <a:p>
            <a:pPr marL="0" indent="0" algn="just">
              <a:buNone/>
            </a:pPr>
            <a:r>
              <a:rPr lang="en-US" sz="2000" dirty="0">
                <a:latin typeface="Times New Roman" panose="02020603050405020304" pitchFamily="18" charset="0"/>
                <a:cs typeface="Times New Roman" panose="02020603050405020304" pitchFamily="18" charset="0"/>
              </a:rPr>
              <a:t>Maintain detailed documentation of their work to ensure knowledge transfer if they leave.</a:t>
            </a:r>
          </a:p>
          <a:p>
            <a:pPr marL="0" indent="0" algn="just">
              <a:buNone/>
            </a:pPr>
            <a:r>
              <a:rPr lang="en-US" sz="2000" dirty="0">
                <a:latin typeface="Times New Roman" panose="02020603050405020304" pitchFamily="18" charset="0"/>
                <a:cs typeface="Times New Roman" panose="02020603050405020304" pitchFamily="18" charset="0"/>
              </a:rPr>
              <a:t>Identify a backup resource or consultant who can step in to cover the departing team member's role.</a:t>
            </a:r>
          </a:p>
          <a:p>
            <a:pPr marL="0" indent="0" algn="just">
              <a:buNone/>
            </a:pPr>
            <a:r>
              <a:rPr lang="en-US" sz="2000" dirty="0">
                <a:latin typeface="Times New Roman" panose="02020603050405020304" pitchFamily="18" charset="0"/>
                <a:cs typeface="Times New Roman" panose="02020603050405020304" pitchFamily="18" charset="0"/>
              </a:rPr>
              <a:t>Trigger: If the team member gives notice or leaves, immediately bring in the backup resource and reallocate tasks to cross-trained team members.</a:t>
            </a:r>
          </a:p>
        </p:txBody>
      </p:sp>
    </p:spTree>
    <p:extLst>
      <p:ext uri="{BB962C8B-B14F-4D97-AF65-F5344CB8AC3E}">
        <p14:creationId xmlns:p14="http://schemas.microsoft.com/office/powerpoint/2010/main" val="21385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0D58-ADF6-C0A2-7F58-56FFEF0E2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ADD56-7570-D264-DB7D-8878DFB756B2}"/>
              </a:ext>
            </a:extLst>
          </p:cNvPr>
          <p:cNvSpPr>
            <a:spLocks noGrp="1"/>
          </p:cNvSpPr>
          <p:nvPr>
            <p:ph type="title"/>
          </p:nvPr>
        </p:nvSpPr>
        <p:spPr>
          <a:xfrm>
            <a:off x="609600" y="59822"/>
            <a:ext cx="10972800" cy="546930"/>
          </a:xfrm>
        </p:spPr>
        <p:txBody>
          <a:bodyPr/>
          <a:lstStyle/>
          <a:p>
            <a:r>
              <a:rPr lang="en-US" sz="2400" dirty="0"/>
              <a:t>SCM</a:t>
            </a: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27F04F-CAD9-2DD7-88DC-0CA289D46F8F}"/>
              </a:ext>
            </a:extLst>
          </p:cNvPr>
          <p:cNvSpPr>
            <a:spLocks noGrp="1"/>
          </p:cNvSpPr>
          <p:nvPr>
            <p:ph idx="1"/>
          </p:nvPr>
        </p:nvSpPr>
        <p:spPr>
          <a:xfrm>
            <a:off x="609600" y="606752"/>
            <a:ext cx="10972800" cy="5922235"/>
          </a:xfrm>
        </p:spPr>
        <p:txBody>
          <a:bodyPr/>
          <a:lstStyle/>
          <a:p>
            <a:pPr marL="0" indent="0" algn="just">
              <a:buNone/>
            </a:pPr>
            <a:r>
              <a:rPr lang="en-US" sz="1600" b="1" dirty="0">
                <a:latin typeface="Times New Roman" panose="02020603050405020304" pitchFamily="18" charset="0"/>
                <a:cs typeface="Times New Roman" panose="02020603050405020304" pitchFamily="18" charset="0"/>
              </a:rPr>
              <a:t>Software Configuration Management (SCM)</a:t>
            </a:r>
            <a:r>
              <a:rPr lang="en-US" sz="1600" dirty="0">
                <a:latin typeface="Times New Roman" panose="02020603050405020304" pitchFamily="18" charset="0"/>
                <a:cs typeface="Times New Roman" panose="02020603050405020304" pitchFamily="18" charset="0"/>
              </a:rPr>
              <a:t> is a key aspect of software engineering that involves controlling, managing, and tracking changes to software artifacts throughout the software development lifecycle. It ensures that changes are systematically introduced, tracked, and managed so that the integrity and traceability of the software product are maintained.</a:t>
            </a:r>
          </a:p>
          <a:p>
            <a:pPr marL="0" indent="0" algn="just">
              <a:buNone/>
            </a:pPr>
            <a:r>
              <a:rPr lang="en-US" sz="1600" dirty="0">
                <a:latin typeface="Times New Roman" panose="02020603050405020304" pitchFamily="18" charset="0"/>
                <a:cs typeface="Times New Roman" panose="02020603050405020304" pitchFamily="18" charset="0"/>
              </a:rPr>
              <a:t>Software Configuration Management (SCM) is essential to prevent chaos in large-scale software development projects, where numerous changes and multiple versions of software components are handled simultaneously.</a:t>
            </a:r>
          </a:p>
          <a:p>
            <a:pPr marL="0" indent="0" algn="just">
              <a:buNone/>
            </a:pPr>
            <a:r>
              <a:rPr lang="en-US" sz="1600" dirty="0">
                <a:latin typeface="Times New Roman" panose="02020603050405020304" pitchFamily="18" charset="0"/>
                <a:cs typeface="Times New Roman" panose="02020603050405020304" pitchFamily="18" charset="0"/>
              </a:rPr>
              <a:t>Key terms and concepts in Software Configuration Management:</a:t>
            </a:r>
          </a:p>
          <a:p>
            <a:pPr marL="0" indent="0" algn="just">
              <a:buNone/>
            </a:pPr>
            <a:r>
              <a:rPr lang="en-US" sz="1600" dirty="0">
                <a:latin typeface="Times New Roman" panose="02020603050405020304" pitchFamily="18" charset="0"/>
                <a:cs typeface="Times New Roman" panose="02020603050405020304" pitchFamily="18" charset="0"/>
              </a:rPr>
              <a:t>Configuration Item (CI): Any entity that is subject to version control, such as source code files, documentation, test cases, or any component of the software. Every configuration item has a unique identifier and is managed as part of the SCM process.</a:t>
            </a:r>
          </a:p>
          <a:p>
            <a:pPr algn="just">
              <a:buFont typeface="+mj-lt"/>
              <a:buAutoNum type="arabicPeriod"/>
            </a:pPr>
            <a:r>
              <a:rPr lang="en-US" sz="1600" dirty="0">
                <a:latin typeface="Times New Roman" panose="02020603050405020304" pitchFamily="18" charset="0"/>
                <a:cs typeface="Times New Roman" panose="02020603050405020304" pitchFamily="18" charset="0"/>
              </a:rPr>
              <a:t>Baseline: A formally reviewed and agreed-upon version of software artifacts. Once a baseline is established, it serves as a foundation for further development, and changes to the baseline must follow strict SCM procedures. Common baselines include requirements, design, code, and test plans.</a:t>
            </a:r>
          </a:p>
          <a:p>
            <a:pPr marL="400050" lvl="1" indent="0" algn="just">
              <a:buNone/>
            </a:pPr>
            <a:r>
              <a:rPr lang="en-US" sz="1600" dirty="0">
                <a:latin typeface="Times New Roman" panose="02020603050405020304" pitchFamily="18" charset="0"/>
                <a:cs typeface="Times New Roman" panose="02020603050405020304" pitchFamily="18" charset="0"/>
              </a:rPr>
              <a:t>A baseline in software engineering is a formally reviewed and approved version of a configuration item or a set of items that serves as a reference point for further development. It represents a stable version of the product or a set of related artifacts (like requirements, design, code, or documentation) that is "frozen" at a specific point in time. Any future changes to items within a baseline are tracked, managed, and approved through a formal change control process.</a:t>
            </a:r>
          </a:p>
          <a:p>
            <a:pPr algn="just">
              <a:buFont typeface="+mj-lt"/>
              <a:buAutoNum type="arabicPeriod"/>
            </a:pPr>
            <a:r>
              <a:rPr lang="en-US" sz="1600" dirty="0">
                <a:latin typeface="Times New Roman" panose="02020603050405020304" pitchFamily="18" charset="0"/>
                <a:cs typeface="Times New Roman" panose="02020603050405020304" pitchFamily="18" charset="0"/>
              </a:rPr>
              <a:t>Version: A particular instance of a configuration item at a specific point in time. A version represents a complete or partial software product at a given stage of its lifecycle. Versions are typically numbered (e.g., v1.0, v2.1).</a:t>
            </a:r>
          </a:p>
          <a:p>
            <a:pPr algn="just">
              <a:buFont typeface="+mj-lt"/>
              <a:buAutoNum type="arabicPeriod"/>
            </a:pPr>
            <a:r>
              <a:rPr lang="en-US" sz="1600" dirty="0">
                <a:latin typeface="Times New Roman" panose="02020603050405020304" pitchFamily="18" charset="0"/>
                <a:cs typeface="Times New Roman" panose="02020603050405020304" pitchFamily="18" charset="0"/>
              </a:rPr>
              <a:t>Variant: A variant is a version of a software product that is created for a specific purpose, such as tailoring a product to meet the needs of a specific customer or adapting it to a new environment.</a:t>
            </a:r>
          </a:p>
          <a:p>
            <a:pPr marL="0" indent="0" algn="just">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246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E20C-D25B-88BD-0E31-039A4D57A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662BF-F8A0-F0B3-E8E4-DD8ECB4A55BF}"/>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AA9BDB-6871-443C-82C8-054371F34200}"/>
              </a:ext>
            </a:extLst>
          </p:cNvPr>
          <p:cNvSpPr>
            <a:spLocks noGrp="1"/>
          </p:cNvSpPr>
          <p:nvPr>
            <p:ph idx="1"/>
          </p:nvPr>
        </p:nvSpPr>
        <p:spPr>
          <a:xfrm>
            <a:off x="609600" y="606752"/>
            <a:ext cx="10972800" cy="5922235"/>
          </a:xfrm>
        </p:spPr>
        <p:txBody>
          <a:bodyPr/>
          <a:lstStyle/>
          <a:p>
            <a:pPr marL="457200" indent="-457200" algn="just">
              <a:buFont typeface="+mj-lt"/>
              <a:buAutoNum type="arabicPeriod" startAt="4"/>
            </a:pPr>
            <a:r>
              <a:rPr lang="en-US" sz="2000" dirty="0">
                <a:latin typeface="Times New Roman" panose="02020603050405020304" pitchFamily="18" charset="0"/>
                <a:cs typeface="Times New Roman" panose="02020603050405020304" pitchFamily="18" charset="0"/>
              </a:rPr>
              <a:t>Change Control: The formal process of managing changes to configuration items. This involves documenting, evaluating, and approving or rejecting changes.</a:t>
            </a:r>
          </a:p>
          <a:p>
            <a:pPr marL="457200" indent="-457200" algn="just">
              <a:buFont typeface="+mj-lt"/>
              <a:buAutoNum type="arabicPeriod" startAt="4"/>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startAt="4"/>
            </a:pPr>
            <a:r>
              <a:rPr lang="en-US" sz="2000" dirty="0">
                <a:latin typeface="Times New Roman" panose="02020603050405020304" pitchFamily="18" charset="0"/>
                <a:cs typeface="Times New Roman" panose="02020603050405020304" pitchFamily="18" charset="0"/>
              </a:rPr>
              <a:t>Version Control: The process of managing different versions of configuration items to track and maintain their history. Version control ensures that different versions of software components are properly organized and changes between versions can be traced.</a:t>
            </a:r>
          </a:p>
          <a:p>
            <a:pPr marL="457200" indent="-457200" algn="just">
              <a:buFont typeface="+mj-lt"/>
              <a:buAutoNum type="arabicPeriod" startAt="4"/>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startAt="4"/>
            </a:pPr>
            <a:r>
              <a:rPr lang="en-US" sz="2000" dirty="0">
                <a:latin typeface="Times New Roman" panose="02020603050405020304" pitchFamily="18" charset="0"/>
                <a:cs typeface="Times New Roman" panose="02020603050405020304" pitchFamily="18" charset="0"/>
              </a:rPr>
              <a:t>Configuration Audit: A review process to verify that the software conforms to its baseline and that the changes introduced are properly documented and implemented. Configuration audits ensure the correctness and completeness of changes.</a:t>
            </a:r>
          </a:p>
          <a:p>
            <a:pPr marL="457200" indent="-457200" algn="just">
              <a:buFont typeface="+mj-lt"/>
              <a:buAutoNum type="arabicPeriod" startAt="4"/>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rabicPeriod" startAt="4"/>
            </a:pPr>
            <a:r>
              <a:rPr lang="en-US" sz="2000" dirty="0">
                <a:latin typeface="Times New Roman" panose="02020603050405020304" pitchFamily="18" charset="0"/>
                <a:cs typeface="Times New Roman" panose="02020603050405020304" pitchFamily="18" charset="0"/>
              </a:rPr>
              <a:t>Configuration Identification: The process of identifying which items need to be under SCM control and defining the relationships among them. It involves labeling or tagging configuration items so they can be tracked.</a:t>
            </a:r>
          </a:p>
        </p:txBody>
      </p:sp>
    </p:spTree>
    <p:extLst>
      <p:ext uri="{BB962C8B-B14F-4D97-AF65-F5344CB8AC3E}">
        <p14:creationId xmlns:p14="http://schemas.microsoft.com/office/powerpoint/2010/main" val="1561356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C5617-B49F-87A8-24F8-047A29E29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ABF95-D146-0F24-29FD-02B0208FE2B8}"/>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6C257A-D9E1-C80D-59DB-DE0CC91DFFC9}"/>
              </a:ext>
            </a:extLst>
          </p:cNvPr>
          <p:cNvSpPr>
            <a:spLocks noGrp="1"/>
          </p:cNvSpPr>
          <p:nvPr>
            <p:ph idx="1"/>
          </p:nvPr>
        </p:nvSpPr>
        <p:spPr>
          <a:xfrm>
            <a:off x="609600" y="606752"/>
            <a:ext cx="10972800" cy="5922235"/>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Configuration identification, Version control, change control and configuration audits</a:t>
            </a:r>
          </a:p>
          <a:p>
            <a:pPr marL="0" indent="0" algn="just">
              <a:buNone/>
            </a:pPr>
            <a:r>
              <a:rPr lang="en-US" sz="2000" dirty="0">
                <a:latin typeface="Times New Roman" panose="02020603050405020304" pitchFamily="18" charset="0"/>
                <a:cs typeface="Times New Roman" panose="02020603050405020304" pitchFamily="18" charset="0"/>
              </a:rPr>
              <a:t>Configuration Identification</a:t>
            </a:r>
          </a:p>
          <a:p>
            <a:pPr marL="0" indent="0" algn="just">
              <a:buNone/>
            </a:pPr>
            <a:r>
              <a:rPr lang="en-US" sz="2000" dirty="0">
                <a:latin typeface="Times New Roman" panose="02020603050405020304" pitchFamily="18" charset="0"/>
                <a:cs typeface="Times New Roman" panose="02020603050405020304" pitchFamily="18" charset="0"/>
              </a:rPr>
              <a:t>This process focuses on defining the software items to be managed (Configuration Items) and creating a configuration baseline.</a:t>
            </a:r>
          </a:p>
          <a:p>
            <a:pPr marL="0" indent="0" algn="just">
              <a:buNone/>
            </a:pPr>
            <a:r>
              <a:rPr lang="en-US" sz="2000" dirty="0">
                <a:latin typeface="Times New Roman" panose="02020603050405020304" pitchFamily="18" charset="0"/>
                <a:cs typeface="Times New Roman" panose="02020603050405020304" pitchFamily="18" charset="0"/>
              </a:rPr>
              <a:t>Key Steps: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Identify Configuration Items: Determine which files, documents, and other project artifacts need to be managed. This can include requirements, design documents, source code, test cases, and user manuals.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Label Configuration Items: Assign unique identifiers to each configuration item. For example, you might use labels such as "v1.0" for the first version of the software design document.</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Define Baselines: A baseline is a snapshot of one or more configuration items that represents a stable version of the system. Baselines are used to mark important stages of the project. For example, after the requirements have been agreed upon and reviewed, they may be "baselined" to ensure that further changes to the requirements go through formal control processes.</a:t>
            </a:r>
          </a:p>
          <a:p>
            <a:pPr algn="just"/>
            <a:r>
              <a:rPr lang="en-US" sz="2000" dirty="0">
                <a:latin typeface="Times New Roman" panose="02020603050405020304" pitchFamily="18" charset="0"/>
                <a:cs typeface="Times New Roman" panose="02020603050405020304" pitchFamily="18" charset="0"/>
              </a:rPr>
              <a:t>In a software project, the initial requirements document and system design specification may be identified as configuration items. Each document is given a unique ID and version number (e.g., REQ_1.0, DESIGN_1.0), and these are added to a baseline before starting the implementation phase.</a:t>
            </a:r>
          </a:p>
        </p:txBody>
      </p:sp>
    </p:spTree>
    <p:extLst>
      <p:ext uri="{BB962C8B-B14F-4D97-AF65-F5344CB8AC3E}">
        <p14:creationId xmlns:p14="http://schemas.microsoft.com/office/powerpoint/2010/main" val="1890429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9170-0D4D-F4AD-28E3-3E01BDE08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39022-7E85-AC53-E9F9-62D763346CD4}"/>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81D45F-80DA-D536-2176-CCB505613A5C}"/>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Version control involves tracking and managing different versions of configuration items over time. It enables teams to work on the same software product concurrently, making changes without overwriting each other's work.</a:t>
            </a:r>
          </a:p>
          <a:p>
            <a:pPr marL="0" indent="0" algn="just">
              <a:buNone/>
            </a:pPr>
            <a:r>
              <a:rPr lang="en-US" sz="2000" dirty="0">
                <a:latin typeface="Times New Roman" panose="02020603050405020304" pitchFamily="18" charset="0"/>
                <a:cs typeface="Times New Roman" panose="02020603050405020304" pitchFamily="18" charset="0"/>
              </a:rPr>
              <a:t>Key Steps: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Check-in/Check-out: When a developer wants to modify a configuration item (like a source code file), they "check out" the item from the version control system. After making the necessary changes, they "check-in" the updated version.</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Branching and Merging: Developers may create a separate branch in the version control system to work on a feature or fix without affecting the main project line. After testing, the branch is merged back into the main project line.</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Tracking Changes: The system keeps a history of all changes made to each configuration item, enabling developers to view or roll back to previous versions if needed.</a:t>
            </a:r>
          </a:p>
          <a:p>
            <a:pPr algn="just"/>
            <a:r>
              <a:rPr lang="en-US" sz="2000" dirty="0">
                <a:latin typeface="Times New Roman" panose="02020603050405020304" pitchFamily="18" charset="0"/>
                <a:cs typeface="Times New Roman" panose="02020603050405020304" pitchFamily="18" charset="0"/>
              </a:rPr>
              <a:t>A team of developers working on different features of a product might check out the same source code file, modify it, and check it back in as version v1.1. If another developer needs to fix a bug in the same file, they create a branch, fix the bug, and merge the bug fix into the main version after testing.</a:t>
            </a:r>
          </a:p>
        </p:txBody>
      </p:sp>
    </p:spTree>
    <p:extLst>
      <p:ext uri="{BB962C8B-B14F-4D97-AF65-F5344CB8AC3E}">
        <p14:creationId xmlns:p14="http://schemas.microsoft.com/office/powerpoint/2010/main" val="2771706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34AC-A82C-68BF-B847-B8460A5A1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7F96A-5D0A-87DA-98CA-20D035CA8460}"/>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527D4B-CAF0-9F51-97DE-06DAA2DD2C18}"/>
              </a:ext>
            </a:extLst>
          </p:cNvPr>
          <p:cNvSpPr>
            <a:spLocks noGrp="1"/>
          </p:cNvSpPr>
          <p:nvPr>
            <p:ph idx="1"/>
          </p:nvPr>
        </p:nvSpPr>
        <p:spPr>
          <a:xfrm>
            <a:off x="609600" y="606752"/>
            <a:ext cx="10972800" cy="5922235"/>
          </a:xfrm>
        </p:spPr>
        <p:txBody>
          <a:bodyPr>
            <a:normAutofit fontScale="92500"/>
          </a:bodyPr>
          <a:lstStyle/>
          <a:p>
            <a:pPr marL="0" indent="0" algn="just">
              <a:buNone/>
            </a:pPr>
            <a:r>
              <a:rPr lang="en-US" sz="2000" dirty="0">
                <a:latin typeface="Times New Roman" panose="02020603050405020304" pitchFamily="18" charset="0"/>
                <a:cs typeface="Times New Roman" panose="02020603050405020304" pitchFamily="18" charset="0"/>
              </a:rPr>
              <a:t>Change Control</a:t>
            </a:r>
          </a:p>
          <a:p>
            <a:pPr marL="0" indent="0" algn="just">
              <a:buNone/>
            </a:pPr>
            <a:r>
              <a:rPr lang="en-US" sz="2000" dirty="0">
                <a:latin typeface="Times New Roman" panose="02020603050405020304" pitchFamily="18" charset="0"/>
                <a:cs typeface="Times New Roman" panose="02020603050405020304" pitchFamily="18" charset="0"/>
              </a:rPr>
              <a:t>Change control is a formal process used to manage changes to baselined configuration items. The change control process ensures that every change is thoroughly reviewed, approved, and tracked.</a:t>
            </a:r>
          </a:p>
          <a:p>
            <a:pPr marL="0" indent="0" algn="just">
              <a:buNone/>
            </a:pPr>
            <a:r>
              <a:rPr lang="en-US" sz="2000" dirty="0">
                <a:latin typeface="Times New Roman" panose="02020603050405020304" pitchFamily="18" charset="0"/>
                <a:cs typeface="Times New Roman" panose="02020603050405020304" pitchFamily="18" charset="0"/>
              </a:rPr>
              <a:t>Key Steps: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Change Request Submission: Any stakeholder (e.g., a developer, project manager, or customer) can submit a change request when they identify the need for a modification in the system.</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Change Review and Evaluation: A Change Control Board (CCB) reviews the change request and evaluates the impact of the change. The CCB decides whether to accept, reject, or defer the request.</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Change Implementation: If the change request is approved, the necessary updates are made to the configuration item, and the updated version is tested before it is integrated into the baseline.</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Change Documentation: Every approved change must be documented in the configuration management system, specifying what was changed, why, who made the change, and when it was made.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customer might request a new feature late in the project. The project manager submits a formal change request. The CCB reviews the change and decides whether it’s feasible, considering the schedule and budget. If approved, the feature is added to the project, and the baseline is updated accordingly.</a:t>
            </a:r>
          </a:p>
        </p:txBody>
      </p:sp>
    </p:spTree>
    <p:extLst>
      <p:ext uri="{BB962C8B-B14F-4D97-AF65-F5344CB8AC3E}">
        <p14:creationId xmlns:p14="http://schemas.microsoft.com/office/powerpoint/2010/main" val="4098847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F9777-7C90-3222-9C1F-66086B791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4B74C-7DDA-5DD6-48FD-20F73D788B59}"/>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1C12DD-E8EB-3E30-2B92-DDE6BD3C9440}"/>
              </a:ext>
            </a:extLst>
          </p:cNvPr>
          <p:cNvSpPr>
            <a:spLocks noGrp="1"/>
          </p:cNvSpPr>
          <p:nvPr>
            <p:ph idx="1"/>
          </p:nvPr>
        </p:nvSpPr>
        <p:spPr>
          <a:xfrm>
            <a:off x="609600" y="606752"/>
            <a:ext cx="10972800" cy="5922235"/>
          </a:xfrm>
        </p:spPr>
        <p:txBody>
          <a:bodyPr>
            <a:normAutofit lnSpcReduction="10000"/>
          </a:bodyPr>
          <a:lstStyle/>
          <a:p>
            <a:pPr marL="0" indent="0" algn="just">
              <a:buNone/>
            </a:pPr>
            <a:r>
              <a:rPr lang="en-US" sz="1800" dirty="0">
                <a:latin typeface="Times New Roman" panose="02020603050405020304" pitchFamily="18" charset="0"/>
                <a:cs typeface="Times New Roman" panose="02020603050405020304" pitchFamily="18" charset="0"/>
              </a:rPr>
              <a:t>Configuration Audits</a:t>
            </a:r>
          </a:p>
          <a:p>
            <a:pPr marL="0" indent="0" algn="just">
              <a:buNone/>
            </a:pPr>
            <a:r>
              <a:rPr lang="en-US" sz="1800" dirty="0">
                <a:latin typeface="Times New Roman" panose="02020603050405020304" pitchFamily="18" charset="0"/>
                <a:cs typeface="Times New Roman" panose="02020603050405020304" pitchFamily="18" charset="0"/>
              </a:rPr>
              <a:t>A configuration audit is a review process that ensures that the software product and its components comply with the defined configuration management processes and that all changes have been properly implemented and documented.</a:t>
            </a:r>
          </a:p>
          <a:p>
            <a:pPr marL="0" indent="0" algn="just">
              <a:buNone/>
            </a:pPr>
            <a:r>
              <a:rPr lang="en-US" sz="1800" dirty="0">
                <a:latin typeface="Times New Roman" panose="02020603050405020304" pitchFamily="18" charset="0"/>
                <a:cs typeface="Times New Roman" panose="02020603050405020304" pitchFamily="18" charset="0"/>
              </a:rPr>
              <a:t>Key Steps:</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Functional Audit: Verifies that the software performs the intended functions as defined in the requirements and design documents.</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Physical Audit: Ensures that all the required configuration items (e.g., code, documentation, test cases) are present, correctly labeled, and consistent with the baseline.</a:t>
            </a: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Verify Changes: The audit checks that all approved changes were made and no unauthorized changes were introduced into the system.</a:t>
            </a:r>
          </a:p>
          <a:p>
            <a:pPr algn="just"/>
            <a:r>
              <a:rPr lang="en-US" sz="1800" dirty="0">
                <a:latin typeface="Times New Roman" panose="02020603050405020304" pitchFamily="18" charset="0"/>
                <a:cs typeface="Times New Roman" panose="02020603050405020304" pitchFamily="18" charset="0"/>
              </a:rPr>
              <a:t>Before releasing a software product, a configuration audit team checks that all code files, design documents, and user manuals are up-to-date, labeled correctly, and match the baseline version. They also verify that all changes approved by the CCB are reflected in the final product.</a:t>
            </a:r>
          </a:p>
          <a:p>
            <a:r>
              <a:rPr lang="en-US" sz="1800" dirty="0">
                <a:latin typeface="Times New Roman" panose="02020603050405020304" pitchFamily="18" charset="0"/>
                <a:cs typeface="Times New Roman" panose="02020603050405020304" pitchFamily="18" charset="0"/>
              </a:rPr>
              <a:t>SCM involves identifying configuration items, managing versions of these items, controlling changes, and conducting audits to ensure that the software product is correctly built and maintained. SCM is essential for maintaining consistency and managing complexity in large-scale software projects, where multiple people are involved, and constant changes are made to the software.</a:t>
            </a:r>
          </a:p>
          <a:p>
            <a:r>
              <a:rPr lang="en-US" sz="1800" dirty="0">
                <a:latin typeface="Times New Roman" panose="02020603050405020304" pitchFamily="18" charset="0"/>
                <a:cs typeface="Times New Roman" panose="02020603050405020304" pitchFamily="18" charset="0"/>
              </a:rPr>
              <a:t>By adopting SCM practices, development teams can ensure that software products are built with high quality, changes are managed systematically, and the entire process is well-documented for future maintenance or audits.</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135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45410-1CD2-7BA0-7AFD-0D8C1FC33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CF94D-6634-5754-8DDA-66EB9ACF8AC4}"/>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 – configuration audit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18879F-D014-5923-F592-3C437F6FB83C}"/>
              </a:ext>
            </a:extLst>
          </p:cNvPr>
          <p:cNvSpPr>
            <a:spLocks noGrp="1"/>
          </p:cNvSpPr>
          <p:nvPr>
            <p:ph idx="1"/>
          </p:nvPr>
        </p:nvSpPr>
        <p:spPr>
          <a:xfrm>
            <a:off x="609600" y="606752"/>
            <a:ext cx="10972800" cy="5922235"/>
          </a:xfrm>
        </p:spPr>
        <p:txBody>
          <a:bodyPr/>
          <a:lstStyle/>
          <a:p>
            <a:pPr algn="just"/>
            <a:r>
              <a:rPr lang="en-US" sz="2000" dirty="0">
                <a:latin typeface="Times New Roman" panose="02020603050405020304" pitchFamily="18" charset="0"/>
                <a:cs typeface="Times New Roman" panose="02020603050405020304" pitchFamily="18" charset="0"/>
              </a:rPr>
              <a:t>Ensures that the software product and its associated artifacts (documents, code, etc.) conform to the requirements and that all changes made to the system are properly documented, tested, and approved. A configuration audit verifies the integrity and completeness of configuration items (CIs) and validates that they meet their specified baselines.</a:t>
            </a:r>
          </a:p>
          <a:p>
            <a:pPr marL="0" indent="0" algn="just">
              <a:buNone/>
            </a:pPr>
            <a:r>
              <a:rPr lang="en-US" sz="2000" dirty="0">
                <a:latin typeface="Times New Roman" panose="02020603050405020304" pitchFamily="18" charset="0"/>
                <a:cs typeface="Times New Roman" panose="02020603050405020304" pitchFamily="18" charset="0"/>
              </a:rPr>
              <a:t>Purpose of a Configuration Audit</a:t>
            </a:r>
          </a:p>
          <a:p>
            <a:pPr algn="just">
              <a:buFont typeface="+mj-lt"/>
              <a:buAutoNum type="arabicPeriod"/>
            </a:pPr>
            <a:r>
              <a:rPr lang="en-US" sz="2000" dirty="0">
                <a:latin typeface="Times New Roman" panose="02020603050405020304" pitchFamily="18" charset="0"/>
                <a:cs typeface="Times New Roman" panose="02020603050405020304" pitchFamily="18" charset="0"/>
              </a:rPr>
              <a:t>All configuration items (CIs) are correctly identified.</a:t>
            </a:r>
          </a:p>
          <a:p>
            <a:pPr algn="just">
              <a:buFont typeface="+mj-lt"/>
              <a:buAutoNum type="arabicPeriod"/>
            </a:pPr>
            <a:r>
              <a:rPr lang="en-US" sz="2000" dirty="0">
                <a:latin typeface="Times New Roman" panose="02020603050405020304" pitchFamily="18" charset="0"/>
                <a:cs typeface="Times New Roman" panose="02020603050405020304" pitchFamily="18" charset="0"/>
              </a:rPr>
              <a:t>Changes have been properly implemented, following the approved change control processes.</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product meets the defined requirements, both functionally and technically.</a:t>
            </a:r>
          </a:p>
          <a:p>
            <a:pPr algn="just">
              <a:buFont typeface="+mj-lt"/>
              <a:buAutoNum type="arabicPeriod"/>
            </a:pPr>
            <a:r>
              <a:rPr lang="en-US" sz="2000" dirty="0">
                <a:latin typeface="Times New Roman" panose="02020603050405020304" pitchFamily="18" charset="0"/>
                <a:cs typeface="Times New Roman" panose="02020603050405020304" pitchFamily="18" charset="0"/>
              </a:rPr>
              <a:t>All documents and records are consistent and reflect the actual status of the software and its components.</a:t>
            </a:r>
          </a:p>
          <a:p>
            <a:pPr algn="just"/>
            <a:r>
              <a:rPr lang="en-US" sz="2000" dirty="0">
                <a:latin typeface="Times New Roman" panose="02020603050405020304" pitchFamily="18" charset="0"/>
                <a:cs typeface="Times New Roman" panose="02020603050405020304" pitchFamily="18" charset="0"/>
              </a:rPr>
              <a:t>Configuration audits provide confidence that the software product has been built according to specifications and can be maintained or extended in the future without introducing errors or discrepancies.</a:t>
            </a:r>
          </a:p>
          <a:p>
            <a:pPr algn="just"/>
            <a:r>
              <a:rPr lang="en-US" sz="2000" dirty="0">
                <a:latin typeface="Times New Roman" panose="02020603050405020304" pitchFamily="18" charset="0"/>
                <a:cs typeface="Times New Roman" panose="02020603050405020304" pitchFamily="18" charset="0"/>
              </a:rPr>
              <a:t>Audits are of two types: FCA and PCA</a:t>
            </a:r>
          </a:p>
        </p:txBody>
      </p:sp>
    </p:spTree>
    <p:extLst>
      <p:ext uri="{BB962C8B-B14F-4D97-AF65-F5344CB8AC3E}">
        <p14:creationId xmlns:p14="http://schemas.microsoft.com/office/powerpoint/2010/main" val="2631826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398E3-2C9A-5EDF-E645-1C04C7D15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6FF23-4D19-2E06-3312-E5BC2AC21563}"/>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 – configuration audit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0C94DE-145C-03FF-9DDB-09B675D20384}"/>
              </a:ext>
            </a:extLst>
          </p:cNvPr>
          <p:cNvSpPr>
            <a:spLocks noGrp="1"/>
          </p:cNvSpPr>
          <p:nvPr>
            <p:ph idx="1"/>
          </p:nvPr>
        </p:nvSpPr>
        <p:spPr>
          <a:xfrm>
            <a:off x="609600" y="606752"/>
            <a:ext cx="10972800" cy="5922235"/>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Functional Configuration Audit (FCA)</a:t>
            </a:r>
          </a:p>
          <a:p>
            <a:pPr algn="just"/>
            <a:r>
              <a:rPr lang="en-US" sz="1800" dirty="0">
                <a:latin typeface="Times New Roman" panose="02020603050405020304" pitchFamily="18" charset="0"/>
                <a:cs typeface="Times New Roman" panose="02020603050405020304" pitchFamily="18" charset="0"/>
              </a:rPr>
              <a:t>The Functional Configuration Audit (FCA) verifies that the software product’s functionality meets the requirements and specifications outlined in the baseline documents (e.g., requirements specification, design documents, user stories).</a:t>
            </a:r>
          </a:p>
          <a:p>
            <a:pPr marL="0" indent="0" algn="just">
              <a:buNone/>
            </a:pPr>
            <a:r>
              <a:rPr lang="en-US" sz="1800" dirty="0">
                <a:latin typeface="Times New Roman" panose="02020603050405020304" pitchFamily="18" charset="0"/>
                <a:cs typeface="Times New Roman" panose="02020603050405020304" pitchFamily="18" charset="0"/>
              </a:rPr>
              <a:t>Steps Involved in FCA:</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Review of Functionality: The software’s functionality is reviewed against the functional baseline, such as the requirements document. Each feature or function of the software is checked to ensure it performs as intended.</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Verification of Change Requests: All approved changes that affect functionality are reviewed. The audit ensures that these changes were implemented correctly and that no unauthorized changes were introduced.</a:t>
            </a:r>
          </a:p>
          <a:p>
            <a:pPr marL="857250" lvl="1" indent="-457200" algn="just">
              <a:buFont typeface="+mj-lt"/>
              <a:buAutoNum type="arabicPeriod"/>
            </a:pPr>
            <a:r>
              <a:rPr lang="en-US" sz="1800" dirty="0">
                <a:latin typeface="Times New Roman" panose="02020603050405020304" pitchFamily="18" charset="0"/>
                <a:cs typeface="Times New Roman" panose="02020603050405020304" pitchFamily="18" charset="0"/>
              </a:rPr>
              <a:t>Test Review: Test results are reviewed to confirm that all functional requirements have been tested and verified.</a:t>
            </a:r>
          </a:p>
          <a:p>
            <a:pPr algn="just"/>
            <a:r>
              <a:rPr lang="en-US" sz="1800" dirty="0">
                <a:latin typeface="Times New Roman" panose="02020603050405020304" pitchFamily="18" charset="0"/>
                <a:cs typeface="Times New Roman" panose="02020603050405020304" pitchFamily="18" charset="0"/>
              </a:rPr>
              <a:t>In a project developing an inventory management system, the FCA would check whether the software correctly handles tasks like stock counting, order processing, and report generation. The auditors would verify that all these functionalities are implemented as defined in the requirements document.</a:t>
            </a:r>
          </a:p>
        </p:txBody>
      </p:sp>
    </p:spTree>
    <p:extLst>
      <p:ext uri="{BB962C8B-B14F-4D97-AF65-F5344CB8AC3E}">
        <p14:creationId xmlns:p14="http://schemas.microsoft.com/office/powerpoint/2010/main" val="1948757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A1A75-342E-0F45-8944-D0F993206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E46CC-3D4A-6EEC-6766-D60C19AA6388}"/>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 – configuration audit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DD1BAD-86FF-1E58-C650-1FCAAED87FC4}"/>
              </a:ext>
            </a:extLst>
          </p:cNvPr>
          <p:cNvSpPr>
            <a:spLocks noGrp="1"/>
          </p:cNvSpPr>
          <p:nvPr>
            <p:ph idx="1"/>
          </p:nvPr>
        </p:nvSpPr>
        <p:spPr>
          <a:xfrm>
            <a:off x="609600" y="606752"/>
            <a:ext cx="10972800" cy="5922235"/>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Physical Configuration Audit (PCA)</a:t>
            </a:r>
          </a:p>
          <a:p>
            <a:pPr algn="just"/>
            <a:r>
              <a:rPr lang="en-US" sz="1800" dirty="0">
                <a:latin typeface="Times New Roman" panose="02020603050405020304" pitchFamily="18" charset="0"/>
                <a:cs typeface="Times New Roman" panose="02020603050405020304" pitchFamily="18" charset="0"/>
              </a:rPr>
              <a:t>The Physical Configuration Audit (PCA) ensures that all components of the system (software, documentation, and other deliverables) are present and correctly identified. It also ensures that each configuration item corresponds to its physical and logical specifications (code, documentation, tests).</a:t>
            </a:r>
          </a:p>
          <a:p>
            <a:pPr marL="0" indent="0" algn="just">
              <a:buNone/>
            </a:pPr>
            <a:r>
              <a:rPr lang="en-US" sz="1800" dirty="0">
                <a:latin typeface="Times New Roman" panose="02020603050405020304" pitchFamily="18" charset="0"/>
                <a:cs typeface="Times New Roman" panose="02020603050405020304" pitchFamily="18" charset="0"/>
              </a:rPr>
              <a:t>Steps Involved in PCA:</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Verification of CIs: The auditors check whether all configuration items (source code, design documents, user manuals, test cases, etc.) are present and consistent with their documentation.</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Labeling and Identification: All configuration items should be labeled with unique identifiers (version numbers, build numbers, etc.) that match the version control records.</a:t>
            </a:r>
          </a:p>
          <a:p>
            <a:pPr lvl="1" algn="just">
              <a:buFont typeface="+mj-lt"/>
              <a:buAutoNum type="arabicPeriod"/>
            </a:pPr>
            <a:r>
              <a:rPr lang="en-US" sz="1800" dirty="0">
                <a:latin typeface="Times New Roman" panose="02020603050405020304" pitchFamily="18" charset="0"/>
                <a:cs typeface="Times New Roman" panose="02020603050405020304" pitchFamily="18" charset="0"/>
              </a:rPr>
              <a:t>Document Consistency: The PCA reviews project documents to ensure they reflect the current state of the software. This includes verifying that the design documents match the final software product and that test results and reports align with the software’s features.</a:t>
            </a:r>
          </a:p>
          <a:p>
            <a:pPr algn="just"/>
            <a:r>
              <a:rPr lang="en-US" sz="1800" dirty="0">
                <a:latin typeface="Times New Roman" panose="02020603050405020304" pitchFamily="18" charset="0"/>
                <a:cs typeface="Times New Roman" panose="02020603050405020304" pitchFamily="18" charset="0"/>
              </a:rPr>
              <a:t>For a web-based application, the PCA would ensure that all source code files, database scripts, and configuration files are present and labeled properly (e.g., version v1.0). The audit would also confirm that the user manuals and installation guides are consistent with the latest version of the software.</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478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F5B8B-60C2-FC7F-442D-2B4537B7A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BE2C9-FB5C-0A93-5DCA-5962F0DFA4D3}"/>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Activities – configuration audit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B6960F-629E-D3F2-C1E1-18B9CD227282}"/>
              </a:ext>
            </a:extLst>
          </p:cNvPr>
          <p:cNvSpPr>
            <a:spLocks noGrp="1"/>
          </p:cNvSpPr>
          <p:nvPr>
            <p:ph idx="1"/>
          </p:nvPr>
        </p:nvSpPr>
        <p:spPr>
          <a:xfrm>
            <a:off x="609600" y="606752"/>
            <a:ext cx="10972800" cy="5922235"/>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Key Elements of a Configuration Audit</a:t>
            </a:r>
          </a:p>
          <a:p>
            <a:pPr algn="just">
              <a:buFont typeface="+mj-lt"/>
              <a:buAutoNum type="arabicPeriod"/>
            </a:pPr>
            <a:r>
              <a:rPr lang="en-US" sz="1800" dirty="0">
                <a:latin typeface="Times New Roman" panose="02020603050405020304" pitchFamily="18" charset="0"/>
                <a:cs typeface="Times New Roman" panose="02020603050405020304" pitchFamily="18" charset="0"/>
              </a:rPr>
              <a:t>Audit Plan: The audit team creates an audit plan that outlines the objectives, scope, and criteria for the audit. This includes identifying the specific baselines, documentation, and CIs to be reviewed.</a:t>
            </a:r>
          </a:p>
          <a:p>
            <a:pPr algn="just">
              <a:buFont typeface="+mj-lt"/>
              <a:buAutoNum type="arabicPeriod"/>
            </a:pPr>
            <a:r>
              <a:rPr lang="en-US" sz="1800" dirty="0">
                <a:latin typeface="Times New Roman" panose="02020603050405020304" pitchFamily="18" charset="0"/>
                <a:cs typeface="Times New Roman" panose="02020603050405020304" pitchFamily="18" charset="0"/>
              </a:rPr>
              <a:t>Audit Criteria: The criteria for the audit should be based on the defined baselines (e.g., requirements specification, design documents, user manuals) and the configuration control processes established for the project. The audit checks that these criteria are met.</a:t>
            </a:r>
          </a:p>
          <a:p>
            <a:pPr algn="just">
              <a:buFont typeface="+mj-lt"/>
              <a:buAutoNum type="arabicPeriod"/>
            </a:pPr>
            <a:r>
              <a:rPr lang="en-US" sz="1800" dirty="0">
                <a:latin typeface="Times New Roman" panose="02020603050405020304" pitchFamily="18" charset="0"/>
                <a:cs typeface="Times New Roman" panose="02020603050405020304" pitchFamily="18" charset="0"/>
              </a:rPr>
              <a:t>Baseline Verification: The audit verifies that the software and its components match the baseline specifications. This includes checking that all required components are complete and correct.</a:t>
            </a:r>
          </a:p>
          <a:p>
            <a:pPr algn="just">
              <a:buFont typeface="+mj-lt"/>
              <a:buAutoNum type="arabicPeriod"/>
            </a:pPr>
            <a:r>
              <a:rPr lang="en-US" sz="1800" dirty="0">
                <a:latin typeface="Times New Roman" panose="02020603050405020304" pitchFamily="18" charset="0"/>
                <a:cs typeface="Times New Roman" panose="02020603050405020304" pitchFamily="18" charset="0"/>
              </a:rPr>
              <a:t>Change Verification: The audit reviews the history of changes made to the software to ensure that each change was authorized, properly implemented, and documented.</a:t>
            </a:r>
          </a:p>
          <a:p>
            <a:pPr algn="just">
              <a:buFont typeface="+mj-lt"/>
              <a:buAutoNum type="arabicPeriod"/>
            </a:pPr>
            <a:r>
              <a:rPr lang="en-US" sz="1800" dirty="0">
                <a:latin typeface="Times New Roman" panose="02020603050405020304" pitchFamily="18" charset="0"/>
                <a:cs typeface="Times New Roman" panose="02020603050405020304" pitchFamily="18" charset="0"/>
              </a:rPr>
              <a:t>Traceability: The audit ensures that each configuration item has traceability back to its original requirements. This ensures that every component in the system is necessary and linked to a specific feature or requirement</a:t>
            </a:r>
          </a:p>
        </p:txBody>
      </p:sp>
    </p:spTree>
    <p:extLst>
      <p:ext uri="{BB962C8B-B14F-4D97-AF65-F5344CB8AC3E}">
        <p14:creationId xmlns:p14="http://schemas.microsoft.com/office/powerpoint/2010/main" val="2060318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2156E-0DE4-1996-0C96-0AB536304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F5938-3A32-1973-4051-5459AAE297DD}"/>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Summary</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86C87F-6AE0-CE10-8769-E8786F5C5F01}"/>
              </a:ext>
            </a:extLst>
          </p:cNvPr>
          <p:cNvSpPr>
            <a:spLocks noGrp="1"/>
          </p:cNvSpPr>
          <p:nvPr>
            <p:ph idx="1"/>
          </p:nvPr>
        </p:nvSpPr>
        <p:spPr>
          <a:xfrm>
            <a:off x="609600" y="606752"/>
            <a:ext cx="10972800" cy="5922235"/>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Software Configuration Management (SCM)</a:t>
            </a:r>
            <a:r>
              <a:rPr lang="en-US" sz="2000" dirty="0">
                <a:latin typeface="Times New Roman" panose="02020603050405020304" pitchFamily="18" charset="0"/>
                <a:cs typeface="Times New Roman" panose="02020603050405020304" pitchFamily="18" charset="0"/>
              </a:rPr>
              <a:t> is a set of processes and tools for systematically controlling changes to the configuration items in a software project, ensuring accuracy, consistency, and traceability across versions.</a:t>
            </a:r>
          </a:p>
          <a:p>
            <a:pPr marL="0" indent="0" algn="just">
              <a:buNone/>
            </a:pPr>
            <a:r>
              <a:rPr lang="en-US" sz="2000" dirty="0">
                <a:latin typeface="Times New Roman" panose="02020603050405020304" pitchFamily="18" charset="0"/>
                <a:cs typeface="Times New Roman" panose="02020603050405020304" pitchFamily="18" charset="0"/>
              </a:rPr>
              <a:t>Key terminology includes: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Configuration Item (CI):</a:t>
            </a:r>
            <a:r>
              <a:rPr lang="en-US" sz="2000" dirty="0">
                <a:latin typeface="Times New Roman" panose="02020603050405020304" pitchFamily="18" charset="0"/>
                <a:cs typeface="Times New Roman" panose="02020603050405020304" pitchFamily="18" charset="0"/>
              </a:rPr>
              <a:t> Any software-related artifact that must be controlled, including code files, documentation, test cases, and design documents.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Baseline:</a:t>
            </a:r>
            <a:r>
              <a:rPr lang="en-US" sz="2000" dirty="0">
                <a:latin typeface="Times New Roman" panose="02020603050405020304" pitchFamily="18" charset="0"/>
                <a:cs typeface="Times New Roman" panose="02020603050405020304" pitchFamily="18" charset="0"/>
              </a:rPr>
              <a:t> A stable version of a configuration item that serves as a reference point for development. Once "frozen," a baseline can only be modified via formal change control.</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Version Control:</a:t>
            </a:r>
            <a:r>
              <a:rPr lang="en-US" sz="2000" dirty="0">
                <a:latin typeface="Times New Roman" panose="02020603050405020304" pitchFamily="18" charset="0"/>
                <a:cs typeface="Times New Roman" panose="02020603050405020304" pitchFamily="18" charset="0"/>
              </a:rPr>
              <a:t> A system that records changes to configuration items over time, allowing teams to revert to previous versions if needed.</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Change Control:</a:t>
            </a:r>
            <a:r>
              <a:rPr lang="en-US" sz="2000" dirty="0">
                <a:latin typeface="Times New Roman" panose="02020603050405020304" pitchFamily="18" charset="0"/>
                <a:cs typeface="Times New Roman" panose="02020603050405020304" pitchFamily="18" charset="0"/>
              </a:rPr>
              <a:t> A process for evaluating and approving changes to baseline items to maintain product stability.</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8194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FA0B8-B089-D141-33CD-37FA74F12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23950-A4F4-2C9D-E92C-E2CF664D9A3A}"/>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Example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1E7AE7-F6D0-71B7-E105-A2B8F0CBC712}"/>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Consider an online shopping system project. Various components like the codebase, product documentation, and database schemas are treated as configuration items. Each time the code reaches a stable point (like completion of the cart module), a baseline is established. Future changes to the cart module are tracked in version control.</a:t>
            </a:r>
          </a:p>
          <a:p>
            <a:pPr marL="0" indent="0" algn="just">
              <a:buNone/>
            </a:pPr>
            <a:r>
              <a:rPr lang="en-IN" sz="2000" dirty="0">
                <a:latin typeface="Times New Roman" panose="02020603050405020304" pitchFamily="18" charset="0"/>
                <a:cs typeface="Times New Roman" panose="02020603050405020304" pitchFamily="18" charset="0"/>
              </a:rPr>
              <a:t>SCM Processes and Activities</a:t>
            </a:r>
            <a:r>
              <a:rPr lang="en-US" sz="2000" dirty="0">
                <a:latin typeface="Times New Roman" panose="02020603050405020304" pitchFamily="18" charset="0"/>
                <a:cs typeface="Times New Roman" panose="02020603050405020304" pitchFamily="18" charset="0"/>
              </a:rPr>
              <a:t>:</a:t>
            </a:r>
          </a:p>
          <a:p>
            <a:pPr marL="0" indent="0" algn="just">
              <a:buNone/>
            </a:pPr>
            <a:r>
              <a:rPr lang="en-US" sz="2000" b="1" dirty="0">
                <a:latin typeface="Times New Roman" panose="02020603050405020304" pitchFamily="18" charset="0"/>
                <a:cs typeface="Times New Roman" panose="02020603050405020304" pitchFamily="18" charset="0"/>
              </a:rPr>
              <a:t>1. Configuration Identification: </a:t>
            </a:r>
            <a:r>
              <a:rPr lang="en-US" sz="2000" dirty="0">
                <a:latin typeface="Times New Roman" panose="02020603050405020304" pitchFamily="18" charset="0"/>
                <a:cs typeface="Times New Roman" panose="02020603050405020304" pitchFamily="18" charset="0"/>
              </a:rPr>
              <a:t>The first step involves identifying all configuration items and defining a structure for naming, organizing, and managing them.</a:t>
            </a:r>
          </a:p>
          <a:p>
            <a:pPr algn="just"/>
            <a:r>
              <a:rPr lang="en-US" sz="2000" dirty="0">
                <a:latin typeface="Times New Roman" panose="02020603050405020304" pitchFamily="18" charset="0"/>
                <a:cs typeface="Times New Roman" panose="02020603050405020304" pitchFamily="18" charset="0"/>
              </a:rPr>
              <a:t>Example: In a hospital management system, configuration items might include "Doctor Module," "Patient Module," "Billing Module," etc., each with uniquely named versions.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2. Version Control: </a:t>
            </a:r>
            <a:r>
              <a:rPr lang="en-US" sz="2000" dirty="0">
                <a:latin typeface="Times New Roman" panose="02020603050405020304" pitchFamily="18" charset="0"/>
                <a:cs typeface="Times New Roman" panose="02020603050405020304" pitchFamily="18" charset="0"/>
              </a:rPr>
              <a:t>Using tools like Git, Subversion, or Mercurial, version control manages updates to code, documentation, and other CIs, allowing developers to track changes and roll back if needed.</a:t>
            </a:r>
          </a:p>
          <a:p>
            <a:pPr algn="just"/>
            <a:r>
              <a:rPr lang="en-US" sz="2000" dirty="0">
                <a:latin typeface="Times New Roman" panose="02020603050405020304" pitchFamily="18" charset="0"/>
                <a:cs typeface="Times New Roman" panose="02020603050405020304" pitchFamily="18" charset="0"/>
              </a:rPr>
              <a:t>Example: During the development of an e-learning platform, the team uses Git to track changes to the codebase and documentation, enabling different team members to work simultaneously on various parts of the project.</a:t>
            </a:r>
          </a:p>
        </p:txBody>
      </p:sp>
    </p:spTree>
    <p:extLst>
      <p:ext uri="{BB962C8B-B14F-4D97-AF65-F5344CB8AC3E}">
        <p14:creationId xmlns:p14="http://schemas.microsoft.com/office/powerpoint/2010/main" val="3236054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2FDD-7CE3-EFAF-A3FA-7F4D9298E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CBF3F-9613-14F3-D19C-BCDBD898BCA7}"/>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SCM Example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6BBBA9-A6AB-0A74-A389-F717C2C36B3E}"/>
              </a:ext>
            </a:extLst>
          </p:cNvPr>
          <p:cNvSpPr>
            <a:spLocks noGrp="1"/>
          </p:cNvSpPr>
          <p:nvPr>
            <p:ph idx="1"/>
          </p:nvPr>
        </p:nvSpPr>
        <p:spPr>
          <a:xfrm>
            <a:off x="609600" y="606752"/>
            <a:ext cx="10972800" cy="5922235"/>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3. Change Control: </a:t>
            </a:r>
            <a:r>
              <a:rPr lang="en-US" sz="2000" dirty="0">
                <a:latin typeface="Times New Roman" panose="02020603050405020304" pitchFamily="18" charset="0"/>
                <a:cs typeface="Times New Roman" panose="02020603050405020304" pitchFamily="18" charset="0"/>
              </a:rPr>
              <a:t>This process includes evaluating, approving, or rejecting changes to configuration items. Changes must go through a formal approval process to be implemented.</a:t>
            </a:r>
          </a:p>
          <a:p>
            <a:pPr algn="just"/>
            <a:r>
              <a:rPr lang="en-US" sz="2000" dirty="0">
                <a:latin typeface="Times New Roman" panose="02020603050405020304" pitchFamily="18" charset="0"/>
                <a:cs typeface="Times New Roman" panose="02020603050405020304" pitchFamily="18" charset="0"/>
              </a:rPr>
              <a:t>Example: If a change request is submitted to add a "Report Generation" feature in a finance app, the change control board reviews its impact on other modules and approves or rejects the change.</a:t>
            </a:r>
          </a:p>
          <a:p>
            <a:pPr marL="0" indent="0" algn="just">
              <a:buNone/>
            </a:pPr>
            <a:r>
              <a:rPr lang="en-US" sz="2000" b="1" dirty="0">
                <a:latin typeface="Times New Roman" panose="02020603050405020304" pitchFamily="18" charset="0"/>
                <a:cs typeface="Times New Roman" panose="02020603050405020304" pitchFamily="18" charset="0"/>
              </a:rPr>
              <a:t>4. Configuration Status Accounting: </a:t>
            </a:r>
            <a:r>
              <a:rPr lang="en-US" sz="2000" dirty="0">
                <a:latin typeface="Times New Roman" panose="02020603050405020304" pitchFamily="18" charset="0"/>
                <a:cs typeface="Times New Roman" panose="02020603050405020304" pitchFamily="18" charset="0"/>
              </a:rPr>
              <a:t>This activity provides a detailed record of changes, including the history, status, and details of each CI and baseline.</a:t>
            </a:r>
          </a:p>
          <a:p>
            <a:pPr algn="just"/>
            <a:r>
              <a:rPr lang="en-US" sz="2000" dirty="0">
                <a:latin typeface="Times New Roman" panose="02020603050405020304" pitchFamily="18" charset="0"/>
                <a:cs typeface="Times New Roman" panose="02020603050405020304" pitchFamily="18" charset="0"/>
              </a:rPr>
              <a:t>Example: The accounting team maintains a log of all changes made to a payroll system’s codebase, showing dates, reasons, and details of changes for future reference.</a:t>
            </a:r>
          </a:p>
          <a:p>
            <a:pPr marL="0" indent="0" algn="just">
              <a:buNone/>
            </a:pPr>
            <a:r>
              <a:rPr lang="en-US" sz="2000" b="1" dirty="0">
                <a:latin typeface="Times New Roman" panose="02020603050405020304" pitchFamily="18" charset="0"/>
                <a:cs typeface="Times New Roman" panose="02020603050405020304" pitchFamily="18" charset="0"/>
              </a:rPr>
              <a:t>5. Configuration Audit: </a:t>
            </a:r>
            <a:r>
              <a:rPr lang="en-US" sz="2000" dirty="0">
                <a:latin typeface="Times New Roman" panose="02020603050405020304" pitchFamily="18" charset="0"/>
                <a:cs typeface="Times New Roman" panose="02020603050405020304" pitchFamily="18" charset="0"/>
              </a:rPr>
              <a:t>Conducting audits to ensure that all changes to CIs follow the established procedures and meet quality standards</a:t>
            </a:r>
          </a:p>
        </p:txBody>
      </p:sp>
    </p:spTree>
    <p:extLst>
      <p:ext uri="{BB962C8B-B14F-4D97-AF65-F5344CB8AC3E}">
        <p14:creationId xmlns:p14="http://schemas.microsoft.com/office/powerpoint/2010/main" val="1567750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8FCEB-EE63-5018-A95F-9F97E8291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DC43F-7D06-169C-0143-9EA3B05D06A4}"/>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Configuration Audit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4C6881-85C0-DBF9-120D-949ABA3BB91C}"/>
              </a:ext>
            </a:extLst>
          </p:cNvPr>
          <p:cNvSpPr>
            <a:spLocks noGrp="1"/>
          </p:cNvSpPr>
          <p:nvPr>
            <p:ph idx="1"/>
          </p:nvPr>
        </p:nvSpPr>
        <p:spPr>
          <a:xfrm>
            <a:off x="609600" y="606752"/>
            <a:ext cx="10972800" cy="5922235"/>
          </a:xfrm>
        </p:spPr>
        <p:txBody>
          <a:bodyPr/>
          <a:lstStyle/>
          <a:p>
            <a:pPr algn="just"/>
            <a:r>
              <a:rPr lang="en-US" sz="2000" dirty="0">
                <a:latin typeface="Times New Roman" panose="02020603050405020304" pitchFamily="18" charset="0"/>
                <a:cs typeface="Times New Roman" panose="02020603050405020304" pitchFamily="18" charset="0"/>
              </a:rPr>
              <a:t>Configuration Audits are formal assessments to ensure that software products and configuration items conform to requirements and baseline specifications. There are two main types: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Types of Configuration Audits</a:t>
            </a:r>
          </a:p>
          <a:p>
            <a:pPr marL="0" indent="0" algn="just">
              <a:buNone/>
            </a:pPr>
            <a:r>
              <a:rPr lang="en-US" sz="2000" b="1" dirty="0">
                <a:latin typeface="Times New Roman" panose="02020603050405020304" pitchFamily="18" charset="0"/>
                <a:cs typeface="Times New Roman" panose="02020603050405020304" pitchFamily="18" charset="0"/>
              </a:rPr>
              <a:t>1. Functional Configuration Audit (FCA): </a:t>
            </a:r>
            <a:r>
              <a:rPr lang="en-US" sz="2000" dirty="0">
                <a:latin typeface="Times New Roman" panose="02020603050405020304" pitchFamily="18" charset="0"/>
                <a:cs typeface="Times New Roman" panose="02020603050405020304" pitchFamily="18" charset="0"/>
              </a:rPr>
              <a:t>This type of audit verifies that the software product’s functionality aligns with its requirements and specifications. It ensures that each function, feature, and module performs as intended.</a:t>
            </a:r>
          </a:p>
          <a:p>
            <a:pPr algn="just"/>
            <a:r>
              <a:rPr lang="en-US" sz="2000" dirty="0">
                <a:latin typeface="Times New Roman" panose="02020603050405020304" pitchFamily="18" charset="0"/>
                <a:cs typeface="Times New Roman" panose="02020603050405020304" pitchFamily="18" charset="0"/>
              </a:rPr>
              <a:t>Example: During the FCA for a banking application, auditors verify whether the application’s "Funds Transfer" and "Account Summary" features work as specified in the requirements.</a:t>
            </a:r>
          </a:p>
          <a:p>
            <a:pPr marL="0" indent="0" algn="just">
              <a:buNone/>
            </a:pPr>
            <a:r>
              <a:rPr lang="en-US" sz="2000" b="1" dirty="0">
                <a:latin typeface="Times New Roman" panose="02020603050405020304" pitchFamily="18" charset="0"/>
                <a:cs typeface="Times New Roman" panose="02020603050405020304" pitchFamily="18" charset="0"/>
              </a:rPr>
              <a:t>2. Physical Configuration Audit (PCA): </a:t>
            </a:r>
            <a:r>
              <a:rPr lang="en-US" sz="2000" dirty="0">
                <a:latin typeface="Times New Roman" panose="02020603050405020304" pitchFamily="18" charset="0"/>
                <a:cs typeface="Times New Roman" panose="02020603050405020304" pitchFamily="18" charset="0"/>
              </a:rPr>
              <a:t>This audit ensures that all required components of the software (code files, documentation, configuration files) are present and properly labeled, matching the latest baseline specifications.</a:t>
            </a:r>
          </a:p>
          <a:p>
            <a:pPr algn="just"/>
            <a:r>
              <a:rPr lang="en-US" sz="2000" dirty="0">
                <a:latin typeface="Times New Roman" panose="02020603050405020304" pitchFamily="18" charset="0"/>
                <a:cs typeface="Times New Roman" panose="02020603050405020304" pitchFamily="18" charset="0"/>
              </a:rPr>
              <a:t>Example: In a library management system, the PCA verifies that all source code files, user manuals, and installation guides are labeled correctly and consistent with the documented configuration.</a:t>
            </a:r>
          </a:p>
        </p:txBody>
      </p:sp>
    </p:spTree>
    <p:extLst>
      <p:ext uri="{BB962C8B-B14F-4D97-AF65-F5344CB8AC3E}">
        <p14:creationId xmlns:p14="http://schemas.microsoft.com/office/powerpoint/2010/main" val="2923678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D5CBC-0180-1ED4-0136-033BEA155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524F5-0211-B220-B94E-C99A1EAEFCE5}"/>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Configuration Audit Example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342092-1AAF-1733-092C-ED7CDADC52A3}"/>
              </a:ext>
            </a:extLst>
          </p:cNvPr>
          <p:cNvSpPr>
            <a:spLocks noGrp="1"/>
          </p:cNvSpPr>
          <p:nvPr>
            <p:ph idx="1"/>
          </p:nvPr>
        </p:nvSpPr>
        <p:spPr>
          <a:xfrm>
            <a:off x="609600" y="606752"/>
            <a:ext cx="10972800" cy="5922235"/>
          </a:xfrm>
        </p:spPr>
        <p:txBody>
          <a:bodyPr>
            <a:normAutofit lnSpcReduction="10000"/>
          </a:bodyPr>
          <a:lstStyle/>
          <a:p>
            <a:pPr algn="just"/>
            <a:r>
              <a:rPr lang="en-US" sz="2000" dirty="0">
                <a:latin typeface="Times New Roman" panose="02020603050405020304" pitchFamily="18" charset="0"/>
                <a:cs typeface="Times New Roman" panose="02020603050405020304" pitchFamily="18" charset="0"/>
              </a:rPr>
              <a:t>Consider online banking application</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Identify CIs: All software artifacts (e.g., source code, API documentation, testing scripts) are identified as configuration items and included in the audit.</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Verify Baseline: The audit checks that the source code and other artifacts match the baselined requirements and design documents, confirming that all features requested by the client are implemented.</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Check Change Logs: The auditors review the change logs and records to ensure that every modification to the software (e.g., bug fixes, new features) was properly authorized through the change control process.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Test Results Review: The test cases and results are checked to verify that all functional requirements have been tested, and any discrepancies or defects have been resolved.</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Documentation Consistency: User manuals, installation guides, and other documentation are reviewed to ensure that they accurately describe the software’s functionality and match the current version of the software.</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Audit Report: After reviewing the software and its associated documents, the auditors produce an audit report detailing their findings. This report includes a list of any discrepancies or missing items that need to be addressed before the software is released.</a:t>
            </a:r>
          </a:p>
        </p:txBody>
      </p:sp>
    </p:spTree>
    <p:extLst>
      <p:ext uri="{BB962C8B-B14F-4D97-AF65-F5344CB8AC3E}">
        <p14:creationId xmlns:p14="http://schemas.microsoft.com/office/powerpoint/2010/main" val="1989285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98006-53F4-D858-95A5-2670FEC3A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861DC-A47C-49B7-D5D6-0432B9BC5ADC}"/>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Software Quality</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310D43-6E73-9AA4-46D6-3DBD8C18C705}"/>
              </a:ext>
            </a:extLst>
          </p:cNvPr>
          <p:cNvSpPr>
            <a:spLocks noGrp="1"/>
          </p:cNvSpPr>
          <p:nvPr>
            <p:ph idx="1"/>
          </p:nvPr>
        </p:nvSpPr>
        <p:spPr>
          <a:xfrm>
            <a:off x="609600" y="606752"/>
            <a:ext cx="10972800" cy="5922235"/>
          </a:xfrm>
        </p:spPr>
        <p:txBody>
          <a:bodyPr/>
          <a:lstStyle/>
          <a:p>
            <a:pPr algn="just"/>
            <a:r>
              <a:rPr lang="en-US" sz="2200" b="1" dirty="0">
                <a:latin typeface="Times New Roman" panose="02020603050405020304" pitchFamily="18" charset="0"/>
                <a:cs typeface="Times New Roman" panose="02020603050405020304" pitchFamily="18" charset="0"/>
              </a:rPr>
              <a:t>Software quality </a:t>
            </a:r>
            <a:r>
              <a:rPr lang="en-US" sz="2200" dirty="0">
                <a:latin typeface="Times New Roman" panose="02020603050405020304" pitchFamily="18" charset="0"/>
                <a:cs typeface="Times New Roman" panose="02020603050405020304" pitchFamily="18" charset="0"/>
              </a:rPr>
              <a:t>is defined by the degree to which a software product meets specified requirements and the degree to which the product satisfies user needs and expectations. Quality involves adherence to both functional and performance requirements, technical standards, and organizational policies.</a:t>
            </a:r>
          </a:p>
          <a:p>
            <a:pPr algn="just"/>
            <a:r>
              <a:rPr lang="en-US" sz="2200" dirty="0">
                <a:latin typeface="Times New Roman" panose="02020603050405020304" pitchFamily="18" charset="0"/>
                <a:cs typeface="Times New Roman" panose="02020603050405020304" pitchFamily="18" charset="0"/>
              </a:rPr>
              <a:t>In a banking application, quality would mean that the application performs all required transactions (functional requirement), meets performance standards for speed and availability, and provides a secure user interface (user expectation).</a:t>
            </a:r>
          </a:p>
          <a:p>
            <a:pPr algn="just"/>
            <a:r>
              <a:rPr lang="en-US" sz="2200" b="1" dirty="0">
                <a:latin typeface="Times New Roman" panose="02020603050405020304" pitchFamily="18" charset="0"/>
                <a:cs typeface="Times New Roman" panose="02020603050405020304" pitchFamily="18" charset="0"/>
              </a:rPr>
              <a:t>Quality of Conformance </a:t>
            </a:r>
            <a:r>
              <a:rPr lang="en-US" sz="2200" dirty="0">
                <a:latin typeface="Times New Roman" panose="02020603050405020304" pitchFamily="18" charset="0"/>
                <a:cs typeface="Times New Roman" panose="02020603050405020304" pitchFamily="18" charset="0"/>
              </a:rPr>
              <a:t>refers to the extent to which the software product adheres to its design and specifications. This concept underlines that a software product’s quality is not solely based on features and functionality but also on how closely the finished product aligns with the documented design.</a:t>
            </a:r>
          </a:p>
          <a:p>
            <a:pPr algn="just"/>
            <a:r>
              <a:rPr lang="en-US" sz="2200" dirty="0">
                <a:latin typeface="Times New Roman" panose="02020603050405020304" pitchFamily="18" charset="0"/>
                <a:cs typeface="Times New Roman" panose="02020603050405020304" pitchFamily="18" charset="0"/>
              </a:rPr>
              <a:t>Consider an e-commerce platform. Quality of conformance would ensure that the “Add to Cart” function is implemented as described in the design documentation. This includes specific behaviors such as item display in the cart, price calculation, and checkout readiness, with no unintended side effects or defects.</a:t>
            </a:r>
          </a:p>
        </p:txBody>
      </p:sp>
    </p:spTree>
    <p:extLst>
      <p:ext uri="{BB962C8B-B14F-4D97-AF65-F5344CB8AC3E}">
        <p14:creationId xmlns:p14="http://schemas.microsoft.com/office/powerpoint/2010/main" val="1626896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7BC06-83AD-C7B8-5F21-1296BFD5D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CCE0E-BD4B-AA22-0289-1D71F40802C2}"/>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Software Quality Cost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421395-57D0-775D-B2DE-4BE68B42380A}"/>
              </a:ext>
            </a:extLst>
          </p:cNvPr>
          <p:cNvSpPr>
            <a:spLocks noGrp="1"/>
          </p:cNvSpPr>
          <p:nvPr>
            <p:ph idx="1"/>
          </p:nvPr>
        </p:nvSpPr>
        <p:spPr>
          <a:xfrm>
            <a:off x="609600" y="606752"/>
            <a:ext cx="10972800" cy="5922235"/>
          </a:xfrm>
        </p:spPr>
        <p:txBody>
          <a:bodyPr/>
          <a:lstStyle/>
          <a:p>
            <a:pPr algn="just"/>
            <a:r>
              <a:rPr lang="en-US" sz="1900" dirty="0">
                <a:latin typeface="Times New Roman" panose="02020603050405020304" pitchFamily="18" charset="0"/>
                <a:cs typeface="Times New Roman" panose="02020603050405020304" pitchFamily="18" charset="0"/>
              </a:rPr>
              <a:t>The total cost of activities to ensure product quality, including prevention and appraisal costs. This often includes spending on testing, quality audits, and training. </a:t>
            </a:r>
            <a:r>
              <a:rPr lang="en-US" sz="1900" dirty="0" err="1">
                <a:latin typeface="Times New Roman" panose="02020603050405020304" pitchFamily="18" charset="0"/>
                <a:cs typeface="Times New Roman" panose="02020603050405020304" pitchFamily="18" charset="0"/>
              </a:rPr>
              <a:t>CoQ</a:t>
            </a:r>
            <a:r>
              <a:rPr lang="en-US" sz="1900" dirty="0">
                <a:latin typeface="Times New Roman" panose="02020603050405020304" pitchFamily="18" charset="0"/>
                <a:cs typeface="Times New Roman" panose="02020603050405020304" pitchFamily="18" charset="0"/>
              </a:rPr>
              <a:t> also incorporates costs of poor quality, which are incurred when software errors lead to rework, customer dissatisfaction, or legal liabilities.</a:t>
            </a:r>
          </a:p>
          <a:p>
            <a:pPr algn="just"/>
            <a:r>
              <a:rPr lang="en-US" sz="1900" dirty="0">
                <a:latin typeface="Times New Roman" panose="02020603050405020304" pitchFamily="18" charset="0"/>
                <a:cs typeface="Times New Roman" panose="02020603050405020304" pitchFamily="18" charset="0"/>
              </a:rPr>
              <a:t>Categorizes the costs associated with ensuring software quality and the costs incurred when quality is lacking.</a:t>
            </a:r>
          </a:p>
          <a:p>
            <a:pPr algn="just"/>
            <a:r>
              <a:rPr lang="en-US" sz="1900" dirty="0">
                <a:latin typeface="Times New Roman" panose="02020603050405020304" pitchFamily="18" charset="0"/>
                <a:cs typeface="Times New Roman" panose="02020603050405020304" pitchFamily="18" charset="0"/>
              </a:rPr>
              <a:t>Pressman divides </a:t>
            </a:r>
            <a:r>
              <a:rPr lang="en-US" sz="1900" dirty="0" err="1">
                <a:latin typeface="Times New Roman" panose="02020603050405020304" pitchFamily="18" charset="0"/>
                <a:cs typeface="Times New Roman" panose="02020603050405020304" pitchFamily="18" charset="0"/>
              </a:rPr>
              <a:t>CoQ</a:t>
            </a:r>
            <a:r>
              <a:rPr lang="en-US" sz="1900" dirty="0">
                <a:latin typeface="Times New Roman" panose="02020603050405020304" pitchFamily="18" charset="0"/>
                <a:cs typeface="Times New Roman" panose="02020603050405020304" pitchFamily="18" charset="0"/>
              </a:rPr>
              <a:t> into two main parts: the cost of conformance (costs to achieve quality) and the cost of non-conformance (costs due to failure when quality is not met).</a:t>
            </a:r>
          </a:p>
          <a:p>
            <a:pPr marL="0" indent="0" algn="just">
              <a:buNone/>
            </a:pPr>
            <a:r>
              <a:rPr lang="en-US" sz="1900" dirty="0">
                <a:latin typeface="Times New Roman" panose="02020603050405020304" pitchFamily="18" charset="0"/>
                <a:cs typeface="Times New Roman" panose="02020603050405020304" pitchFamily="18" charset="0"/>
              </a:rPr>
              <a:t>1. Cost of Conformance: represents the expenses incurred to prevent defects and ensure that the software meets specified standards. It is split into two main types:</a:t>
            </a:r>
          </a:p>
          <a:p>
            <a:pPr marL="0" indent="0" algn="just">
              <a:buNone/>
            </a:pPr>
            <a:r>
              <a:rPr lang="en-US" sz="1900" dirty="0">
                <a:latin typeface="Times New Roman" panose="02020603050405020304" pitchFamily="18" charset="0"/>
                <a:cs typeface="Times New Roman" panose="02020603050405020304" pitchFamily="18" charset="0"/>
              </a:rPr>
              <a:t>a) Prevention Costs</a:t>
            </a:r>
          </a:p>
          <a:p>
            <a:pPr algn="just"/>
            <a:r>
              <a:rPr lang="en-US" sz="1900" dirty="0">
                <a:latin typeface="Times New Roman" panose="02020603050405020304" pitchFamily="18" charset="0"/>
                <a:cs typeface="Times New Roman" panose="02020603050405020304" pitchFamily="18" charset="0"/>
              </a:rPr>
              <a:t>Prevention Costs are the costs associated with activities aimed at preventing defects in the software product. They focus on establishing efficient processes and preventing issues from arising.</a:t>
            </a:r>
          </a:p>
          <a:p>
            <a:pPr marL="0" indent="0" algn="just">
              <a:buNone/>
            </a:pPr>
            <a:r>
              <a:rPr lang="en-US" sz="1900" dirty="0">
                <a:latin typeface="Times New Roman" panose="02020603050405020304" pitchFamily="18" charset="0"/>
                <a:cs typeface="Times New Roman" panose="02020603050405020304" pitchFamily="18" charset="0"/>
              </a:rPr>
              <a:t>      Examples of Prevention Costs:</a:t>
            </a:r>
          </a:p>
          <a:p>
            <a:pPr lvl="1" algn="just"/>
            <a:r>
              <a:rPr lang="en-US" sz="1500" dirty="0">
                <a:latin typeface="Times New Roman" panose="02020603050405020304" pitchFamily="18" charset="0"/>
                <a:cs typeface="Times New Roman" panose="02020603050405020304" pitchFamily="18" charset="0"/>
              </a:rPr>
              <a:t>Training: Providing quality-related training to developers and testers so they understand coding best practices and quality standards.</a:t>
            </a:r>
            <a:r>
              <a:rPr lang="en-US" sz="1900" dirty="0">
                <a:latin typeface="Times New Roman" panose="02020603050405020304" pitchFamily="18" charset="0"/>
                <a:cs typeface="Times New Roman" panose="02020603050405020304" pitchFamily="18" charset="0"/>
              </a:rPr>
              <a:t> An e-commerce company trains developers on security standards to prevent data breaches.</a:t>
            </a:r>
          </a:p>
        </p:txBody>
      </p:sp>
    </p:spTree>
    <p:extLst>
      <p:ext uri="{BB962C8B-B14F-4D97-AF65-F5344CB8AC3E}">
        <p14:creationId xmlns:p14="http://schemas.microsoft.com/office/powerpoint/2010/main" val="3871859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EB68-9DCF-51C3-ED05-28D7EE2DA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E6863-27C5-3241-49B8-26D810525090}"/>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Software Quality Cost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0C0915-F03E-1FD9-3FB3-DABA15692F31}"/>
              </a:ext>
            </a:extLst>
          </p:cNvPr>
          <p:cNvSpPr>
            <a:spLocks noGrp="1"/>
          </p:cNvSpPr>
          <p:nvPr>
            <p:ph idx="1"/>
          </p:nvPr>
        </p:nvSpPr>
        <p:spPr>
          <a:xfrm>
            <a:off x="609600" y="606752"/>
            <a:ext cx="10972800" cy="5922235"/>
          </a:xfrm>
        </p:spPr>
        <p:txBody>
          <a:bodyPr>
            <a:normAutofit fontScale="92500" lnSpcReduction="10000"/>
          </a:bodyPr>
          <a:lstStyle/>
          <a:p>
            <a:pPr algn="just"/>
            <a:r>
              <a:rPr lang="en-US" sz="2000" dirty="0">
                <a:latin typeface="Times New Roman" panose="02020603050405020304" pitchFamily="18" charset="0"/>
                <a:cs typeface="Times New Roman" panose="02020603050405020304" pitchFamily="18" charset="0"/>
              </a:rPr>
              <a:t>Process Improvement: Investing in software development tools, like integrated development environments (IDEs) and code linters, which help detect issues early. A bank implements static code analysis tools to detect potential security issues in transaction-related code.</a:t>
            </a:r>
          </a:p>
          <a:p>
            <a:pPr algn="just"/>
            <a:r>
              <a:rPr lang="en-US" sz="2000" dirty="0">
                <a:latin typeface="Times New Roman" panose="02020603050405020304" pitchFamily="18" charset="0"/>
                <a:cs typeface="Times New Roman" panose="02020603050405020304" pitchFamily="18" charset="0"/>
              </a:rPr>
              <a:t>Requirement Analysis: Conducting thorough requirement reviews to ensure that specifications are complete and correct, reducing the likelihood of rework. Before building a social media app, the team conducts detailed requirements analysis to capture all user and privacy requirements accurately.</a:t>
            </a:r>
          </a:p>
          <a:p>
            <a:pPr marL="0" indent="0" algn="just">
              <a:buNone/>
            </a:pPr>
            <a:r>
              <a:rPr lang="en-US" sz="2000" dirty="0">
                <a:latin typeface="Times New Roman" panose="02020603050405020304" pitchFamily="18" charset="0"/>
                <a:cs typeface="Times New Roman" panose="02020603050405020304" pitchFamily="18" charset="0"/>
              </a:rPr>
              <a:t>b) Appraisal Costs</a:t>
            </a:r>
          </a:p>
          <a:p>
            <a:pPr algn="just"/>
            <a:r>
              <a:rPr lang="en-US" sz="2000" dirty="0">
                <a:latin typeface="Times New Roman" panose="02020603050405020304" pitchFamily="18" charset="0"/>
                <a:cs typeface="Times New Roman" panose="02020603050405020304" pitchFamily="18" charset="0"/>
              </a:rPr>
              <a:t>Appraisal Costs are associated with evaluating the software to detect defects before the product is delivered to the end user. These costs are mainly focused on inspection and testing activities.</a:t>
            </a:r>
          </a:p>
          <a:p>
            <a:pPr marL="0" indent="0" algn="just">
              <a:buNone/>
            </a:pPr>
            <a:r>
              <a:rPr lang="en-US" sz="2000" dirty="0">
                <a:latin typeface="Times New Roman" panose="02020603050405020304" pitchFamily="18" charset="0"/>
                <a:cs typeface="Times New Roman" panose="02020603050405020304" pitchFamily="18" charset="0"/>
              </a:rPr>
              <a:t>Examples:</a:t>
            </a:r>
          </a:p>
          <a:p>
            <a:pPr algn="just"/>
            <a:r>
              <a:rPr lang="en-US" sz="2000" dirty="0">
                <a:latin typeface="Times New Roman" panose="02020603050405020304" pitchFamily="18" charset="0"/>
                <a:cs typeface="Times New Roman" panose="02020603050405020304" pitchFamily="18" charset="0"/>
              </a:rPr>
              <a:t>Testing: Setting up and conducting functional, performance, and security testing to identify issues. A mobile app development team conducts extensive usability and functionality testing across multiple devices.</a:t>
            </a:r>
          </a:p>
          <a:p>
            <a:pPr algn="just"/>
            <a:r>
              <a:rPr lang="en-US" sz="2000" dirty="0">
                <a:latin typeface="Times New Roman" panose="02020603050405020304" pitchFamily="18" charset="0"/>
                <a:cs typeface="Times New Roman" panose="02020603050405020304" pitchFamily="18" charset="0"/>
              </a:rPr>
              <a:t>Inspections and Code Reviews: Performing code reviews and formal inspections to catch errors early in the development process. A finance software team conducts peer reviews to verify that code complies with regulatory standards.</a:t>
            </a:r>
          </a:p>
          <a:p>
            <a:pPr algn="just"/>
            <a:r>
              <a:rPr lang="en-US" sz="2000" dirty="0">
                <a:latin typeface="Times New Roman" panose="02020603050405020304" pitchFamily="18" charset="0"/>
                <a:cs typeface="Times New Roman" panose="02020603050405020304" pitchFamily="18" charset="0"/>
              </a:rPr>
              <a:t>Quality Audits: Running internal audits to ensure the software development process is compliant with organizational standards. A healthcare app undergoes periodic quality audits to confirm that it adheres to healthcare privacy standards.</a:t>
            </a:r>
          </a:p>
        </p:txBody>
      </p:sp>
    </p:spTree>
    <p:extLst>
      <p:ext uri="{BB962C8B-B14F-4D97-AF65-F5344CB8AC3E}">
        <p14:creationId xmlns:p14="http://schemas.microsoft.com/office/powerpoint/2010/main" val="925068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E632E-9BCE-067B-F3B0-4A162C9A1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829B8-EFF7-3268-CFDB-B2407FC3A47B}"/>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Software Quality Cost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BFCB5B-C5AA-C06C-29CF-1E0600F47FDF}"/>
              </a:ext>
            </a:extLst>
          </p:cNvPr>
          <p:cNvSpPr>
            <a:spLocks noGrp="1"/>
          </p:cNvSpPr>
          <p:nvPr>
            <p:ph idx="1"/>
          </p:nvPr>
        </p:nvSpPr>
        <p:spPr>
          <a:xfrm>
            <a:off x="609600" y="606752"/>
            <a:ext cx="10972800" cy="5922235"/>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2. Cost of Non-Conformance:</a:t>
            </a:r>
          </a:p>
          <a:p>
            <a:pPr algn="just"/>
            <a:r>
              <a:rPr lang="en-US" sz="2000" dirty="0">
                <a:latin typeface="Times New Roman" panose="02020603050405020304" pitchFamily="18" charset="0"/>
                <a:cs typeface="Times New Roman" panose="02020603050405020304" pitchFamily="18" charset="0"/>
              </a:rPr>
              <a:t>The cost of non-conformance refers to the costs incurred when software quality does not meet standards, leading to errors, rework, and even system failures. It is divided into internal and external failure costs:</a:t>
            </a:r>
          </a:p>
          <a:p>
            <a:pPr marL="0" indent="0" algn="just">
              <a:buNone/>
            </a:pPr>
            <a:r>
              <a:rPr lang="en-US" sz="2000" dirty="0">
                <a:latin typeface="Times New Roman" panose="02020603050405020304" pitchFamily="18" charset="0"/>
                <a:cs typeface="Times New Roman" panose="02020603050405020304" pitchFamily="18" charset="0"/>
              </a:rPr>
              <a:t>a) Internal Failure Costs</a:t>
            </a:r>
          </a:p>
          <a:p>
            <a:pPr algn="just"/>
            <a:r>
              <a:rPr lang="en-US" sz="2000" dirty="0">
                <a:latin typeface="Times New Roman" panose="02020603050405020304" pitchFamily="18" charset="0"/>
                <a:cs typeface="Times New Roman" panose="02020603050405020304" pitchFamily="18" charset="0"/>
              </a:rPr>
              <a:t>Internal Failure Costs arise from defects found before the product reaches the end user, typically during testing or pre-release stages. These costs include rework, debugging, and additional testing to correct issues.</a:t>
            </a:r>
          </a:p>
          <a:p>
            <a:pPr algn="just"/>
            <a:r>
              <a:rPr lang="en-US" sz="2000" dirty="0">
                <a:latin typeface="Times New Roman" panose="02020603050405020304" pitchFamily="18" charset="0"/>
                <a:cs typeface="Times New Roman" panose="02020603050405020304" pitchFamily="18" charset="0"/>
              </a:rPr>
              <a:t>Examples of Internal Failure Costs:</a:t>
            </a:r>
          </a:p>
          <a:p>
            <a:pPr algn="just"/>
            <a:r>
              <a:rPr lang="en-US" sz="2000" dirty="0">
                <a:latin typeface="Times New Roman" panose="02020603050405020304" pitchFamily="18" charset="0"/>
                <a:cs typeface="Times New Roman" panose="02020603050405020304" pitchFamily="18" charset="0"/>
              </a:rPr>
              <a:t>Rework: Correcting coding errors identified during testing phases or resolving design flaws discovered during inspections. During testing, a development team discovers and fixes bugs in the payment module of an e-commerce application, incurring rework costs.</a:t>
            </a:r>
          </a:p>
          <a:p>
            <a:pPr algn="just"/>
            <a:r>
              <a:rPr lang="en-US" sz="2000" dirty="0">
                <a:latin typeface="Times New Roman" panose="02020603050405020304" pitchFamily="18" charset="0"/>
                <a:cs typeface="Times New Roman" panose="02020603050405020304" pitchFamily="18" charset="0"/>
              </a:rPr>
              <a:t>Debugging Costs: Time and resources spent troubleshooting issues found in the software before release. A company spends time identifying memory leaks in a mobile app, which requires in-depth debugging and optimization.</a:t>
            </a:r>
          </a:p>
          <a:p>
            <a:pPr algn="just"/>
            <a:r>
              <a:rPr lang="en-US" sz="2000" dirty="0">
                <a:latin typeface="Times New Roman" panose="02020603050405020304" pitchFamily="18" charset="0"/>
                <a:cs typeface="Times New Roman" panose="02020603050405020304" pitchFamily="18" charset="0"/>
              </a:rPr>
              <a:t>Retesting and Reinspection: Repeating tests and inspections after defects are resolved to ensure the software meets quality standards. After fixing bugs, the quality assurance team retests a banking application to verify transaction security and accuracy.</a:t>
            </a:r>
          </a:p>
        </p:txBody>
      </p:sp>
    </p:spTree>
    <p:extLst>
      <p:ext uri="{BB962C8B-B14F-4D97-AF65-F5344CB8AC3E}">
        <p14:creationId xmlns:p14="http://schemas.microsoft.com/office/powerpoint/2010/main" val="2318001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F3D2D-2CE0-9329-6083-866FE24A6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D2ED2-C910-6033-F8F9-3ACEA7BD6BD2}"/>
              </a:ext>
            </a:extLst>
          </p:cNvPr>
          <p:cNvSpPr>
            <a:spLocks noGrp="1"/>
          </p:cNvSpPr>
          <p:nvPr>
            <p:ph type="title"/>
          </p:nvPr>
        </p:nvSpPr>
        <p:spPr>
          <a:xfrm>
            <a:off x="609600" y="59822"/>
            <a:ext cx="10972800" cy="546930"/>
          </a:xfrm>
        </p:spPr>
        <p:txBody>
          <a:bodyPr>
            <a:normAutofit fontScale="90000"/>
          </a:bodyPr>
          <a:lstStyle/>
          <a:p>
            <a:r>
              <a:rPr lang="en-US" sz="3200" dirty="0">
                <a:latin typeface="Times New Roman" panose="02020603050405020304" pitchFamily="18" charset="0"/>
                <a:cs typeface="Times New Roman" panose="02020603050405020304" pitchFamily="18" charset="0"/>
              </a:rPr>
              <a:t>Software Quality Cost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CE52F1-9203-0F65-5AFE-B6721697FC39}"/>
              </a:ext>
            </a:extLst>
          </p:cNvPr>
          <p:cNvSpPr>
            <a:spLocks noGrp="1"/>
          </p:cNvSpPr>
          <p:nvPr>
            <p:ph idx="1"/>
          </p:nvPr>
        </p:nvSpPr>
        <p:spPr>
          <a:xfrm>
            <a:off x="609600" y="606752"/>
            <a:ext cx="10972800" cy="5922235"/>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b) External Failure Costs</a:t>
            </a:r>
          </a:p>
          <a:p>
            <a:pPr algn="just"/>
            <a:r>
              <a:rPr lang="en-US" sz="2000" dirty="0">
                <a:latin typeface="Times New Roman" panose="02020603050405020304" pitchFamily="18" charset="0"/>
                <a:cs typeface="Times New Roman" panose="02020603050405020304" pitchFamily="18" charset="0"/>
              </a:rPr>
              <a:t>External Failure Costs are costs incurred after the software has been delivered to the end user. These costs are often higher because they involve user dissatisfaction, potential legal liabilities, and lost revenue. This category includes:</a:t>
            </a:r>
          </a:p>
          <a:p>
            <a:pPr marL="0" indent="0" algn="just">
              <a:buNone/>
            </a:pPr>
            <a:r>
              <a:rPr lang="en-US" sz="2000" dirty="0">
                <a:latin typeface="Times New Roman" panose="02020603050405020304" pitchFamily="18" charset="0"/>
                <a:cs typeface="Times New Roman" panose="02020603050405020304" pitchFamily="18" charset="0"/>
              </a:rPr>
              <a:t>Examples of External Failure Costs:</a:t>
            </a:r>
          </a:p>
          <a:p>
            <a:pPr marL="0" indent="0" algn="just">
              <a:buNone/>
            </a:pPr>
            <a:r>
              <a:rPr lang="en-US" sz="2000" dirty="0">
                <a:latin typeface="Times New Roman" panose="02020603050405020304" pitchFamily="18" charset="0"/>
                <a:cs typeface="Times New Roman" panose="02020603050405020304" pitchFamily="18" charset="0"/>
              </a:rPr>
              <a:t>Customer Support and Complaint Handling: Providing customer service and support to address issues or complaints. After releasing a new feature that causes app crashes, a company’s support team deals with an influx of complaints from users.</a:t>
            </a:r>
          </a:p>
          <a:p>
            <a:pPr marL="0" indent="0" algn="just">
              <a:buNone/>
            </a:pPr>
            <a:r>
              <a:rPr lang="en-US" sz="2000" dirty="0">
                <a:latin typeface="Times New Roman" panose="02020603050405020304" pitchFamily="18" charset="0"/>
                <a:cs typeface="Times New Roman" panose="02020603050405020304" pitchFamily="18" charset="0"/>
              </a:rPr>
              <a:t>Product Recalls and Patches: Costs related to issuing software patches or recalls to fix defects. A security vulnerability is discovered post-release, requiring an emergency patch and update to all users.</a:t>
            </a:r>
          </a:p>
          <a:p>
            <a:pPr marL="0" indent="0" algn="just">
              <a:buNone/>
            </a:pPr>
            <a:r>
              <a:rPr lang="en-US" sz="2000" dirty="0">
                <a:latin typeface="Times New Roman" panose="02020603050405020304" pitchFamily="18" charset="0"/>
                <a:cs typeface="Times New Roman" panose="02020603050405020304" pitchFamily="18" charset="0"/>
              </a:rPr>
              <a:t>Reputation Damage and Loss of Business: Poor quality software can harm the company's reputation, leading to customer attrition and reduced market share.: A logistics company’s tracking software fails frequently, causing major delivery delays and customer complaints, resulting in lost business.</a:t>
            </a:r>
          </a:p>
        </p:txBody>
      </p:sp>
    </p:spTree>
    <p:extLst>
      <p:ext uri="{BB962C8B-B14F-4D97-AF65-F5344CB8AC3E}">
        <p14:creationId xmlns:p14="http://schemas.microsoft.com/office/powerpoint/2010/main" val="386986585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6509</TotalTime>
  <Words>7496</Words>
  <Application>Microsoft Office PowerPoint</Application>
  <PresentationFormat>Widescreen</PresentationFormat>
  <Paragraphs>339</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Times New Roman</vt:lpstr>
      <vt:lpstr>Trebuchet MS</vt:lpstr>
      <vt:lpstr>Wingdings 3</vt:lpstr>
      <vt:lpstr>Facet</vt:lpstr>
      <vt:lpstr>Unit 5</vt:lpstr>
      <vt:lpstr>Risk Management</vt:lpstr>
      <vt:lpstr>Risk Management</vt:lpstr>
      <vt:lpstr>Risk Management</vt:lpstr>
      <vt:lpstr>Risk Management</vt:lpstr>
      <vt:lpstr>Risk Management</vt:lpstr>
      <vt:lpstr>Risk Exposure</vt:lpstr>
      <vt:lpstr>Risk Exposure</vt:lpstr>
      <vt:lpstr>Risk Metrics</vt:lpstr>
      <vt:lpstr>Risk Metrics</vt:lpstr>
      <vt:lpstr>RMMM</vt:lpstr>
      <vt:lpstr>RMMM</vt:lpstr>
      <vt:lpstr>RMMM</vt:lpstr>
      <vt:lpstr>RMMM</vt:lpstr>
      <vt:lpstr>RMMM</vt:lpstr>
      <vt:lpstr>RMMM Plan (Risk Mitigation, Monitoring, and Management Plan)</vt:lpstr>
      <vt:lpstr>RMMM Plan (Risk Mitigation, Monitoring, and Management Plan)</vt:lpstr>
      <vt:lpstr>RMMM Plan (Risk Mitigation, Monitoring, and Management Plan)</vt:lpstr>
      <vt:lpstr>SCM</vt:lpstr>
      <vt:lpstr>SCM</vt:lpstr>
      <vt:lpstr>SCM Activities</vt:lpstr>
      <vt:lpstr>SCM Activities</vt:lpstr>
      <vt:lpstr>SCM Activities</vt:lpstr>
      <vt:lpstr>SCM Activities</vt:lpstr>
      <vt:lpstr>SCM Activities – configuration audit</vt:lpstr>
      <vt:lpstr>SCM Activities – configuration audit</vt:lpstr>
      <vt:lpstr>SCM Activities – configuration audit</vt:lpstr>
      <vt:lpstr>SCM Activities – configuration audit</vt:lpstr>
      <vt:lpstr>SCM Summary</vt:lpstr>
      <vt:lpstr>SCM Example</vt:lpstr>
      <vt:lpstr>SCM Example</vt:lpstr>
      <vt:lpstr>Configuration Audit</vt:lpstr>
      <vt:lpstr>Configuration Audit Example</vt:lpstr>
      <vt:lpstr>Software Quality</vt:lpstr>
      <vt:lpstr>Software Quality Cost</vt:lpstr>
      <vt:lpstr>Software Quality Cost</vt:lpstr>
      <vt:lpstr>Software Quality Cost</vt:lpstr>
      <vt:lpstr>Software Quality 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Uthayan Kanni Rajendran</dc:creator>
  <cp:lastModifiedBy>Hrithika S</cp:lastModifiedBy>
  <cp:revision>222</cp:revision>
  <dcterms:created xsi:type="dcterms:W3CDTF">2024-02-19T06:23:27Z</dcterms:created>
  <dcterms:modified xsi:type="dcterms:W3CDTF">2025-10-29T22:51:18Z</dcterms:modified>
</cp:coreProperties>
</file>