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52"/>
  </p:notesMasterIdLst>
  <p:handoutMasterIdLst>
    <p:handoutMasterId r:id="rId53"/>
  </p:handoutMasterIdLst>
  <p:sldIdLst>
    <p:sldId id="461" r:id="rId2"/>
    <p:sldId id="434" r:id="rId3"/>
    <p:sldId id="391" r:id="rId4"/>
    <p:sldId id="392" r:id="rId5"/>
    <p:sldId id="393" r:id="rId6"/>
    <p:sldId id="394" r:id="rId7"/>
    <p:sldId id="467" r:id="rId8"/>
    <p:sldId id="396" r:id="rId9"/>
    <p:sldId id="395" r:id="rId10"/>
    <p:sldId id="397" r:id="rId11"/>
    <p:sldId id="398" r:id="rId12"/>
    <p:sldId id="399" r:id="rId13"/>
    <p:sldId id="400" r:id="rId14"/>
    <p:sldId id="401" r:id="rId15"/>
    <p:sldId id="402" r:id="rId16"/>
    <p:sldId id="471" r:id="rId17"/>
    <p:sldId id="403" r:id="rId18"/>
    <p:sldId id="472" r:id="rId19"/>
    <p:sldId id="473" r:id="rId20"/>
    <p:sldId id="474" r:id="rId21"/>
    <p:sldId id="469" r:id="rId22"/>
    <p:sldId id="470" r:id="rId23"/>
    <p:sldId id="404" r:id="rId24"/>
    <p:sldId id="468" r:id="rId25"/>
    <p:sldId id="405" r:id="rId26"/>
    <p:sldId id="406" r:id="rId27"/>
    <p:sldId id="407" r:id="rId28"/>
    <p:sldId id="408" r:id="rId29"/>
    <p:sldId id="409" r:id="rId30"/>
    <p:sldId id="410" r:id="rId31"/>
    <p:sldId id="411" r:id="rId32"/>
    <p:sldId id="412" r:id="rId33"/>
    <p:sldId id="413" r:id="rId34"/>
    <p:sldId id="414" r:id="rId35"/>
    <p:sldId id="415" r:id="rId36"/>
    <p:sldId id="416" r:id="rId37"/>
    <p:sldId id="417" r:id="rId38"/>
    <p:sldId id="475" r:id="rId39"/>
    <p:sldId id="476" r:id="rId40"/>
    <p:sldId id="419" r:id="rId41"/>
    <p:sldId id="420" r:id="rId42"/>
    <p:sldId id="421" r:id="rId43"/>
    <p:sldId id="422" r:id="rId44"/>
    <p:sldId id="423" r:id="rId45"/>
    <p:sldId id="442" r:id="rId46"/>
    <p:sldId id="424" r:id="rId47"/>
    <p:sldId id="425" r:id="rId48"/>
    <p:sldId id="437" r:id="rId49"/>
    <p:sldId id="427" r:id="rId50"/>
    <p:sldId id="429" r:id="rId5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2D67"/>
    <a:srgbClr val="000000"/>
    <a:srgbClr val="CC00CC"/>
    <a:srgbClr val="66FF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3" autoAdjust="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88" y="-8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cs typeface="+mn-cs"/>
              </a:defRPr>
            </a:lvl1pPr>
          </a:lstStyle>
          <a:p>
            <a:pPr>
              <a:defRPr/>
            </a:pPr>
            <a:fld id="{73623422-CF9C-F142-9027-FD8AA0CB89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937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cs typeface="+mn-cs"/>
              </a:defRPr>
            </a:lvl1pPr>
          </a:lstStyle>
          <a:p>
            <a:pPr>
              <a:defRPr/>
            </a:pPr>
            <a:fld id="{295342AA-EDA9-0948-B4F2-AAC4C07CAE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088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175258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247646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654834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455388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686840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272848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09354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877221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059241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186060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304800"/>
            <a:ext cx="196215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304800"/>
            <a:ext cx="573405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809353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906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864703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68676" name="Line 4"/>
          <p:cNvSpPr>
            <a:spLocks noChangeShapeType="1"/>
          </p:cNvSpPr>
          <p:nvPr/>
        </p:nvSpPr>
        <p:spPr bwMode="auto">
          <a:xfrm>
            <a:off x="1295400" y="1752600"/>
            <a:ext cx="784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68677" name="Line 5"/>
          <p:cNvSpPr>
            <a:spLocks noChangeShapeType="1"/>
          </p:cNvSpPr>
          <p:nvPr userDrawn="1"/>
        </p:nvSpPr>
        <p:spPr bwMode="auto">
          <a:xfrm>
            <a:off x="1295400" y="1752600"/>
            <a:ext cx="784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8" r:id="rId1"/>
    <p:sldLayoutId id="2147484149" r:id="rId2"/>
    <p:sldLayoutId id="2147484150" r:id="rId3"/>
    <p:sldLayoutId id="2147484151" r:id="rId4"/>
    <p:sldLayoutId id="2147484152" r:id="rId5"/>
    <p:sldLayoutId id="2147484153" r:id="rId6"/>
    <p:sldLayoutId id="2147484154" r:id="rId7"/>
    <p:sldLayoutId id="2147484155" r:id="rId8"/>
    <p:sldLayoutId id="2147484156" r:id="rId9"/>
    <p:sldLayoutId id="2147484157" r:id="rId10"/>
    <p:sldLayoutId id="2147484158" r:id="rId11"/>
    <p:sldLayoutId id="2147484159" r:id="rId12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057400"/>
            <a:ext cx="4648200" cy="12192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Search Techniques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9906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b="1" dirty="0">
                <a:solidFill>
                  <a:srgbClr val="FF0000"/>
                </a:solidFill>
                <a:cs typeface="+mn-cs"/>
              </a:rPr>
              <a:t>Searching for a (shortest / least cost) path to goal state(s).</a:t>
            </a:r>
          </a:p>
        </p:txBody>
      </p:sp>
      <p:sp>
        <p:nvSpPr>
          <p:cNvPr id="1313796" name="Text Box 4"/>
          <p:cNvSpPr txBox="1">
            <a:spLocks noChangeArrowheads="1"/>
          </p:cNvSpPr>
          <p:nvPr/>
        </p:nvSpPr>
        <p:spPr bwMode="auto">
          <a:xfrm>
            <a:off x="1219200" y="1676400"/>
            <a:ext cx="6629400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cs typeface="+mn-cs"/>
                <a:sym typeface="Wingdings" charset="0"/>
              </a:rPr>
              <a:t>Search through the state space.</a:t>
            </a:r>
          </a:p>
          <a:p>
            <a:pPr>
              <a:buFont typeface="Wingdings" charset="0"/>
              <a:buChar char="à"/>
              <a:defRPr/>
            </a:pPr>
            <a:endParaRPr lang="en-US" sz="2000" b="1" dirty="0">
              <a:cs typeface="+mn-cs"/>
              <a:sym typeface="Wingdings" charset="0"/>
            </a:endParaRPr>
          </a:p>
          <a:p>
            <a:pPr>
              <a:defRPr/>
            </a:pPr>
            <a:r>
              <a:rPr lang="en-US" sz="2000" b="1" dirty="0">
                <a:cs typeface="+mn-cs"/>
              </a:rPr>
              <a:t>We will consider search techniques that use an </a:t>
            </a:r>
          </a:p>
          <a:p>
            <a:pPr>
              <a:buFont typeface="Wingdings" charset="0"/>
              <a:buNone/>
              <a:defRPr/>
            </a:pPr>
            <a:r>
              <a:rPr lang="en-US" sz="2000" b="1" dirty="0">
                <a:cs typeface="+mn-cs"/>
              </a:rPr>
              <a:t>explicit </a:t>
            </a:r>
            <a:r>
              <a:rPr lang="en-US" sz="2000" b="1" dirty="0">
                <a:solidFill>
                  <a:schemeClr val="accent2"/>
                </a:solidFill>
                <a:cs typeface="+mn-cs"/>
              </a:rPr>
              <a:t>search tree</a:t>
            </a:r>
            <a:r>
              <a:rPr lang="en-US" sz="2000" b="1" dirty="0">
                <a:cs typeface="+mn-cs"/>
              </a:rPr>
              <a:t> that is generated by the </a:t>
            </a:r>
          </a:p>
          <a:p>
            <a:pPr>
              <a:buFont typeface="Wingdings" charset="0"/>
              <a:buNone/>
              <a:defRPr/>
            </a:pPr>
            <a:r>
              <a:rPr lang="en-US" sz="2000" b="1" dirty="0">
                <a:solidFill>
                  <a:srgbClr val="FF0000"/>
                </a:solidFill>
                <a:cs typeface="+mn-cs"/>
              </a:rPr>
              <a:t>initial state + successor function.</a:t>
            </a:r>
          </a:p>
          <a:p>
            <a:pPr>
              <a:buFont typeface="Wingdings" charset="0"/>
              <a:buNone/>
              <a:defRPr/>
            </a:pPr>
            <a:r>
              <a:rPr lang="en-US" dirty="0">
                <a:cs typeface="+mn-cs"/>
              </a:rPr>
              <a:t>	</a:t>
            </a:r>
            <a:endParaRPr lang="en-US" sz="1800" dirty="0">
              <a:cs typeface="+mn-cs"/>
            </a:endParaRPr>
          </a:p>
        </p:txBody>
      </p:sp>
      <p:sp>
        <p:nvSpPr>
          <p:cNvPr id="1313798" name="Rectangle 6"/>
          <p:cNvSpPr>
            <a:spLocks noChangeArrowheads="1"/>
          </p:cNvSpPr>
          <p:nvPr/>
        </p:nvSpPr>
        <p:spPr bwMode="auto">
          <a:xfrm>
            <a:off x="2895600" y="3733800"/>
            <a:ext cx="4800600" cy="2400300"/>
          </a:xfrm>
          <a:prstGeom prst="rect">
            <a:avLst/>
          </a:prstGeom>
          <a:solidFill>
            <a:schemeClr val="accent1">
              <a:alpha val="41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charset="0"/>
              <a:buNone/>
              <a:defRPr/>
            </a:pPr>
            <a:r>
              <a:rPr lang="en-US" sz="1800" b="1" dirty="0">
                <a:cs typeface="+mn-cs"/>
              </a:rPr>
              <a:t>initialize (initial node)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cs typeface="+mn-cs"/>
              </a:rPr>
              <a:t>Loop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cs typeface="+mn-cs"/>
              </a:rPr>
              <a:t>	choose a node for expansion 		   according to </a:t>
            </a:r>
            <a:r>
              <a:rPr lang="en-US" sz="1800" b="1" dirty="0">
                <a:solidFill>
                  <a:srgbClr val="FF0000"/>
                </a:solidFill>
                <a:cs typeface="+mn-cs"/>
              </a:rPr>
              <a:t>strategy</a:t>
            </a:r>
            <a:endParaRPr lang="en-US" sz="1800" b="1" dirty="0"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b="1" dirty="0">
                <a:cs typeface="+mn-cs"/>
              </a:rPr>
              <a:t>	</a:t>
            </a:r>
            <a:r>
              <a:rPr lang="en-US" sz="1800" b="1" dirty="0">
                <a:cs typeface="+mn-cs"/>
              </a:rPr>
              <a:t>goal node? </a:t>
            </a:r>
            <a:r>
              <a:rPr lang="en-US" sz="1800" b="1" dirty="0">
                <a:cs typeface="+mn-cs"/>
                <a:sym typeface="Wingdings" charset="0"/>
              </a:rPr>
              <a:t> done</a:t>
            </a:r>
          </a:p>
          <a:p>
            <a:pPr>
              <a:buFont typeface="Wingdings" charset="0"/>
              <a:buNone/>
              <a:defRPr/>
            </a:pPr>
            <a:r>
              <a:rPr lang="en-US" sz="1800" b="1" dirty="0">
                <a:cs typeface="+mn-cs"/>
                <a:sym typeface="Wingdings" charset="0"/>
              </a:rPr>
              <a:t>	expand node with successor function</a:t>
            </a:r>
            <a:endParaRPr lang="en-US" sz="1800" b="1" dirty="0">
              <a:cs typeface="+mn-cs"/>
            </a:endParaRPr>
          </a:p>
          <a:p>
            <a:pPr>
              <a:buFont typeface="Wingdings" charset="0"/>
              <a:buNone/>
              <a:defRPr/>
            </a:pPr>
            <a:endParaRPr lang="en-US" sz="1800" dirty="0">
              <a:cs typeface="+mn-cs"/>
              <a:sym typeface="Wingdings" charset="0"/>
            </a:endParaRPr>
          </a:p>
          <a:p>
            <a:pPr>
              <a:buFont typeface="Wingdings" charset="0"/>
              <a:buNone/>
              <a:defRPr/>
            </a:pPr>
            <a:r>
              <a:rPr lang="en-US" sz="1800" dirty="0">
                <a:cs typeface="+mn-cs"/>
                <a:sym typeface="Wingdings" charset="0"/>
              </a:rPr>
              <a:t>	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1379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3796" grpId="0"/>
      <p:bldP spid="131379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52400"/>
            <a:ext cx="76200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Tree-search algorithms</a:t>
            </a:r>
          </a:p>
        </p:txBody>
      </p:sp>
      <p:sp>
        <p:nvSpPr>
          <p:cNvPr id="1269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6962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cs typeface="+mn-cs"/>
              </a:rPr>
              <a:t>Basic idea:</a:t>
            </a:r>
          </a:p>
          <a:p>
            <a:pPr lvl="1" eaLnBrk="1" hangingPunct="1">
              <a:defRPr/>
            </a:pPr>
            <a:r>
              <a:rPr lang="en-US" sz="1800" b="1" dirty="0"/>
              <a:t>simulated exploration of state space by generating successors of already-explored states (a.k.a. ~ </a:t>
            </a:r>
            <a:r>
              <a:rPr lang="en-US" sz="1800" b="1" dirty="0">
                <a:solidFill>
                  <a:srgbClr val="FF0000"/>
                </a:solidFill>
              </a:rPr>
              <a:t>expanding</a:t>
            </a:r>
            <a:r>
              <a:rPr lang="en-US" sz="1800" b="1" dirty="0"/>
              <a:t> states)</a:t>
            </a:r>
            <a:r>
              <a:rPr lang="en-US" sz="1800" dirty="0"/>
              <a:t>
</a:t>
            </a:r>
          </a:p>
        </p:txBody>
      </p:sp>
      <p:pic>
        <p:nvPicPr>
          <p:cNvPr id="12697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4" t="37500" r="3125" b="28125"/>
          <a:stretch>
            <a:fillRect/>
          </a:stretch>
        </p:blipFill>
        <p:spPr bwMode="auto">
          <a:xfrm>
            <a:off x="533400" y="2514600"/>
            <a:ext cx="80010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0724" name="TextBox 1"/>
          <p:cNvSpPr txBox="1">
            <a:spLocks noChangeArrowheads="1"/>
          </p:cNvSpPr>
          <p:nvPr/>
        </p:nvSpPr>
        <p:spPr bwMode="auto">
          <a:xfrm>
            <a:off x="1219200" y="5410200"/>
            <a:ext cx="7467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dirty="0">
                <a:solidFill>
                  <a:schemeClr val="accent2"/>
                </a:solidFill>
              </a:rPr>
              <a:t>Note: 1) Here we only check a node for possibly being a goal state, after we select the node for expansion. </a:t>
            </a:r>
          </a:p>
          <a:p>
            <a:pPr eaLnBrk="1" hangingPunct="1"/>
            <a:r>
              <a:rPr lang="en-US" sz="1800" b="1" dirty="0">
                <a:solidFill>
                  <a:schemeClr val="accent2"/>
                </a:solidFill>
              </a:rPr>
              <a:t>2) A “node” is a data structure containing state + additional info (parent</a:t>
            </a:r>
          </a:p>
          <a:p>
            <a:pPr eaLnBrk="1" hangingPunct="1"/>
            <a:r>
              <a:rPr lang="en-US" sz="1800" b="1" dirty="0">
                <a:solidFill>
                  <a:schemeClr val="accent2"/>
                </a:solidFill>
              </a:rPr>
              <a:t>node, etc.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800" y="4953000"/>
            <a:ext cx="2293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Fig. 3.7 R&amp;N, p. 77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Tree search example</a:t>
            </a:r>
          </a:p>
        </p:txBody>
      </p:sp>
      <p:pic>
        <p:nvPicPr>
          <p:cNvPr id="37890" name="Picture 3" descr="search-map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45" y="1143000"/>
            <a:ext cx="894645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1" name="Picture 4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163" y="3657601"/>
            <a:ext cx="5054237" cy="303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ctagon 1"/>
          <p:cNvSpPr/>
          <p:nvPr/>
        </p:nvSpPr>
        <p:spPr>
          <a:xfrm>
            <a:off x="4343400" y="914400"/>
            <a:ext cx="1143000" cy="762000"/>
          </a:xfrm>
          <a:prstGeom prst="octagon">
            <a:avLst/>
          </a:prstGeom>
          <a:solidFill>
            <a:schemeClr val="accent1">
              <a:alpha val="3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600200" y="533400"/>
            <a:ext cx="16647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Node selected</a:t>
            </a:r>
          </a:p>
          <a:p>
            <a:r>
              <a:rPr lang="en-US" sz="2000" dirty="0"/>
              <a:t>for expansion.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810" name="Picture 2" descr="search-map2c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8607371" cy="2111571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8915" name="Picture 4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810000"/>
            <a:ext cx="4800600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ecagon 2"/>
          <p:cNvSpPr/>
          <p:nvPr/>
        </p:nvSpPr>
        <p:spPr>
          <a:xfrm>
            <a:off x="1600200" y="1295400"/>
            <a:ext cx="7162800" cy="762000"/>
          </a:xfrm>
          <a:prstGeom prst="decagon">
            <a:avLst/>
          </a:prstGeom>
          <a:solidFill>
            <a:schemeClr val="accent2">
              <a:alpha val="3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2416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Nodes added to tree.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2834" name="Picture 2" descr="search-map3c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838200"/>
            <a:ext cx="8981017" cy="2203233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4" name="Picture 4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276600"/>
            <a:ext cx="4800600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ecagon 2"/>
          <p:cNvSpPr/>
          <p:nvPr/>
        </p:nvSpPr>
        <p:spPr>
          <a:xfrm>
            <a:off x="1828800" y="1371600"/>
            <a:ext cx="838200" cy="609600"/>
          </a:xfrm>
          <a:prstGeom prst="decagon">
            <a:avLst/>
          </a:prstGeom>
          <a:solidFill>
            <a:schemeClr val="accent1">
              <a:alpha val="3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ecagon 4"/>
          <p:cNvSpPr/>
          <p:nvPr/>
        </p:nvSpPr>
        <p:spPr>
          <a:xfrm>
            <a:off x="152400" y="2057400"/>
            <a:ext cx="4419600" cy="685800"/>
          </a:xfrm>
          <a:prstGeom prst="decagon">
            <a:avLst/>
          </a:prstGeom>
          <a:solidFill>
            <a:schemeClr val="accent2">
              <a:alpha val="3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43000" y="381000"/>
            <a:ext cx="2694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Selected for expansion.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581090"/>
            <a:ext cx="17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Added to tree.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3200400"/>
            <a:ext cx="3819976" cy="2246769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Note: Arad added (again) to tree!</a:t>
            </a:r>
          </a:p>
          <a:p>
            <a:r>
              <a:rPr lang="en-US" sz="2000" b="1" dirty="0"/>
              <a:t>(reachable from Sibiu)</a:t>
            </a:r>
          </a:p>
          <a:p>
            <a:endParaRPr lang="en-US" sz="2000" b="1" dirty="0"/>
          </a:p>
          <a:p>
            <a:r>
              <a:rPr lang="en-US" sz="2000" b="1" dirty="0"/>
              <a:t>Not necessarily a problem, but</a:t>
            </a:r>
          </a:p>
          <a:p>
            <a:r>
              <a:rPr lang="en-US" sz="2000" b="1" dirty="0"/>
              <a:t>in </a:t>
            </a:r>
            <a:r>
              <a:rPr lang="en-US" sz="2000" b="1" dirty="0">
                <a:solidFill>
                  <a:srgbClr val="FF0000"/>
                </a:solidFill>
              </a:rPr>
              <a:t>Graph-Search</a:t>
            </a:r>
            <a:r>
              <a:rPr lang="en-US" sz="2000" b="1" dirty="0"/>
              <a:t>, we will avoid</a:t>
            </a:r>
          </a:p>
          <a:p>
            <a:r>
              <a:rPr lang="en-US" sz="2000" b="1" dirty="0"/>
              <a:t>this by maintaining an</a:t>
            </a:r>
          </a:p>
          <a:p>
            <a:r>
              <a:rPr lang="en-US" sz="2000" b="1" dirty="0"/>
              <a:t>“explored” list.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4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6" fill="hold">
                                          <p:stCondLst>
                                            <p:cond delay="4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" decel="50000" autoRev="1" fill="hold">
                                          <p:stCondLst>
                                            <p:cond delay="4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4" fill="hold">
                                          <p:stCondLst>
                                            <p:cond delay="8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/>
      <p:bldP spid="7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Graph-search</a:t>
            </a:r>
          </a:p>
        </p:txBody>
      </p:sp>
      <p:sp>
        <p:nvSpPr>
          <p:cNvPr id="30724" name="TextBox 1"/>
          <p:cNvSpPr txBox="1">
            <a:spLocks noChangeArrowheads="1"/>
          </p:cNvSpPr>
          <p:nvPr/>
        </p:nvSpPr>
        <p:spPr bwMode="auto">
          <a:xfrm>
            <a:off x="457200" y="5257800"/>
            <a:ext cx="80772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dirty="0">
                <a:solidFill>
                  <a:schemeClr val="accent2"/>
                </a:solidFill>
              </a:rPr>
              <a:t>Note: </a:t>
            </a:r>
          </a:p>
          <a:p>
            <a:pPr eaLnBrk="1" hangingPunct="1"/>
            <a:r>
              <a:rPr lang="en-US" sz="1800" b="1" dirty="0">
                <a:solidFill>
                  <a:schemeClr val="accent2"/>
                </a:solidFill>
              </a:rPr>
              <a:t>1) Uses “explored” set to avoid visiting already explored states.</a:t>
            </a:r>
          </a:p>
          <a:p>
            <a:pPr eaLnBrk="1" hangingPunct="1"/>
            <a:r>
              <a:rPr lang="en-US" sz="1800" b="1" dirty="0">
                <a:solidFill>
                  <a:schemeClr val="accent2"/>
                </a:solidFill>
              </a:rPr>
              <a:t>2) Uses “frontier” set to store states that remain to be explored and expanded.</a:t>
            </a:r>
          </a:p>
          <a:p>
            <a:pPr eaLnBrk="1" hangingPunct="1"/>
            <a:r>
              <a:rPr lang="en-US" sz="1800" b="1" dirty="0">
                <a:solidFill>
                  <a:schemeClr val="accent2"/>
                </a:solidFill>
              </a:rPr>
              <a:t>3) </a:t>
            </a:r>
            <a:r>
              <a:rPr lang="en-US" sz="1800" b="1" i="1" dirty="0">
                <a:solidFill>
                  <a:schemeClr val="accent2"/>
                </a:solidFill>
              </a:rPr>
              <a:t>However, with </a:t>
            </a:r>
            <a:r>
              <a:rPr lang="en-US" sz="1800" b="1" i="1" dirty="0" err="1">
                <a:solidFill>
                  <a:schemeClr val="accent2"/>
                </a:solidFill>
              </a:rPr>
              <a:t>eg</a:t>
            </a:r>
            <a:r>
              <a:rPr lang="en-US" sz="1800" b="1" i="1" dirty="0">
                <a:solidFill>
                  <a:schemeClr val="accent2"/>
                </a:solidFill>
              </a:rPr>
              <a:t> uniform cost search, we need to make a special check when</a:t>
            </a:r>
          </a:p>
          <a:p>
            <a:pPr eaLnBrk="1" hangingPunct="1"/>
            <a:r>
              <a:rPr lang="en-US" sz="1800" b="1" i="1" dirty="0">
                <a:solidFill>
                  <a:schemeClr val="accent2"/>
                </a:solidFill>
              </a:rPr>
              <a:t>     node (i.e. state) is on frontier. Details later.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" y="4724400"/>
            <a:ext cx="4788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Fig. 3.7 R&amp;N, p. 77. See also exercise 3.13.</a:t>
            </a:r>
          </a:p>
        </p:txBody>
      </p:sp>
      <p:pic>
        <p:nvPicPr>
          <p:cNvPr id="4" name="Picture 3" descr="Screen Shot 2013-09-23 at 1.30.2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211"/>
            <a:ext cx="9144000" cy="334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030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4" descr="state-vs-no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286000"/>
            <a:ext cx="3838575" cy="163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74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76200"/>
            <a:ext cx="84582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2400" dirty="0">
                <a:solidFill>
                  <a:srgbClr val="FF0000"/>
                </a:solidFill>
                <a:cs typeface="+mj-cs"/>
              </a:rPr>
              <a:t>Implementation: states vs. nodes</a:t>
            </a:r>
          </a:p>
        </p:txBody>
      </p:sp>
      <p:sp>
        <p:nvSpPr>
          <p:cNvPr id="1274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990600"/>
            <a:ext cx="77724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cs typeface="+mn-cs"/>
              </a:rPr>
              <a:t>A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state</a:t>
            </a:r>
            <a:r>
              <a:rPr lang="en-US" b="1" dirty="0">
                <a:cs typeface="+mn-cs"/>
              </a:rPr>
              <a:t> is a --- representation of --- a physical configuration.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b="1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cs typeface="+mn-cs"/>
              </a:rPr>
              <a:t>A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node</a:t>
            </a:r>
            <a:r>
              <a:rPr lang="en-US" b="1" dirty="0">
                <a:cs typeface="+mn-cs"/>
              </a:rPr>
              <a:t> is a data structure constituting part of a search tree includes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state</a:t>
            </a:r>
            <a:r>
              <a:rPr lang="en-US" b="1" dirty="0">
                <a:cs typeface="+mn-cs"/>
              </a:rPr>
              <a:t>, tree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 parent node</a:t>
            </a:r>
            <a:r>
              <a:rPr lang="en-US" b="1" dirty="0">
                <a:cs typeface="+mn-cs"/>
              </a:rPr>
              <a:t>,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action </a:t>
            </a:r>
            <a:r>
              <a:rPr lang="en-US" sz="1800" b="1" dirty="0">
                <a:cs typeface="+mn-cs"/>
              </a:rPr>
              <a:t>(applied to parent),</a:t>
            </a:r>
            <a:r>
              <a:rPr lang="en-US" b="1" dirty="0"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path cost</a:t>
            </a:r>
            <a:r>
              <a:rPr lang="en-US" b="1" dirty="0">
                <a:cs typeface="+mn-cs"/>
              </a:rPr>
              <a:t> (initial state to node) </a:t>
            </a:r>
            <a:r>
              <a:rPr lang="en-US" b="1" i="1" dirty="0">
                <a:cs typeface="+mn-cs"/>
              </a:rPr>
              <a:t>g(x)</a:t>
            </a:r>
            <a:r>
              <a:rPr lang="en-US" b="1" dirty="0">
                <a:cs typeface="+mn-cs"/>
              </a:rPr>
              <a:t>,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depth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cs typeface="+mn-cs"/>
              </a:rPr>
              <a:t>The </a:t>
            </a:r>
            <a:r>
              <a:rPr lang="en-US" b="1" dirty="0">
                <a:solidFill>
                  <a:schemeClr val="accent2"/>
                </a:solidFill>
                <a:latin typeface="Courier New" charset="0"/>
                <a:cs typeface="+mn-cs"/>
              </a:rPr>
              <a:t>Expand</a:t>
            </a:r>
            <a:r>
              <a:rPr lang="en-US" b="1" dirty="0">
                <a:cs typeface="+mn-cs"/>
              </a:rPr>
              <a:t> function creates new nodes, filling in the various fields and using the 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  <a:cs typeface="+mn-cs"/>
              </a:rPr>
              <a:t>SuccessorFn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 </a:t>
            </a:r>
            <a:r>
              <a:rPr lang="en-US" b="1" dirty="0">
                <a:cs typeface="+mn-cs"/>
              </a:rPr>
              <a:t>of the problem to create the corresponding states.
</a:t>
            </a:r>
          </a:p>
        </p:txBody>
      </p:sp>
      <p:sp>
        <p:nvSpPr>
          <p:cNvPr id="1274885" name="Text Box 5"/>
          <p:cNvSpPr txBox="1">
            <a:spLocks noChangeArrowheads="1"/>
          </p:cNvSpPr>
          <p:nvPr/>
        </p:nvSpPr>
        <p:spPr bwMode="auto">
          <a:xfrm>
            <a:off x="838200" y="5486400"/>
            <a:ext cx="785343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  <a:cs typeface="+mn-cs"/>
              </a:rPr>
              <a:t>Fringe</a:t>
            </a:r>
            <a:r>
              <a:rPr lang="en-US" sz="2000" b="1" dirty="0">
                <a:cs typeface="+mn-cs"/>
              </a:rPr>
              <a:t> is the collection of nodes that have been generated but not (yet)</a:t>
            </a:r>
          </a:p>
          <a:p>
            <a:pPr>
              <a:defRPr/>
            </a:pPr>
            <a:r>
              <a:rPr lang="en-US" sz="2000" b="1" dirty="0">
                <a:cs typeface="+mn-cs"/>
              </a:rPr>
              <a:t>expanded. Each node of the fringe is a </a:t>
            </a:r>
            <a:r>
              <a:rPr lang="en-US" sz="2000" b="1" dirty="0">
                <a:solidFill>
                  <a:srgbClr val="FF0000"/>
                </a:solidFill>
                <a:cs typeface="+mn-cs"/>
              </a:rPr>
              <a:t>leaf node</a:t>
            </a:r>
            <a:r>
              <a:rPr lang="en-US" sz="2000" b="1" dirty="0">
                <a:cs typeface="+mn-cs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4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4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48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>
                <a:cs typeface="+mj-cs"/>
              </a:rPr>
              <a:t>Implementation: general tree search</a:t>
            </a:r>
          </a:p>
        </p:txBody>
      </p:sp>
      <p:pic>
        <p:nvPicPr>
          <p:cNvPr id="12738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4" t="18750" r="3125" b="9375"/>
          <a:stretch>
            <a:fillRect/>
          </a:stretch>
        </p:blipFill>
        <p:spPr bwMode="auto">
          <a:xfrm>
            <a:off x="990600" y="1447800"/>
            <a:ext cx="7315200" cy="480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Search strategies</a:t>
            </a:r>
          </a:p>
        </p:txBody>
      </p:sp>
      <p:sp>
        <p:nvSpPr>
          <p:cNvPr id="1275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b="1" dirty="0">
                <a:cs typeface="+mn-cs"/>
              </a:rPr>
              <a:t>A search strategy is defined by picking the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order of node expansion. </a:t>
            </a:r>
            <a:endParaRPr lang="en-US" b="1" dirty="0"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dirty="0"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>
                <a:cs typeface="+mn-cs"/>
              </a:rPr>
              <a:t>Strategies are evaluated along the following dimensions: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chemeClr val="accent2"/>
                </a:solidFill>
              </a:rPr>
              <a:t>completeness</a:t>
            </a:r>
            <a:r>
              <a:rPr lang="en-US" b="1" dirty="0"/>
              <a:t>: does it always find a solution if one exists?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chemeClr val="accent2"/>
                </a:solidFill>
              </a:rPr>
              <a:t>time complexity</a:t>
            </a:r>
            <a:r>
              <a:rPr lang="en-US" b="1" dirty="0"/>
              <a:t>: number of nodes generated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chemeClr val="accent2"/>
                </a:solidFill>
              </a:rPr>
              <a:t>space complexity</a:t>
            </a:r>
            <a:r>
              <a:rPr lang="en-US" b="1" dirty="0"/>
              <a:t>: maximum number of nodes in memory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chemeClr val="accent2"/>
                </a:solidFill>
              </a:rPr>
              <a:t>optimality</a:t>
            </a:r>
            <a:r>
              <a:rPr lang="en-US" b="1" dirty="0"/>
              <a:t>: does it always find a least-cost solution?</a:t>
            </a:r>
            <a:r>
              <a:rPr lang="en-US" dirty="0"/>
              <a:t>
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>
                <a:cs typeface="+mn-cs"/>
              </a:rPr>
              <a:t>Time and space complexity are measured in terms of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b="1" i="1" dirty="0"/>
              <a:t>b:</a:t>
            </a:r>
            <a:r>
              <a:rPr lang="en-US" b="1" dirty="0"/>
              <a:t> maximum branching factor of the search tree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b="1" i="1" dirty="0"/>
              <a:t>d: </a:t>
            </a:r>
            <a:r>
              <a:rPr lang="en-US" b="1" dirty="0"/>
              <a:t>depth of the least-cost solution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b="1" i="1" dirty="0"/>
              <a:t>m</a:t>
            </a:r>
            <a:r>
              <a:rPr lang="en-US" b="1" dirty="0"/>
              <a:t>: maximum depth of the state space (may be </a:t>
            </a:r>
            <a:r>
              <a:rPr lang="en-US" b="1" dirty="0">
                <a:cs typeface="Arial" charset="0"/>
              </a:rPr>
              <a:t>∞</a:t>
            </a:r>
            <a:r>
              <a:rPr lang="en-US" b="1" dirty="0"/>
              <a:t>)
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5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5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75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75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75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75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75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75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75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75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75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75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75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75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75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75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75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75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930" name="Rectangle 2"/>
          <p:cNvSpPr>
            <a:spLocks noGrp="1" noChangeArrowheads="1"/>
          </p:cNvSpPr>
          <p:nvPr>
            <p:ph type="title"/>
          </p:nvPr>
        </p:nvSpPr>
        <p:spPr>
          <a:xfrm>
            <a:off x="1404938" y="-3048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Uninformed search strategies</a:t>
            </a:r>
          </a:p>
        </p:txBody>
      </p:sp>
      <p:sp>
        <p:nvSpPr>
          <p:cNvPr id="1276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b="1" dirty="0">
                <a:solidFill>
                  <a:srgbClr val="FF0000"/>
                </a:solidFill>
                <a:cs typeface="+mn-cs"/>
              </a:rPr>
              <a:t>Uninformed</a:t>
            </a:r>
            <a:r>
              <a:rPr lang="en-US" sz="2400" b="1" dirty="0">
                <a:cs typeface="+mn-cs"/>
              </a:rPr>
              <a:t> </a:t>
            </a:r>
            <a:r>
              <a:rPr lang="en-US" sz="2400" b="1" dirty="0">
                <a:solidFill>
                  <a:srgbClr val="FF0000"/>
                </a:solidFill>
                <a:cs typeface="+mn-cs"/>
              </a:rPr>
              <a:t>(blind)</a:t>
            </a:r>
            <a:r>
              <a:rPr lang="en-US" sz="2400" b="1" dirty="0">
                <a:cs typeface="+mn-cs"/>
              </a:rPr>
              <a:t> search strategies use only the information available in the problem definition: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lvl="1" eaLnBrk="1" hangingPunct="1">
              <a:defRPr/>
            </a:pPr>
            <a:r>
              <a:rPr lang="en-US" sz="2400" b="1" dirty="0">
                <a:solidFill>
                  <a:srgbClr val="3333CC"/>
                </a:solidFill>
              </a:rPr>
              <a:t>Breadth-first search</a:t>
            </a:r>
          </a:p>
          <a:p>
            <a:pPr lvl="1" eaLnBrk="1" hangingPunct="1">
              <a:defRPr/>
            </a:pPr>
            <a:r>
              <a:rPr lang="en-US" sz="2400" b="1" dirty="0">
                <a:solidFill>
                  <a:srgbClr val="3333CC"/>
                </a:solidFill>
              </a:rPr>
              <a:t>Uniform-cost search</a:t>
            </a:r>
          </a:p>
          <a:p>
            <a:pPr lvl="1" eaLnBrk="1" hangingPunct="1">
              <a:defRPr/>
            </a:pPr>
            <a:r>
              <a:rPr lang="en-US" sz="2400" b="1" dirty="0">
                <a:solidFill>
                  <a:srgbClr val="3333CC"/>
                </a:solidFill>
              </a:rPr>
              <a:t>Depth-first search</a:t>
            </a:r>
          </a:p>
          <a:p>
            <a:pPr lvl="1" eaLnBrk="1" hangingPunct="1">
              <a:defRPr/>
            </a:pPr>
            <a:r>
              <a:rPr lang="en-US" sz="2400" b="1" dirty="0">
                <a:solidFill>
                  <a:srgbClr val="3333CC"/>
                </a:solidFill>
              </a:rPr>
              <a:t>Depth-limited search</a:t>
            </a:r>
          </a:p>
          <a:p>
            <a:pPr lvl="1" eaLnBrk="1" hangingPunct="1">
              <a:defRPr/>
            </a:pPr>
            <a:r>
              <a:rPr lang="en-US" sz="2400" b="1" dirty="0">
                <a:solidFill>
                  <a:srgbClr val="3333CC"/>
                </a:solidFill>
              </a:rPr>
              <a:t>Iterative deepening search</a:t>
            </a:r>
          </a:p>
          <a:p>
            <a:pPr lvl="1" eaLnBrk="1" hangingPunct="1">
              <a:defRPr/>
            </a:pPr>
            <a:r>
              <a:rPr lang="en-US" sz="2400" b="1" dirty="0">
                <a:solidFill>
                  <a:srgbClr val="3333CC"/>
                </a:solidFill>
              </a:rPr>
              <a:t>Bidirectional search</a:t>
            </a:r>
            <a:r>
              <a:rPr lang="en-US" dirty="0"/>
              <a:t>
</a:t>
            </a:r>
          </a:p>
        </p:txBody>
      </p:sp>
      <p:sp>
        <p:nvSpPr>
          <p:cNvPr id="1276932" name="Text Box 4"/>
          <p:cNvSpPr txBox="1">
            <a:spLocks noChangeArrowheads="1"/>
          </p:cNvSpPr>
          <p:nvPr/>
        </p:nvSpPr>
        <p:spPr bwMode="auto">
          <a:xfrm>
            <a:off x="381000" y="5181600"/>
            <a:ext cx="86106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CC00CC"/>
                </a:solidFill>
                <a:cs typeface="+mn-cs"/>
              </a:rPr>
              <a:t>Key issue</a:t>
            </a:r>
            <a:r>
              <a:rPr lang="en-US" b="1" dirty="0">
                <a:cs typeface="+mn-cs"/>
              </a:rPr>
              <a:t>: type of queue used for the </a:t>
            </a:r>
            <a:r>
              <a:rPr lang="en-US" b="1" dirty="0">
                <a:solidFill>
                  <a:srgbClr val="CC00CC"/>
                </a:solidFill>
                <a:cs typeface="+mn-cs"/>
              </a:rPr>
              <a:t>fringe of the search tree</a:t>
            </a:r>
          </a:p>
          <a:p>
            <a:pPr>
              <a:defRPr/>
            </a:pPr>
            <a:r>
              <a:rPr lang="en-US" b="1" dirty="0">
                <a:cs typeface="+mn-cs"/>
              </a:rPr>
              <a:t>(collection of tree nodes that have been generated but not yet </a:t>
            </a:r>
          </a:p>
          <a:p>
            <a:pPr>
              <a:defRPr/>
            </a:pPr>
            <a:r>
              <a:rPr lang="en-US" b="1" dirty="0">
                <a:cs typeface="+mn-cs"/>
              </a:rPr>
              <a:t>expanded)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6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6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76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76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76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76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76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76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76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76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76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76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76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76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76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76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76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76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-152400"/>
            <a:ext cx="77724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Breadth-first search</a:t>
            </a:r>
          </a:p>
        </p:txBody>
      </p:sp>
      <p:sp>
        <p:nvSpPr>
          <p:cNvPr id="1277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838200"/>
            <a:ext cx="7543800" cy="20574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cs typeface="+mn-cs"/>
              </a:rPr>
              <a:t>Expand shallowest unexpanded node.</a:t>
            </a:r>
            <a:r>
              <a:rPr lang="en-US" dirty="0">
                <a:cs typeface="+mn-cs"/>
              </a:rPr>
              <a:t>
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Implementation</a:t>
            </a:r>
            <a:r>
              <a:rPr lang="en-US" b="1" dirty="0">
                <a:cs typeface="+mn-cs"/>
              </a:rPr>
              <a:t>:</a:t>
            </a:r>
          </a:p>
          <a:p>
            <a:pPr lvl="1" eaLnBrk="1" hangingPunct="1">
              <a:defRPr/>
            </a:pPr>
            <a:r>
              <a:rPr lang="en-US" b="1" i="1" dirty="0"/>
              <a:t>fringe</a:t>
            </a:r>
            <a:r>
              <a:rPr lang="en-US" b="1" dirty="0"/>
              <a:t> is a FIFO queue, i.e., new nodes go at end</a:t>
            </a:r>
          </a:p>
          <a:p>
            <a:pPr marL="457200" lvl="1" indent="0" eaLnBrk="1" hangingPunct="1">
              <a:buNone/>
              <a:defRPr/>
            </a:pPr>
            <a:r>
              <a:rPr lang="en-US" b="1" dirty="0"/>
              <a:t>    (First In First Out queue.)</a:t>
            </a:r>
            <a:r>
              <a:rPr lang="en-US" dirty="0"/>
              <a:t>
</a:t>
            </a:r>
          </a:p>
        </p:txBody>
      </p:sp>
      <p:pic>
        <p:nvPicPr>
          <p:cNvPr id="45059" name="Picture 4" descr="bfs-progress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971800"/>
            <a:ext cx="4267200" cy="281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921489" y="1380358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Fringe queue:   &lt;A&gt;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0" y="2971800"/>
            <a:ext cx="26563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Select A from</a:t>
            </a:r>
          </a:p>
          <a:p>
            <a:r>
              <a:rPr lang="en-US" b="1" dirty="0">
                <a:solidFill>
                  <a:schemeClr val="accent2"/>
                </a:solidFill>
              </a:rPr>
              <a:t>queue and expand.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419600"/>
            <a:ext cx="11208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Gives</a:t>
            </a:r>
          </a:p>
          <a:p>
            <a:r>
              <a:rPr lang="en-US" b="1" dirty="0"/>
              <a:t>&lt;B, C&gt;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7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7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77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77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77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77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277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277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277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77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277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77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7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8978" name="Picture 2" descr="bfs-progress2c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676400"/>
            <a:ext cx="4343400" cy="280035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486400" y="457200"/>
            <a:ext cx="2313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Queue:   &lt;B, C&gt;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222461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3333CC"/>
                </a:solidFill>
              </a:rPr>
              <a:t>Select B from</a:t>
            </a:r>
          </a:p>
          <a:p>
            <a:r>
              <a:rPr lang="en-US" sz="2000" b="1" dirty="0">
                <a:solidFill>
                  <a:srgbClr val="3333CC"/>
                </a:solidFill>
              </a:rPr>
              <a:t>front, and expand.</a:t>
            </a:r>
          </a:p>
          <a:p>
            <a:endParaRPr lang="en-US" sz="2000" b="1" dirty="0">
              <a:solidFill>
                <a:srgbClr val="3333CC"/>
              </a:solidFill>
            </a:endParaRPr>
          </a:p>
          <a:p>
            <a:r>
              <a:rPr lang="en-US" sz="2000" b="1" dirty="0">
                <a:solidFill>
                  <a:srgbClr val="3333CC"/>
                </a:solidFill>
              </a:rPr>
              <a:t>Put children at the</a:t>
            </a:r>
          </a:p>
          <a:p>
            <a:r>
              <a:rPr lang="en-US" sz="2000" b="1" dirty="0">
                <a:solidFill>
                  <a:srgbClr val="3333CC"/>
                </a:solidFill>
              </a:rPr>
              <a:t>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0" y="3581400"/>
            <a:ext cx="14930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Gives</a:t>
            </a:r>
          </a:p>
          <a:p>
            <a:r>
              <a:rPr lang="en-US" b="1" dirty="0"/>
              <a:t>&lt;C, D, E&gt;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5" name="Picture 2" descr="bfs-progress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371600"/>
            <a:ext cx="4343400" cy="285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029200" y="457200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Fringe queue:   &lt;C, D, E&gt;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2" descr="bfs-progress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71600"/>
            <a:ext cx="4648200" cy="278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4953000" y="381000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Fringe queue:   &lt;D, E, F, G&gt;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181600"/>
            <a:ext cx="59431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3333CC"/>
                </a:solidFill>
              </a:rPr>
              <a:t>Assuming no further children, queue becomes</a:t>
            </a:r>
          </a:p>
          <a:p>
            <a:r>
              <a:rPr lang="en-US" sz="2000" b="1" dirty="0">
                <a:solidFill>
                  <a:srgbClr val="3333CC"/>
                </a:solidFill>
              </a:rPr>
              <a:t>&lt;E, F, G&gt;, &lt;F, G&gt;, &lt;G&gt;, &lt;&gt;. Each time node checked</a:t>
            </a:r>
          </a:p>
          <a:p>
            <a:r>
              <a:rPr lang="en-US" sz="2000" b="1" dirty="0">
                <a:solidFill>
                  <a:srgbClr val="3333CC"/>
                </a:solidFill>
              </a:rPr>
              <a:t>for goal state.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EABA2-DB34-F1F8-4B16-3F55683E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Breadth First Search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D918A7-1DAD-AC54-BEA6-E8412C0EB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27" y="1371600"/>
            <a:ext cx="8907146" cy="4540898"/>
          </a:xfrm>
        </p:spPr>
      </p:pic>
    </p:spTree>
    <p:extLst>
      <p:ext uri="{BB962C8B-B14F-4D97-AF65-F5344CB8AC3E}">
        <p14:creationId xmlns:p14="http://schemas.microsoft.com/office/powerpoint/2010/main" val="367546050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344083" y="-3048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Properties of breadth-first search</a:t>
            </a:r>
          </a:p>
        </p:txBody>
      </p:sp>
      <p:sp>
        <p:nvSpPr>
          <p:cNvPr id="128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9248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u="sng" dirty="0">
                <a:solidFill>
                  <a:srgbClr val="CC0099"/>
                </a:solidFill>
                <a:cs typeface="+mn-cs"/>
              </a:rPr>
              <a:t>Complete?</a:t>
            </a:r>
            <a:r>
              <a:rPr lang="en-US" sz="2800" dirty="0">
                <a:solidFill>
                  <a:srgbClr val="CC0099"/>
                </a:solidFill>
                <a:cs typeface="+mn-cs"/>
              </a:rPr>
              <a:t> </a:t>
            </a:r>
            <a:r>
              <a:rPr lang="en-US" sz="2800" dirty="0">
                <a:cs typeface="+mn-cs"/>
              </a:rPr>
              <a:t>Yes (if </a:t>
            </a:r>
            <a:r>
              <a:rPr lang="en-US" sz="2800" i="1" dirty="0">
                <a:cs typeface="+mn-cs"/>
              </a:rPr>
              <a:t>b</a:t>
            </a:r>
            <a:r>
              <a:rPr lang="en-US" sz="2800" dirty="0">
                <a:cs typeface="+mn-cs"/>
              </a:rPr>
              <a:t> is finite)
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u="sng" dirty="0">
                <a:solidFill>
                  <a:srgbClr val="CC0099"/>
                </a:solidFill>
                <a:cs typeface="+mn-cs"/>
              </a:rPr>
              <a:t>Time?</a:t>
            </a:r>
            <a:r>
              <a:rPr lang="en-US" sz="2800" dirty="0">
                <a:cs typeface="+mn-cs"/>
              </a:rPr>
              <a:t> </a:t>
            </a:r>
            <a:r>
              <a:rPr lang="en-US" sz="2800" i="1" dirty="0">
                <a:cs typeface="+mn-cs"/>
              </a:rPr>
              <a:t>1+b+b</a:t>
            </a:r>
            <a:r>
              <a:rPr lang="en-US" sz="2800" i="1" baseline="30000" dirty="0">
                <a:cs typeface="+mn-cs"/>
              </a:rPr>
              <a:t>2</a:t>
            </a:r>
            <a:r>
              <a:rPr lang="en-US" sz="2800" i="1" dirty="0">
                <a:cs typeface="+mn-cs"/>
              </a:rPr>
              <a:t>+b</a:t>
            </a:r>
            <a:r>
              <a:rPr lang="en-US" sz="2800" i="1" baseline="30000" dirty="0">
                <a:cs typeface="+mn-cs"/>
              </a:rPr>
              <a:t>3</a:t>
            </a:r>
            <a:r>
              <a:rPr lang="en-US" sz="2800" dirty="0">
                <a:cs typeface="+mn-cs"/>
              </a:rPr>
              <a:t>+… +</a:t>
            </a:r>
            <a:r>
              <a:rPr lang="en-US" sz="2800" i="1" dirty="0" err="1">
                <a:cs typeface="+mn-cs"/>
              </a:rPr>
              <a:t>b</a:t>
            </a:r>
            <a:r>
              <a:rPr lang="en-US" sz="2800" i="1" baseline="30000" dirty="0" err="1">
                <a:cs typeface="+mn-cs"/>
              </a:rPr>
              <a:t>d</a:t>
            </a:r>
            <a:r>
              <a:rPr lang="en-US" sz="2800" dirty="0">
                <a:cs typeface="+mn-cs"/>
              </a:rPr>
              <a:t> + </a:t>
            </a:r>
            <a:r>
              <a:rPr lang="en-US" sz="2800" i="1" dirty="0">
                <a:cs typeface="+mn-cs"/>
              </a:rPr>
              <a:t>b(b</a:t>
            </a:r>
            <a:r>
              <a:rPr lang="en-US" sz="2800" i="1" baseline="30000" dirty="0">
                <a:cs typeface="+mn-cs"/>
              </a:rPr>
              <a:t>d</a:t>
            </a:r>
            <a:r>
              <a:rPr lang="en-US" sz="2800" i="1" dirty="0">
                <a:cs typeface="+mn-cs"/>
              </a:rPr>
              <a:t>-1</a:t>
            </a:r>
            <a:r>
              <a:rPr lang="en-US" sz="2800" dirty="0">
                <a:cs typeface="+mn-cs"/>
              </a:rPr>
              <a:t>) = O(b</a:t>
            </a:r>
            <a:r>
              <a:rPr lang="en-US" sz="2800" baseline="30000" dirty="0">
                <a:cs typeface="+mn-cs"/>
              </a:rPr>
              <a:t>d+1</a:t>
            </a:r>
            <a:r>
              <a:rPr lang="en-US" sz="2800" dirty="0">
                <a:cs typeface="+mn-cs"/>
              </a:rPr>
              <a:t>)
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u="sng" dirty="0">
                <a:solidFill>
                  <a:srgbClr val="CC0099"/>
                </a:solidFill>
                <a:cs typeface="+mn-cs"/>
              </a:rPr>
              <a:t>Space?</a:t>
            </a:r>
            <a:r>
              <a:rPr lang="en-US" sz="2800" dirty="0">
                <a:cs typeface="+mn-cs"/>
              </a:rPr>
              <a:t> </a:t>
            </a:r>
            <a:r>
              <a:rPr lang="en-US" sz="2800" i="1" dirty="0">
                <a:cs typeface="+mn-cs"/>
              </a:rPr>
              <a:t>O(b</a:t>
            </a:r>
            <a:r>
              <a:rPr lang="en-US" sz="2800" i="1" baseline="30000" dirty="0">
                <a:cs typeface="+mn-cs"/>
              </a:rPr>
              <a:t>d+1</a:t>
            </a:r>
            <a:r>
              <a:rPr lang="en-US" sz="2800" i="1" dirty="0">
                <a:cs typeface="+mn-cs"/>
              </a:rPr>
              <a:t>)</a:t>
            </a:r>
            <a:r>
              <a:rPr lang="en-US" sz="2800" dirty="0">
                <a:cs typeface="+mn-cs"/>
              </a:rPr>
              <a:t> </a:t>
            </a:r>
            <a:r>
              <a:rPr lang="en-US" sz="2400" dirty="0">
                <a:cs typeface="+mn-cs"/>
              </a:rPr>
              <a:t>(keeps every node in memory;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cs typeface="+mn-cs"/>
              </a:rPr>
              <a:t>                          </a:t>
            </a:r>
            <a:r>
              <a:rPr lang="en-US" sz="2400" dirty="0">
                <a:cs typeface="+mn-cs"/>
              </a:rPr>
              <a:t>needed also to reconstruct soln. path)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u="sng" dirty="0">
                <a:solidFill>
                  <a:srgbClr val="CC0099"/>
                </a:solidFill>
                <a:cs typeface="+mn-cs"/>
              </a:rPr>
              <a:t>Optimal soln. found?</a:t>
            </a:r>
            <a:r>
              <a:rPr lang="en-US" sz="2800" dirty="0">
                <a:cs typeface="+mn-cs"/>
              </a:rPr>
              <a:t>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cs typeface="+mn-cs"/>
              </a:rPr>
              <a:t>       Yes (if  all step costs are identical)
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b="1" dirty="0">
                <a:solidFill>
                  <a:srgbClr val="FF0000"/>
                </a:solidFill>
                <a:cs typeface="+mn-cs"/>
              </a:rPr>
              <a:t>Space</a:t>
            </a:r>
            <a:r>
              <a:rPr lang="en-US" sz="2800" b="1" dirty="0">
                <a:cs typeface="+mn-cs"/>
              </a:rPr>
              <a:t> </a:t>
            </a:r>
            <a:r>
              <a:rPr lang="en-US" sz="2800" b="1" dirty="0">
                <a:solidFill>
                  <a:srgbClr val="3333CC"/>
                </a:solidFill>
                <a:cs typeface="+mn-cs"/>
              </a:rPr>
              <a:t>is the bigger problem (more than time)</a:t>
            </a:r>
            <a:r>
              <a:rPr lang="en-US" sz="2800" b="1" dirty="0">
                <a:cs typeface="+mn-cs"/>
              </a:rPr>
              <a:t>
</a:t>
            </a:r>
          </a:p>
        </p:txBody>
      </p:sp>
      <p:sp>
        <p:nvSpPr>
          <p:cNvPr id="1282052" name="Rectangle 4"/>
          <p:cNvSpPr>
            <a:spLocks noChangeArrowheads="1"/>
          </p:cNvSpPr>
          <p:nvPr/>
        </p:nvSpPr>
        <p:spPr bwMode="auto">
          <a:xfrm>
            <a:off x="609600" y="5715000"/>
            <a:ext cx="73152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defRPr/>
            </a:pPr>
            <a:r>
              <a:rPr lang="en-US" i="1" dirty="0">
                <a:cs typeface="+mn-cs"/>
              </a:rPr>
              <a:t>b:</a:t>
            </a:r>
            <a:r>
              <a:rPr lang="en-US" dirty="0">
                <a:cs typeface="+mn-cs"/>
              </a:rPr>
              <a:t> maximum branching factor of the search tree</a:t>
            </a:r>
          </a:p>
          <a:p>
            <a:pPr lvl="1">
              <a:defRPr/>
            </a:pPr>
            <a:r>
              <a:rPr lang="en-US" i="1" dirty="0">
                <a:cs typeface="+mn-cs"/>
              </a:rPr>
              <a:t>d: </a:t>
            </a:r>
            <a:r>
              <a:rPr lang="en-US" dirty="0">
                <a:cs typeface="+mn-cs"/>
              </a:rPr>
              <a:t>depth of the least-cost solution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43318" y="609600"/>
            <a:ext cx="21301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Note: check for </a:t>
            </a:r>
          </a:p>
          <a:p>
            <a:r>
              <a:rPr lang="en-US" sz="2000" b="1" dirty="0"/>
              <a:t>goal only when</a:t>
            </a:r>
          </a:p>
          <a:p>
            <a:r>
              <a:rPr lang="en-US" sz="2000" b="1" dirty="0"/>
              <a:t>node is expanded.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8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8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8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8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8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8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8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8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8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8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8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E5A8-25A2-334D-89F2-88047D82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and Space requirement for Breadth First Search with bf = 10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211D1F-A40A-63CC-0BFF-82C505374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4353" y="2607833"/>
            <a:ext cx="6884894" cy="2861534"/>
          </a:xfrm>
        </p:spPr>
      </p:pic>
    </p:spTree>
    <p:extLst>
      <p:ext uri="{BB962C8B-B14F-4D97-AF65-F5344CB8AC3E}">
        <p14:creationId xmlns:p14="http://schemas.microsoft.com/office/powerpoint/2010/main" val="19256120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C26CA-927A-829D-4226-D137E284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Uniform Cost Search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7DA6F5-0722-AB51-A264-65971E42F7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999" y="1471127"/>
            <a:ext cx="8483999" cy="4320073"/>
          </a:xfrm>
        </p:spPr>
      </p:pic>
    </p:spTree>
    <p:extLst>
      <p:ext uri="{BB962C8B-B14F-4D97-AF65-F5344CB8AC3E}">
        <p14:creationId xmlns:p14="http://schemas.microsoft.com/office/powerpoint/2010/main" val="186670581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52BD-6DDC-EE7E-9D0C-95F01A30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Uniform Cost Search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5B1022-7F9B-897D-A0ED-A7719407B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981200"/>
            <a:ext cx="76962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31454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7EA4-D31C-0B91-B714-843F4521B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Uniform cost search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B0DA38-4F7C-A7CF-75DF-DBB1F063F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981200"/>
            <a:ext cx="5943600" cy="3448050"/>
          </a:xfrm>
        </p:spPr>
      </p:pic>
    </p:spTree>
    <p:extLst>
      <p:ext uri="{BB962C8B-B14F-4D97-AF65-F5344CB8AC3E}">
        <p14:creationId xmlns:p14="http://schemas.microsoft.com/office/powerpoint/2010/main" val="327626079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276A2-50C3-5B22-4E33-8AAE9646F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Uniform cost search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799124-B83D-9341-5BA6-1D9796296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5550" y="2133600"/>
            <a:ext cx="4762500" cy="3810000"/>
          </a:xfrm>
        </p:spPr>
      </p:pic>
    </p:spTree>
    <p:extLst>
      <p:ext uri="{BB962C8B-B14F-4D97-AF65-F5344CB8AC3E}">
        <p14:creationId xmlns:p14="http://schemas.microsoft.com/office/powerpoint/2010/main" val="369427528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338263" y="-228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Uniform-cost search</a:t>
            </a:r>
          </a:p>
        </p:txBody>
      </p:sp>
      <p:sp>
        <p:nvSpPr>
          <p:cNvPr id="128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9916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b="1" dirty="0">
                <a:cs typeface="+mn-cs"/>
              </a:rPr>
              <a:t>Expand </a:t>
            </a:r>
            <a:r>
              <a:rPr lang="en-US" sz="2400" b="1" dirty="0">
                <a:solidFill>
                  <a:srgbClr val="FF0000"/>
                </a:solidFill>
                <a:cs typeface="+mn-cs"/>
              </a:rPr>
              <a:t>least-cost</a:t>
            </a:r>
            <a:r>
              <a:rPr lang="en-US" sz="2400" b="1" dirty="0">
                <a:cs typeface="+mn-cs"/>
              </a:rPr>
              <a:t> (of path to) unexpanded node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b="1" dirty="0">
                <a:cs typeface="+mn-cs"/>
              </a:rPr>
              <a:t>       (e.g. useful for finding shortest path on map)</a:t>
            </a:r>
            <a:r>
              <a:rPr lang="en-US" sz="2400" dirty="0">
                <a:cs typeface="+mn-cs"/>
              </a:rPr>
              <a:t>
</a:t>
            </a:r>
            <a:r>
              <a:rPr lang="en-US" sz="2400" b="1" dirty="0">
                <a:solidFill>
                  <a:schemeClr val="accent2"/>
                </a:solidFill>
                <a:cs typeface="+mn-cs"/>
              </a:rPr>
              <a:t>Implementation</a:t>
            </a:r>
            <a:r>
              <a:rPr lang="en-US" sz="2400" b="1" dirty="0">
                <a:cs typeface="+mn-cs"/>
              </a:rPr>
              <a:t>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b="1" i="1" dirty="0"/>
              <a:t>fringe</a:t>
            </a:r>
            <a:r>
              <a:rPr lang="en-US" sz="2400" b="1" dirty="0"/>
              <a:t> = queue </a:t>
            </a:r>
            <a:r>
              <a:rPr lang="en-US" sz="2400" b="1" i="1" dirty="0">
                <a:solidFill>
                  <a:srgbClr val="FF0000"/>
                </a:solidFill>
              </a:rPr>
              <a:t>ordered by path cost</a:t>
            </a:r>
            <a:r>
              <a:rPr lang="en-US" sz="2400" dirty="0"/>
              <a:t>
</a:t>
            </a:r>
            <a:endParaRPr lang="en-US" sz="1800" dirty="0"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u="sng" dirty="0">
                <a:solidFill>
                  <a:srgbClr val="CC0099"/>
                </a:solidFill>
                <a:cs typeface="+mn-cs"/>
              </a:rPr>
              <a:t>Complete?</a:t>
            </a:r>
            <a:r>
              <a:rPr lang="en-US" sz="2800" dirty="0">
                <a:cs typeface="+mn-cs"/>
              </a:rPr>
              <a:t> Yes, if step cost </a:t>
            </a:r>
            <a:r>
              <a:rPr lang="en-US" sz="2800" dirty="0">
                <a:cs typeface="Arial" charset="0"/>
              </a:rPr>
              <a:t>≥ </a:t>
            </a:r>
            <a:r>
              <a:rPr lang="el-GR" sz="2800" dirty="0">
                <a:cs typeface="Arial" charset="0"/>
              </a:rPr>
              <a:t>ε</a:t>
            </a:r>
            <a:r>
              <a:rPr lang="en-US" sz="2800" dirty="0">
                <a:cs typeface="Arial" charset="0"/>
              </a:rPr>
              <a:t>  </a:t>
            </a:r>
            <a:r>
              <a:rPr lang="en-US" sz="2400" b="1" dirty="0">
                <a:cs typeface="Arial" charset="0"/>
              </a:rPr>
              <a:t>(&gt;0</a:t>
            </a:r>
            <a:r>
              <a:rPr lang="en-US" sz="2800" b="1" dirty="0">
                <a:cs typeface="Arial" charset="0"/>
              </a:rPr>
              <a:t>)</a:t>
            </a:r>
            <a:r>
              <a:rPr lang="en-US" sz="2400" dirty="0">
                <a:cs typeface="+mn-cs"/>
              </a:rPr>
              <a:t>
</a:t>
            </a:r>
            <a:r>
              <a:rPr lang="en-US" sz="2800" u="sng" dirty="0">
                <a:solidFill>
                  <a:srgbClr val="CC0099"/>
                </a:solidFill>
                <a:cs typeface="+mn-cs"/>
              </a:rPr>
              <a:t>Time?</a:t>
            </a:r>
            <a:r>
              <a:rPr lang="en-US" sz="2800" dirty="0">
                <a:cs typeface="+mn-cs"/>
              </a:rPr>
              <a:t> # of nodes with </a:t>
            </a:r>
            <a:r>
              <a:rPr lang="en-US" sz="2800" i="1" dirty="0">
                <a:cs typeface="+mn-cs"/>
              </a:rPr>
              <a:t>g </a:t>
            </a:r>
            <a:r>
              <a:rPr lang="en-US" sz="2800" dirty="0">
                <a:cs typeface="Arial" charset="0"/>
              </a:rPr>
              <a:t>≤</a:t>
            </a:r>
            <a:r>
              <a:rPr lang="en-US" sz="2800" dirty="0">
                <a:cs typeface="+mn-cs"/>
              </a:rPr>
              <a:t> cost of optimal solution </a:t>
            </a:r>
            <a:r>
              <a:rPr lang="en-US" dirty="0">
                <a:cs typeface="+mn-cs"/>
              </a:rPr>
              <a:t>(C*),</a:t>
            </a:r>
            <a:r>
              <a:rPr lang="en-US" sz="2800" dirty="0">
                <a:cs typeface="+mn-cs"/>
              </a:rPr>
              <a:t> </a:t>
            </a:r>
            <a:r>
              <a:rPr lang="en-US" sz="2800" i="1" dirty="0">
                <a:cs typeface="+mn-cs"/>
              </a:rPr>
              <a:t>O(b</a:t>
            </a:r>
            <a:r>
              <a:rPr lang="en-US" sz="2800" i="1" baseline="30000" dirty="0">
                <a:cs typeface="+mn-cs"/>
              </a:rPr>
              <a:t>(1+</a:t>
            </a:r>
            <a:r>
              <a:rPr lang="en-US" sz="2800" i="1" baseline="30000" dirty="0">
                <a:cs typeface="+mn-cs"/>
                <a:sym typeface="Symbol" charset="0"/>
              </a:rPr>
              <a:t></a:t>
            </a:r>
            <a:r>
              <a:rPr lang="en-US" sz="2800" i="1" baseline="30000" dirty="0">
                <a:cs typeface="+mn-cs"/>
              </a:rPr>
              <a:t>C*/ </a:t>
            </a:r>
            <a:r>
              <a:rPr lang="el-GR" sz="2800" i="1" baseline="30000" dirty="0">
                <a:cs typeface="Arial" charset="0"/>
              </a:rPr>
              <a:t>ε</a:t>
            </a:r>
            <a:r>
              <a:rPr lang="el-GR" sz="2800" i="1" baseline="30000" dirty="0">
                <a:cs typeface="Arial" charset="0"/>
                <a:sym typeface="Symbol" charset="0"/>
              </a:rPr>
              <a:t></a:t>
            </a:r>
            <a:r>
              <a:rPr lang="en-US" sz="2800" i="1" dirty="0">
                <a:cs typeface="+mn-cs"/>
              </a:rPr>
              <a:t>)</a:t>
            </a:r>
            <a:r>
              <a:rPr lang="en-US" sz="2800" dirty="0">
                <a:cs typeface="+mn-cs"/>
              </a:rPr>
              <a:t>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u="sng" dirty="0">
                <a:solidFill>
                  <a:srgbClr val="CC0099"/>
                </a:solidFill>
                <a:cs typeface="+mn-cs"/>
              </a:rPr>
              <a:t>Space?</a:t>
            </a:r>
            <a:r>
              <a:rPr lang="en-US" sz="2800" dirty="0">
                <a:cs typeface="+mn-cs"/>
              </a:rPr>
              <a:t> # of nodes with </a:t>
            </a:r>
            <a:r>
              <a:rPr lang="en-US" sz="2800" i="1" dirty="0">
                <a:cs typeface="+mn-cs"/>
              </a:rPr>
              <a:t>g</a:t>
            </a:r>
            <a:r>
              <a:rPr lang="en-US" sz="2800" dirty="0">
                <a:cs typeface="+mn-cs"/>
              </a:rPr>
              <a:t> </a:t>
            </a:r>
            <a:r>
              <a:rPr lang="en-US" sz="2800" dirty="0">
                <a:cs typeface="Arial" charset="0"/>
              </a:rPr>
              <a:t>≤ </a:t>
            </a:r>
            <a:r>
              <a:rPr lang="en-US" sz="2800" dirty="0">
                <a:cs typeface="+mn-cs"/>
              </a:rPr>
              <a:t>cost of optimal solution,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i="1" dirty="0">
                <a:cs typeface="+mn-cs"/>
              </a:rPr>
              <a:t>      O(b</a:t>
            </a:r>
            <a:r>
              <a:rPr lang="en-US" sz="2800" i="1" baseline="30000" dirty="0">
                <a:cs typeface="+mn-cs"/>
              </a:rPr>
              <a:t>(1+</a:t>
            </a:r>
            <a:r>
              <a:rPr lang="en-US" sz="2800" i="1" baseline="30000" dirty="0">
                <a:cs typeface="+mn-cs"/>
                <a:sym typeface="Symbol" charset="0"/>
              </a:rPr>
              <a:t></a:t>
            </a:r>
            <a:r>
              <a:rPr lang="en-US" sz="2800" i="1" baseline="30000" dirty="0">
                <a:cs typeface="+mn-cs"/>
              </a:rPr>
              <a:t>C*/ </a:t>
            </a:r>
            <a:r>
              <a:rPr lang="el-GR" sz="2800" i="1" baseline="30000" dirty="0">
                <a:cs typeface="Arial" charset="0"/>
              </a:rPr>
              <a:t>ε</a:t>
            </a:r>
            <a:r>
              <a:rPr lang="el-GR" sz="2800" i="1" baseline="30000" dirty="0">
                <a:cs typeface="Arial" charset="0"/>
                <a:sym typeface="Symbol" charset="0"/>
              </a:rPr>
              <a:t></a:t>
            </a:r>
            <a:r>
              <a:rPr lang="en-US" sz="2800" i="1" dirty="0">
                <a:cs typeface="+mn-cs"/>
              </a:rPr>
              <a:t>)</a:t>
            </a:r>
            <a:r>
              <a:rPr lang="en-US" sz="2800" dirty="0">
                <a:cs typeface="+mn-cs"/>
              </a:rPr>
              <a:t> </a:t>
            </a:r>
            <a:endParaRPr lang="en-US" sz="2400" dirty="0"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u="sng" dirty="0">
                <a:solidFill>
                  <a:srgbClr val="CC0099"/>
                </a:solidFill>
                <a:cs typeface="+mn-cs"/>
              </a:rPr>
              <a:t>Optimal?</a:t>
            </a:r>
            <a:r>
              <a:rPr lang="en-US" sz="2800" dirty="0">
                <a:cs typeface="+mn-cs"/>
              </a:rPr>
              <a:t> Yes – nodes expanded in increasing order of </a:t>
            </a:r>
            <a:r>
              <a:rPr lang="en-US" sz="2800" i="1" dirty="0">
                <a:cs typeface="+mn-cs"/>
              </a:rPr>
              <a:t>g(n)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i="1" dirty="0">
                <a:cs typeface="+mn-cs"/>
              </a:rPr>
              <a:t>Note: Some subtleties (e.g. checking for goal state).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i="1" dirty="0">
                <a:cs typeface="+mn-cs"/>
              </a:rPr>
              <a:t>          See p 84 R&amp;N. Also, next slide. </a:t>
            </a:r>
            <a:r>
              <a:rPr lang="en-US" sz="2400" dirty="0">
                <a:cs typeface="+mn-cs"/>
              </a:rPr>
              <a:t>
</a:t>
            </a:r>
          </a:p>
        </p:txBody>
      </p:sp>
      <p:sp>
        <p:nvSpPr>
          <p:cNvPr id="1283077" name="Text Box 5"/>
          <p:cNvSpPr txBox="1">
            <a:spLocks noChangeArrowheads="1"/>
          </p:cNvSpPr>
          <p:nvPr/>
        </p:nvSpPr>
        <p:spPr bwMode="auto">
          <a:xfrm>
            <a:off x="5400675" y="2590800"/>
            <a:ext cx="37353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g – cost of reaching a node</a:t>
            </a:r>
            <a:endParaRPr lang="en-US" dirty="0">
              <a:solidFill>
                <a:schemeClr val="accent2"/>
              </a:solidFill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8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8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8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8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8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8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8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8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8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307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152400"/>
            <a:ext cx="7772400" cy="1143000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</a:rPr>
              <a:t>Uniform-cost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763000" cy="41910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Two subtleties: (bottom p. 83 </a:t>
            </a:r>
            <a:r>
              <a:rPr lang="en-US" b="1" dirty="0" err="1">
                <a:solidFill>
                  <a:schemeClr val="accent2"/>
                </a:solidFill>
              </a:rPr>
              <a:t>Norvig</a:t>
            </a:r>
            <a:r>
              <a:rPr lang="en-US" b="1" dirty="0">
                <a:solidFill>
                  <a:schemeClr val="accent2"/>
                </a:solidFill>
              </a:rPr>
              <a:t>)</a:t>
            </a:r>
          </a:p>
          <a:p>
            <a:pPr marL="457200" indent="-457200">
              <a:buAutoNum type="arabicParenR"/>
            </a:pPr>
            <a:r>
              <a:rPr lang="en-US" b="1" dirty="0">
                <a:solidFill>
                  <a:schemeClr val="accent2"/>
                </a:solidFill>
              </a:rPr>
              <a:t>Do goal state test, only when a node is selected for expansion.</a:t>
            </a:r>
          </a:p>
          <a:p>
            <a:pPr marL="0" indent="0"/>
            <a:r>
              <a:rPr lang="en-US" b="1" dirty="0">
                <a:solidFill>
                  <a:schemeClr val="accent2"/>
                </a:solidFill>
              </a:rPr>
              <a:t>        (Reason: Bucharest may occur on frontier with a longer than</a:t>
            </a:r>
          </a:p>
          <a:p>
            <a:pPr marL="0" indent="0"/>
            <a:r>
              <a:rPr lang="en-US" b="1" dirty="0">
                <a:solidFill>
                  <a:schemeClr val="accent2"/>
                </a:solidFill>
              </a:rPr>
              <a:t>        optimal path. It won’t be selected for expansion yet. Other nodes</a:t>
            </a:r>
          </a:p>
          <a:p>
            <a:pPr marL="0" indent="0"/>
            <a:r>
              <a:rPr lang="en-US" b="1" dirty="0">
                <a:solidFill>
                  <a:schemeClr val="accent2"/>
                </a:solidFill>
              </a:rPr>
              <a:t>        will be expanded first, leading us to uncover a shorter path to</a:t>
            </a:r>
          </a:p>
          <a:p>
            <a:pPr marL="0" indent="0"/>
            <a:r>
              <a:rPr lang="en-US" b="1" dirty="0">
                <a:solidFill>
                  <a:schemeClr val="accent2"/>
                </a:solidFill>
              </a:rPr>
              <a:t>        Bucharest. See also point 2).</a:t>
            </a:r>
          </a:p>
          <a:p>
            <a:pPr marL="0" indent="0"/>
            <a:endParaRPr lang="en-US" b="1" dirty="0">
              <a:solidFill>
                <a:schemeClr val="accent2"/>
              </a:solidFill>
            </a:endParaRPr>
          </a:p>
          <a:p>
            <a:pPr marL="0" indent="0"/>
            <a:r>
              <a:rPr lang="en-US" b="1" dirty="0">
                <a:solidFill>
                  <a:schemeClr val="accent2"/>
                </a:solidFill>
              </a:rPr>
              <a:t>2) Graph-search alg. says “don’t add child node to frontier if already on</a:t>
            </a:r>
          </a:p>
          <a:p>
            <a:pPr marL="0" indent="0"/>
            <a:r>
              <a:rPr lang="en-US" b="1" dirty="0">
                <a:solidFill>
                  <a:schemeClr val="accent2"/>
                </a:solidFill>
              </a:rPr>
              <a:t>     explored list </a:t>
            </a:r>
            <a:r>
              <a:rPr lang="en-US" b="1" dirty="0">
                <a:solidFill>
                  <a:srgbClr val="FF0000"/>
                </a:solidFill>
              </a:rPr>
              <a:t>or already on frontier</a:t>
            </a:r>
            <a:r>
              <a:rPr lang="en-US" b="1" dirty="0">
                <a:solidFill>
                  <a:schemeClr val="accent2"/>
                </a:solidFill>
              </a:rPr>
              <a:t>.” BUT, child may give a shorter path</a:t>
            </a:r>
          </a:p>
          <a:p>
            <a:pPr marL="0" indent="0"/>
            <a:r>
              <a:rPr lang="en-US" b="1" dirty="0">
                <a:solidFill>
                  <a:schemeClr val="accent2"/>
                </a:solidFill>
              </a:rPr>
              <a:t>     to a state already on frontier. Then, we need to modify the existing</a:t>
            </a:r>
          </a:p>
          <a:p>
            <a:pPr marL="0" indent="0"/>
            <a:r>
              <a:rPr lang="en-US" b="1" dirty="0">
                <a:solidFill>
                  <a:schemeClr val="accent2"/>
                </a:solidFill>
              </a:rPr>
              <a:t>     node on frontier with the shorter path. See fig. 3.14 (else-if part).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727663-F5AD-14C5-1763-C7EE98587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8" y="5223880"/>
            <a:ext cx="2009192" cy="12840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B2B6D0-F191-B38B-4ECF-13149A825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5194333"/>
            <a:ext cx="1681748" cy="1151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07A50A-0A00-76C3-A083-343D52A90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4932784"/>
            <a:ext cx="2415169" cy="166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0081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1" name="Picture 2" descr="dfs-progress0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5181600" cy="301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4099" name="Rectangle 3"/>
          <p:cNvSpPr>
            <a:spLocks noGrp="1" noChangeArrowheads="1"/>
          </p:cNvSpPr>
          <p:nvPr>
            <p:ph type="title"/>
          </p:nvPr>
        </p:nvSpPr>
        <p:spPr>
          <a:xfrm>
            <a:off x="1371600" y="76200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Depth-first </a:t>
            </a:r>
            <a:r>
              <a:rPr lang="en-US" dirty="0">
                <a:solidFill>
                  <a:srgbClr val="FF0000"/>
                </a:solidFill>
                <a:cs typeface="+mj-cs"/>
              </a:rPr>
              <a:t>search</a:t>
            </a:r>
          </a:p>
        </p:txBody>
      </p:sp>
      <p:sp>
        <p:nvSpPr>
          <p:cNvPr id="128410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382000" cy="19050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b="1" dirty="0">
                <a:solidFill>
                  <a:srgbClr val="FF0000"/>
                </a:solidFill>
                <a:cs typeface="+mn-cs"/>
              </a:rPr>
              <a:t>“Expand deepest unexpanded node”</a:t>
            </a:r>
            <a:r>
              <a:rPr lang="en-US" sz="1800" dirty="0">
                <a:cs typeface="+mn-cs"/>
              </a:rPr>
              <a:t>
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Implementation</a:t>
            </a:r>
            <a:r>
              <a:rPr lang="en-US" b="1" dirty="0">
                <a:cs typeface="+mn-cs"/>
              </a:rPr>
              <a:t>:</a:t>
            </a:r>
          </a:p>
          <a:p>
            <a:pPr lvl="1" eaLnBrk="1" hangingPunct="1">
              <a:defRPr/>
            </a:pPr>
            <a:r>
              <a:rPr lang="en-US" b="1" i="1" dirty="0"/>
              <a:t>fringe </a:t>
            </a:r>
            <a:r>
              <a:rPr lang="en-US" b="1" dirty="0"/>
              <a:t>= LIFO queue, i.e., put successors at front (“push on stack”)</a:t>
            </a:r>
          </a:p>
          <a:p>
            <a:pPr marL="457200" lvl="1" indent="0" eaLnBrk="1" hangingPunct="1">
              <a:buNone/>
              <a:defRPr/>
            </a:pPr>
            <a:r>
              <a:rPr lang="en-US" sz="1800" b="1" dirty="0"/>
              <a:t>    Last In First Out</a:t>
            </a:r>
            <a:r>
              <a:rPr lang="en-US" sz="1800" dirty="0"/>
              <a:t>
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34200" y="2743200"/>
            <a:ext cx="1919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333CC"/>
                </a:solidFill>
              </a:rPr>
              <a:t>Fringe stack:</a:t>
            </a:r>
          </a:p>
          <a:p>
            <a:r>
              <a:rPr lang="en-US" b="1" dirty="0">
                <a:solidFill>
                  <a:srgbClr val="3333CC"/>
                </a:solidFill>
              </a:rPr>
              <a:t>         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800" y="3810000"/>
            <a:ext cx="205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Expanding A, </a:t>
            </a:r>
          </a:p>
          <a:p>
            <a:r>
              <a:rPr lang="en-US" b="1" dirty="0">
                <a:solidFill>
                  <a:schemeClr val="accent2"/>
                </a:solidFill>
              </a:rPr>
              <a:t>gives stack:</a:t>
            </a:r>
          </a:p>
          <a:p>
            <a:r>
              <a:rPr lang="en-US" b="1" dirty="0">
                <a:solidFill>
                  <a:schemeClr val="accent2"/>
                </a:solidFill>
              </a:rPr>
              <a:t>      B</a:t>
            </a:r>
          </a:p>
          <a:p>
            <a:r>
              <a:rPr lang="en-US" b="1" dirty="0">
                <a:solidFill>
                  <a:schemeClr val="accent2"/>
                </a:solidFill>
              </a:rPr>
              <a:t>      C</a:t>
            </a:r>
          </a:p>
          <a:p>
            <a:endParaRPr lang="en-US" dirty="0"/>
          </a:p>
          <a:p>
            <a:r>
              <a:rPr lang="en-US" b="1" dirty="0"/>
              <a:t>So, B next.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4" descr="dfs-progress0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553200" y="838200"/>
            <a:ext cx="2438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Expanding B, gives stack:</a:t>
            </a:r>
          </a:p>
          <a:p>
            <a:r>
              <a:rPr lang="en-US" b="1" dirty="0">
                <a:solidFill>
                  <a:schemeClr val="accent2"/>
                </a:solidFill>
              </a:rPr>
              <a:t>     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      E</a:t>
            </a:r>
          </a:p>
          <a:p>
            <a:r>
              <a:rPr lang="en-US" b="1" dirty="0">
                <a:solidFill>
                  <a:schemeClr val="accent2"/>
                </a:solidFill>
              </a:rPr>
              <a:t>      C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</a:rPr>
              <a:t>So, D next.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2" descr="dfs-progress0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066800"/>
            <a:ext cx="51816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6934200" y="304800"/>
            <a:ext cx="2438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Expanding D, gives stack:</a:t>
            </a:r>
          </a:p>
          <a:p>
            <a:r>
              <a:rPr lang="en-US" b="1" dirty="0">
                <a:solidFill>
                  <a:schemeClr val="accent2"/>
                </a:solidFill>
              </a:rPr>
              <a:t>      H</a:t>
            </a:r>
          </a:p>
          <a:p>
            <a:r>
              <a:rPr lang="en-US" b="1" dirty="0">
                <a:solidFill>
                  <a:schemeClr val="accent2"/>
                </a:solidFill>
              </a:rPr>
              <a:t>       I</a:t>
            </a:r>
          </a:p>
          <a:p>
            <a:r>
              <a:rPr lang="en-US" b="1" dirty="0">
                <a:solidFill>
                  <a:schemeClr val="accent2"/>
                </a:solidFill>
              </a:rPr>
              <a:t>      E</a:t>
            </a:r>
          </a:p>
          <a:p>
            <a:r>
              <a:rPr lang="en-US" b="1" dirty="0">
                <a:solidFill>
                  <a:schemeClr val="accent2"/>
                </a:solidFill>
              </a:rPr>
              <a:t>      C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rgbClr val="000000"/>
                </a:solidFill>
              </a:rPr>
              <a:t>So, H next.</a:t>
            </a:r>
          </a:p>
          <a:p>
            <a:r>
              <a:rPr lang="en-US" b="1" dirty="0">
                <a:solidFill>
                  <a:srgbClr val="000000"/>
                </a:solidFill>
              </a:rPr>
              <a:t>etc.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Picture 2" descr="dfs-progress0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19200"/>
            <a:ext cx="5181600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7" name="Picture 2" descr="dfs-progress05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371600"/>
            <a:ext cx="5181600" cy="301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1800" dirty="0"/>
              <a:t>
</a:t>
            </a:r>
          </a:p>
        </p:txBody>
      </p:sp>
      <p:pic>
        <p:nvPicPr>
          <p:cNvPr id="56323" name="Picture 4" descr="dfs-progress06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0200"/>
            <a:ext cx="5181600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1800" dirty="0"/>
              <a:t>
</a:t>
            </a:r>
          </a:p>
        </p:txBody>
      </p:sp>
      <p:pic>
        <p:nvPicPr>
          <p:cNvPr id="57348" name="Picture 5" descr="dfs-progress07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525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2" name="Picture 5" descr="dfs-progress08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4478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5" name="Picture 5" descr="dfs-progress09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5181600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20" name="Picture 5" descr="dfs-progress10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3716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4" name="Picture 5" descr="dfs-progress1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95400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1800" dirty="0"/>
              <a:t>
</a:t>
            </a:r>
          </a:p>
        </p:txBody>
      </p:sp>
      <p:pic>
        <p:nvPicPr>
          <p:cNvPr id="62468" name="Picture 5" descr="dfs-progress1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853" y="284163"/>
            <a:ext cx="5181600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FC4F7F-947A-FED0-232B-5790904FC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3958114"/>
            <a:ext cx="3628053" cy="251019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-3048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Properties of depth-first search</a:t>
            </a:r>
          </a:p>
        </p:txBody>
      </p:sp>
      <p:sp>
        <p:nvSpPr>
          <p:cNvPr id="129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533400"/>
            <a:ext cx="8839200" cy="41910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b="1" u="sng" dirty="0">
                <a:solidFill>
                  <a:srgbClr val="FF0000"/>
                </a:solidFill>
                <a:cs typeface="+mn-cs"/>
              </a:rPr>
              <a:t>Complete?</a:t>
            </a:r>
            <a:r>
              <a:rPr lang="en-US" sz="2400" b="1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sz="1600" dirty="0"/>
              <a:t>
</a:t>
            </a:r>
          </a:p>
          <a:p>
            <a:pPr eaLnBrk="1" hangingPunct="1">
              <a:defRPr/>
            </a:pPr>
            <a:endParaRPr lang="en-US" sz="1600" dirty="0"/>
          </a:p>
          <a:p>
            <a:pPr eaLnBrk="1" hangingPunct="1">
              <a:defRPr/>
            </a:pPr>
            <a:endParaRPr lang="en-US" sz="160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sz="2400" b="1" u="sng" dirty="0">
                <a:solidFill>
                  <a:srgbClr val="FF0000"/>
                </a:solidFill>
                <a:cs typeface="+mn-cs"/>
              </a:rPr>
              <a:t>Time?</a:t>
            </a:r>
            <a:r>
              <a:rPr lang="en-US" sz="2400" b="1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cs typeface="+mn-cs"/>
              </a:rPr>
              <a:t>O(</a:t>
            </a:r>
            <a:r>
              <a:rPr lang="en-US" sz="2400" b="1" i="1" dirty="0" err="1">
                <a:solidFill>
                  <a:srgbClr val="FF0000"/>
                </a:solidFill>
                <a:cs typeface="+mn-cs"/>
              </a:rPr>
              <a:t>b</a:t>
            </a:r>
            <a:r>
              <a:rPr lang="en-US" sz="2400" b="1" i="1" baseline="30000" dirty="0" err="1">
                <a:solidFill>
                  <a:srgbClr val="FF0000"/>
                </a:solidFill>
                <a:cs typeface="+mn-cs"/>
              </a:rPr>
              <a:t>m</a:t>
            </a:r>
            <a:r>
              <a:rPr lang="en-US" sz="2400" b="1" i="1" dirty="0">
                <a:solidFill>
                  <a:srgbClr val="FF0000"/>
                </a:solidFill>
                <a:cs typeface="+mn-cs"/>
              </a:rPr>
              <a:t>)</a:t>
            </a:r>
            <a:r>
              <a:rPr lang="en-US" sz="2400" b="1" dirty="0">
                <a:solidFill>
                  <a:srgbClr val="FF0000"/>
                </a:solidFill>
                <a:cs typeface="+mn-cs"/>
              </a:rPr>
              <a:t>: bad if </a:t>
            </a:r>
            <a:r>
              <a:rPr lang="en-US" sz="2400" b="1" i="1" dirty="0">
                <a:solidFill>
                  <a:srgbClr val="FF0000"/>
                </a:solidFill>
                <a:cs typeface="+mn-cs"/>
              </a:rPr>
              <a:t>m</a:t>
            </a:r>
            <a:r>
              <a:rPr lang="en-US" sz="2400" b="1" dirty="0">
                <a:solidFill>
                  <a:srgbClr val="FF0000"/>
                </a:solidFill>
                <a:cs typeface="+mn-cs"/>
              </a:rPr>
              <a:t> is much larger than </a:t>
            </a:r>
            <a:r>
              <a:rPr lang="en-US" sz="2400" b="1" i="1" dirty="0">
                <a:solidFill>
                  <a:srgbClr val="FF0000"/>
                </a:solidFill>
                <a:cs typeface="+mn-cs"/>
              </a:rPr>
              <a:t>d</a:t>
            </a:r>
          </a:p>
          <a:p>
            <a:pPr lvl="1" eaLnBrk="1" hangingPunct="1">
              <a:defRPr/>
            </a:pPr>
            <a:r>
              <a:rPr lang="en-US" sz="2400" dirty="0">
                <a:solidFill>
                  <a:srgbClr val="FF0000"/>
                </a:solidFill>
              </a:rPr>
              <a:t> but if solutions are dense, may be much faster than breadth-first</a:t>
            </a:r>
          </a:p>
          <a:p>
            <a:pPr eaLnBrk="1" hangingPunct="1">
              <a:defRPr/>
            </a:pPr>
            <a:endParaRPr lang="en-US" sz="2400" u="sng" dirty="0">
              <a:solidFill>
                <a:srgbClr val="FF0000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sz="2400" b="1" u="sng" dirty="0">
                <a:solidFill>
                  <a:srgbClr val="FF0000"/>
                </a:solidFill>
                <a:cs typeface="+mn-cs"/>
              </a:rPr>
              <a:t>Space?</a:t>
            </a:r>
            <a:r>
              <a:rPr lang="en-US" sz="2400" b="1" dirty="0">
                <a:solidFill>
                  <a:srgbClr val="FF0000"/>
                </a:solidFill>
                <a:cs typeface="+mn-cs"/>
              </a:rPr>
              <a:t> </a:t>
            </a:r>
          </a:p>
          <a:p>
            <a:pPr eaLnBrk="1" hangingPunct="1">
              <a:defRPr/>
            </a:pPr>
            <a:endParaRPr lang="en-US" sz="2400" u="sng" dirty="0">
              <a:solidFill>
                <a:srgbClr val="CC0099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sz="2400" b="1" u="sng" dirty="0">
                <a:solidFill>
                  <a:srgbClr val="FF0000"/>
                </a:solidFill>
                <a:cs typeface="+mn-cs"/>
              </a:rPr>
              <a:t>Guarantee that</a:t>
            </a:r>
          </a:p>
          <a:p>
            <a:pPr eaLnBrk="1" hangingPunct="1">
              <a:defRPr/>
            </a:pPr>
            <a:r>
              <a:rPr lang="en-US" sz="2400" b="1" u="sng" dirty="0">
                <a:solidFill>
                  <a:srgbClr val="FF0000"/>
                </a:solidFill>
                <a:cs typeface="+mn-cs"/>
              </a:rPr>
              <a:t>opt. soln. is found? </a:t>
            </a:r>
            <a:r>
              <a:rPr lang="en-US" sz="1800" dirty="0">
                <a:cs typeface="+mn-cs"/>
              </a:rPr>
              <a:t>
</a:t>
            </a:r>
          </a:p>
        </p:txBody>
      </p:sp>
      <p:sp>
        <p:nvSpPr>
          <p:cNvPr id="1296389" name="Text Box 5"/>
          <p:cNvSpPr txBox="1">
            <a:spLocks noChangeArrowheads="1"/>
          </p:cNvSpPr>
          <p:nvPr/>
        </p:nvSpPr>
        <p:spPr bwMode="auto">
          <a:xfrm>
            <a:off x="304800" y="5105400"/>
            <a:ext cx="8453438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cs typeface="+mn-cs"/>
              </a:rPr>
              <a:t>Note: In </a:t>
            </a:r>
            <a:r>
              <a:rPr lang="en-US" dirty="0">
                <a:solidFill>
                  <a:srgbClr val="3333CC"/>
                </a:solidFill>
                <a:cs typeface="+mn-cs"/>
              </a:rPr>
              <a:t>“</a:t>
            </a:r>
            <a:r>
              <a:rPr lang="en-US" dirty="0">
                <a:solidFill>
                  <a:schemeClr val="accent2"/>
                </a:solidFill>
                <a:cs typeface="+mn-cs"/>
              </a:rPr>
              <a:t>backtrack search”</a:t>
            </a:r>
            <a:r>
              <a:rPr lang="en-US" dirty="0">
                <a:cs typeface="+mn-cs"/>
              </a:rPr>
              <a:t> only one successor is generated </a:t>
            </a:r>
          </a:p>
          <a:p>
            <a:pPr>
              <a:defRPr/>
            </a:pPr>
            <a:r>
              <a:rPr lang="en-US" dirty="0">
                <a:cs typeface="+mn-cs"/>
                <a:sym typeface="Wingdings" charset="0"/>
              </a:rPr>
              <a:t> only O(m) memory is needed; also successor is modification of</a:t>
            </a:r>
          </a:p>
          <a:p>
            <a:pPr>
              <a:defRPr/>
            </a:pPr>
            <a:r>
              <a:rPr lang="en-US" dirty="0">
                <a:cs typeface="+mn-cs"/>
                <a:sym typeface="Wingdings" charset="0"/>
              </a:rPr>
              <a:t>the current state, but we have to be able to undo each modification.</a:t>
            </a:r>
          </a:p>
          <a:p>
            <a:pPr>
              <a:defRPr/>
            </a:pPr>
            <a:r>
              <a:rPr lang="en-US" dirty="0">
                <a:cs typeface="+mn-cs"/>
                <a:sym typeface="Wingdings" charset="0"/>
              </a:rPr>
              <a:t>More when we talk about Constraint Satisfaction Problems (</a:t>
            </a:r>
            <a:r>
              <a:rPr lang="en-US" dirty="0">
                <a:solidFill>
                  <a:schemeClr val="accent2"/>
                </a:solidFill>
                <a:cs typeface="+mn-cs"/>
                <a:sym typeface="Wingdings" charset="0"/>
              </a:rPr>
              <a:t>CSP)</a:t>
            </a:r>
            <a:r>
              <a:rPr lang="en-US" dirty="0">
                <a:cs typeface="+mn-cs"/>
                <a:sym typeface="Wingdings" charset="0"/>
              </a:rPr>
              <a:t>. </a:t>
            </a:r>
            <a:endParaRPr lang="en-US" dirty="0">
              <a:cs typeface="+mn-cs"/>
            </a:endParaRPr>
          </a:p>
        </p:txBody>
      </p:sp>
      <p:sp>
        <p:nvSpPr>
          <p:cNvPr id="1296390" name="Oval 6"/>
          <p:cNvSpPr>
            <a:spLocks noChangeArrowheads="1"/>
          </p:cNvSpPr>
          <p:nvPr/>
        </p:nvSpPr>
        <p:spPr bwMode="auto">
          <a:xfrm>
            <a:off x="1676400" y="3048000"/>
            <a:ext cx="4114800" cy="685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971800" y="3810000"/>
            <a:ext cx="67056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defRPr/>
            </a:pP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b: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 max. branching factor of the search tree</a:t>
            </a:r>
          </a:p>
          <a:p>
            <a:pPr lvl="1">
              <a:defRPr/>
            </a:pP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d: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depth of the shallowest (least-cost) soln.</a:t>
            </a:r>
          </a:p>
          <a:p>
            <a:pPr lvl="1"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m: maximum depth of state space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828800" y="533400"/>
            <a:ext cx="68310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solidFill>
                  <a:schemeClr val="accent2"/>
                </a:solidFill>
              </a:rPr>
              <a:t>No: fails in infinite-depth spaces, spaces with loops</a:t>
            </a:r>
          </a:p>
          <a:p>
            <a:pPr lvl="1" eaLnBrk="1" hangingPunct="1"/>
            <a:r>
              <a:rPr lang="en-US">
                <a:solidFill>
                  <a:schemeClr val="accent2"/>
                </a:solidFill>
              </a:rPr>
              <a:t>            Modify to avoid repeated states along path</a:t>
            </a:r>
          </a:p>
          <a:p>
            <a:pPr lvl="2" eaLnBrk="1" hangingPunct="1"/>
            <a:r>
              <a:rPr lang="en-US">
                <a:solidFill>
                  <a:schemeClr val="accent2"/>
                </a:solidFill>
                <a:sym typeface="Wingdings" charset="0"/>
              </a:rPr>
              <a:t>      </a:t>
            </a:r>
            <a:r>
              <a:rPr lang="en-US">
                <a:solidFill>
                  <a:schemeClr val="accent2"/>
                </a:solidFill>
              </a:rPr>
              <a:t> complete in finite spaces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905000" y="3124200"/>
            <a:ext cx="3371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i="1" dirty="0">
                <a:solidFill>
                  <a:srgbClr val="FF0000"/>
                </a:solidFill>
              </a:rPr>
              <a:t>O(</a:t>
            </a:r>
            <a:r>
              <a:rPr lang="en-US" b="1" i="1" dirty="0" err="1">
                <a:solidFill>
                  <a:srgbClr val="FF0000"/>
                </a:solidFill>
              </a:rPr>
              <a:t>bm</a:t>
            </a:r>
            <a:r>
              <a:rPr lang="en-US" b="1" i="1" dirty="0">
                <a:solidFill>
                  <a:srgbClr val="FF0000"/>
                </a:solidFill>
              </a:rPr>
              <a:t>), </a:t>
            </a:r>
            <a:r>
              <a:rPr lang="en-US" b="1" dirty="0">
                <a:solidFill>
                  <a:srgbClr val="FF0000"/>
                </a:solidFill>
              </a:rPr>
              <a:t>i.e., linear space!</a:t>
            </a:r>
          </a:p>
        </p:txBody>
      </p:sp>
      <p:sp>
        <p:nvSpPr>
          <p:cNvPr id="63496" name="TextBox 4"/>
          <p:cNvSpPr txBox="1">
            <a:spLocks noChangeArrowheads="1"/>
          </p:cNvSpPr>
          <p:nvPr/>
        </p:nvSpPr>
        <p:spPr bwMode="auto">
          <a:xfrm>
            <a:off x="152400" y="350520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19400" y="4038600"/>
            <a:ext cx="636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19800" y="2638961"/>
            <a:ext cx="2819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3333CC"/>
                </a:solidFill>
              </a:rPr>
              <a:t>Note: Can also reconstruct soln. path from single stored branch.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9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9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9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9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9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9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9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9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9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9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9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9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6389" grpId="0"/>
      <p:bldP spid="1296390" grpId="0" animBg="1"/>
      <p:bldP spid="7" grpId="0"/>
      <p:bldP spid="2" grpId="0"/>
      <p:bldP spid="4" grpId="0"/>
      <p:bldP spid="6" grpId="0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02DD7-FBD8-6277-3909-36548E8C8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784"/>
            <a:ext cx="7772400" cy="1143000"/>
          </a:xfrm>
        </p:spPr>
        <p:txBody>
          <a:bodyPr/>
          <a:lstStyle/>
          <a:p>
            <a:r>
              <a:rPr lang="en-IN" dirty="0"/>
              <a:t>Depth Limited Search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F0656E-4208-FC18-1B81-73AC62B0EE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2196202"/>
            <a:ext cx="7772400" cy="3570514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86BC56-F8AF-F2A7-4B4E-96B9B4D6B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71137"/>
            <a:ext cx="3200400" cy="216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190597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232B9-D8ED-DA5F-AA36-520861F9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Complexity analysis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E131FEA-8715-9F74-24A2-D476684BD5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4223088"/>
              </p:ext>
            </p:extLst>
          </p:nvPr>
        </p:nvGraphicFramePr>
        <p:xfrm>
          <a:off x="2362200" y="2133600"/>
          <a:ext cx="5181600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329986148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716480338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686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b="1" dirty="0"/>
                        <a:t>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If l &lt; d, incomplete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864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Time Complexity</a:t>
                      </a:r>
                    </a:p>
                    <a:p>
                      <a:pPr algn="l"/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O(b</a:t>
                      </a:r>
                      <a:r>
                        <a:rPr lang="en-IN" sz="2000" baseline="30000" dirty="0"/>
                        <a:t>l</a:t>
                      </a:r>
                      <a:r>
                        <a:rPr lang="en-IN" sz="2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25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b="1" dirty="0"/>
                        <a:t>Space Complexity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O(bl)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543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b="1" dirty="0"/>
                        <a:t>Optimality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If l &gt; d, non optimal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6487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F99D1A8-F6F4-1B2D-8E49-29F73E14A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35" y="304800"/>
            <a:ext cx="2953311" cy="1406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51F3C-D1D6-7153-8F0A-77B5B483D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66" y="4750288"/>
            <a:ext cx="3200173" cy="86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36455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Iterative deepening search</a:t>
            </a:r>
          </a:p>
        </p:txBody>
      </p:sp>
      <p:pic>
        <p:nvPicPr>
          <p:cNvPr id="129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4" t="18750" r="3125" b="51042"/>
          <a:stretch>
            <a:fillRect/>
          </a:stretch>
        </p:blipFill>
        <p:spPr bwMode="auto">
          <a:xfrm>
            <a:off x="762000" y="2057400"/>
            <a:ext cx="80010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3400" y="304800"/>
            <a:ext cx="919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[here]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>
                <a:cs typeface="+mj-cs"/>
              </a:rPr>
              <a:t>Iterative deepening search </a:t>
            </a:r>
            <a:r>
              <a:rPr lang="en-US" sz="2800" i="1">
                <a:cs typeface="+mj-cs"/>
              </a:rPr>
              <a:t>l </a:t>
            </a:r>
            <a:r>
              <a:rPr lang="en-US" sz="2800">
                <a:cs typeface="+mj-cs"/>
              </a:rPr>
              <a:t>=0</a:t>
            </a:r>
          </a:p>
        </p:txBody>
      </p:sp>
      <p:pic>
        <p:nvPicPr>
          <p:cNvPr id="65538" name="Picture 3" descr="ids-progress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19300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>
                <a:cs typeface="+mj-cs"/>
              </a:rPr>
              <a:t>Iterative deepening search </a:t>
            </a:r>
            <a:r>
              <a:rPr lang="en-US" sz="2800" i="1">
                <a:cs typeface="+mj-cs"/>
              </a:rPr>
              <a:t>l </a:t>
            </a:r>
            <a:r>
              <a:rPr lang="en-US" sz="2800">
                <a:cs typeface="+mj-cs"/>
              </a:rPr>
              <a:t>=1</a:t>
            </a:r>
          </a:p>
        </p:txBody>
      </p:sp>
      <p:pic>
        <p:nvPicPr>
          <p:cNvPr id="66562" name="Picture 3" descr="ids-progress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09800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>
                <a:cs typeface="+mj-cs"/>
              </a:rPr>
              <a:t>Iterative deepening search </a:t>
            </a:r>
            <a:r>
              <a:rPr lang="en-US" sz="2800" i="1">
                <a:cs typeface="+mj-cs"/>
              </a:rPr>
              <a:t>l </a:t>
            </a:r>
            <a:r>
              <a:rPr lang="en-US" sz="2800">
                <a:cs typeface="+mj-cs"/>
              </a:rPr>
              <a:t>=2</a:t>
            </a:r>
          </a:p>
        </p:txBody>
      </p:sp>
      <p:pic>
        <p:nvPicPr>
          <p:cNvPr id="67586" name="Picture 3" descr="ids-progress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57400"/>
            <a:ext cx="762000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>
                <a:cs typeface="+mj-cs"/>
              </a:rPr>
              <a:t>Iterative deepening search </a:t>
            </a:r>
            <a:r>
              <a:rPr lang="en-US" sz="2800" i="1">
                <a:cs typeface="+mj-cs"/>
              </a:rPr>
              <a:t>l </a:t>
            </a:r>
            <a:r>
              <a:rPr lang="en-US" sz="2800">
                <a:cs typeface="+mj-cs"/>
              </a:rPr>
              <a:t>=3</a:t>
            </a:r>
          </a:p>
        </p:txBody>
      </p:sp>
      <p:pic>
        <p:nvPicPr>
          <p:cNvPr id="68610" name="Picture 3" descr="ids-progress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71700"/>
            <a:ext cx="76200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036" name="Text Box 4"/>
          <p:cNvSpPr txBox="1">
            <a:spLocks noChangeArrowheads="1"/>
          </p:cNvSpPr>
          <p:nvPr/>
        </p:nvSpPr>
        <p:spPr bwMode="auto">
          <a:xfrm>
            <a:off x="556418" y="2077616"/>
            <a:ext cx="8010525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b="1" dirty="0">
                <a:cs typeface="+mn-cs"/>
              </a:rPr>
              <a:t>Combine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good memory requirements</a:t>
            </a:r>
            <a:r>
              <a:rPr lang="en-US" b="1" dirty="0">
                <a:cs typeface="+mn-cs"/>
              </a:rPr>
              <a:t> of depth-first with</a:t>
            </a:r>
          </a:p>
          <a:p>
            <a:pPr algn="ctr">
              <a:defRPr/>
            </a:pPr>
            <a:r>
              <a:rPr lang="en-US" b="1" dirty="0">
                <a:cs typeface="+mn-cs"/>
              </a:rPr>
              <a:t>the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completeness</a:t>
            </a:r>
            <a:r>
              <a:rPr lang="en-US" b="1" dirty="0">
                <a:cs typeface="+mn-cs"/>
              </a:rPr>
              <a:t> of breadth-first when branching factor is</a:t>
            </a:r>
          </a:p>
          <a:p>
            <a:pPr algn="ctr">
              <a:defRPr/>
            </a:pPr>
            <a:r>
              <a:rPr lang="en-US" b="1" dirty="0">
                <a:cs typeface="+mn-cs"/>
              </a:rPr>
              <a:t>finite and is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optimal</a:t>
            </a:r>
            <a:r>
              <a:rPr lang="en-US" b="1" dirty="0">
                <a:cs typeface="+mn-cs"/>
              </a:rPr>
              <a:t> when the path cost is a non-decreasing</a:t>
            </a:r>
          </a:p>
          <a:p>
            <a:pPr algn="ctr">
              <a:defRPr/>
            </a:pPr>
            <a:r>
              <a:rPr lang="en-US" b="1" dirty="0">
                <a:cs typeface="+mn-cs"/>
              </a:rPr>
              <a:t>function of the depth of the node.</a:t>
            </a:r>
          </a:p>
        </p:txBody>
      </p:sp>
      <p:sp>
        <p:nvSpPr>
          <p:cNvPr id="1324037" name="Text Box 5"/>
          <p:cNvSpPr txBox="1">
            <a:spLocks noChangeArrowheads="1"/>
          </p:cNvSpPr>
          <p:nvPr/>
        </p:nvSpPr>
        <p:spPr bwMode="auto">
          <a:xfrm>
            <a:off x="2438400" y="857250"/>
            <a:ext cx="3935413" cy="523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 dirty="0">
                <a:cs typeface="+mn-cs"/>
              </a:rPr>
              <a:t>Why would one do that?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14398" y="4267200"/>
            <a:ext cx="7294563" cy="1200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Idea was a breakthrough in game playing. All game</a:t>
            </a:r>
          </a:p>
          <a:p>
            <a:pPr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tree search uses iterative deepening nowadays. What’s</a:t>
            </a:r>
          </a:p>
          <a:p>
            <a:pPr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added advantage in games?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181600" y="5769768"/>
            <a:ext cx="2641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chemeClr val="accent2"/>
                </a:solidFill>
              </a:rPr>
              <a:t>“Anytime” nature.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403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-6858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Iterative deepening search</a:t>
            </a:r>
          </a:p>
        </p:txBody>
      </p:sp>
      <p:sp>
        <p:nvSpPr>
          <p:cNvPr id="130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83058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en-US" sz="1600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cs typeface="+mn-cs"/>
              </a:rPr>
              <a:t>Number of nodes generated in an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iterative deepening search</a:t>
            </a:r>
            <a:r>
              <a:rPr lang="en-US" b="1" dirty="0">
                <a:cs typeface="+mn-cs"/>
              </a:rPr>
              <a:t> to depth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b="1" i="1" dirty="0">
                <a:cs typeface="+mn-cs"/>
              </a:rPr>
              <a:t>d</a:t>
            </a:r>
            <a:r>
              <a:rPr lang="en-US" b="1" dirty="0">
                <a:cs typeface="+mn-cs"/>
              </a:rPr>
              <a:t> with branching factor </a:t>
            </a:r>
            <a:r>
              <a:rPr lang="en-US" b="1" i="1" dirty="0">
                <a:cs typeface="+mn-cs"/>
              </a:rPr>
              <a:t>b</a:t>
            </a:r>
            <a:r>
              <a:rPr lang="en-US" b="1" dirty="0">
                <a:cs typeface="+mn-cs"/>
              </a:rPr>
              <a:t>: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b="1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sz="1800" dirty="0">
              <a:cs typeface="+mn-cs"/>
            </a:endParaRPr>
          </a:p>
          <a:p>
            <a:pPr algn="ctr" eaLnBrk="1" hangingPunct="1">
              <a:lnSpc>
                <a:spcPct val="80000"/>
              </a:lnSpc>
              <a:defRPr/>
            </a:pPr>
            <a:r>
              <a:rPr lang="en-US" b="1" dirty="0">
                <a:cs typeface="+mn-cs"/>
              </a:rPr>
              <a:t>N</a:t>
            </a:r>
            <a:r>
              <a:rPr lang="en-US" b="1" baseline="-25000" dirty="0">
                <a:cs typeface="+mn-cs"/>
              </a:rPr>
              <a:t>IDS</a:t>
            </a:r>
            <a:r>
              <a:rPr lang="en-US" b="1" dirty="0">
                <a:cs typeface="+mn-cs"/>
              </a:rPr>
              <a:t> = d b</a:t>
            </a:r>
            <a:r>
              <a:rPr lang="en-US" b="1" baseline="30000" dirty="0">
                <a:cs typeface="+mn-cs"/>
              </a:rPr>
              <a:t>1</a:t>
            </a:r>
            <a:r>
              <a:rPr lang="en-US" b="1" dirty="0">
                <a:cs typeface="+mn-cs"/>
              </a:rPr>
              <a:t> + (d-1)b</a:t>
            </a:r>
            <a:r>
              <a:rPr lang="en-US" b="1" baseline="30000" dirty="0">
                <a:cs typeface="+mn-cs"/>
              </a:rPr>
              <a:t>2</a:t>
            </a:r>
            <a:r>
              <a:rPr lang="en-US" b="1" dirty="0">
                <a:cs typeface="+mn-cs"/>
              </a:rPr>
              <a:t> + … + 3b</a:t>
            </a:r>
            <a:r>
              <a:rPr lang="en-US" b="1" baseline="30000" dirty="0">
                <a:cs typeface="+mn-cs"/>
              </a:rPr>
              <a:t>d-2</a:t>
            </a:r>
            <a:r>
              <a:rPr lang="en-US" b="1" dirty="0">
                <a:cs typeface="+mn-cs"/>
              </a:rPr>
              <a:t> +2b</a:t>
            </a:r>
            <a:r>
              <a:rPr lang="en-US" b="1" baseline="30000" dirty="0">
                <a:cs typeface="+mn-cs"/>
              </a:rPr>
              <a:t>d-1</a:t>
            </a:r>
            <a:r>
              <a:rPr lang="en-US" b="1" dirty="0">
                <a:cs typeface="+mn-cs"/>
              </a:rPr>
              <a:t> + 1b</a:t>
            </a:r>
            <a:r>
              <a:rPr lang="en-US" b="1" baseline="30000" dirty="0">
                <a:cs typeface="+mn-cs"/>
              </a:rPr>
              <a:t>d</a:t>
            </a:r>
            <a:r>
              <a:rPr lang="en-US" b="1" dirty="0">
                <a:cs typeface="+mn-cs"/>
              </a:rPr>
              <a:t> </a:t>
            </a:r>
          </a:p>
          <a:p>
            <a:pPr algn="ctr" eaLnBrk="1" hangingPunct="1">
              <a:lnSpc>
                <a:spcPct val="80000"/>
              </a:lnSpc>
              <a:defRPr/>
            </a:pPr>
            <a:endParaRPr lang="en-US" sz="1800" b="1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cs typeface="+mn-cs"/>
              </a:rPr>
              <a:t>Nodes generated in a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breadth-first search</a:t>
            </a:r>
            <a:r>
              <a:rPr lang="en-US" b="1" dirty="0">
                <a:cs typeface="+mn-cs"/>
              </a:rPr>
              <a:t> with branching factor </a:t>
            </a:r>
            <a:r>
              <a:rPr lang="en-US" b="1" i="1" dirty="0">
                <a:cs typeface="+mn-cs"/>
              </a:rPr>
              <a:t>b</a:t>
            </a:r>
            <a:r>
              <a:rPr lang="en-US" b="1" dirty="0">
                <a:cs typeface="+mn-cs"/>
              </a:rPr>
              <a:t>: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1800" b="1" dirty="0">
              <a:cs typeface="+mn-cs"/>
            </a:endParaRPr>
          </a:p>
          <a:p>
            <a:pPr algn="ctr" eaLnBrk="1" hangingPunct="1">
              <a:lnSpc>
                <a:spcPct val="80000"/>
              </a:lnSpc>
              <a:defRPr/>
            </a:pPr>
            <a:r>
              <a:rPr lang="en-US" sz="1800" b="1" i="1" dirty="0">
                <a:cs typeface="+mn-cs"/>
              </a:rPr>
              <a:t>	</a:t>
            </a:r>
            <a:r>
              <a:rPr lang="en-US" sz="2400" b="1" dirty="0">
                <a:cs typeface="+mn-cs"/>
              </a:rPr>
              <a:t>N</a:t>
            </a:r>
            <a:r>
              <a:rPr lang="en-US" sz="2400" b="1" baseline="-25000" dirty="0">
                <a:cs typeface="+mn-cs"/>
              </a:rPr>
              <a:t>BFS</a:t>
            </a:r>
            <a:r>
              <a:rPr lang="en-US" sz="2400" b="1" i="1" dirty="0">
                <a:cs typeface="+mn-cs"/>
              </a:rPr>
              <a:t> = b</a:t>
            </a:r>
            <a:r>
              <a:rPr lang="en-US" sz="2400" b="1" i="1" baseline="30000" dirty="0">
                <a:latin typeface="r" charset="0"/>
                <a:cs typeface="+mn-cs"/>
              </a:rPr>
              <a:t>1</a:t>
            </a:r>
            <a:r>
              <a:rPr lang="en-US" sz="2400" b="1" i="1" dirty="0">
                <a:cs typeface="+mn-cs"/>
              </a:rPr>
              <a:t> + b</a:t>
            </a:r>
            <a:r>
              <a:rPr lang="en-US" sz="2400" b="1" i="1" baseline="30000" dirty="0">
                <a:latin typeface="r" charset="0"/>
                <a:cs typeface="+mn-cs"/>
              </a:rPr>
              <a:t>2</a:t>
            </a:r>
            <a:r>
              <a:rPr lang="en-US" sz="2400" b="1" i="1" dirty="0">
                <a:cs typeface="+mn-cs"/>
              </a:rPr>
              <a:t> + … + b</a:t>
            </a:r>
            <a:r>
              <a:rPr lang="en-US" sz="2400" b="1" i="1" baseline="30000" dirty="0">
                <a:latin typeface="r" charset="0"/>
                <a:cs typeface="+mn-cs"/>
              </a:rPr>
              <a:t>d-2</a:t>
            </a:r>
            <a:r>
              <a:rPr lang="en-US" sz="2400" b="1" i="1" dirty="0">
                <a:cs typeface="+mn-cs"/>
              </a:rPr>
              <a:t> + b</a:t>
            </a:r>
            <a:r>
              <a:rPr lang="en-US" sz="2400" b="1" i="1" baseline="30000" dirty="0">
                <a:latin typeface="r" charset="0"/>
                <a:cs typeface="+mn-cs"/>
              </a:rPr>
              <a:t>d-1</a:t>
            </a:r>
            <a:r>
              <a:rPr lang="en-US" sz="2400" b="1" i="1" dirty="0">
                <a:cs typeface="+mn-cs"/>
              </a:rPr>
              <a:t> + </a:t>
            </a:r>
            <a:r>
              <a:rPr lang="en-US" sz="2400" b="1" i="1" dirty="0" err="1">
                <a:cs typeface="+mn-cs"/>
              </a:rPr>
              <a:t>b</a:t>
            </a:r>
            <a:r>
              <a:rPr lang="en-US" sz="2400" b="1" i="1" baseline="30000" dirty="0" err="1">
                <a:latin typeface="r" charset="0"/>
                <a:cs typeface="+mn-cs"/>
              </a:rPr>
              <a:t>d</a:t>
            </a:r>
            <a:endParaRPr lang="en-US" sz="2400" b="1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sz="1800" b="1" dirty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cs typeface="+mn-cs"/>
              </a:rPr>
              <a:t>For </a:t>
            </a:r>
            <a:r>
              <a:rPr lang="en-US" b="1" i="1" dirty="0">
                <a:cs typeface="+mn-cs"/>
              </a:rPr>
              <a:t>b = 10</a:t>
            </a:r>
            <a:r>
              <a:rPr lang="en-US" b="1" dirty="0">
                <a:cs typeface="+mn-cs"/>
              </a:rPr>
              <a:t>, </a:t>
            </a:r>
            <a:r>
              <a:rPr lang="en-US" b="1" i="1" dirty="0">
                <a:cs typeface="+mn-cs"/>
              </a:rPr>
              <a:t>d = 5</a:t>
            </a:r>
            <a:r>
              <a:rPr lang="en-US" b="1" dirty="0">
                <a:cs typeface="+mn-cs"/>
              </a:rPr>
              <a:t>,
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b="1" dirty="0"/>
              <a:t>N</a:t>
            </a:r>
            <a:r>
              <a:rPr lang="en-US" b="1" baseline="-25000" dirty="0"/>
              <a:t>BFS</a:t>
            </a:r>
            <a:r>
              <a:rPr lang="en-US" b="1" dirty="0"/>
              <a:t>= 10 + 100 + 1,000 + 10,000 + 100,000 = 111,110</a:t>
            </a:r>
            <a:r>
              <a:rPr lang="en-US" sz="1800" dirty="0"/>
              <a:t>
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b="1" dirty="0"/>
              <a:t>N</a:t>
            </a:r>
            <a:r>
              <a:rPr lang="en-US" b="1" baseline="-25000" dirty="0"/>
              <a:t>IDS</a:t>
            </a:r>
            <a:r>
              <a:rPr lang="en-US" b="1" dirty="0"/>
              <a:t> = 50 + 400 + 3,000 + 20,000 + 100,000 = 123,456</a:t>
            </a:r>
            <a:r>
              <a:rPr lang="en-US" sz="1800" dirty="0"/>
              <a:t>
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1800" dirty="0">
              <a:cs typeface="+mn-cs"/>
            </a:endParaRPr>
          </a:p>
        </p:txBody>
      </p:sp>
      <p:sp>
        <p:nvSpPr>
          <p:cNvPr id="1303556" name="Text Box 4"/>
          <p:cNvSpPr txBox="1">
            <a:spLocks noChangeArrowheads="1"/>
          </p:cNvSpPr>
          <p:nvPr/>
        </p:nvSpPr>
        <p:spPr bwMode="auto">
          <a:xfrm>
            <a:off x="685800" y="1676400"/>
            <a:ext cx="30988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  <a:cs typeface="+mn-cs"/>
              </a:rPr>
              <a:t>Looks quite wasteful, is it?</a:t>
            </a:r>
          </a:p>
        </p:txBody>
      </p:sp>
      <p:sp>
        <p:nvSpPr>
          <p:cNvPr id="1303558" name="Text Box 6"/>
          <p:cNvSpPr txBox="1">
            <a:spLocks noChangeArrowheads="1"/>
          </p:cNvSpPr>
          <p:nvPr/>
        </p:nvSpPr>
        <p:spPr bwMode="auto">
          <a:xfrm>
            <a:off x="512762" y="5638800"/>
            <a:ext cx="7564437" cy="1016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i="1" dirty="0">
                <a:solidFill>
                  <a:srgbClr val="FF0000"/>
                </a:solidFill>
                <a:cs typeface="+mn-cs"/>
              </a:rPr>
              <a:t>Iterative deepening is the preferred uninformed search method</a:t>
            </a:r>
          </a:p>
          <a:p>
            <a:pPr algn="ctr">
              <a:defRPr/>
            </a:pPr>
            <a:r>
              <a:rPr lang="en-US" sz="2000" b="1" i="1" dirty="0">
                <a:solidFill>
                  <a:srgbClr val="FF0000"/>
                </a:solidFill>
                <a:cs typeface="+mn-cs"/>
              </a:rPr>
              <a:t>when there is a large search space and the depth of the solution</a:t>
            </a:r>
          </a:p>
          <a:p>
            <a:pPr algn="ctr">
              <a:defRPr/>
            </a:pPr>
            <a:r>
              <a:rPr lang="en-US" sz="2000" b="1" i="1" dirty="0">
                <a:solidFill>
                  <a:srgbClr val="FF0000"/>
                </a:solidFill>
                <a:cs typeface="+mn-cs"/>
              </a:rPr>
              <a:t>is not known.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7696200" y="5029200"/>
            <a:ext cx="5746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600">
                <a:solidFill>
                  <a:srgbClr val="FF0000"/>
                </a:solidFill>
                <a:sym typeface="Wingdings" charset="0"/>
              </a:rPr>
              <a:t>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0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0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0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0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3558" grpId="0" animBg="1"/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Properties of iterative deepening search</a:t>
            </a:r>
          </a:p>
        </p:txBody>
      </p:sp>
      <p:sp>
        <p:nvSpPr>
          <p:cNvPr id="130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u="sng" dirty="0">
                <a:solidFill>
                  <a:srgbClr val="CC0099"/>
                </a:solidFill>
                <a:cs typeface="+mn-cs"/>
              </a:rPr>
              <a:t>Complete?</a:t>
            </a:r>
            <a:r>
              <a:rPr lang="en-US" b="1" dirty="0">
                <a:cs typeface="+mn-cs"/>
              </a:rPr>
              <a:t> Yes
(</a:t>
            </a:r>
            <a:r>
              <a:rPr lang="en-US" b="1" i="1" dirty="0">
                <a:cs typeface="+mn-cs"/>
              </a:rPr>
              <a:t>b</a:t>
            </a:r>
            <a:r>
              <a:rPr lang="en-US" b="1" dirty="0">
                <a:cs typeface="+mn-cs"/>
              </a:rPr>
              <a:t> finite)</a:t>
            </a:r>
          </a:p>
          <a:p>
            <a:pPr eaLnBrk="1" hangingPunct="1">
              <a:defRPr/>
            </a:pPr>
            <a:endParaRPr lang="en-US" b="1" u="sng" dirty="0">
              <a:solidFill>
                <a:srgbClr val="CC0099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u="sng" dirty="0">
                <a:solidFill>
                  <a:srgbClr val="CC0099"/>
                </a:solidFill>
                <a:cs typeface="+mn-cs"/>
              </a:rPr>
              <a:t>Time?</a:t>
            </a:r>
            <a:r>
              <a:rPr lang="en-US" b="1" dirty="0">
                <a:solidFill>
                  <a:srgbClr val="CC0099"/>
                </a:solidFill>
                <a:cs typeface="+mn-cs"/>
              </a:rPr>
              <a:t>  </a:t>
            </a:r>
            <a:r>
              <a:rPr lang="en-US" b="1" i="1" dirty="0">
                <a:cs typeface="+mn-cs"/>
              </a:rPr>
              <a:t>d b</a:t>
            </a:r>
            <a:r>
              <a:rPr lang="en-US" b="1" i="1" baseline="30000" dirty="0">
                <a:cs typeface="+mn-cs"/>
              </a:rPr>
              <a:t>1</a:t>
            </a:r>
            <a:r>
              <a:rPr lang="en-US" b="1" i="1" dirty="0">
                <a:cs typeface="+mn-cs"/>
              </a:rPr>
              <a:t> + (d-1)b</a:t>
            </a:r>
            <a:r>
              <a:rPr lang="en-US" b="1" i="1" baseline="30000" dirty="0">
                <a:cs typeface="+mn-cs"/>
              </a:rPr>
              <a:t>2</a:t>
            </a:r>
            <a:r>
              <a:rPr lang="en-US" b="1" i="1" dirty="0">
                <a:cs typeface="+mn-cs"/>
              </a:rPr>
              <a:t> + … + </a:t>
            </a:r>
            <a:r>
              <a:rPr lang="en-US" b="1" i="1" dirty="0" err="1">
                <a:cs typeface="+mn-cs"/>
              </a:rPr>
              <a:t>b</a:t>
            </a:r>
            <a:r>
              <a:rPr lang="en-US" b="1" i="1" baseline="30000" dirty="0" err="1">
                <a:cs typeface="+mn-cs"/>
              </a:rPr>
              <a:t>d</a:t>
            </a:r>
            <a:r>
              <a:rPr lang="en-US" b="1" i="1" dirty="0">
                <a:cs typeface="+mn-cs"/>
              </a:rPr>
              <a:t> = O(</a:t>
            </a:r>
            <a:r>
              <a:rPr lang="en-US" b="1" i="1" dirty="0" err="1">
                <a:cs typeface="+mn-cs"/>
              </a:rPr>
              <a:t>b</a:t>
            </a:r>
            <a:r>
              <a:rPr lang="en-US" b="1" i="1" baseline="30000" dirty="0" err="1">
                <a:cs typeface="+mn-cs"/>
              </a:rPr>
              <a:t>d</a:t>
            </a:r>
            <a:r>
              <a:rPr lang="en-US" b="1" i="1" dirty="0">
                <a:cs typeface="+mn-cs"/>
              </a:rPr>
              <a:t>)</a:t>
            </a:r>
            <a:r>
              <a:rPr lang="en-US" b="1" dirty="0">
                <a:cs typeface="+mn-cs"/>
              </a:rPr>
              <a:t>
</a:t>
            </a:r>
          </a:p>
          <a:p>
            <a:pPr eaLnBrk="1" hangingPunct="1">
              <a:defRPr/>
            </a:pPr>
            <a:r>
              <a:rPr lang="en-US" b="1" u="sng" dirty="0">
                <a:solidFill>
                  <a:srgbClr val="CC0099"/>
                </a:solidFill>
                <a:cs typeface="+mn-cs"/>
              </a:rPr>
              <a:t>Space?</a:t>
            </a:r>
            <a:r>
              <a:rPr lang="en-US" b="1" dirty="0">
                <a:cs typeface="+mn-cs"/>
              </a:rPr>
              <a:t> </a:t>
            </a:r>
            <a:r>
              <a:rPr lang="en-US" b="1" i="1" dirty="0">
                <a:cs typeface="+mn-cs"/>
              </a:rPr>
              <a:t>O(</a:t>
            </a:r>
            <a:r>
              <a:rPr lang="en-US" b="1" i="1" dirty="0" err="1">
                <a:cs typeface="+mn-cs"/>
              </a:rPr>
              <a:t>bd</a:t>
            </a:r>
            <a:r>
              <a:rPr lang="en-US" b="1" i="1" dirty="0">
                <a:cs typeface="+mn-cs"/>
              </a:rPr>
              <a:t>)</a:t>
            </a:r>
            <a:r>
              <a:rPr lang="en-US" b="1" dirty="0">
                <a:cs typeface="+mn-cs"/>
              </a:rPr>
              <a:t>
</a:t>
            </a:r>
          </a:p>
          <a:p>
            <a:pPr eaLnBrk="1" hangingPunct="1">
              <a:defRPr/>
            </a:pPr>
            <a:r>
              <a:rPr lang="en-US" b="1" u="sng" dirty="0">
                <a:solidFill>
                  <a:srgbClr val="CC0099"/>
                </a:solidFill>
                <a:cs typeface="+mn-cs"/>
              </a:rPr>
              <a:t>Optimal?</a:t>
            </a:r>
            <a:r>
              <a:rPr lang="en-US" b="1" dirty="0">
                <a:cs typeface="+mn-cs"/>
              </a:rPr>
              <a:t> Yes, if step costs identical</a:t>
            </a:r>
          </a:p>
        </p:txBody>
      </p:sp>
      <p:sp>
        <p:nvSpPr>
          <p:cNvPr id="2" name="Oval 1"/>
          <p:cNvSpPr/>
          <p:nvPr/>
        </p:nvSpPr>
        <p:spPr>
          <a:xfrm>
            <a:off x="914400" y="3581400"/>
            <a:ext cx="1981200" cy="990600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0D74D5-050B-2FD3-11B4-EA4629B36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226977"/>
            <a:ext cx="2191322" cy="15084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BBE6C0-BAE5-8F35-DDDE-7B7965CD89C8}"/>
              </a:ext>
            </a:extLst>
          </p:cNvPr>
          <p:cNvSpPr txBox="1"/>
          <p:nvPr/>
        </p:nvSpPr>
        <p:spPr>
          <a:xfrm>
            <a:off x="5497377" y="1250304"/>
            <a:ext cx="31242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0" i="0" dirty="0">
                <a:effectLst/>
                <a:latin typeface="fkGrotesk"/>
              </a:rPr>
              <a:t>Is IDS Wasteful?</a:t>
            </a:r>
          </a:p>
          <a:p>
            <a:pPr algn="l">
              <a:buNone/>
            </a:pPr>
            <a:r>
              <a:rPr lang="en-US" sz="1400" b="0" i="0" dirty="0">
                <a:effectLst/>
                <a:latin typeface="fkGroteskNeue"/>
              </a:rPr>
              <a:t>It </a:t>
            </a:r>
            <a:r>
              <a:rPr lang="en-US" sz="1400" b="0" i="1" dirty="0">
                <a:effectLst/>
                <a:latin typeface="fkGroteskNeue"/>
              </a:rPr>
              <a:t>looks</a:t>
            </a:r>
            <a:r>
              <a:rPr lang="en-US" sz="1400" b="0" i="0" dirty="0">
                <a:effectLst/>
                <a:latin typeface="fkGroteskNeue"/>
              </a:rPr>
              <a:t> wasteful because it seems to repeat searches across levels. However, most of the work is at the deepest level, so the extra cost is modest. The small overhead is a very reasonable price for using much less memory.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Bidirectional Search</a:t>
            </a:r>
          </a:p>
        </p:txBody>
      </p:sp>
      <p:sp>
        <p:nvSpPr>
          <p:cNvPr id="131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5344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Char char="•"/>
              <a:defRPr/>
            </a:pPr>
            <a:r>
              <a:rPr lang="en-US" sz="1800" b="1" dirty="0">
                <a:solidFill>
                  <a:schemeClr val="accent2"/>
                </a:solidFill>
                <a:cs typeface="+mn-cs"/>
              </a:rPr>
              <a:t>Simultaneously: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 b="1" dirty="0">
                <a:solidFill>
                  <a:schemeClr val="accent2"/>
                </a:solidFill>
              </a:rPr>
              <a:t>Search forward from start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 b="1" dirty="0">
                <a:solidFill>
                  <a:schemeClr val="accent2"/>
                </a:solidFill>
              </a:rPr>
              <a:t>Search backward from the goal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 b="1" dirty="0">
                <a:solidFill>
                  <a:schemeClr val="accent2"/>
                </a:solidFill>
                <a:cs typeface="+mn-cs"/>
              </a:rPr>
              <a:t>	Stop when the two searches meet.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1800" b="1" dirty="0">
              <a:solidFill>
                <a:schemeClr val="accent2"/>
              </a:solidFill>
              <a:cs typeface="+mn-cs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  <a:defRPr/>
            </a:pPr>
            <a:r>
              <a:rPr lang="en-US" sz="1800" b="1" dirty="0">
                <a:solidFill>
                  <a:schemeClr val="accent2"/>
                </a:solidFill>
                <a:cs typeface="+mn-cs"/>
              </a:rPr>
              <a:t>If branching factor = b in each direction,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 b="1" dirty="0">
                <a:solidFill>
                  <a:schemeClr val="accent2"/>
                </a:solidFill>
                <a:cs typeface="+mn-cs"/>
              </a:rPr>
              <a:t>     with solution at depth d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 dirty="0">
                <a:cs typeface="+mn-cs"/>
              </a:rPr>
              <a:t>	</a:t>
            </a:r>
            <a:r>
              <a:rPr lang="en-US" sz="1800" dirty="0">
                <a:cs typeface="+mn-cs"/>
                <a:sym typeface="Wingdings" charset="0"/>
              </a:rPr>
              <a:t>  </a:t>
            </a:r>
            <a:r>
              <a:rPr lang="en-US" sz="1800" b="1" dirty="0">
                <a:solidFill>
                  <a:srgbClr val="FF0000"/>
                </a:solidFill>
                <a:cs typeface="+mn-cs"/>
                <a:sym typeface="Wingdings" charset="0"/>
              </a:rPr>
              <a:t>only O(2 </a:t>
            </a:r>
            <a:r>
              <a:rPr lang="en-US" sz="1800" b="1" dirty="0" err="1">
                <a:solidFill>
                  <a:srgbClr val="FF0000"/>
                </a:solidFill>
                <a:cs typeface="+mn-cs"/>
                <a:sym typeface="Wingdings" charset="0"/>
              </a:rPr>
              <a:t>b</a:t>
            </a:r>
            <a:r>
              <a:rPr lang="en-US" sz="1800" b="1" baseline="30000" dirty="0" err="1">
                <a:solidFill>
                  <a:srgbClr val="FF0000"/>
                </a:solidFill>
                <a:cs typeface="+mn-cs"/>
                <a:sym typeface="Wingdings" charset="0"/>
              </a:rPr>
              <a:t>d</a:t>
            </a:r>
            <a:r>
              <a:rPr lang="en-US" sz="1800" b="1" baseline="30000" dirty="0">
                <a:solidFill>
                  <a:srgbClr val="FF0000"/>
                </a:solidFill>
                <a:cs typeface="+mn-cs"/>
                <a:sym typeface="Wingdings" charset="0"/>
              </a:rPr>
              <a:t>/2</a:t>
            </a:r>
            <a:r>
              <a:rPr lang="en-US" sz="1800" b="1" dirty="0">
                <a:solidFill>
                  <a:srgbClr val="FF0000"/>
                </a:solidFill>
                <a:cs typeface="+mn-cs"/>
                <a:sym typeface="Wingdings" charset="0"/>
              </a:rPr>
              <a:t>)= O(2 </a:t>
            </a:r>
            <a:r>
              <a:rPr lang="en-US" sz="1800" b="1" dirty="0" err="1">
                <a:solidFill>
                  <a:srgbClr val="FF0000"/>
                </a:solidFill>
                <a:cs typeface="+mn-cs"/>
                <a:sym typeface="Wingdings" charset="0"/>
              </a:rPr>
              <a:t>b</a:t>
            </a:r>
            <a:r>
              <a:rPr lang="en-US" sz="1800" b="1" baseline="30000" dirty="0" err="1">
                <a:solidFill>
                  <a:srgbClr val="FF0000"/>
                </a:solidFill>
                <a:cs typeface="+mn-cs"/>
                <a:sym typeface="Wingdings" charset="0"/>
              </a:rPr>
              <a:t>d</a:t>
            </a:r>
            <a:r>
              <a:rPr lang="en-US" sz="1800" b="1" baseline="30000" dirty="0">
                <a:solidFill>
                  <a:srgbClr val="FF0000"/>
                </a:solidFill>
                <a:cs typeface="+mn-cs"/>
                <a:sym typeface="Wingdings" charset="0"/>
              </a:rPr>
              <a:t>/2</a:t>
            </a:r>
            <a:r>
              <a:rPr lang="en-US" sz="1800" b="1" dirty="0">
                <a:solidFill>
                  <a:srgbClr val="FF0000"/>
                </a:solidFill>
                <a:cs typeface="+mn-cs"/>
                <a:sym typeface="Wingdings" charset="0"/>
              </a:rPr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1800" b="1" dirty="0">
              <a:solidFill>
                <a:srgbClr val="FF0000"/>
              </a:solidFill>
              <a:cs typeface="+mn-cs"/>
              <a:sym typeface="Wingdings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  <a:defRPr/>
            </a:pPr>
            <a:r>
              <a:rPr lang="en-US" sz="1800" b="1" dirty="0">
                <a:solidFill>
                  <a:schemeClr val="accent2"/>
                </a:solidFill>
                <a:cs typeface="+mn-cs"/>
                <a:sym typeface="Wingdings" charset="0"/>
              </a:rPr>
              <a:t>Checking a node for membership in the other search tree can be done in constant time (hash table)</a:t>
            </a:r>
          </a:p>
          <a:p>
            <a:pPr eaLnBrk="1" hangingPunct="1">
              <a:lnSpc>
                <a:spcPct val="90000"/>
              </a:lnSpc>
              <a:buFontTx/>
              <a:buChar char="•"/>
              <a:defRPr/>
            </a:pPr>
            <a:endParaRPr lang="en-US" sz="1800" b="1" dirty="0">
              <a:solidFill>
                <a:schemeClr val="accent2"/>
              </a:solidFill>
              <a:cs typeface="+mn-cs"/>
              <a:sym typeface="Wingdings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  <a:defRPr/>
            </a:pPr>
            <a:r>
              <a:rPr lang="en-US" sz="1800" b="1" dirty="0">
                <a:solidFill>
                  <a:schemeClr val="accent2"/>
                </a:solidFill>
                <a:cs typeface="+mn-cs"/>
                <a:sym typeface="Wingdings" charset="0"/>
              </a:rPr>
              <a:t>Key limitations: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 b="1" dirty="0">
                <a:solidFill>
                  <a:schemeClr val="accent2"/>
                </a:solidFill>
                <a:cs typeface="+mn-cs"/>
                <a:sym typeface="Wingdings" charset="0"/>
              </a:rPr>
              <a:t>	Space O(</a:t>
            </a:r>
            <a:r>
              <a:rPr lang="en-US" sz="1800" b="1" dirty="0" err="1">
                <a:solidFill>
                  <a:schemeClr val="accent2"/>
                </a:solidFill>
                <a:cs typeface="+mn-cs"/>
                <a:sym typeface="Wingdings" charset="0"/>
              </a:rPr>
              <a:t>b</a:t>
            </a:r>
            <a:r>
              <a:rPr lang="en-US" sz="1800" b="1" baseline="30000" dirty="0" err="1">
                <a:solidFill>
                  <a:schemeClr val="accent2"/>
                </a:solidFill>
                <a:cs typeface="+mn-cs"/>
                <a:sym typeface="Wingdings" charset="0"/>
              </a:rPr>
              <a:t>d</a:t>
            </a:r>
            <a:r>
              <a:rPr lang="en-US" sz="1800" b="1" baseline="30000" dirty="0">
                <a:solidFill>
                  <a:schemeClr val="accent2"/>
                </a:solidFill>
                <a:cs typeface="+mn-cs"/>
                <a:sym typeface="Wingdings" charset="0"/>
              </a:rPr>
              <a:t>/2</a:t>
            </a:r>
            <a:r>
              <a:rPr lang="en-US" sz="1800" b="1" dirty="0">
                <a:solidFill>
                  <a:schemeClr val="accent2"/>
                </a:solidFill>
                <a:cs typeface="+mn-cs"/>
                <a:sym typeface="Wingdings" charset="0"/>
              </a:rPr>
              <a:t>) </a:t>
            </a:r>
            <a:endParaRPr lang="en-US" sz="1800" b="1" dirty="0">
              <a:solidFill>
                <a:schemeClr val="accent2"/>
              </a:solidFill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 b="1" dirty="0">
                <a:solidFill>
                  <a:schemeClr val="accent2"/>
                </a:solidFill>
                <a:cs typeface="+mn-cs"/>
              </a:rPr>
              <a:t>	</a:t>
            </a:r>
            <a:r>
              <a:rPr lang="en-US" sz="1800" b="1" dirty="0">
                <a:solidFill>
                  <a:srgbClr val="FF0000"/>
                </a:solidFill>
                <a:cs typeface="+mn-cs"/>
              </a:rPr>
              <a:t>Also, how to search backwards can be an issue (e.g., in Chess)? What’s tricky?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 b="1" dirty="0">
                <a:solidFill>
                  <a:schemeClr val="accent2"/>
                </a:solidFill>
                <a:cs typeface="+mn-cs"/>
              </a:rPr>
              <a:t>	</a:t>
            </a:r>
            <a:r>
              <a:rPr lang="en-US" sz="1800" b="1" dirty="0">
                <a:solidFill>
                  <a:srgbClr val="008000"/>
                </a:solidFill>
                <a:cs typeface="+mn-cs"/>
                <a:sym typeface="Wingdings" charset="0"/>
              </a:rPr>
              <a:t>Problem: lots of states satisfy the goal; don’t know which one is relevant.</a:t>
            </a:r>
            <a:endParaRPr lang="en-US" sz="1800" b="1" dirty="0">
              <a:solidFill>
                <a:srgbClr val="008000"/>
              </a:solidFill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sz="1800" dirty="0">
              <a:cs typeface="+mn-cs"/>
            </a:endParaRPr>
          </a:p>
        </p:txBody>
      </p:sp>
      <p:pic>
        <p:nvPicPr>
          <p:cNvPr id="7270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219200"/>
            <a:ext cx="3810000" cy="212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7893" name="Text Box 5"/>
          <p:cNvSpPr txBox="1">
            <a:spLocks noChangeArrowheads="1"/>
          </p:cNvSpPr>
          <p:nvPr/>
        </p:nvSpPr>
        <p:spPr bwMode="auto">
          <a:xfrm>
            <a:off x="381000" y="6019800"/>
            <a:ext cx="7696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b="1" dirty="0">
                <a:solidFill>
                  <a:srgbClr val="3333CC"/>
                </a:solidFill>
                <a:cs typeface="+mn-cs"/>
              </a:rPr>
              <a:t>Aside: The predecessor of a node should be easily computable (i.e., actions are easily reversible).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1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j-cs"/>
              </a:rPr>
              <a:t>Repeated states</a:t>
            </a:r>
          </a:p>
        </p:txBody>
      </p:sp>
      <p:sp>
        <p:nvSpPr>
          <p:cNvPr id="130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49530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Failure to detect repeated states can turn 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linear problem into an exponential one!</a:t>
            </a:r>
            <a:r>
              <a:rPr lang="en-US" b="1" dirty="0">
                <a:cs typeface="+mn-cs"/>
              </a:rPr>
              <a:t>
</a:t>
            </a:r>
          </a:p>
        </p:txBody>
      </p:sp>
      <p:pic>
        <p:nvPicPr>
          <p:cNvPr id="73731" name="Picture 4" descr="ribbon-spa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4419600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6629" name="Text Box 5"/>
          <p:cNvSpPr txBox="1">
            <a:spLocks noChangeArrowheads="1"/>
          </p:cNvSpPr>
          <p:nvPr/>
        </p:nvSpPr>
        <p:spPr bwMode="auto">
          <a:xfrm>
            <a:off x="214313" y="4724400"/>
            <a:ext cx="745127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  <a:cs typeface="+mn-cs"/>
              </a:rPr>
              <a:t>Problems in which actions are reversible (e.g., routing problems or</a:t>
            </a:r>
            <a:br>
              <a:rPr lang="en-US" sz="2000" b="1" dirty="0">
                <a:solidFill>
                  <a:schemeClr val="accent6"/>
                </a:solidFill>
                <a:cs typeface="+mn-cs"/>
              </a:rPr>
            </a:br>
            <a:r>
              <a:rPr lang="en-US" sz="2000" b="1" dirty="0">
                <a:solidFill>
                  <a:schemeClr val="accent6"/>
                </a:solidFill>
                <a:cs typeface="+mn-cs"/>
              </a:rPr>
              <a:t>sliding-blocks puzzle). Also, in </a:t>
            </a:r>
            <a:r>
              <a:rPr lang="en-US" sz="2000" b="1" dirty="0" err="1">
                <a:solidFill>
                  <a:schemeClr val="accent6"/>
                </a:solidFill>
                <a:cs typeface="+mn-cs"/>
              </a:rPr>
              <a:t>eg</a:t>
            </a:r>
            <a:r>
              <a:rPr lang="en-US" sz="2000" b="1" dirty="0">
                <a:solidFill>
                  <a:schemeClr val="accent6"/>
                </a:solidFill>
                <a:cs typeface="+mn-cs"/>
              </a:rPr>
              <a:t> Chess; uses hash tables to check</a:t>
            </a:r>
          </a:p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  <a:cs typeface="+mn-cs"/>
              </a:rPr>
              <a:t>for repeated states. Huge tables 100M+ size but very useful.</a:t>
            </a:r>
          </a:p>
        </p:txBody>
      </p:sp>
      <p:sp>
        <p:nvSpPr>
          <p:cNvPr id="1306630" name="Rectangle 6"/>
          <p:cNvSpPr>
            <a:spLocks noChangeArrowheads="1"/>
          </p:cNvSpPr>
          <p:nvPr/>
        </p:nvSpPr>
        <p:spPr bwMode="auto">
          <a:xfrm>
            <a:off x="4841324" y="1005166"/>
            <a:ext cx="4114800" cy="382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cs typeface="+mn-cs"/>
              </a:rPr>
              <a:t>Don</a:t>
            </a:r>
            <a:r>
              <a:rPr lang="en-US" sz="2000" b="1" dirty="0">
                <a:latin typeface="Arial"/>
                <a:cs typeface="+mn-cs"/>
              </a:rPr>
              <a:t>’</a:t>
            </a:r>
            <a:r>
              <a:rPr lang="en-US" sz="2000" b="1" dirty="0">
                <a:cs typeface="+mn-cs"/>
              </a:rPr>
              <a:t>t return  to parent node</a:t>
            </a:r>
          </a:p>
          <a:p>
            <a:pPr>
              <a:defRPr/>
            </a:pPr>
            <a:endParaRPr lang="en-US" sz="2000" b="1" dirty="0">
              <a:cs typeface="+mn-cs"/>
            </a:endParaRPr>
          </a:p>
          <a:p>
            <a:pPr>
              <a:defRPr/>
            </a:pPr>
            <a:r>
              <a:rPr lang="en-US" sz="2000" b="1" dirty="0">
                <a:cs typeface="+mn-cs"/>
              </a:rPr>
              <a:t>Don</a:t>
            </a:r>
            <a:r>
              <a:rPr lang="en-US" sz="2000" b="1" dirty="0">
                <a:latin typeface="Arial"/>
                <a:cs typeface="+mn-cs"/>
              </a:rPr>
              <a:t>’</a:t>
            </a:r>
            <a:r>
              <a:rPr lang="en-US" sz="2000" b="1" dirty="0">
                <a:cs typeface="+mn-cs"/>
              </a:rPr>
              <a:t>t generate successor = node</a:t>
            </a:r>
            <a:r>
              <a:rPr lang="en-US" sz="2000" b="1" dirty="0">
                <a:latin typeface="Arial"/>
                <a:cs typeface="+mn-cs"/>
              </a:rPr>
              <a:t>’</a:t>
            </a:r>
            <a:r>
              <a:rPr lang="en-US" sz="2000" b="1" dirty="0">
                <a:cs typeface="+mn-cs"/>
              </a:rPr>
              <a:t>s parent</a:t>
            </a:r>
          </a:p>
          <a:p>
            <a:pPr>
              <a:defRPr/>
            </a:pPr>
            <a:endParaRPr lang="en-US" sz="2000" b="1" dirty="0">
              <a:cs typeface="+mn-cs"/>
            </a:endParaRPr>
          </a:p>
          <a:p>
            <a:pPr>
              <a:defRPr/>
            </a:pPr>
            <a:r>
              <a:rPr lang="en-US" sz="2000" b="1" dirty="0">
                <a:cs typeface="+mn-cs"/>
              </a:rPr>
              <a:t>Don</a:t>
            </a:r>
            <a:r>
              <a:rPr lang="en-US" sz="2000" b="1" dirty="0">
                <a:latin typeface="Arial"/>
                <a:cs typeface="+mn-cs"/>
              </a:rPr>
              <a:t>’</a:t>
            </a:r>
            <a:r>
              <a:rPr lang="en-US" sz="2000" b="1" dirty="0">
                <a:cs typeface="+mn-cs"/>
              </a:rPr>
              <a:t>t allow cycles</a:t>
            </a:r>
          </a:p>
          <a:p>
            <a:pPr>
              <a:defRPr/>
            </a:pPr>
            <a:endParaRPr lang="en-US" sz="2000" b="1" dirty="0">
              <a:cs typeface="+mn-cs"/>
            </a:endParaRPr>
          </a:p>
          <a:p>
            <a:pPr>
              <a:defRPr/>
            </a:pPr>
            <a:r>
              <a:rPr lang="en-US" sz="2000" b="1" dirty="0">
                <a:cs typeface="+mn-cs"/>
              </a:rPr>
              <a:t>Don</a:t>
            </a:r>
            <a:r>
              <a:rPr lang="en-US" sz="2000" b="1" dirty="0">
                <a:latin typeface="Arial"/>
                <a:cs typeface="+mn-cs"/>
              </a:rPr>
              <a:t>’</a:t>
            </a:r>
            <a:r>
              <a:rPr lang="en-US" sz="2000" b="1" dirty="0">
                <a:cs typeface="+mn-cs"/>
              </a:rPr>
              <a:t>t revisit state</a:t>
            </a:r>
          </a:p>
          <a:p>
            <a:pPr>
              <a:defRPr/>
            </a:pPr>
            <a:endParaRPr lang="en-US" sz="2000" b="1" dirty="0">
              <a:cs typeface="+mn-cs"/>
            </a:endParaRPr>
          </a:p>
          <a:p>
            <a:pPr>
              <a:defRPr/>
            </a:pPr>
            <a:r>
              <a:rPr lang="en-US" sz="2000" b="1" dirty="0">
                <a:cs typeface="+mn-cs"/>
              </a:rPr>
              <a:t>Keep every visited state in memory! O(</a:t>
            </a:r>
            <a:r>
              <a:rPr lang="en-US" sz="2000" b="1" dirty="0" err="1">
                <a:cs typeface="+mn-cs"/>
              </a:rPr>
              <a:t>b</a:t>
            </a:r>
            <a:r>
              <a:rPr lang="en-US" sz="2000" b="1" baseline="30000" dirty="0" err="1">
                <a:cs typeface="+mn-cs"/>
              </a:rPr>
              <a:t>d</a:t>
            </a:r>
            <a:r>
              <a:rPr lang="en-US" sz="2000" b="1" dirty="0">
                <a:cs typeface="+mn-cs"/>
              </a:rPr>
              <a:t>) </a:t>
            </a:r>
            <a:r>
              <a:rPr lang="en-US" sz="2000" b="1" dirty="0">
                <a:solidFill>
                  <a:srgbClr val="FF0000"/>
                </a:solidFill>
                <a:cs typeface="+mn-cs"/>
              </a:rPr>
              <a:t>(can be expensive)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endParaRPr lang="en-US" sz="1600" b="1" dirty="0">
              <a:cs typeface="+mn-cs"/>
            </a:endParaRPr>
          </a:p>
        </p:txBody>
      </p:sp>
      <p:sp>
        <p:nvSpPr>
          <p:cNvPr id="73734" name="TextBox 1"/>
          <p:cNvSpPr txBox="1">
            <a:spLocks noChangeArrowheads="1"/>
          </p:cNvSpPr>
          <p:nvPr/>
        </p:nvSpPr>
        <p:spPr bwMode="auto">
          <a:xfrm>
            <a:off x="381000" y="5943600"/>
            <a:ext cx="70998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solidFill>
                  <a:srgbClr val="FF0000"/>
                </a:solidFill>
              </a:rPr>
              <a:t>See Tree-Search vs. Graph-Search in Fig. 3.7 R&amp;N. But need to</a:t>
            </a:r>
          </a:p>
          <a:p>
            <a:pPr eaLnBrk="1" hangingPunct="1"/>
            <a:r>
              <a:rPr lang="en-US" sz="2000" b="1" dirty="0">
                <a:solidFill>
                  <a:srgbClr val="FF0000"/>
                </a:solidFill>
              </a:rPr>
              <a:t>be careful to maintain (path) optimality and completeness.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DA0DC-6A60-F993-0B70-22EB7995E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536" y="2058830"/>
            <a:ext cx="2005588" cy="159877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0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0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6629" grpId="0"/>
      <p:bldP spid="1306630" grpId="0"/>
      <p:bldP spid="7373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Summary: General, uninformed search</a:t>
            </a:r>
          </a:p>
        </p:txBody>
      </p:sp>
      <p:sp>
        <p:nvSpPr>
          <p:cNvPr id="130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1906" y="1136780"/>
            <a:ext cx="4191000" cy="4876800"/>
          </a:xfrm>
        </p:spPr>
        <p:txBody>
          <a:bodyPr/>
          <a:lstStyle/>
          <a:p>
            <a:pPr eaLnBrk="1" hangingPunct="1">
              <a:defRPr/>
            </a:pPr>
            <a:r>
              <a:rPr lang="en-US" sz="1600" b="1" dirty="0">
                <a:solidFill>
                  <a:schemeClr val="accent2"/>
                </a:solidFill>
                <a:cs typeface="+mn-cs"/>
              </a:rPr>
              <a:t>Original search ideas in AI where inspired by studies of human problem solving in, </a:t>
            </a:r>
            <a:r>
              <a:rPr lang="en-US" sz="1600" b="1" dirty="0" err="1">
                <a:solidFill>
                  <a:schemeClr val="accent2"/>
                </a:solidFill>
                <a:cs typeface="+mn-cs"/>
              </a:rPr>
              <a:t>eg</a:t>
            </a:r>
            <a:r>
              <a:rPr lang="en-US" sz="1600" b="1" dirty="0">
                <a:solidFill>
                  <a:schemeClr val="accent2"/>
                </a:solidFill>
                <a:cs typeface="+mn-cs"/>
              </a:rPr>
              <a:t>, puzzles, math, and games, but a great many AI tasks now require some form of search (e.g. find optimal agent strategy; active learning; constraint reasoning; NP-complete problems require search).</a:t>
            </a:r>
          </a:p>
          <a:p>
            <a:pPr eaLnBrk="1" hangingPunct="1">
              <a:defRPr/>
            </a:pPr>
            <a:endParaRPr lang="en-US" sz="1600" b="1" dirty="0">
              <a:solidFill>
                <a:schemeClr val="accent2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Problem formulation usually requires abstracting away real-world details to define a state space that can feasibly </a:t>
            </a:r>
          </a:p>
          <a:p>
            <a:pPr eaLnBrk="1" hangingPunct="1">
              <a:defRPr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be explored.</a:t>
            </a:r>
          </a:p>
          <a:p>
            <a:pPr lvl="4" eaLnBrk="1" hangingPunct="1">
              <a:defRPr/>
            </a:pPr>
            <a:endParaRPr lang="en-US" sz="1200" b="1" dirty="0">
              <a:solidFill>
                <a:schemeClr val="accent2"/>
              </a:solidFill>
            </a:endParaRPr>
          </a:p>
          <a:p>
            <a:pPr eaLnBrk="1" hangingPunct="1">
              <a:defRPr/>
            </a:pPr>
            <a:r>
              <a:rPr lang="en-US" sz="1600" b="1" dirty="0">
                <a:solidFill>
                  <a:schemeClr val="accent2"/>
                </a:solidFill>
                <a:cs typeface="+mn-cs"/>
              </a:rPr>
              <a:t>Variety of uninformed search strategies</a:t>
            </a:r>
          </a:p>
          <a:p>
            <a:pPr lvl="4" eaLnBrk="1" hangingPunct="1">
              <a:defRPr/>
            </a:pPr>
            <a:endParaRPr lang="en-US" sz="1200" b="1" dirty="0">
              <a:solidFill>
                <a:schemeClr val="accent2"/>
              </a:solidFill>
            </a:endParaRPr>
          </a:p>
          <a:p>
            <a:pPr eaLnBrk="1" hangingPunct="1">
              <a:defRPr/>
            </a:pPr>
            <a:r>
              <a:rPr lang="en-US" sz="1600" b="1" dirty="0">
                <a:solidFill>
                  <a:srgbClr val="009973"/>
                </a:solidFill>
                <a:cs typeface="+mn-cs"/>
              </a:rPr>
              <a:t>Iterative deepening search uses only linear space and not much more time than other uninformed algorithms.</a:t>
            </a:r>
          </a:p>
          <a:p>
            <a:pPr eaLnBrk="1" hangingPunct="1">
              <a:defRPr/>
            </a:pPr>
            <a:endParaRPr lang="en-US" sz="1600" b="1" dirty="0">
              <a:solidFill>
                <a:schemeClr val="accent2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sz="1600" b="1" dirty="0">
                <a:solidFill>
                  <a:schemeClr val="accent2"/>
                </a:solidFill>
                <a:cs typeface="+mn-cs"/>
              </a:rPr>
              <a:t>Avoid repeating states / cycles.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5476AB-14C7-8C2C-7B50-1D595766E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047" y="990601"/>
            <a:ext cx="2471353" cy="16712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D0A5DD-5DB4-EAC7-73DB-1BC3A02E8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962987"/>
            <a:ext cx="2586479" cy="1671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C115AB-DCFE-9D2A-DAB2-D8F396854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964" y="2910735"/>
            <a:ext cx="2348485" cy="1268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83CEA0-66BC-1013-82A7-4BCF4C2F5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340" y="4735933"/>
            <a:ext cx="2680765" cy="19673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0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0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0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0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9D0F15"/>
      </a:hlink>
      <a:folHlink>
        <a:srgbClr val="1926B2"/>
      </a:folHlink>
    </a:clrScheme>
    <a:fontScheme name="Default Design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59175</TotalTime>
  <Words>2156</Words>
  <Application>Microsoft Office PowerPoint</Application>
  <PresentationFormat>On-screen Show (4:3)</PresentationFormat>
  <Paragraphs>296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Courier New</vt:lpstr>
      <vt:lpstr>fkGrotesk</vt:lpstr>
      <vt:lpstr>fkGroteskNeue</vt:lpstr>
      <vt:lpstr>r</vt:lpstr>
      <vt:lpstr>Times New Roman</vt:lpstr>
      <vt:lpstr>Wingdings</vt:lpstr>
      <vt:lpstr>Default Design</vt:lpstr>
      <vt:lpstr>Search Techniques</vt:lpstr>
      <vt:lpstr>PowerPoint Presentation</vt:lpstr>
      <vt:lpstr>Tree-search algorithms</vt:lpstr>
      <vt:lpstr>Tree search example</vt:lpstr>
      <vt:lpstr>PowerPoint Presentation</vt:lpstr>
      <vt:lpstr>PowerPoint Presentation</vt:lpstr>
      <vt:lpstr>Graph-search</vt:lpstr>
      <vt:lpstr>Implementation: states vs. nodes</vt:lpstr>
      <vt:lpstr>Implementation: general tree search</vt:lpstr>
      <vt:lpstr>Search strategies</vt:lpstr>
      <vt:lpstr>Uninformed search strategies</vt:lpstr>
      <vt:lpstr>Breadth-first search</vt:lpstr>
      <vt:lpstr>PowerPoint Presentation</vt:lpstr>
      <vt:lpstr>PowerPoint Presentation</vt:lpstr>
      <vt:lpstr>PowerPoint Presentation</vt:lpstr>
      <vt:lpstr>Breadth First Search</vt:lpstr>
      <vt:lpstr>Properties of breadth-first search</vt:lpstr>
      <vt:lpstr>Time and Space requirement for Breadth First Search with bf = 10</vt:lpstr>
      <vt:lpstr>Uniform Cost Search</vt:lpstr>
      <vt:lpstr>Uniform Cost Search</vt:lpstr>
      <vt:lpstr>Uniform cost search</vt:lpstr>
      <vt:lpstr>Uniform cost search</vt:lpstr>
      <vt:lpstr>Uniform-cost search</vt:lpstr>
      <vt:lpstr>Uniform-cost search</vt:lpstr>
      <vt:lpstr>Depth-first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Properties of depth-first search</vt:lpstr>
      <vt:lpstr>Depth Limited Search</vt:lpstr>
      <vt:lpstr>Complexity analysis</vt:lpstr>
      <vt:lpstr>Iterative deepening search</vt:lpstr>
      <vt:lpstr>Iterative deepening search l =0</vt:lpstr>
      <vt:lpstr>Iterative deepening search l =1</vt:lpstr>
      <vt:lpstr>Iterative deepening search l =2</vt:lpstr>
      <vt:lpstr>Iterative deepening search l =3</vt:lpstr>
      <vt:lpstr>PowerPoint Presentation</vt:lpstr>
      <vt:lpstr>Iterative deepening search</vt:lpstr>
      <vt:lpstr>Properties of iterative deepening search</vt:lpstr>
      <vt:lpstr>Bidirectional Search</vt:lpstr>
      <vt:lpstr>Repeated states</vt:lpstr>
      <vt:lpstr>Summary: General, uninformed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SSN</dc:creator>
  <cp:lastModifiedBy>Hrithika S</cp:lastModifiedBy>
  <cp:revision>1338</cp:revision>
  <dcterms:created xsi:type="dcterms:W3CDTF">1601-01-01T00:00:00Z</dcterms:created>
  <dcterms:modified xsi:type="dcterms:W3CDTF">2025-08-14T15:37:28Z</dcterms:modified>
</cp:coreProperties>
</file>