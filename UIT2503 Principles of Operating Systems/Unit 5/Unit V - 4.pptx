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49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90" r:id="rId9"/>
    <p:sldId id="338" r:id="rId10"/>
    <p:sldId id="403" r:id="rId11"/>
    <p:sldId id="489" r:id="rId12"/>
    <p:sldId id="490" r:id="rId13"/>
    <p:sldId id="344" r:id="rId14"/>
    <p:sldId id="345" r:id="rId15"/>
    <p:sldId id="491" r:id="rId16"/>
    <p:sldId id="346" r:id="rId17"/>
    <p:sldId id="397" r:id="rId18"/>
    <p:sldId id="348" r:id="rId19"/>
    <p:sldId id="398" r:id="rId20"/>
    <p:sldId id="492" r:id="rId21"/>
    <p:sldId id="393" r:id="rId22"/>
    <p:sldId id="493" r:id="rId23"/>
    <p:sldId id="353" r:id="rId24"/>
    <p:sldId id="494" r:id="rId25"/>
    <p:sldId id="360" r:id="rId26"/>
    <p:sldId id="499" r:id="rId27"/>
    <p:sldId id="362" r:id="rId28"/>
    <p:sldId id="500" r:id="rId29"/>
    <p:sldId id="365" r:id="rId30"/>
    <p:sldId id="366" r:id="rId31"/>
    <p:sldId id="394" r:id="rId32"/>
    <p:sldId id="367" r:id="rId33"/>
    <p:sldId id="368" r:id="rId34"/>
    <p:sldId id="369" r:id="rId35"/>
    <p:sldId id="501" r:id="rId36"/>
    <p:sldId id="371" r:id="rId37"/>
    <p:sldId id="502" r:id="rId38"/>
    <p:sldId id="373" r:id="rId39"/>
    <p:sldId id="374" r:id="rId40"/>
    <p:sldId id="386" r:id="rId41"/>
    <p:sldId id="387" r:id="rId42"/>
    <p:sldId id="388" r:id="rId43"/>
    <p:sldId id="395" r:id="rId44"/>
    <p:sldId id="351" r:id="rId45"/>
    <p:sldId id="401" r:id="rId46"/>
    <p:sldId id="339" r:id="rId47"/>
    <p:sldId id="505" r:id="rId4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FFCC"/>
    <a:srgbClr val="FF33CC"/>
    <a:srgbClr val="070CC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54D33-E8EA-4265-8935-261D91E4D9B4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1B623-262D-4279-8EFF-46905E6DE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7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2BE28AD6-7A01-4C91-921E-664C72FB8F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CE38278-7045-46F9-8738-0D115AFF3EB3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BC503811-6399-4F76-AE3F-CDD6D3FD91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748BA5C-F97A-4C12-8192-68AAC075D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F9686703-1D4F-4A73-9977-34826CDA13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AAD36A-233E-4946-8BDD-D60EF2FDF08B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F846CCB5-5FC2-49CC-86CB-DE765F76C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A719C2B-2379-4C10-91EA-C9016AF0F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37A29DB9-DAC4-4235-B8E6-D6BA5E9AB5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BDF339-D079-482E-97EF-D957DD678C83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48451915-DF72-481D-AC96-8BC6EAA51A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4F3130A-4EFC-40FB-A8EB-1CBC617845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4DE291CD-D644-479A-ABD5-E39A631E7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32B2E1-1E5D-4455-B7B9-80520931EBA0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3F634500-8DF8-41E5-B6E5-99F08C6DF9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89C67B8-010B-44E3-B3AA-FD52CDD037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55CC4FA1-F6B0-4DF8-80CF-C24A0C1676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627165-8720-4A3E-BB1B-84BD9974632A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CA18D602-CC5B-49CE-BD3D-4FC624967E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8CDABDB-E051-45A9-9FDF-76F5D3F23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4EEFE8EC-9FB7-494F-95D5-D54EFD77EB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F50502EF-1D2E-49A5-8F74-E41804E2B0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45B80D2-B09B-4EF2-A08E-DAB27994E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11D1AC1C-4EBB-496B-9EBC-7F20F351A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039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BAFD01C0-5A7D-46C5-A3EC-893E26FB1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C7583-E25E-42B1-B377-9E2E25B85DE3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184B0100-BF36-47FB-B419-FECF119719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D8BCCAD-BBCC-4EFD-A7F8-B4FB55813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316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40E2DFA5-8C6A-4CBC-AB43-9483E58881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57AB1F-3F1B-4BA4-BC1E-B4F52BC23CDA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99781EBF-EB9C-4944-A189-118266777E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42B2F658-E9F1-455F-997D-1048635799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770B4F17-7C72-4550-896A-266464CFE9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75A050-B6EF-4DC0-99C9-9163C99DD141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C73A33C-48D1-4870-89C8-93B8DC1101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28C2D32-5232-4587-95C3-BD4A6F6C2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770B4F17-7C72-4550-896A-266464CFE9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75A050-B6EF-4DC0-99C9-9163C99DD141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C73A33C-48D1-4870-89C8-93B8DC1101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28C2D32-5232-4587-95C3-BD4A6F6C2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217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065A10AD-B9E1-4E38-B90B-51628315A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0C2740B-2768-4F54-BC7D-348373841C64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44F00883-9C05-4E86-8061-48CD97041D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1EB8696-636F-45F4-B55B-6B5B83AA7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154E314E-BDC6-43EE-9551-F615EB26C8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675803-59BE-451D-8E49-1F417E86ED1E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056E7EF2-751D-4D98-BBBB-983B7BA89E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7745169-D177-48CD-B3A3-3B0C5F3504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F3219F75-A620-4DC6-93E1-70E8922DA9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06FF359-D074-4953-97AD-952E01F9D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D2E3716-FC1F-4DF3-914D-840763D3D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594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F3219F75-A620-4DC6-93E1-70E8922DA9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06FF359-D074-4953-97AD-952E01F9D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D2E3716-FC1F-4DF3-914D-840763D3D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26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C8D519C2-B35E-49DC-8194-417C4494F0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55D7E7-1A22-483B-9E04-5CEFE2716F57}" type="slidenum">
              <a:rPr lang="en-US" altLang="en-US" smtClean="0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50CA5721-268B-402C-84A2-53EE5238FA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9C72EC5-88EA-4895-A8AA-E7C2DA2A71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557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C8D519C2-B35E-49DC-8194-417C4494F0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F55D7E7-1A22-483B-9E04-5CEFE2716F57}" type="slidenum">
              <a:rPr lang="en-US" altLang="en-US" smtClean="0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50CA5721-268B-402C-84A2-53EE5238FA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09C72EC5-88EA-4895-A8AA-E7C2DA2A71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F65FD576-A713-4C0C-B04B-F22A27399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EC3D74-3A3D-45E4-98C3-19F016621CF4}" type="slidenum">
              <a:rPr lang="en-US" altLang="en-US" smtClean="0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4EC04251-31F6-44FE-9152-CE5098CE69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71F3423-F3BA-4174-B4C8-4C7A7542D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679DB54E-8C6A-4A51-9991-C90663C98D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87B02CE-28ED-43B2-887E-1BE48C8DCBC5}" type="slidenum">
              <a:rPr lang="en-US" altLang="en-US" smtClean="0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93CDC4B5-3226-4FAD-A834-7BF848C05A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87A918F6-1E14-4F20-A344-105CD577C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E7CF17C4-B80C-4CC9-BD46-C442AD905D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0824B9-1B83-49BF-AA99-B13C1383883E}" type="slidenum">
              <a:rPr lang="en-US" altLang="en-US" smtClean="0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1408167D-B843-4749-995A-0FA554213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C4650BF-679A-45DA-B031-5EA173A1A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C959BB4B-CE11-4D4A-9FF1-B33CF0F5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D058A0-2975-45BF-90B5-0AF0FF1350F7}" type="slidenum">
              <a:rPr lang="en-US" altLang="en-US" smtClean="0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A972ED9E-C79F-4639-AC29-4A8330C73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698B676-2E9D-4C6E-8585-1EC210467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0BDFCE9-AFFD-4054-AF44-46E266209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71" indent="-28895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80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8122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443" indent="-231160" defTabSz="940694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76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5084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40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29725" indent="-231160" defTabSz="94069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A331B74-0422-4930-8A32-1986F3C5D3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C23F6F6-2B6E-4832-A9E7-1BA1A3EC2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177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F586D608-5FD5-4E53-9C7F-52C6C9191C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F3538C-839F-489E-A5B7-9BF2CF6B9558}" type="slidenum">
              <a:rPr lang="en-US" altLang="en-US" smtClean="0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B2A58870-9FD5-4E78-B5AC-F6F064709E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9C77810-9261-417F-9A3E-9F963975F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8BC6399E-CA48-4011-9644-9943E2B30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0986D-45AD-4059-8603-240F33B5949B}" type="slidenum">
              <a:rPr lang="en-US" altLang="en-US" smtClean="0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2DBC60D4-EB7A-4623-8B56-246C0E0545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C2F052A-4548-41C7-97A7-3A5A9E4D76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02286D06-4F70-4C53-AAD8-E1E947D937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A2DC0FF-0CCF-41CC-A20E-D03721896815}" type="slidenum">
              <a:rPr lang="en-US" altLang="en-US" smtClean="0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571FC3EA-47C2-43DA-80CB-264FB77CD3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6498832-0717-42E8-98BF-0D591046C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363A7573-4BE6-499C-9155-907013AA09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FC0C1E-E7B7-4B60-8668-64137DECE5AD}" type="slidenum">
              <a:rPr lang="en-US" altLang="en-US" smtClean="0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F76802E0-B256-4F65-84E8-7BC5C79BE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379D11-F406-4428-A5B3-D011B7E13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2966433A-D0A8-4F28-89EC-C73DAFE5A6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2877D1-E946-4EC0-8BE2-7E13D632715B}" type="slidenum">
              <a:rPr lang="en-US" altLang="en-US" smtClean="0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CE24BCF7-6D67-4280-B0E9-F90B5A714A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0E9C522-3625-4131-BB74-C0F69F659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B0D46DBD-29BF-47DC-A35A-DE0E975386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9EA07E-4B01-40D1-9BF2-B2DA0AC533EB}" type="slidenum">
              <a:rPr lang="en-US" altLang="en-US" smtClean="0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B55A3E06-AEE7-4069-9749-C5E09B8DB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D804FE9-08D2-454C-A896-B04B20ADD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8054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F3219F75-A620-4DC6-93E1-70E8922DA9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18678-FF48-4F82-A5B6-784F533A9B2A}" type="slidenum">
              <a:rPr lang="en-US" altLang="en-US" smtClean="0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106FF359-D074-4953-97AD-952E01F9DE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D2E3716-FC1F-4DF3-914D-840763D3D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3770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BAFD01C0-5A7D-46C5-A3EC-893E26FB1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2C7583-E25E-42B1-B377-9E2E25B85DE3}" type="slidenum">
              <a:rPr lang="en-US" altLang="en-US" smtClean="0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184B0100-BF36-47FB-B419-FECF119719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D8BCCAD-BBCC-4EFD-A7F8-B4FB55813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2990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13E72F64-5CD8-4B71-A59F-8663532E7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82236F-6024-461D-95C0-A8C6844DD1F5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FCDA589-3737-4601-8B1E-7EE93F3B4E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3E0CDBE-0D2F-4E79-86F1-62A72CE4B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83235"/>
            <a:ext cx="12170833" cy="12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12192000" cy="1752600"/>
          </a:xfrm>
          <a:prstGeom prst="rect">
            <a:avLst/>
          </a:prstGeom>
          <a:solidFill>
            <a:srgbClr val="33529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charset="0"/>
              <a:cs typeface="+mn-cs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5531122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1066800"/>
            <a:ext cx="1097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3"/>
            <a:ext cx="109728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55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52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960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35" cy="24622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 sz="2400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053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1" descr="ba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68727"/>
            <a:ext cx="12189884" cy="128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09728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1453038" y="6484230"/>
            <a:ext cx="719092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fld id="{68F38F93-EFB2-4D8E-B34E-D4180BE42A95}" type="slidenum">
              <a:rPr lang="en-US" altLang="en-US" sz="1600" b="1">
                <a:solidFill>
                  <a:schemeClr val="accent2"/>
                </a:solidFill>
                <a:latin typeface="Calibri" panose="020F0502020204030204" pitchFamily="34" charset="0"/>
              </a:rPr>
              <a:pPr algn="ctr"/>
              <a:t>‹#›</a:t>
            </a:fld>
            <a:endParaRPr lang="en-US" altLang="en-US" sz="1800" b="1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6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50" r:id="rId3"/>
    <p:sldLayoutId id="2147483752" r:id="rId4"/>
    <p:sldLayoutId id="2147483753" r:id="rId5"/>
  </p:sldLayoutIdLst>
  <p:transition>
    <p:wipe dir="d"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61CFA52A-4082-4AB9-8FD4-C4510DCE1F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30263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14:  File System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D7B3BA29-83D7-4A71-BE91-2ACE55756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Outline </a:t>
            </a:r>
            <a:endParaRPr kumimoji="1" lang="en-US" altLang="en-US" dirty="0"/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BCAF3520-DA48-4C19-9CFC-44B653DEA5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File-System Structure</a:t>
            </a:r>
          </a:p>
          <a:p>
            <a:r>
              <a:rPr lang="en-US" altLang="en-US" dirty="0"/>
              <a:t>File-System Operations</a:t>
            </a:r>
          </a:p>
          <a:p>
            <a:r>
              <a:rPr lang="en-US" altLang="en-US" dirty="0"/>
              <a:t>Directory Implementation</a:t>
            </a:r>
          </a:p>
          <a:p>
            <a:r>
              <a:rPr lang="en-US" altLang="en-US" dirty="0"/>
              <a:t>Allocation Methods</a:t>
            </a:r>
          </a:p>
          <a:p>
            <a:r>
              <a:rPr lang="en-US" altLang="en-US" dirty="0"/>
              <a:t>Free-Space Management </a:t>
            </a:r>
          </a:p>
          <a:p>
            <a:r>
              <a:rPr lang="en-US" altLang="en-US" dirty="0"/>
              <a:t>Efficiency and Performance</a:t>
            </a:r>
          </a:p>
          <a:p>
            <a:r>
              <a:rPr lang="en-US" altLang="en-US" dirty="0"/>
              <a:t>Recovery</a:t>
            </a:r>
          </a:p>
          <a:p>
            <a:r>
              <a:rPr lang="en-US" altLang="en-US" dirty="0"/>
              <a:t>Example: WAFL File System</a:t>
            </a: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9DCCA74D-FB81-46C5-BDA7-346388C66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8725" y="1531938"/>
            <a:ext cx="70294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A1D75EC5-CCA9-476B-B4DD-E093FF90E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9269339B-7F5B-4404-8408-56CE50459F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Describe the details of implementing local file systems and directory structures</a:t>
            </a:r>
          </a:p>
          <a:p>
            <a:pPr algn="just"/>
            <a:r>
              <a:rPr lang="en-US" altLang="en-US" dirty="0"/>
              <a:t>Discuss block allocation and free-block algorithms and trade-offs</a:t>
            </a:r>
          </a:p>
          <a:p>
            <a:pPr algn="just"/>
            <a:r>
              <a:rPr lang="en-US" altLang="en-US" dirty="0"/>
              <a:t>Explore file system efficiency and performance issues</a:t>
            </a:r>
          </a:p>
          <a:p>
            <a:pPr algn="just"/>
            <a:r>
              <a:rPr lang="en-US" altLang="en-US" dirty="0"/>
              <a:t>Look at recovery from file system failures</a:t>
            </a:r>
          </a:p>
          <a:p>
            <a:pPr algn="just"/>
            <a:r>
              <a:rPr lang="en-US" altLang="en-US" dirty="0"/>
              <a:t>Describe the WAFL file system as a concrete example</a:t>
            </a:r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FDC630E2-6A19-41F9-B067-203AE5DB8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File-System Structure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44C2C079-F5DF-42D0-8D47-51C2C8C67A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File structure</a:t>
            </a:r>
          </a:p>
          <a:p>
            <a:pPr lvl="1" algn="just"/>
            <a:r>
              <a:rPr lang="en-US" altLang="en-US" dirty="0"/>
              <a:t>Logical storage unit</a:t>
            </a:r>
          </a:p>
          <a:p>
            <a:pPr lvl="1" algn="just"/>
            <a:r>
              <a:rPr lang="en-US" altLang="en-US" dirty="0"/>
              <a:t>Collection of related information</a:t>
            </a:r>
            <a:endParaRPr lang="en-US" altLang="en-US" sz="800" dirty="0"/>
          </a:p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system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resides on secondary storage (disks)</a:t>
            </a:r>
          </a:p>
          <a:p>
            <a:pPr lvl="1" algn="just"/>
            <a:r>
              <a:rPr lang="en-US" altLang="en-US" dirty="0"/>
              <a:t>Provided user interface to storage, mapping logical to physical</a:t>
            </a:r>
          </a:p>
          <a:p>
            <a:pPr lvl="1" algn="just"/>
            <a:r>
              <a:rPr lang="en-US" altLang="en-US" dirty="0"/>
              <a:t>Provides efficient and convenient access to disk by allowing data to be stored, located retrieved easily</a:t>
            </a:r>
          </a:p>
          <a:p>
            <a:pPr algn="just"/>
            <a:r>
              <a:rPr lang="en-US" altLang="en-US" dirty="0"/>
              <a:t>Disk provides in-place rewrite and random access</a:t>
            </a:r>
          </a:p>
          <a:p>
            <a:pPr lvl="1" algn="just"/>
            <a:r>
              <a:rPr lang="en-US" altLang="en-US" dirty="0"/>
              <a:t>I/O transfers performed in </a:t>
            </a:r>
            <a:r>
              <a:rPr lang="en-US" altLang="en-US" b="1" dirty="0">
                <a:solidFill>
                  <a:srgbClr val="006699"/>
                </a:solidFill>
              </a:rPr>
              <a:t>blocks</a:t>
            </a:r>
            <a:r>
              <a:rPr lang="en-US" altLang="en-US" dirty="0"/>
              <a:t> of </a:t>
            </a:r>
            <a:r>
              <a:rPr lang="en-US" altLang="en-US" b="1" dirty="0">
                <a:solidFill>
                  <a:srgbClr val="006699"/>
                </a:solidFill>
              </a:rPr>
              <a:t>sectors</a:t>
            </a:r>
            <a:r>
              <a:rPr lang="en-US" altLang="en-US" dirty="0"/>
              <a:t> (usually 512 bytes)</a:t>
            </a:r>
            <a:endParaRPr lang="en-US" altLang="en-US" sz="800" dirty="0"/>
          </a:p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control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block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</a:rPr>
              <a:t>FCB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storage structure consisting of information about a file</a:t>
            </a:r>
            <a:endParaRPr lang="en-US" altLang="en-US" sz="800" dirty="0"/>
          </a:p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Device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driver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controls the physical device </a:t>
            </a:r>
          </a:p>
          <a:p>
            <a:pPr algn="just"/>
            <a:r>
              <a:rPr lang="en-US" altLang="en-US" dirty="0"/>
              <a:t>File system organized into layers</a:t>
            </a:r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B4D5E75F-FA80-449A-915F-D2BD58720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Layered File System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BD9FAF-C5EA-050B-2141-0BFF16852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41F3BCD-EC43-449D-BDE4-031AB51C6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257" y="1084080"/>
            <a:ext cx="2032268" cy="3963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CDBB66CE-15D9-45C4-9141-1EC5CCDA6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 Layers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DDAD3471-F4DF-5B4A-AD80-1B5DCFD21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 b="1" dirty="0">
                <a:solidFill>
                  <a:srgbClr val="006699"/>
                </a:solidFill>
              </a:rPr>
              <a:t>Device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drivers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manage I/O devices at the I/O control layer</a:t>
            </a:r>
          </a:p>
          <a:p>
            <a:pPr marL="457200" lvl="1" indent="0" algn="just">
              <a:buNone/>
              <a:defRPr/>
            </a:pPr>
            <a:r>
              <a:rPr lang="en-US" altLang="en-US" dirty="0"/>
              <a:t>   Given commands like </a:t>
            </a:r>
          </a:p>
          <a:p>
            <a:pPr marL="457200" lvl="1" indent="0" algn="just">
              <a:buNone/>
              <a:defRPr/>
            </a:pPr>
            <a:r>
              <a:rPr lang="en-US" altLang="ja-JP" dirty="0"/>
              <a:t>        </a:t>
            </a:r>
            <a:r>
              <a:rPr lang="en-US" altLang="ja-JP" sz="1600" dirty="0"/>
              <a:t>read drive1, cylinder 72, track 2, sector 10, into memory location 1060</a:t>
            </a:r>
          </a:p>
          <a:p>
            <a:pPr marL="457200" lvl="1" indent="0" algn="just">
              <a:buNone/>
              <a:defRPr/>
            </a:pPr>
            <a:r>
              <a:rPr lang="en-US" altLang="ja-JP" dirty="0"/>
              <a:t>   Outputs low-level hardware specific commands to hardware controller</a:t>
            </a:r>
            <a:endParaRPr lang="en-US" altLang="ja-JP" b="1" dirty="0">
              <a:solidFill>
                <a:srgbClr val="3366FF"/>
              </a:solidFill>
            </a:endParaRPr>
          </a:p>
          <a:p>
            <a:pPr algn="just">
              <a:defRPr/>
            </a:pPr>
            <a:r>
              <a:rPr lang="en-US" altLang="en-US" b="1" dirty="0">
                <a:solidFill>
                  <a:srgbClr val="006699"/>
                </a:solidFill>
              </a:rPr>
              <a:t>Basic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given command like </a:t>
            </a:r>
            <a:r>
              <a:rPr lang="ja-JP" altLang="en-US" dirty="0"/>
              <a:t>“</a:t>
            </a:r>
            <a:r>
              <a:rPr lang="en-US" altLang="ja-JP" dirty="0"/>
              <a:t>retrieve block 123</a:t>
            </a:r>
            <a:r>
              <a:rPr lang="ja-JP" altLang="en-US" dirty="0"/>
              <a:t>”</a:t>
            </a:r>
            <a:r>
              <a:rPr lang="en-US" altLang="ja-JP" dirty="0"/>
              <a:t> translates to device driver</a:t>
            </a:r>
          </a:p>
          <a:p>
            <a:pPr algn="just">
              <a:defRPr/>
            </a:pPr>
            <a:r>
              <a:rPr lang="en-US" altLang="en-US" dirty="0"/>
              <a:t>Also manages memory buffers and caches (allocation, freeing, replacement) </a:t>
            </a:r>
          </a:p>
          <a:p>
            <a:pPr lvl="1" algn="just">
              <a:defRPr/>
            </a:pPr>
            <a:r>
              <a:rPr lang="en-US" altLang="en-US" dirty="0"/>
              <a:t>Buffers hold data in transit</a:t>
            </a:r>
          </a:p>
          <a:p>
            <a:pPr lvl="1" algn="just">
              <a:defRPr/>
            </a:pPr>
            <a:r>
              <a:rPr lang="en-US" altLang="en-US" dirty="0"/>
              <a:t>Caches hold frequently used data</a:t>
            </a:r>
            <a:endParaRPr lang="en-US" altLang="ja-JP" b="1" dirty="0">
              <a:solidFill>
                <a:srgbClr val="3366FF"/>
              </a:solidFill>
            </a:endParaRPr>
          </a:p>
          <a:p>
            <a:pPr algn="just">
              <a:defRPr/>
            </a:pPr>
            <a:r>
              <a:rPr lang="en-US" altLang="en-US" b="1" dirty="0">
                <a:solidFill>
                  <a:srgbClr val="006699"/>
                </a:solidFill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organization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module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understands files, logical address, and physical blocks</a:t>
            </a:r>
          </a:p>
          <a:p>
            <a:pPr marL="285750" lvl="1" algn="just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Translates logical block # to physical block #</a:t>
            </a:r>
          </a:p>
          <a:p>
            <a:pPr marL="285750" lvl="1" algn="just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Manages free space, disk allocation</a:t>
            </a:r>
          </a:p>
          <a:p>
            <a:pPr marL="1027113" lvl="3" indent="-341313" algn="just"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lang="en-US" altLang="en-US" dirty="0"/>
          </a:p>
          <a:p>
            <a:pPr lvl="1" algn="just"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lang="en-US" altLang="en-US" dirty="0"/>
          </a:p>
          <a:p>
            <a:pPr marL="1027113" lvl="3" indent="-341313" algn="just">
              <a:buClr>
                <a:srgbClr val="993300"/>
              </a:buClr>
              <a:buSzPct val="90000"/>
              <a:buFont typeface="Monotype Sorts" pitchFamily="-84" charset="2"/>
              <a:buChar char="n"/>
              <a:defRPr/>
            </a:pPr>
            <a:endParaRPr lang="en-US" altLang="en-US" dirty="0"/>
          </a:p>
          <a:p>
            <a:pPr algn="just">
              <a:defRPr/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D1679D0F-FB9C-4217-AF0B-A91D899C7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 Layers (Cont.)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190C61EE-E2DF-40C7-AD60-5A1AC90768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manages metadata information</a:t>
            </a:r>
          </a:p>
          <a:p>
            <a:pPr lvl="1" algn="just"/>
            <a:r>
              <a:rPr lang="en-US" altLang="en-US" dirty="0"/>
              <a:t>Translates file name into file number, file handle, location by maintaining file control blocks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inodes</a:t>
            </a:r>
            <a:r>
              <a:rPr lang="en-US" altLang="en-US" dirty="0"/>
              <a:t> in UNIX)</a:t>
            </a:r>
          </a:p>
          <a:p>
            <a:pPr lvl="1" algn="just"/>
            <a:r>
              <a:rPr lang="en-US" altLang="en-US" dirty="0"/>
              <a:t>Directory management</a:t>
            </a:r>
          </a:p>
          <a:p>
            <a:pPr lvl="1" algn="just"/>
            <a:r>
              <a:rPr lang="en-US" altLang="en-US" dirty="0"/>
              <a:t>Protection</a:t>
            </a:r>
          </a:p>
          <a:p>
            <a:pPr algn="just"/>
            <a:r>
              <a:rPr lang="en-US" altLang="en-US" dirty="0"/>
              <a:t>Layering useful for reducing complexity and redundancy, but adds overhead and can decrease performance </a:t>
            </a:r>
          </a:p>
          <a:p>
            <a:pPr algn="just"/>
            <a:r>
              <a:rPr lang="en-US" altLang="en-US" dirty="0"/>
              <a:t>Logical layers can be implemented by any coding method according to OS designer</a:t>
            </a: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432C148-39C6-43A1-9B46-BD1D8A3A8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File System Layers (Cont.)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A04F131A-A739-914E-88E5-9EB8F84E8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altLang="en-US" dirty="0"/>
              <a:t>Many file systems, sometimes many within an operating system</a:t>
            </a:r>
          </a:p>
          <a:p>
            <a:pPr lvl="1" algn="just">
              <a:defRPr/>
            </a:pPr>
            <a:r>
              <a:rPr lang="en-US" altLang="en-US" dirty="0"/>
              <a:t>Each with its own format:</a:t>
            </a:r>
          </a:p>
          <a:p>
            <a:pPr lvl="1" algn="just">
              <a:defRPr/>
            </a:pPr>
            <a:r>
              <a:rPr lang="en-US" altLang="en-US" dirty="0"/>
              <a:t>CD-ROM is ISO 9660; </a:t>
            </a:r>
          </a:p>
          <a:p>
            <a:pPr lvl="1" algn="just">
              <a:defRPr/>
            </a:pPr>
            <a:r>
              <a:rPr lang="en-US" altLang="en-US" dirty="0"/>
              <a:t>Unix has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UFS</a:t>
            </a:r>
            <a:r>
              <a:rPr lang="en-US" altLang="en-US" dirty="0"/>
              <a:t>, FFS;  </a:t>
            </a:r>
          </a:p>
          <a:p>
            <a:pPr lvl="1" algn="just">
              <a:defRPr/>
            </a:pPr>
            <a:r>
              <a:rPr lang="en-US" altLang="en-US" dirty="0"/>
              <a:t>Windows has FAT, FAT32, NTFS as well as floppy, CD, DVD Blu-ray, </a:t>
            </a:r>
          </a:p>
          <a:p>
            <a:pPr lvl="1" algn="just">
              <a:defRPr/>
            </a:pPr>
            <a:r>
              <a:rPr lang="en-US" altLang="en-US" dirty="0"/>
              <a:t>Linux has more than 130 types,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extended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system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ext3 and ext4 leading; plus distributed file systems, etc.)</a:t>
            </a:r>
          </a:p>
          <a:p>
            <a:pPr lvl="1" algn="just">
              <a:defRPr/>
            </a:pPr>
            <a:r>
              <a:rPr lang="en-US" altLang="en-US" dirty="0"/>
              <a:t>New ones still arriving – ZFS, </a:t>
            </a:r>
            <a:r>
              <a:rPr lang="en-US" altLang="en-US" dirty="0" err="1"/>
              <a:t>GoogleFS</a:t>
            </a:r>
            <a:r>
              <a:rPr lang="en-US" altLang="en-US" dirty="0"/>
              <a:t>, Oracle ASM, FUSE</a:t>
            </a:r>
          </a:p>
          <a:p>
            <a:pPr marL="0" lvl="1" indent="0" algn="just">
              <a:buClr>
                <a:srgbClr val="993300"/>
              </a:buClr>
              <a:buSzPct val="90000"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DB183F6F-CF73-40EC-8D07-F3938BC23E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File-System Operations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F5FDD909-A5BC-4211-8C91-9570F3CAE4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We have system calls at the API level, but how do we implement their functions?</a:t>
            </a:r>
          </a:p>
          <a:p>
            <a:pPr lvl="1" algn="just"/>
            <a:r>
              <a:rPr lang="en-US" altLang="en-US" dirty="0"/>
              <a:t>On-disk and in-memory structures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Boot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control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block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info needed by system to boot OS from that volume</a:t>
            </a:r>
          </a:p>
          <a:p>
            <a:pPr lvl="1" algn="just"/>
            <a:r>
              <a:rPr lang="en-US" altLang="en-US" dirty="0"/>
              <a:t>Needed if volume contains OS, usually first block of volume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Volume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control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block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006699"/>
                </a:solidFill>
              </a:rPr>
              <a:t>superblock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</a:rPr>
              <a:t>master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table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volume details</a:t>
            </a:r>
          </a:p>
          <a:p>
            <a:pPr lvl="1" algn="just"/>
            <a:r>
              <a:rPr lang="en-US" altLang="en-US" dirty="0"/>
              <a:t>Total # of blocks, # of free blocks, block size, free block pointers or array</a:t>
            </a:r>
          </a:p>
          <a:p>
            <a:pPr algn="just"/>
            <a:r>
              <a:rPr lang="en-US" altLang="en-US" dirty="0"/>
              <a:t>Directory structure organizes the files</a:t>
            </a:r>
          </a:p>
          <a:p>
            <a:pPr lvl="1" algn="just"/>
            <a:r>
              <a:rPr lang="en-US" altLang="en-US" dirty="0"/>
              <a:t>Names and inode numbers, master file table</a:t>
            </a: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A61E6968-23CC-4041-AF8F-B396E75F10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 Control Block (FCB)</a:t>
            </a:r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5CBF3188-619B-44AD-816A-4D225B7F40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OS maintains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FCB </a:t>
            </a:r>
            <a:r>
              <a:rPr lang="en-US" altLang="en-US" dirty="0"/>
              <a:t>per file, which  contains many details about the file</a:t>
            </a:r>
          </a:p>
          <a:p>
            <a:pPr lvl="1"/>
            <a:r>
              <a:rPr lang="en-US" altLang="en-US" dirty="0"/>
              <a:t>Typically, inode number, permissions, size, dates</a:t>
            </a:r>
          </a:p>
          <a:p>
            <a:pPr lvl="1"/>
            <a:r>
              <a:rPr lang="en-US" altLang="en-US" dirty="0"/>
              <a:t>Example</a:t>
            </a:r>
          </a:p>
        </p:txBody>
      </p:sp>
      <p:pic>
        <p:nvPicPr>
          <p:cNvPr id="20483" name="Picture 5">
            <a:extLst>
              <a:ext uri="{FF2B5EF4-FFF2-40B4-BE49-F238E27FC236}">
                <a16:creationId xmlns:a16="http://schemas.microsoft.com/office/drawing/2014/main" id="{8A6DDED1-6F8C-4F20-B323-225ED207A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973" y="2450025"/>
            <a:ext cx="3509963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5544668"/>
      </p:ext>
    </p:extLst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68A77BF0-2C8E-4F2C-B89E-F2540B5B7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In-Memory File System Structures</a:t>
            </a:r>
            <a:endParaRPr lang="en-US" altLang="en-US" sz="2400" dirty="0"/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1E835648-11EB-4E90-AC6E-4D8B1CA721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Mount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storing file system mounts, mount points, file system types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System-wide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a copy of the FCB of each file and other info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Per-process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pointers to appropriate entries in system-wide open-file table as well as other info</a:t>
            </a:r>
          </a:p>
        </p:txBody>
      </p:sp>
    </p:spTree>
    <p:extLst>
      <p:ext uri="{BB962C8B-B14F-4D97-AF65-F5344CB8AC3E}">
        <p14:creationId xmlns:p14="http://schemas.microsoft.com/office/powerpoint/2010/main" val="1109917354"/>
      </p:ext>
    </p:extLst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    </a:t>
            </a:r>
            <a:r>
              <a:rPr lang="en-US" altLang="en-US" sz="2600" dirty="0"/>
              <a:t>In-Memory File System Structures (Cont.)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12B00B-453A-FB4D-AC48-0CCAA6E33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3D355-C374-41BE-A357-8FAA3AFB180F}"/>
              </a:ext>
            </a:extLst>
          </p:cNvPr>
          <p:cNvSpPr txBox="1"/>
          <p:nvPr/>
        </p:nvSpPr>
        <p:spPr>
          <a:xfrm>
            <a:off x="1883839" y="4748014"/>
            <a:ext cx="90692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Figure 12-3(a) refers to opening a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/>
              <a:t>Figure 12-3(b) refers to reading a file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04D60CE-9492-4C52-953C-41BCDAEC4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756" y="2109985"/>
            <a:ext cx="5561814" cy="2638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3895263"/>
      </p:ext>
    </p:extLst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9A7410E7-C0B6-445B-BBAA-599F64C56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Directory Implementation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2EE0C515-D4D8-4F71-A517-A56958181A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Linear list</a:t>
            </a:r>
            <a:r>
              <a:rPr lang="en-US" altLang="en-US" dirty="0"/>
              <a:t> of file names with pointer to the data blocks</a:t>
            </a:r>
          </a:p>
          <a:p>
            <a:pPr lvl="1"/>
            <a:r>
              <a:rPr lang="en-US" altLang="en-US" dirty="0"/>
              <a:t>Simple to program</a:t>
            </a:r>
          </a:p>
          <a:p>
            <a:pPr lvl="1"/>
            <a:r>
              <a:rPr lang="en-US" altLang="en-US" dirty="0"/>
              <a:t>Time-consuming to execute</a:t>
            </a:r>
          </a:p>
          <a:p>
            <a:pPr lvl="2"/>
            <a:r>
              <a:rPr lang="en-US" altLang="en-US" dirty="0"/>
              <a:t>Linear search time</a:t>
            </a:r>
          </a:p>
          <a:p>
            <a:pPr lvl="2"/>
            <a:r>
              <a:rPr lang="en-US" altLang="en-US" dirty="0"/>
              <a:t>Could keep ordered alphabetically via linked list or use B+ tree</a:t>
            </a:r>
          </a:p>
          <a:p>
            <a:r>
              <a:rPr lang="en-US" altLang="en-US" b="1" dirty="0"/>
              <a:t>Hash Table</a:t>
            </a:r>
            <a:r>
              <a:rPr lang="en-US" altLang="en-US" dirty="0"/>
              <a:t> – linear list with hash data structure</a:t>
            </a:r>
          </a:p>
          <a:p>
            <a:pPr lvl="1"/>
            <a:r>
              <a:rPr lang="en-US" altLang="en-US" dirty="0"/>
              <a:t>Decreases directory search time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Collisions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situations where two file names hash to the same location</a:t>
            </a:r>
          </a:p>
          <a:p>
            <a:pPr lvl="1"/>
            <a:r>
              <a:rPr lang="en-US" altLang="en-US" dirty="0"/>
              <a:t>Only good if entries are fixed size, or use chained-overflow method</a:t>
            </a:r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7D1D344F-2489-423C-966A-8CA1658CC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Allocation Method 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A43BF954-6E80-4C8F-8A87-81BA8B4295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 allocation method refers to how disk blocks are allocated for files:</a:t>
            </a:r>
          </a:p>
          <a:p>
            <a:pPr lvl="1"/>
            <a:r>
              <a:rPr lang="en-US" altLang="en-US" dirty="0"/>
              <a:t>Contiguous</a:t>
            </a:r>
          </a:p>
          <a:p>
            <a:pPr lvl="1"/>
            <a:r>
              <a:rPr lang="en-US" altLang="en-US" dirty="0"/>
              <a:t>Linked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File Allocation Table (FAT)</a:t>
            </a: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7D1D344F-2489-423C-966A-8CA1658CC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Contiguous Allocation Method 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A43BF954-6E80-4C8F-8A87-81BA8B4295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An allocation method refers to how disk blocks are allocated for files:</a:t>
            </a:r>
          </a:p>
          <a:p>
            <a:pPr algn="just"/>
            <a:r>
              <a:rPr lang="en-US" altLang="en-US" dirty="0"/>
              <a:t>Each file occupies set of contiguous blocks</a:t>
            </a:r>
          </a:p>
          <a:p>
            <a:pPr lvl="1" algn="just"/>
            <a:r>
              <a:rPr lang="en-US" altLang="en-US" dirty="0"/>
              <a:t>Best performance in most cases</a:t>
            </a:r>
          </a:p>
          <a:p>
            <a:pPr lvl="1" algn="just"/>
            <a:r>
              <a:rPr lang="en-US" altLang="en-US" dirty="0"/>
              <a:t>Simple – only starting location (block #) and length (number of blocks) are required</a:t>
            </a:r>
          </a:p>
          <a:p>
            <a:pPr lvl="1" algn="just"/>
            <a:r>
              <a:rPr lang="en-US" altLang="en-US" dirty="0"/>
              <a:t>Problems include:</a:t>
            </a:r>
          </a:p>
          <a:p>
            <a:pPr lvl="2" algn="just"/>
            <a:r>
              <a:rPr lang="en-US" altLang="en-US" dirty="0"/>
              <a:t>Finding space on the disk for a file, </a:t>
            </a:r>
          </a:p>
          <a:p>
            <a:pPr lvl="2" algn="just"/>
            <a:r>
              <a:rPr lang="en-US" altLang="en-US" dirty="0"/>
              <a:t>Knowing file size, </a:t>
            </a:r>
          </a:p>
          <a:p>
            <a:pPr lvl="2" algn="just"/>
            <a:r>
              <a:rPr lang="en-US" altLang="en-US" dirty="0"/>
              <a:t>External fragmentation, need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off-line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downtime</a:t>
            </a:r>
            <a:r>
              <a:rPr lang="en-US" altLang="en-US" dirty="0"/>
              <a:t>)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on-line</a:t>
            </a:r>
          </a:p>
          <a:p>
            <a:pPr algn="just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0989861"/>
      </p:ext>
    </p:extLst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01B6035C-73CC-40FB-91DB-0AE075EBF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64C71157-C3D6-4B84-8D4C-44CE466515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Mapping from logical to physical (block size =512 bytes)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kumimoji="0" lang="en-US" altLang="en-US" dirty="0"/>
              <a:t>Block to be accessed = starting address +  Q</a:t>
            </a:r>
          </a:p>
          <a:p>
            <a:r>
              <a:rPr kumimoji="0" lang="en-US" altLang="en-US" dirty="0"/>
              <a:t>Displacement into block = R</a:t>
            </a:r>
          </a:p>
          <a:p>
            <a:endParaRPr kumimoji="0" lang="en-US" altLang="en-US" dirty="0"/>
          </a:p>
          <a:p>
            <a:endParaRPr kumimoji="0"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grpSp>
        <p:nvGrpSpPr>
          <p:cNvPr id="30723" name="Group 1">
            <a:extLst>
              <a:ext uri="{FF2B5EF4-FFF2-40B4-BE49-F238E27FC236}">
                <a16:creationId xmlns:a16="http://schemas.microsoft.com/office/drawing/2014/main" id="{429E2E25-91F1-497A-9894-902FC32A767D}"/>
              </a:ext>
            </a:extLst>
          </p:cNvPr>
          <p:cNvGrpSpPr>
            <a:grpSpLocks/>
          </p:cNvGrpSpPr>
          <p:nvPr/>
        </p:nvGrpSpPr>
        <p:grpSpPr bwMode="auto">
          <a:xfrm>
            <a:off x="5509044" y="2260658"/>
            <a:ext cx="1917700" cy="1606994"/>
            <a:chOff x="2655888" y="2107429"/>
            <a:chExt cx="1917700" cy="1425530"/>
          </a:xfrm>
        </p:grpSpPr>
        <p:sp>
          <p:nvSpPr>
            <p:cNvPr id="30726" name="Text Box 4">
              <a:extLst>
                <a:ext uri="{FF2B5EF4-FFF2-40B4-BE49-F238E27FC236}">
                  <a16:creationId xmlns:a16="http://schemas.microsoft.com/office/drawing/2014/main" id="{891B6133-0CE2-4CAB-BD0C-DF9887978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888" y="2564629"/>
              <a:ext cx="1265237" cy="409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LA/512</a:t>
              </a:r>
            </a:p>
          </p:txBody>
        </p:sp>
        <p:sp>
          <p:nvSpPr>
            <p:cNvPr id="30727" name="Text Box 5">
              <a:extLst>
                <a:ext uri="{FF2B5EF4-FFF2-40B4-BE49-F238E27FC236}">
                  <a16:creationId xmlns:a16="http://schemas.microsoft.com/office/drawing/2014/main" id="{ED77BC9D-906B-44CC-879C-905DB8893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8725" y="2107429"/>
              <a:ext cx="804863" cy="409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</a:p>
          </p:txBody>
        </p:sp>
        <p:sp>
          <p:nvSpPr>
            <p:cNvPr id="30728" name="Text Box 6">
              <a:extLst>
                <a:ext uri="{FF2B5EF4-FFF2-40B4-BE49-F238E27FC236}">
                  <a16:creationId xmlns:a16="http://schemas.microsoft.com/office/drawing/2014/main" id="{82CDC4B6-B116-441F-A90B-EB63E38A1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5875" y="3123429"/>
              <a:ext cx="635000" cy="409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</a:p>
          </p:txBody>
        </p:sp>
        <p:sp>
          <p:nvSpPr>
            <p:cNvPr id="30729" name="Line 7">
              <a:extLst>
                <a:ext uri="{FF2B5EF4-FFF2-40B4-BE49-F238E27FC236}">
                  <a16:creationId xmlns:a16="http://schemas.microsoft.com/office/drawing/2014/main" id="{B2B782C1-0F3D-4F8F-9D2F-50987E117B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75327" y="2437022"/>
              <a:ext cx="309298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0730" name="Line 8">
              <a:extLst>
                <a:ext uri="{FF2B5EF4-FFF2-40B4-BE49-F238E27FC236}">
                  <a16:creationId xmlns:a16="http://schemas.microsoft.com/office/drawing/2014/main" id="{0EA63DA7-9F65-4258-8D33-08DAE7B2B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1575" y="2954338"/>
              <a:ext cx="273050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  <p:sp>
        <p:nvSpPr>
          <p:cNvPr id="30724" name="Rectangle 10">
            <a:extLst>
              <a:ext uri="{FF2B5EF4-FFF2-40B4-BE49-F238E27FC236}">
                <a16:creationId xmlns:a16="http://schemas.microsoft.com/office/drawing/2014/main" id="{FC1F0FF6-71D8-4EC9-852F-D23B2F22A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5111751"/>
            <a:ext cx="404653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dirty="0"/>
          </a:p>
        </p:txBody>
      </p:sp>
      <p:pic>
        <p:nvPicPr>
          <p:cNvPr id="30725" name="Picture 2">
            <a:extLst>
              <a:ext uri="{FF2B5EF4-FFF2-40B4-BE49-F238E27FC236}">
                <a16:creationId xmlns:a16="http://schemas.microsoft.com/office/drawing/2014/main" id="{8BF5A203-E081-4642-BFFE-9B835CC72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044" y="1653307"/>
            <a:ext cx="3351213" cy="336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E4F1D237-1A77-4D9A-8FB6-455EB9DA9D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Extent-Based Systems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2E631805-02AD-49C0-955E-FB94C77C81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Many newer file systems (i.e., Veritas File System) use a modified contiguous allocation scheme</a:t>
            </a:r>
          </a:p>
          <a:p>
            <a:pPr algn="just"/>
            <a:r>
              <a:rPr lang="en-US" altLang="en-US" dirty="0"/>
              <a:t>Extent-based file systems allocate disk blocks in extents</a:t>
            </a:r>
          </a:p>
          <a:p>
            <a:pPr algn="just"/>
            <a:r>
              <a:rPr lang="en-US" altLang="en-US" dirty="0"/>
              <a:t>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a contiguous block of disks</a:t>
            </a:r>
          </a:p>
          <a:p>
            <a:pPr lvl="1" algn="just"/>
            <a:r>
              <a:rPr lang="en-US" altLang="en-US" dirty="0"/>
              <a:t>Extents are allocated for file allocation</a:t>
            </a:r>
          </a:p>
          <a:p>
            <a:pPr lvl="1" algn="just"/>
            <a:r>
              <a:rPr lang="en-US" altLang="en-US" dirty="0"/>
              <a:t>A file consists of one or more extents</a:t>
            </a:r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49E77B6F-3B15-4A36-824B-076A9FF92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Linked Allocation</a:t>
            </a:r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C812DEB8-54C8-45BC-9398-B7AE3CB5BE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>
                <a:solidFill>
                  <a:srgbClr val="000000"/>
                </a:solidFill>
              </a:rPr>
              <a:t>Each file is a linked list of blocks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</a:rPr>
              <a:t>File ends at nil pointer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</a:rPr>
              <a:t>No external fragmentation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</a:rPr>
              <a:t>Each block contains pointer to next block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</a:rPr>
              <a:t>No compaction, external fragmentation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</a:rPr>
              <a:t>Free space management system called when new block needed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</a:rPr>
              <a:t>Improve efficiency by clustering blocks into groups but increases internal fragmentation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</a:rPr>
              <a:t>Reliability can be a problem</a:t>
            </a:r>
          </a:p>
          <a:p>
            <a:pPr algn="just"/>
            <a:r>
              <a:rPr lang="en-US" altLang="en-US" dirty="0">
                <a:solidFill>
                  <a:srgbClr val="000000"/>
                </a:solidFill>
              </a:rPr>
              <a:t>Locating a block can take many I/</a:t>
            </a:r>
            <a:r>
              <a:rPr lang="en-US" altLang="en-US" dirty="0" err="1">
                <a:solidFill>
                  <a:srgbClr val="000000"/>
                </a:solidFill>
              </a:rPr>
              <a:t>Os</a:t>
            </a:r>
            <a:r>
              <a:rPr lang="en-US" altLang="en-US" dirty="0">
                <a:solidFill>
                  <a:srgbClr val="000000"/>
                </a:solidFill>
              </a:rPr>
              <a:t> and disk seeks</a:t>
            </a:r>
          </a:p>
          <a:p>
            <a:pPr algn="just">
              <a:buFont typeface="Monotype Sorts" pitchFamily="-84" charset="2"/>
              <a:buNone/>
            </a:pPr>
            <a:endParaRPr lang="en-US" altLang="en-US" dirty="0"/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2DFBE6AC-1BA8-4025-A63D-ACE3D4DEB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Linked Allocation Example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93B1D99E-E031-4323-B82A-79E5FF2252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Each file is a linked list of disk blocks: blocks may be scattered anywhere on the disk</a:t>
            </a:r>
          </a:p>
          <a:p>
            <a:r>
              <a:rPr lang="en-US" altLang="en-US" dirty="0"/>
              <a:t>Scheme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D1DAAFC-8771-42A5-95BE-092296541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862" y="2073896"/>
            <a:ext cx="3301432" cy="3394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5834417"/>
      </p:ext>
    </p:extLst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2DFBE6AC-1BA8-4025-A63D-ACE3D4DEB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Linked Allocation (Cont.)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93B1D99E-E031-4323-B82A-79E5FF2252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Mapping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Block to be accessed is the Q</a:t>
            </a:r>
            <a:r>
              <a:rPr lang="en-US" altLang="en-US" baseline="30000" dirty="0"/>
              <a:t>th</a:t>
            </a:r>
            <a:r>
              <a:rPr lang="en-US" altLang="en-US" dirty="0"/>
              <a:t> block in the linked chain of blocks representing the file.</a:t>
            </a:r>
          </a:p>
          <a:p>
            <a:r>
              <a:rPr lang="en-US" altLang="en-US" dirty="0"/>
              <a:t>Displacement into block = R + 1</a:t>
            </a:r>
          </a:p>
          <a:p>
            <a:endParaRPr lang="en-US" altLang="en-US" dirty="0"/>
          </a:p>
        </p:txBody>
      </p:sp>
      <p:grpSp>
        <p:nvGrpSpPr>
          <p:cNvPr id="36870" name="Group 1">
            <a:extLst>
              <a:ext uri="{FF2B5EF4-FFF2-40B4-BE49-F238E27FC236}">
                <a16:creationId xmlns:a16="http://schemas.microsoft.com/office/drawing/2014/main" id="{65C621B7-3C10-491F-A311-0EAE38CF84A9}"/>
              </a:ext>
            </a:extLst>
          </p:cNvPr>
          <p:cNvGrpSpPr>
            <a:grpSpLocks/>
          </p:cNvGrpSpPr>
          <p:nvPr/>
        </p:nvGrpSpPr>
        <p:grpSpPr bwMode="auto">
          <a:xfrm>
            <a:off x="3339077" y="2106308"/>
            <a:ext cx="1529908" cy="1203019"/>
            <a:chOff x="3117076" y="3928198"/>
            <a:chExt cx="1517293" cy="999516"/>
          </a:xfrm>
        </p:grpSpPr>
        <p:sp>
          <p:nvSpPr>
            <p:cNvPr id="36871" name="Text Box 5">
              <a:extLst>
                <a:ext uri="{FF2B5EF4-FFF2-40B4-BE49-F238E27FC236}">
                  <a16:creationId xmlns:a16="http://schemas.microsoft.com/office/drawing/2014/main" id="{C6DFE8F1-C390-4E0F-9B40-03FC3F118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7076" y="4244111"/>
              <a:ext cx="1128674" cy="383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LA/511</a:t>
              </a:r>
            </a:p>
          </p:txBody>
        </p:sp>
        <p:sp>
          <p:nvSpPr>
            <p:cNvPr id="36872" name="Text Box 6">
              <a:extLst>
                <a:ext uri="{FF2B5EF4-FFF2-40B4-BE49-F238E27FC236}">
                  <a16:creationId xmlns:a16="http://schemas.microsoft.com/office/drawing/2014/main" id="{01A1A44A-DD26-432B-8D4C-0478EF091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357" y="3928198"/>
              <a:ext cx="420012" cy="383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Q</a:t>
              </a:r>
            </a:p>
          </p:txBody>
        </p:sp>
        <p:sp>
          <p:nvSpPr>
            <p:cNvPr id="36873" name="Text Box 7">
              <a:extLst>
                <a:ext uri="{FF2B5EF4-FFF2-40B4-BE49-F238E27FC236}">
                  <a16:creationId xmlns:a16="http://schemas.microsoft.com/office/drawing/2014/main" id="{9694045C-0E72-4114-AAB0-B9882F584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5956" y="4544148"/>
              <a:ext cx="404114" cy="383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</a:p>
          </p:txBody>
        </p:sp>
        <p:sp>
          <p:nvSpPr>
            <p:cNvPr id="36874" name="Line 8">
              <a:extLst>
                <a:ext uri="{FF2B5EF4-FFF2-40B4-BE49-F238E27FC236}">
                  <a16:creationId xmlns:a16="http://schemas.microsoft.com/office/drawing/2014/main" id="{873BF068-5475-4EFA-A110-5153CBD5C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9713" y="4177925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6875" name="Line 9">
              <a:extLst>
                <a:ext uri="{FF2B5EF4-FFF2-40B4-BE49-F238E27FC236}">
                  <a16:creationId xmlns:a16="http://schemas.microsoft.com/office/drawing/2014/main" id="{3804C853-554B-4EC0-9E2B-7D400B32F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650" y="4489075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3729837"/>
      </p:ext>
    </p:extLst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6AD98AD2-566F-4E16-8F5C-F3D1605AB7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FAT Allocation Method</a:t>
            </a:r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132984ED-2CEE-456C-B2BE-B934D84A75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Beginning of volume has table, indexed by block number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Much like a linked list, but faster on disk and cacheable 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New block allocation simple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4514127"/>
      </p:ext>
    </p:extLst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File-Allocation Table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CBA51-E7A6-29C3-930E-B4626C535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B119AC-E5F4-496B-8F1B-213A20BFA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3" y="1311911"/>
            <a:ext cx="45212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842938"/>
      </p:ext>
    </p:extLst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C7D0E9CB-2004-49C6-A4D6-E1009C53A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Indexed Allocation Method</a:t>
            </a:r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1DDB8330-F894-4E51-93AF-DA9581F528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0000"/>
                </a:solidFill>
              </a:rPr>
              <a:t>Each file has its own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index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dirty="0">
                <a:solidFill>
                  <a:srgbClr val="000000"/>
                </a:solidFill>
              </a:rPr>
              <a:t>(s) of pointers to its data blocks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Logical view</a:t>
            </a:r>
          </a:p>
          <a:p>
            <a:endParaRPr lang="en-US" altLang="en-US" dirty="0"/>
          </a:p>
        </p:txBody>
      </p:sp>
      <p:pic>
        <p:nvPicPr>
          <p:cNvPr id="43011" name="Picture 2">
            <a:extLst>
              <a:ext uri="{FF2B5EF4-FFF2-40B4-BE49-F238E27FC236}">
                <a16:creationId xmlns:a16="http://schemas.microsoft.com/office/drawing/2014/main" id="{08996236-7165-4194-8532-3E971EE9B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118" y="1898333"/>
            <a:ext cx="22860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of Indexed Allocation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E20AA9-B8FC-F5E5-ECD8-D02C7A946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F294D38-7D42-45D3-9B30-7457D4CE0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958" y="1219200"/>
            <a:ext cx="4790677" cy="4199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3489727"/>
      </p:ext>
    </p:extLst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D30FA68E-B833-41C0-B106-79543D739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Performance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C896B287-3FBB-473F-ACED-B39602FBE4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Best method depends on file access type</a:t>
            </a:r>
          </a:p>
          <a:p>
            <a:pPr lvl="1" algn="just"/>
            <a:r>
              <a:rPr lang="en-US" altLang="en-US" dirty="0"/>
              <a:t>Contiguous great for sequential and random</a:t>
            </a:r>
          </a:p>
          <a:p>
            <a:pPr algn="just"/>
            <a:r>
              <a:rPr lang="en-US" altLang="en-US" dirty="0"/>
              <a:t>Linked good for sequential, not random</a:t>
            </a:r>
          </a:p>
          <a:p>
            <a:pPr algn="just"/>
            <a:r>
              <a:rPr lang="en-US" altLang="en-US" dirty="0"/>
              <a:t>Declare access type at creation</a:t>
            </a:r>
          </a:p>
          <a:p>
            <a:pPr lvl="1" algn="just"/>
            <a:r>
              <a:rPr lang="en-US" altLang="en-US" dirty="0"/>
              <a:t> Select either contiguous or linked</a:t>
            </a:r>
          </a:p>
          <a:p>
            <a:pPr algn="just"/>
            <a:r>
              <a:rPr lang="en-US" altLang="en-US" dirty="0"/>
              <a:t>Indexed more complex</a:t>
            </a:r>
          </a:p>
          <a:p>
            <a:pPr lvl="1" algn="just"/>
            <a:r>
              <a:rPr lang="en-US" altLang="en-US" dirty="0"/>
              <a:t>Single block access could require 2 index block reads then data block read</a:t>
            </a:r>
          </a:p>
          <a:p>
            <a:pPr lvl="1" algn="just"/>
            <a:r>
              <a:rPr lang="en-US" altLang="en-US" dirty="0"/>
              <a:t>Clustering can help improve throughput, reduce CPU overhead</a:t>
            </a:r>
          </a:p>
          <a:p>
            <a:pPr algn="just"/>
            <a:r>
              <a:rPr lang="en-US" altLang="en-US" dirty="0"/>
              <a:t>For NVM, no disk head so different algorithms and optimizations needed</a:t>
            </a:r>
          </a:p>
          <a:p>
            <a:pPr lvl="1" algn="just"/>
            <a:r>
              <a:rPr lang="en-US" altLang="en-US" dirty="0"/>
              <a:t>Using old algorithm uses many CPU cycles trying to avoid non-existent head movement</a:t>
            </a:r>
          </a:p>
          <a:p>
            <a:pPr lvl="1" algn="just"/>
            <a:r>
              <a:rPr lang="en-US" altLang="en-US" dirty="0"/>
              <a:t>Goal is to reduce CPU cycles and overall path needed for I/O</a:t>
            </a:r>
          </a:p>
          <a:p>
            <a:pPr lvl="1"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8A91CD5-FE83-4A4C-A1F9-18F81B308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Free-Space Management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78A2FABB-4281-4B28-ACD1-C9796D0379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File system maintains </a:t>
            </a:r>
            <a:r>
              <a:rPr lang="en-US" altLang="en-US" b="1" dirty="0">
                <a:solidFill>
                  <a:srgbClr val="006699"/>
                </a:solidFill>
              </a:rPr>
              <a:t>free-space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list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track available blocks/clusters</a:t>
            </a:r>
          </a:p>
          <a:p>
            <a:pPr lvl="1" algn="just"/>
            <a:r>
              <a:rPr lang="en-US" altLang="en-US" dirty="0"/>
              <a:t>(Using term </a:t>
            </a:r>
            <a:r>
              <a:rPr lang="ja-JP" altLang="en-US" dirty="0"/>
              <a:t>“</a:t>
            </a:r>
            <a:r>
              <a:rPr lang="en-US" altLang="ja-JP" dirty="0"/>
              <a:t>block</a:t>
            </a:r>
            <a:r>
              <a:rPr lang="ja-JP" altLang="en-US" dirty="0"/>
              <a:t>”</a:t>
            </a:r>
            <a:r>
              <a:rPr lang="en-US" altLang="ja-JP" dirty="0"/>
              <a:t> for simplicity)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vector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006699"/>
                </a:solidFill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map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 (</a:t>
            </a:r>
            <a:r>
              <a:rPr lang="en-US" altLang="en-US" b="1" i="1" dirty="0"/>
              <a:t>n</a:t>
            </a:r>
            <a:r>
              <a:rPr lang="en-US" altLang="en-US" dirty="0"/>
              <a:t> blocks)</a:t>
            </a:r>
          </a:p>
        </p:txBody>
      </p:sp>
      <p:grpSp>
        <p:nvGrpSpPr>
          <p:cNvPr id="58371" name="Group 1">
            <a:extLst>
              <a:ext uri="{FF2B5EF4-FFF2-40B4-BE49-F238E27FC236}">
                <a16:creationId xmlns:a16="http://schemas.microsoft.com/office/drawing/2014/main" id="{7BC7A96A-A4BD-4E26-B8CD-B48268F5DE36}"/>
              </a:ext>
            </a:extLst>
          </p:cNvPr>
          <p:cNvGrpSpPr>
            <a:grpSpLocks/>
          </p:cNvGrpSpPr>
          <p:nvPr/>
        </p:nvGrpSpPr>
        <p:grpSpPr bwMode="auto">
          <a:xfrm>
            <a:off x="4754438" y="2646776"/>
            <a:ext cx="3278133" cy="1549260"/>
            <a:chOff x="2520394" y="2144222"/>
            <a:chExt cx="5389828" cy="2148390"/>
          </a:xfrm>
        </p:grpSpPr>
        <p:sp>
          <p:nvSpPr>
            <p:cNvPr id="58375" name="Rectangle 4">
              <a:extLst>
                <a:ext uri="{FF2B5EF4-FFF2-40B4-BE49-F238E27FC236}">
                  <a16:creationId xmlns:a16="http://schemas.microsoft.com/office/drawing/2014/main" id="{AB54A8BB-9D7F-44CC-BFF8-70F4234A2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83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76" name="Rectangle 5">
              <a:extLst>
                <a:ext uri="{FF2B5EF4-FFF2-40B4-BE49-F238E27FC236}">
                  <a16:creationId xmlns:a16="http://schemas.microsoft.com/office/drawing/2014/main" id="{EAEF655E-33E9-4B70-B49C-A4A8CBEA5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77" name="Rectangle 6">
              <a:extLst>
                <a:ext uri="{FF2B5EF4-FFF2-40B4-BE49-F238E27FC236}">
                  <a16:creationId xmlns:a16="http://schemas.microsoft.com/office/drawing/2014/main" id="{C0A6BE61-E844-430E-976F-0089E85BF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78" name="Rectangle 7">
              <a:extLst>
                <a:ext uri="{FF2B5EF4-FFF2-40B4-BE49-F238E27FC236}">
                  <a16:creationId xmlns:a16="http://schemas.microsoft.com/office/drawing/2014/main" id="{FB0D5A0C-899B-49E9-B986-F319B1390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3675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79" name="Rectangle 8">
              <a:extLst>
                <a:ext uri="{FF2B5EF4-FFF2-40B4-BE49-F238E27FC236}">
                  <a16:creationId xmlns:a16="http://schemas.microsoft.com/office/drawing/2014/main" id="{7BE858CC-2082-47B5-B5A0-81C087F9A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28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80" name="Rectangle 9">
              <a:extLst>
                <a:ext uri="{FF2B5EF4-FFF2-40B4-BE49-F238E27FC236}">
                  <a16:creationId xmlns:a16="http://schemas.microsoft.com/office/drawing/2014/main" id="{04B6F0F4-8794-4DC3-82C0-1B450CEF2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81" name="Rectangle 10">
              <a:extLst>
                <a:ext uri="{FF2B5EF4-FFF2-40B4-BE49-F238E27FC236}">
                  <a16:creationId xmlns:a16="http://schemas.microsoft.com/office/drawing/2014/main" id="{685CDFC0-E903-4D6C-BFA7-C133751C8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850" y="2627313"/>
              <a:ext cx="1219200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800"/>
                <a:t>…</a:t>
              </a:r>
            </a:p>
          </p:txBody>
        </p:sp>
        <p:sp>
          <p:nvSpPr>
            <p:cNvPr id="58382" name="Rectangle 11">
              <a:extLst>
                <a:ext uri="{FF2B5EF4-FFF2-40B4-BE49-F238E27FC236}">
                  <a16:creationId xmlns:a16="http://schemas.microsoft.com/office/drawing/2014/main" id="{AF21A2ED-8D6B-48C1-B1C8-71C3895D6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20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83" name="Text Box 12">
              <a:extLst>
                <a:ext uri="{FF2B5EF4-FFF2-40B4-BE49-F238E27FC236}">
                  <a16:creationId xmlns:a16="http://schemas.microsoft.com/office/drawing/2014/main" id="{DF4E7314-1B2A-41B3-A9A8-3E758D460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9203" y="2144222"/>
              <a:ext cx="514456" cy="512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/>
                <a:t>0</a:t>
              </a:r>
            </a:p>
          </p:txBody>
        </p:sp>
        <p:sp>
          <p:nvSpPr>
            <p:cNvPr id="58384" name="Text Box 13">
              <a:extLst>
                <a:ext uri="{FF2B5EF4-FFF2-40B4-BE49-F238E27FC236}">
                  <a16:creationId xmlns:a16="http://schemas.microsoft.com/office/drawing/2014/main" id="{B8BC4A03-7296-496D-8FA7-15DF9474B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004" y="2144222"/>
              <a:ext cx="514456" cy="512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/>
                <a:t>1</a:t>
              </a:r>
            </a:p>
          </p:txBody>
        </p:sp>
        <p:sp>
          <p:nvSpPr>
            <p:cNvPr id="58385" name="Text Box 14">
              <a:extLst>
                <a:ext uri="{FF2B5EF4-FFF2-40B4-BE49-F238E27FC236}">
                  <a16:creationId xmlns:a16="http://schemas.microsoft.com/office/drawing/2014/main" id="{81AAB3E4-73EA-4D39-ACC8-D197152F6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1203" y="2144222"/>
              <a:ext cx="514456" cy="512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dirty="0"/>
                <a:t>2</a:t>
              </a:r>
            </a:p>
          </p:txBody>
        </p:sp>
        <p:sp>
          <p:nvSpPr>
            <p:cNvPr id="58386" name="Text Box 15">
              <a:extLst>
                <a:ext uri="{FF2B5EF4-FFF2-40B4-BE49-F238E27FC236}">
                  <a16:creationId xmlns:a16="http://schemas.microsoft.com/office/drawing/2014/main" id="{BD4DA68C-97F8-46D1-A62A-5BE1909C8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1175" y="2144222"/>
              <a:ext cx="872900" cy="512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b="1" i="1"/>
                <a:t>n</a:t>
              </a:r>
              <a:r>
                <a:rPr kumimoji="0" lang="en-US" altLang="en-US" sz="1800"/>
                <a:t>-1</a:t>
              </a:r>
            </a:p>
          </p:txBody>
        </p:sp>
        <p:sp>
          <p:nvSpPr>
            <p:cNvPr id="58387" name="Text Box 16">
              <a:extLst>
                <a:ext uri="{FF2B5EF4-FFF2-40B4-BE49-F238E27FC236}">
                  <a16:creationId xmlns:a16="http://schemas.microsoft.com/office/drawing/2014/main" id="{B98C3328-381D-42C1-819D-C8CE8A856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394" y="3407872"/>
              <a:ext cx="1347312" cy="512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/>
                <a:t>bit[</a:t>
              </a:r>
              <a:r>
                <a:rPr kumimoji="0" lang="en-US" altLang="en-US" sz="1800" b="1" i="1"/>
                <a:t>i</a:t>
              </a:r>
              <a:r>
                <a:rPr kumimoji="0" lang="en-US" altLang="en-US" sz="1800"/>
                <a:t>] =</a:t>
              </a:r>
            </a:p>
          </p:txBody>
        </p:sp>
        <p:sp>
          <p:nvSpPr>
            <p:cNvPr id="58388" name="Text Box 17">
              <a:extLst>
                <a:ext uri="{FF2B5EF4-FFF2-40B4-BE49-F238E27FC236}">
                  <a16:creationId xmlns:a16="http://schemas.microsoft.com/office/drawing/2014/main" id="{91ED6486-921C-4FE8-BAEA-91E800E03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010681" y="3378586"/>
              <a:ext cx="1220812" cy="607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dirty="0">
                  <a:sym typeface="MT Extra" panose="05050102010205020202" pitchFamily="18" charset="2"/>
                </a:rPr>
                <a:t></a:t>
              </a:r>
              <a:endParaRPr kumimoji="0" lang="en-US" altLang="en-US" sz="1800" dirty="0">
                <a:sym typeface="Monotype Sorts" pitchFamily="-84" charset="2"/>
              </a:endParaRPr>
            </a:p>
          </p:txBody>
        </p:sp>
        <p:sp>
          <p:nvSpPr>
            <p:cNvPr id="58389" name="Text Box 18">
              <a:extLst>
                <a:ext uri="{FF2B5EF4-FFF2-40B4-BE49-F238E27FC236}">
                  <a16:creationId xmlns:a16="http://schemas.microsoft.com/office/drawing/2014/main" id="{23F847D8-A861-41B8-9596-669E38669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850" y="3129307"/>
              <a:ext cx="4030372" cy="1088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dirty="0"/>
                <a:t>1 </a:t>
              </a:r>
              <a:r>
                <a:rPr kumimoji="0" lang="en-US" altLang="en-US" sz="1800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sz="1800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sz="1800" dirty="0">
                  <a:sym typeface="Symbol" panose="05050102010706020507" pitchFamily="18" charset="2"/>
                </a:rPr>
                <a:t>] free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dirty="0">
                  <a:sym typeface="Symbol" panose="05050102010706020507" pitchFamily="18" charset="2"/>
                </a:rPr>
                <a:t>0 </a:t>
              </a:r>
              <a:r>
                <a:rPr kumimoji="0" lang="en-US" altLang="en-US" sz="1800" dirty="0"/>
                <a:t> </a:t>
              </a:r>
              <a:r>
                <a:rPr kumimoji="0" lang="en-US" altLang="en-US" sz="1800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sz="1800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sz="1800" dirty="0">
                  <a:sym typeface="Symbol" panose="05050102010706020507" pitchFamily="18" charset="2"/>
                </a:rPr>
                <a:t>] occupied</a:t>
              </a:r>
            </a:p>
          </p:txBody>
        </p:sp>
      </p:grpSp>
      <p:sp>
        <p:nvSpPr>
          <p:cNvPr id="58372" name="Rectangle 19">
            <a:extLst>
              <a:ext uri="{FF2B5EF4-FFF2-40B4-BE49-F238E27FC236}">
                <a16:creationId xmlns:a16="http://schemas.microsoft.com/office/drawing/2014/main" id="{745ACD6F-2C21-4547-90C7-F316F1967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604" y="4539511"/>
            <a:ext cx="70294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Tx/>
              <a:buFontTx/>
              <a:buNone/>
            </a:pPr>
            <a:r>
              <a:rPr lang="en-US" altLang="en-US" dirty="0"/>
              <a:t>Block number calculation</a:t>
            </a:r>
          </a:p>
        </p:txBody>
      </p:sp>
      <p:sp>
        <p:nvSpPr>
          <p:cNvPr id="58373" name="Text Box 20">
            <a:extLst>
              <a:ext uri="{FF2B5EF4-FFF2-40B4-BE49-F238E27FC236}">
                <a16:creationId xmlns:a16="http://schemas.microsoft.com/office/drawing/2014/main" id="{9C07AA0E-37F8-4973-89FF-929FE9608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051" y="4817976"/>
            <a:ext cx="4044687" cy="12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(number of bits per word) *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(number of 0-value words) +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/>
              <a:t>offset of first 1 bit</a:t>
            </a:r>
          </a:p>
        </p:txBody>
      </p:sp>
      <p:sp>
        <p:nvSpPr>
          <p:cNvPr id="58374" name="Rectangle 19">
            <a:extLst>
              <a:ext uri="{FF2B5EF4-FFF2-40B4-BE49-F238E27FC236}">
                <a16:creationId xmlns:a16="http://schemas.microsoft.com/office/drawing/2014/main" id="{36D2DA80-48A7-47FB-B116-27AD80B31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705" y="5832476"/>
            <a:ext cx="70294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Tx/>
              <a:buFontTx/>
              <a:buNone/>
            </a:pPr>
            <a:r>
              <a:rPr lang="en-US" altLang="en-US" dirty="0"/>
              <a:t>CPUs have instructions to return offset within word of first </a:t>
            </a:r>
            <a:r>
              <a:rPr lang="ja-JP" altLang="en-US" dirty="0"/>
              <a:t>“</a:t>
            </a:r>
            <a:r>
              <a:rPr lang="en-US" altLang="ja-JP" dirty="0"/>
              <a:t>1</a:t>
            </a:r>
            <a:r>
              <a:rPr lang="ja-JP" altLang="en-US" dirty="0"/>
              <a:t>”</a:t>
            </a:r>
            <a:r>
              <a:rPr lang="en-US" altLang="ja-JP" dirty="0"/>
              <a:t> bit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2236552"/>
      </p:ext>
    </p:extLst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D8A91CD5-FE83-4A4C-A1F9-18F81B308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Free-Space Management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78A2FABB-4281-4B28-ACD1-C9796D0379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/>
              <a:t>File system maintains </a:t>
            </a:r>
            <a:r>
              <a:rPr lang="en-US" altLang="en-US" sz="2000" b="1" dirty="0">
                <a:solidFill>
                  <a:srgbClr val="006699"/>
                </a:solidFill>
              </a:rPr>
              <a:t>free-space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list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to track available blocks</a:t>
            </a:r>
            <a:endParaRPr lang="en-US" altLang="ja-JP" sz="2000" dirty="0"/>
          </a:p>
          <a:p>
            <a:r>
              <a:rPr lang="en-US" altLang="en-US" sz="2000" b="1" dirty="0">
                <a:solidFill>
                  <a:srgbClr val="006699"/>
                </a:solidFill>
              </a:rPr>
              <a:t>Bit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vector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or </a:t>
            </a:r>
            <a:r>
              <a:rPr lang="en-US" altLang="en-US" sz="2000" b="1" dirty="0">
                <a:solidFill>
                  <a:srgbClr val="006699"/>
                </a:solidFill>
              </a:rPr>
              <a:t>bit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</a:rPr>
              <a:t>map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 (</a:t>
            </a:r>
            <a:r>
              <a:rPr lang="en-US" altLang="en-US" sz="2000" b="1" i="1" dirty="0"/>
              <a:t>n</a:t>
            </a:r>
            <a:r>
              <a:rPr lang="en-US" altLang="en-US" sz="2000" dirty="0"/>
              <a:t> blocks)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000" dirty="0"/>
              <a:t>Bit map requires extra space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Example:</a:t>
            </a:r>
          </a:p>
          <a:p>
            <a:pPr>
              <a:lnSpc>
                <a:spcPct val="90000"/>
              </a:lnSpc>
              <a:buNone/>
              <a:tabLst>
                <a:tab pos="1311275" algn="l"/>
              </a:tabLst>
            </a:pPr>
            <a:r>
              <a:rPr lang="en-US" altLang="en-US" sz="2000" dirty="0"/>
              <a:t>		block size = 4KB =  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 bytes</a:t>
            </a:r>
          </a:p>
          <a:p>
            <a:pPr>
              <a:lnSpc>
                <a:spcPct val="90000"/>
              </a:lnSpc>
              <a:buNone/>
              <a:tabLst>
                <a:tab pos="1311275" algn="l"/>
              </a:tabLst>
            </a:pPr>
            <a:r>
              <a:rPr lang="en-US" altLang="en-US" sz="2000" dirty="0"/>
              <a:t>		disk size = 2</a:t>
            </a:r>
            <a:r>
              <a:rPr lang="en-US" altLang="en-US" sz="2000" baseline="30000" dirty="0"/>
              <a:t>40</a:t>
            </a:r>
            <a:r>
              <a:rPr lang="en-US" altLang="en-US" sz="2000" dirty="0"/>
              <a:t> bytes (1 terabyte)</a:t>
            </a:r>
          </a:p>
          <a:p>
            <a:pPr>
              <a:lnSpc>
                <a:spcPct val="90000"/>
              </a:lnSpc>
              <a:buNone/>
              <a:tabLst>
                <a:tab pos="1311275" algn="l"/>
              </a:tabLst>
            </a:pPr>
            <a:r>
              <a:rPr lang="en-US" altLang="en-US" sz="2000" dirty="0"/>
              <a:t>		</a:t>
            </a:r>
            <a:r>
              <a:rPr lang="en-US" altLang="en-US" sz="2000" b="1" i="1" dirty="0"/>
              <a:t>n</a:t>
            </a:r>
            <a:r>
              <a:rPr lang="en-US" altLang="en-US" sz="2000" dirty="0"/>
              <a:t> = 2</a:t>
            </a:r>
            <a:r>
              <a:rPr lang="en-US" altLang="en-US" sz="2000" baseline="30000" dirty="0"/>
              <a:t>40</a:t>
            </a:r>
            <a:r>
              <a:rPr lang="en-US" altLang="en-US" sz="2000" dirty="0"/>
              <a:t>/2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 = 2</a:t>
            </a:r>
            <a:r>
              <a:rPr lang="en-US" altLang="en-US" sz="2000" baseline="30000" dirty="0"/>
              <a:t>28</a:t>
            </a:r>
            <a:r>
              <a:rPr lang="en-US" altLang="en-US" sz="2000" dirty="0"/>
              <a:t> bits (or 32MB)</a:t>
            </a:r>
          </a:p>
          <a:p>
            <a:pPr>
              <a:lnSpc>
                <a:spcPct val="90000"/>
              </a:lnSpc>
              <a:buNone/>
              <a:tabLst>
                <a:tab pos="1311275" algn="l"/>
              </a:tabLst>
            </a:pPr>
            <a:r>
              <a:rPr lang="en-US" altLang="en-US" sz="2000" dirty="0"/>
              <a:t>		if clusters of 4 blocks -&gt; 8MB of memory</a:t>
            </a:r>
          </a:p>
          <a:p>
            <a:pPr>
              <a:lnSpc>
                <a:spcPct val="90000"/>
              </a:lnSpc>
              <a:buNone/>
              <a:tabLst>
                <a:tab pos="1311275" algn="l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sz="2000" dirty="0"/>
              <a:t>Easy to get contiguous files</a:t>
            </a:r>
          </a:p>
          <a:p>
            <a:endParaRPr lang="en-US" altLang="en-US" sz="2000" dirty="0"/>
          </a:p>
        </p:txBody>
      </p:sp>
      <p:grpSp>
        <p:nvGrpSpPr>
          <p:cNvPr id="58371" name="Group 1">
            <a:extLst>
              <a:ext uri="{FF2B5EF4-FFF2-40B4-BE49-F238E27FC236}">
                <a16:creationId xmlns:a16="http://schemas.microsoft.com/office/drawing/2014/main" id="{7BC7A96A-A4BD-4E26-B8CD-B48268F5DE36}"/>
              </a:ext>
            </a:extLst>
          </p:cNvPr>
          <p:cNvGrpSpPr>
            <a:grpSpLocks/>
          </p:cNvGrpSpPr>
          <p:nvPr/>
        </p:nvGrpSpPr>
        <p:grpSpPr bwMode="auto">
          <a:xfrm>
            <a:off x="5019607" y="2058910"/>
            <a:ext cx="3221729" cy="1307087"/>
            <a:chOff x="2415053" y="2053323"/>
            <a:chExt cx="6125411" cy="2455964"/>
          </a:xfrm>
        </p:grpSpPr>
        <p:sp>
          <p:nvSpPr>
            <p:cNvPr id="58375" name="Rectangle 4">
              <a:extLst>
                <a:ext uri="{FF2B5EF4-FFF2-40B4-BE49-F238E27FC236}">
                  <a16:creationId xmlns:a16="http://schemas.microsoft.com/office/drawing/2014/main" id="{AB54A8BB-9D7F-44CC-BFF8-70F4234A2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783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76" name="Rectangle 5">
              <a:extLst>
                <a:ext uri="{FF2B5EF4-FFF2-40B4-BE49-F238E27FC236}">
                  <a16:creationId xmlns:a16="http://schemas.microsoft.com/office/drawing/2014/main" id="{EAEF655E-33E9-4B70-B49C-A4A8CBEA5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77" name="Rectangle 6">
              <a:extLst>
                <a:ext uri="{FF2B5EF4-FFF2-40B4-BE49-F238E27FC236}">
                  <a16:creationId xmlns:a16="http://schemas.microsoft.com/office/drawing/2014/main" id="{C0A6BE61-E844-430E-976F-0089E85BF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063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78" name="Rectangle 7">
              <a:extLst>
                <a:ext uri="{FF2B5EF4-FFF2-40B4-BE49-F238E27FC236}">
                  <a16:creationId xmlns:a16="http://schemas.microsoft.com/office/drawing/2014/main" id="{FB0D5A0C-899B-49E9-B986-F319B1390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3675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79" name="Rectangle 8">
              <a:extLst>
                <a:ext uri="{FF2B5EF4-FFF2-40B4-BE49-F238E27FC236}">
                  <a16:creationId xmlns:a16="http://schemas.microsoft.com/office/drawing/2014/main" id="{7BE858CC-2082-47B5-B5A0-81C087F9A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288" y="2627313"/>
              <a:ext cx="360362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80" name="Rectangle 9">
              <a:extLst>
                <a:ext uri="{FF2B5EF4-FFF2-40B4-BE49-F238E27FC236}">
                  <a16:creationId xmlns:a16="http://schemas.microsoft.com/office/drawing/2014/main" id="{04B6F0F4-8794-4DC3-82C0-1B450CEF2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81" name="Rectangle 10">
              <a:extLst>
                <a:ext uri="{FF2B5EF4-FFF2-40B4-BE49-F238E27FC236}">
                  <a16:creationId xmlns:a16="http://schemas.microsoft.com/office/drawing/2014/main" id="{685CDFC0-E903-4D6C-BFA7-C133751C8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850" y="2627313"/>
              <a:ext cx="1219200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800"/>
                <a:t>…</a:t>
              </a:r>
            </a:p>
          </p:txBody>
        </p:sp>
        <p:sp>
          <p:nvSpPr>
            <p:cNvPr id="58382" name="Rectangle 11">
              <a:extLst>
                <a:ext uri="{FF2B5EF4-FFF2-40B4-BE49-F238E27FC236}">
                  <a16:creationId xmlns:a16="http://schemas.microsoft.com/office/drawing/2014/main" id="{AF21A2ED-8D6B-48C1-B1C8-71C3895D6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2050" y="2627313"/>
              <a:ext cx="360363" cy="3619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35" tIns="45718" rIns="91435" bIns="45718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58383" name="Text Box 12">
              <a:extLst>
                <a:ext uri="{FF2B5EF4-FFF2-40B4-BE49-F238E27FC236}">
                  <a16:creationId xmlns:a16="http://schemas.microsoft.com/office/drawing/2014/main" id="{DF4E7314-1B2A-41B3-A9A8-3E758D460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8980" y="2053323"/>
              <a:ext cx="594903" cy="693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/>
                <a:t>0</a:t>
              </a:r>
            </a:p>
          </p:txBody>
        </p:sp>
        <p:sp>
          <p:nvSpPr>
            <p:cNvPr id="58384" name="Text Box 13">
              <a:extLst>
                <a:ext uri="{FF2B5EF4-FFF2-40B4-BE49-F238E27FC236}">
                  <a16:creationId xmlns:a16="http://schemas.microsoft.com/office/drawing/2014/main" id="{B8BC4A03-7296-496D-8FA7-15DF9474B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780" y="2053323"/>
              <a:ext cx="594903" cy="693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dirty="0"/>
                <a:t>1</a:t>
              </a:r>
            </a:p>
          </p:txBody>
        </p:sp>
        <p:sp>
          <p:nvSpPr>
            <p:cNvPr id="58385" name="Text Box 14">
              <a:extLst>
                <a:ext uri="{FF2B5EF4-FFF2-40B4-BE49-F238E27FC236}">
                  <a16:creationId xmlns:a16="http://schemas.microsoft.com/office/drawing/2014/main" id="{81AAB3E4-73EA-4D39-ACC8-D197152F6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0981" y="2053323"/>
              <a:ext cx="594903" cy="693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dirty="0"/>
                <a:t>2</a:t>
              </a:r>
            </a:p>
          </p:txBody>
        </p:sp>
        <p:sp>
          <p:nvSpPr>
            <p:cNvPr id="58386" name="Text Box 15">
              <a:extLst>
                <a:ext uri="{FF2B5EF4-FFF2-40B4-BE49-F238E27FC236}">
                  <a16:creationId xmlns:a16="http://schemas.microsoft.com/office/drawing/2014/main" id="{BD4DA68C-97F8-46D1-A62A-5BE1909C8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927" y="2053323"/>
              <a:ext cx="1009397" cy="693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b="1" i="1"/>
                <a:t>n</a:t>
              </a:r>
              <a:r>
                <a:rPr kumimoji="0" lang="en-US" altLang="en-US" sz="1800"/>
                <a:t>-1</a:t>
              </a:r>
            </a:p>
          </p:txBody>
        </p:sp>
        <p:sp>
          <p:nvSpPr>
            <p:cNvPr id="58387" name="Text Box 16">
              <a:extLst>
                <a:ext uri="{FF2B5EF4-FFF2-40B4-BE49-F238E27FC236}">
                  <a16:creationId xmlns:a16="http://schemas.microsoft.com/office/drawing/2014/main" id="{B98C3328-381D-42C1-819D-C8CE8A856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5053" y="3316973"/>
              <a:ext cx="1557995" cy="693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/>
                <a:t>bit[</a:t>
              </a:r>
              <a:r>
                <a:rPr kumimoji="0" lang="en-US" altLang="en-US" sz="1800" b="1" i="1"/>
                <a:t>i</a:t>
              </a:r>
              <a:r>
                <a:rPr kumimoji="0" lang="en-US" altLang="en-US" sz="1800"/>
                <a:t>] =</a:t>
              </a:r>
            </a:p>
          </p:txBody>
        </p:sp>
        <p:sp>
          <p:nvSpPr>
            <p:cNvPr id="58388" name="Text Box 17">
              <a:extLst>
                <a:ext uri="{FF2B5EF4-FFF2-40B4-BE49-F238E27FC236}">
                  <a16:creationId xmlns:a16="http://schemas.microsoft.com/office/drawing/2014/main" id="{91ED6486-921C-4FE8-BAEA-91E800E03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794008" y="3331109"/>
              <a:ext cx="1654160" cy="702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dirty="0">
                  <a:sym typeface="MT Extra" panose="05050102010205020202" pitchFamily="18" charset="2"/>
                </a:rPr>
                <a:t></a:t>
              </a:r>
              <a:endParaRPr kumimoji="0" lang="en-US" altLang="en-US" sz="1800" dirty="0">
                <a:sym typeface="Monotype Sorts" pitchFamily="-84" charset="2"/>
              </a:endParaRPr>
            </a:p>
          </p:txBody>
        </p:sp>
        <p:sp>
          <p:nvSpPr>
            <p:cNvPr id="58389" name="Text Box 18">
              <a:extLst>
                <a:ext uri="{FF2B5EF4-FFF2-40B4-BE49-F238E27FC236}">
                  <a16:creationId xmlns:a16="http://schemas.microsoft.com/office/drawing/2014/main" id="{23F847D8-A861-41B8-9596-669E38669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9851" y="2936147"/>
              <a:ext cx="4660613" cy="1474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dirty="0"/>
                <a:t>1 </a:t>
              </a:r>
              <a:r>
                <a:rPr kumimoji="0" lang="en-US" altLang="en-US" sz="1800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sz="1800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sz="1800" dirty="0">
                  <a:sym typeface="Symbol" panose="05050102010706020507" pitchFamily="18" charset="2"/>
                </a:rPr>
                <a:t>] free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 sz="1800" dirty="0">
                  <a:sym typeface="Symbol" panose="05050102010706020507" pitchFamily="18" charset="2"/>
                </a:rPr>
                <a:t>0 </a:t>
              </a:r>
              <a:r>
                <a:rPr kumimoji="0" lang="en-US" altLang="en-US" sz="1800" dirty="0"/>
                <a:t> </a:t>
              </a:r>
              <a:r>
                <a:rPr kumimoji="0" lang="en-US" altLang="en-US" sz="1800" dirty="0">
                  <a:sym typeface="Symbol" panose="05050102010706020507" pitchFamily="18" charset="2"/>
                </a:rPr>
                <a:t> block[</a:t>
              </a:r>
              <a:r>
                <a:rPr kumimoji="0" lang="en-US" altLang="en-US" sz="1800" b="1" i="1" dirty="0">
                  <a:sym typeface="Symbol" panose="05050102010706020507" pitchFamily="18" charset="2"/>
                </a:rPr>
                <a:t>i</a:t>
              </a:r>
              <a:r>
                <a:rPr kumimoji="0" lang="en-US" altLang="en-US" sz="1800" dirty="0">
                  <a:sym typeface="Symbol" panose="05050102010706020507" pitchFamily="18" charset="2"/>
                </a:rPr>
                <a:t>] occupied</a:t>
              </a:r>
            </a:p>
          </p:txBody>
        </p:sp>
      </p:grpSp>
      <p:sp>
        <p:nvSpPr>
          <p:cNvPr id="58374" name="Rectangle 19">
            <a:extLst>
              <a:ext uri="{FF2B5EF4-FFF2-40B4-BE49-F238E27FC236}">
                <a16:creationId xmlns:a16="http://schemas.microsoft.com/office/drawing/2014/main" id="{36D2DA80-48A7-47FB-B116-27AD80B31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705" y="5832476"/>
            <a:ext cx="70294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SzTx/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Linked Free Space List on Disk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AA2EAF-820A-977A-3843-DB3274091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821570-ED0E-42A5-A5B9-134562B82A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443" y="1778580"/>
            <a:ext cx="6256543" cy="43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1060450" indent="-407988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tabLst>
                <a:tab pos="1874838" algn="l"/>
              </a:tabLst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800" dirty="0"/>
              <a:t> </a:t>
            </a:r>
          </a:p>
          <a:p>
            <a:pPr algn="just">
              <a:lnSpc>
                <a:spcPct val="90000"/>
              </a:lnSpc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Linked list (free list)</a:t>
            </a:r>
          </a:p>
          <a:p>
            <a:pPr lvl="1" algn="just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Cannot get contiguous space easily</a:t>
            </a:r>
          </a:p>
          <a:p>
            <a:pPr lvl="1" algn="just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No waste. Linked Free Space List on Disk of space</a:t>
            </a:r>
          </a:p>
          <a:p>
            <a:pPr lvl="1" algn="just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1700" dirty="0"/>
              <a:t>No need to traverse the entire list (if # free blocks recorded</a:t>
            </a:r>
            <a:r>
              <a:rPr lang="en-US" altLang="en-US" dirty="0"/>
              <a:t>)</a:t>
            </a:r>
          </a:p>
          <a:p>
            <a:pPr lvl="1" algn="just">
              <a:lnSpc>
                <a:spcPct val="90000"/>
              </a:lnSpc>
            </a:pPr>
            <a:endParaRPr lang="en-US" altLang="en-US" sz="8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2E88953-BDC6-4D36-984E-68F487064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420" y="1175664"/>
            <a:ext cx="3292568" cy="385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7788936"/>
      </p:ext>
    </p:extLst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1098C2A5-CF6B-4248-A6D6-DB86C6F2DD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Free-Space Management (Cont.)</a:t>
            </a:r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14F57A10-9F0A-41E8-ACD6-D27485289F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Grouping </a:t>
            </a:r>
          </a:p>
          <a:p>
            <a:pPr lvl="1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Modify linked list to store address of next </a:t>
            </a:r>
            <a:r>
              <a:rPr lang="en-US" altLang="en-US" i="1" dirty="0"/>
              <a:t>n-1</a:t>
            </a:r>
            <a:r>
              <a:rPr lang="en-US" altLang="en-US" dirty="0"/>
              <a:t> free blocks in first free block, plus a pointer to next block that contains free-block-pointers (like this one)</a:t>
            </a:r>
          </a:p>
          <a:p>
            <a:pPr algn="just">
              <a:lnSpc>
                <a:spcPct val="90000"/>
              </a:lnSpc>
              <a:tabLst>
                <a:tab pos="1311275" algn="l"/>
              </a:tabLst>
            </a:pPr>
            <a:endParaRPr lang="en-US" altLang="en-US" sz="800" dirty="0"/>
          </a:p>
          <a:p>
            <a:pPr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Counting</a:t>
            </a:r>
          </a:p>
          <a:p>
            <a:pPr lvl="1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Because space is frequently contiguously used and freed,  with contiguous-allocation allocation, extents, or clustering</a:t>
            </a:r>
          </a:p>
          <a:p>
            <a:pPr lvl="2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Keep address of first free block and count of following free blocks</a:t>
            </a:r>
          </a:p>
          <a:p>
            <a:pPr lvl="2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Free space list then has entries containing addresses and counts</a:t>
            </a:r>
          </a:p>
          <a:p>
            <a:pPr algn="just">
              <a:tabLst>
                <a:tab pos="1311275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491881A8-8893-4886-9AD4-DCADC503E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Free-Space Management (Cont.)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5CF6BD70-2FBB-44C6-9417-C6A3B50EC3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Space Maps</a:t>
            </a:r>
          </a:p>
          <a:p>
            <a:pPr lvl="1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Used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ZFS</a:t>
            </a:r>
          </a:p>
          <a:p>
            <a:pPr lvl="1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Consider meta-data I/O on very large file systems</a:t>
            </a:r>
          </a:p>
          <a:p>
            <a:pPr lvl="2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Full data structures like bit maps cannot </a:t>
            </a:r>
            <a:r>
              <a:rPr lang="en-US" altLang="ja-JP" dirty="0"/>
              <a:t> fit in memory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ja-JP" dirty="0"/>
              <a:t> thousands of I/</a:t>
            </a:r>
            <a:r>
              <a:rPr lang="en-US" altLang="ja-JP" dirty="0" err="1"/>
              <a:t>Os</a:t>
            </a:r>
            <a:endParaRPr lang="en-US" altLang="ja-JP" dirty="0"/>
          </a:p>
          <a:p>
            <a:pPr lvl="1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Divides device space into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metaslab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units and manages </a:t>
            </a:r>
            <a:r>
              <a:rPr lang="en-US" altLang="en-US" dirty="0" err="1"/>
              <a:t>metaslabs</a:t>
            </a:r>
            <a:endParaRPr lang="en-US" altLang="en-US" dirty="0"/>
          </a:p>
          <a:p>
            <a:pPr lvl="2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Given volume can contain hundreds of </a:t>
            </a:r>
            <a:r>
              <a:rPr lang="en-US" altLang="en-US" dirty="0" err="1"/>
              <a:t>metaslabs</a:t>
            </a:r>
            <a:endParaRPr lang="en-US" altLang="en-US" dirty="0"/>
          </a:p>
          <a:p>
            <a:pPr lvl="1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Each metaslab has associated space map</a:t>
            </a:r>
          </a:p>
          <a:p>
            <a:pPr lvl="2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Uses counting algorithm</a:t>
            </a:r>
          </a:p>
          <a:p>
            <a:pPr lvl="1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But records to log file rather than file system</a:t>
            </a:r>
          </a:p>
          <a:p>
            <a:pPr lvl="2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Log of all block activity, in time order, in counting format</a:t>
            </a:r>
          </a:p>
          <a:p>
            <a:pPr lvl="1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Metaslab activity </a:t>
            </a: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load space map into memory in balanced-tree structure, indexed  by offset</a:t>
            </a:r>
          </a:p>
          <a:p>
            <a:pPr lvl="2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Replay log into that structure</a:t>
            </a:r>
          </a:p>
          <a:p>
            <a:pPr lvl="2" algn="just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Combine contiguous free blocks into single entry</a:t>
            </a:r>
          </a:p>
          <a:p>
            <a:pPr lvl="2" algn="just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lvl="1" algn="just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lvl="2" algn="just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algn="just">
              <a:tabLst>
                <a:tab pos="1311275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1930D92D-FCEC-464B-B735-40B966512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TRIMing</a:t>
            </a:r>
            <a:r>
              <a:rPr lang="en-US" altLang="en-US" dirty="0"/>
              <a:t> Unused Blocks</a:t>
            </a:r>
          </a:p>
        </p:txBody>
      </p:sp>
      <p:sp>
        <p:nvSpPr>
          <p:cNvPr id="66562" name="Content Placeholder 2">
            <a:extLst>
              <a:ext uri="{FF2B5EF4-FFF2-40B4-BE49-F238E27FC236}">
                <a16:creationId xmlns:a16="http://schemas.microsoft.com/office/drawing/2014/main" id="{985B2951-1C1E-40EB-8860-CAF54C400C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HDDS overwrite in place so need only free list</a:t>
            </a:r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Blocks not treated specially when freed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Keeps its data but without any file pointers to it, until overwritten</a:t>
            </a:r>
          </a:p>
          <a:p>
            <a:pPr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Storage devices not allowing overwrite (like NVM) suffer badly with same algorithm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Must be erased before written, erases made in large chunks (blocks, composed of pages) and are slow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TRIM is a newer mechanism for the file system to inform the NVM storage device that a page is free</a:t>
            </a:r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r>
              <a:rPr lang="en-US" altLang="en-US" dirty="0"/>
              <a:t>Can be garbage collected or if block is free, now block can be erased</a:t>
            </a:r>
          </a:p>
          <a:p>
            <a:pPr lvl="1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 lvl="2">
              <a:lnSpc>
                <a:spcPct val="90000"/>
              </a:lnSpc>
              <a:tabLst>
                <a:tab pos="1311275" algn="l"/>
              </a:tabLst>
            </a:pPr>
            <a:endParaRPr lang="en-US" altLang="en-US" dirty="0"/>
          </a:p>
          <a:p>
            <a:pPr>
              <a:tabLst>
                <a:tab pos="1311275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AF0D3F9B-A8FD-4758-BEFF-0E212365B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Efficiency and Performance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CC285059-710F-48C7-9469-5316D15F5F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Efficiency dependent on:</a:t>
            </a:r>
          </a:p>
          <a:p>
            <a:pPr lvl="1"/>
            <a:r>
              <a:rPr lang="en-US" altLang="en-US" dirty="0"/>
              <a:t>Disk allocation and directory algorithms</a:t>
            </a:r>
          </a:p>
          <a:p>
            <a:pPr lvl="1"/>
            <a:r>
              <a:rPr lang="en-US" altLang="en-US" dirty="0"/>
              <a:t>Types of data kept in file</a:t>
            </a:r>
            <a:r>
              <a:rPr lang="ja-JP" altLang="en-US" dirty="0"/>
              <a:t>’</a:t>
            </a:r>
            <a:r>
              <a:rPr lang="en-US" altLang="ja-JP" dirty="0"/>
              <a:t>s directory entry</a:t>
            </a:r>
          </a:p>
          <a:p>
            <a:pPr lvl="1"/>
            <a:r>
              <a:rPr lang="en-US" altLang="en-US" dirty="0"/>
              <a:t>Pre-allocation or as-needed allocation of metadata structures</a:t>
            </a:r>
          </a:p>
          <a:p>
            <a:pPr lvl="1"/>
            <a:r>
              <a:rPr lang="en-US" altLang="en-US" dirty="0"/>
              <a:t>Fixed-size or varying-size data structures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D9DC72B4-8029-4D9A-BABE-D9D2DFFF2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Efficiency and Performance (Cont.)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FA461262-E839-45F0-ADC0-28FEADE74F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Performance</a:t>
            </a:r>
          </a:p>
          <a:p>
            <a:pPr lvl="1"/>
            <a:r>
              <a:rPr lang="en-US" altLang="en-US" dirty="0"/>
              <a:t>Keeping data and metadata close together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separate section of main memory for frequently used blocks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Synchronous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writes sometimes requested by apps or needed by OS</a:t>
            </a:r>
          </a:p>
          <a:p>
            <a:pPr lvl="2"/>
            <a:r>
              <a:rPr lang="en-US" altLang="en-US" dirty="0"/>
              <a:t>No buffering / caching – writes must hit disk before acknowledgement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Asynchronous</a:t>
            </a:r>
            <a:r>
              <a:rPr lang="en-US" altLang="en-US" dirty="0"/>
              <a:t> writes more common, buffer-able, faster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Free-behind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read-ahead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techniques to optimize sequential access</a:t>
            </a:r>
          </a:p>
          <a:p>
            <a:pPr lvl="1"/>
            <a:r>
              <a:rPr lang="en-US" altLang="en-US" dirty="0"/>
              <a:t>Reads frequently slower than writes</a:t>
            </a:r>
          </a:p>
          <a:p>
            <a:pPr lvl="1"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9D8B2D78-59F6-406F-86DA-53E3E7915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Page Cache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9D2DD600-3B35-4D5E-8FF2-5AC7BE9A63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caches pages rather than disk blocks using virtual memory techniques and addresses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Memory-mapped I/O uses a page cache</a:t>
            </a:r>
          </a:p>
          <a:p>
            <a:r>
              <a:rPr lang="en-US" altLang="en-US" dirty="0"/>
              <a:t>Routine I/O through the file system uses the buffer (disk) cache</a:t>
            </a:r>
          </a:p>
          <a:p>
            <a:r>
              <a:rPr lang="en-US" altLang="en-US" dirty="0"/>
              <a:t>This leads to the following figure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 dirty="0"/>
              <a:t>I/O Without a Unified Buffer Cache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70CCF4-15AA-3C78-BD86-5F1B6DAFD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67F3D-E643-42C3-9CEF-92AAF26AF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657" y="1155568"/>
            <a:ext cx="3337953" cy="3256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939256"/>
      </p:ext>
    </p:extLst>
  </p:cSld>
  <p:clrMapOvr>
    <a:masterClrMapping/>
  </p:clrMapOvr>
  <p:transition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130BADCB-B296-4CF7-A9D8-8A817FE6D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Unified Buffer Cache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E6A6ACAF-0A99-421A-91C7-4E22F10148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unified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uses the same page cache to cache both memory-mapped pages and ordinary file system I/O to avoid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caching</a:t>
            </a:r>
            <a:endParaRPr lang="en-US" altLang="en-US" b="1" dirty="0">
              <a:solidFill>
                <a:srgbClr val="3366FF"/>
              </a:solidFill>
            </a:endParaRPr>
          </a:p>
          <a:p>
            <a:pPr marL="341313" lvl="1" indent="-341313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But which caches get priority, and what replacement algorithms to use?</a:t>
            </a:r>
          </a:p>
          <a:p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1C61A9A-3B9F-4159-ACB6-994F24302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I/O Using a Unified Buffer Cache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93B6C7-9E99-57F3-0EC6-E469C8DE8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AF84D9-D581-4B73-BF15-4B6C81CE7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238" y="1156284"/>
            <a:ext cx="4540250" cy="315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7063218"/>
      </p:ext>
    </p:extLst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EE58A09F-AD0E-417F-85CC-083615B4F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Recovery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06657CE0-04CC-4C62-B813-72204F451D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Consistency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checking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compares data in directory structure with data blocks on disk, and tries to fix inconsistencies</a:t>
            </a:r>
          </a:p>
          <a:p>
            <a:pPr lvl="1" algn="just"/>
            <a:r>
              <a:rPr lang="en-US" altLang="en-US" dirty="0"/>
              <a:t>Can be slow and sometimes fails</a:t>
            </a:r>
          </a:p>
          <a:p>
            <a:pPr algn="just"/>
            <a:r>
              <a:rPr lang="en-US" altLang="en-US" dirty="0"/>
              <a:t>Use system programs to </a:t>
            </a:r>
            <a:r>
              <a:rPr lang="en-US" altLang="en-US" b="1" dirty="0">
                <a:solidFill>
                  <a:srgbClr val="006699"/>
                </a:solidFill>
              </a:rPr>
              <a:t>back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up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data from disk to another storage device (magnetic tape, other magnetic disk, optical)</a:t>
            </a:r>
          </a:p>
          <a:p>
            <a:pPr algn="just"/>
            <a:r>
              <a:rPr lang="en-US" altLang="en-US" dirty="0"/>
              <a:t>Recover lost file or disk by </a:t>
            </a:r>
            <a:r>
              <a:rPr lang="en-US" altLang="en-US" b="1" dirty="0">
                <a:solidFill>
                  <a:srgbClr val="006699"/>
                </a:solidFill>
              </a:rPr>
              <a:t>restoring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data from backup</a:t>
            </a:r>
          </a:p>
        </p:txBody>
      </p:sp>
    </p:spTree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45529006-D95F-4E5A-8CB8-ED731220A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Log Structured File Systems</a:t>
            </a:r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8876347C-4280-4D7D-909F-947429C7D0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Log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structured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(or </a:t>
            </a:r>
            <a:r>
              <a:rPr lang="en-US" altLang="en-US" b="1" dirty="0">
                <a:solidFill>
                  <a:srgbClr val="006699"/>
                </a:solidFill>
              </a:rPr>
              <a:t>journaling</a:t>
            </a:r>
            <a:r>
              <a:rPr lang="en-US" altLang="en-US" dirty="0"/>
              <a:t>) file systems record each metadata update to the file system as a </a:t>
            </a:r>
            <a:r>
              <a:rPr lang="en-US" altLang="en-US" b="1" dirty="0">
                <a:solidFill>
                  <a:srgbClr val="006699"/>
                </a:solidFill>
              </a:rPr>
              <a:t>transaction</a:t>
            </a:r>
          </a:p>
          <a:p>
            <a:pPr algn="just"/>
            <a:r>
              <a:rPr lang="en-US" altLang="en-US" dirty="0"/>
              <a:t>All transactions are written to a log</a:t>
            </a:r>
          </a:p>
          <a:p>
            <a:pPr lvl="1" algn="just"/>
            <a:r>
              <a:rPr lang="en-US" altLang="en-US" dirty="0"/>
              <a:t> A transaction is considered committed once it is written to the log (sequentially)</a:t>
            </a:r>
          </a:p>
          <a:p>
            <a:pPr lvl="1" algn="just"/>
            <a:r>
              <a:rPr lang="en-US" altLang="en-US" dirty="0"/>
              <a:t>Sometimes to a separate device or section of disk</a:t>
            </a:r>
          </a:p>
          <a:p>
            <a:pPr lvl="1" algn="just"/>
            <a:r>
              <a:rPr lang="en-US" altLang="en-US" dirty="0"/>
              <a:t>However, the file system may not yet be updated</a:t>
            </a:r>
            <a:endParaRPr lang="en-US" altLang="en-US" sz="800" dirty="0"/>
          </a:p>
          <a:p>
            <a:pPr algn="just"/>
            <a:r>
              <a:rPr lang="en-US" altLang="en-US" dirty="0"/>
              <a:t>The transactions in the log are asynchronously written to the file system structures</a:t>
            </a:r>
          </a:p>
          <a:p>
            <a:pPr lvl="1" algn="just"/>
            <a:r>
              <a:rPr lang="en-US" altLang="en-US" dirty="0"/>
              <a:t> When the file system structures are modified, the transaction is removed from the log</a:t>
            </a:r>
            <a:endParaRPr lang="en-US" altLang="en-US" sz="800" dirty="0"/>
          </a:p>
          <a:p>
            <a:pPr algn="just"/>
            <a:r>
              <a:rPr lang="en-US" altLang="en-US" dirty="0"/>
              <a:t>If the file system crashes, all remaining transactions in the log must still be performed</a:t>
            </a:r>
          </a:p>
          <a:p>
            <a:pPr algn="just"/>
            <a:r>
              <a:rPr lang="en-US" altLang="en-US" dirty="0"/>
              <a:t>Faster recovery from crash, removes chance of inconsistency of metadata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</p:txBody>
      </p:sp>
    </p:spTree>
  </p:cSld>
  <p:clrMapOvr>
    <a:masterClrMapping/>
  </p:clrMapOvr>
  <p:transition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8DEC65BF-4347-4E36-B1AF-E5C9C5BDC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WAFL File System</a:t>
            </a:r>
          </a:p>
        </p:txBody>
      </p:sp>
      <p:sp>
        <p:nvSpPr>
          <p:cNvPr id="83970" name="Rectangle 3">
            <a:extLst>
              <a:ext uri="{FF2B5EF4-FFF2-40B4-BE49-F238E27FC236}">
                <a16:creationId xmlns:a16="http://schemas.microsoft.com/office/drawing/2014/main" id="{483C7911-29DF-4763-A0FF-CF353037C5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Used on Network Appliance </a:t>
            </a:r>
            <a:r>
              <a:rPr lang="ja-JP" altLang="en-US" dirty="0"/>
              <a:t>“</a:t>
            </a:r>
            <a:r>
              <a:rPr lang="en-US" altLang="ja-JP" dirty="0"/>
              <a:t>Filers</a:t>
            </a:r>
            <a:r>
              <a:rPr lang="ja-JP" altLang="en-US" dirty="0"/>
              <a:t>”</a:t>
            </a:r>
            <a:r>
              <a:rPr lang="en-US" altLang="ja-JP" dirty="0"/>
              <a:t> – distributed file system appliances</a:t>
            </a:r>
            <a:endParaRPr lang="en-US" altLang="en-US" dirty="0"/>
          </a:p>
          <a:p>
            <a:r>
              <a:rPr lang="ja-JP" altLang="en-US" dirty="0"/>
              <a:t>“</a:t>
            </a:r>
            <a:r>
              <a:rPr lang="en-US" altLang="ja-JP" dirty="0"/>
              <a:t>Write-anywhere file layout</a:t>
            </a:r>
            <a:r>
              <a:rPr lang="ja-JP" altLang="en-US" dirty="0"/>
              <a:t>”</a:t>
            </a:r>
            <a:endParaRPr lang="en-US" altLang="en-US" dirty="0"/>
          </a:p>
          <a:p>
            <a:r>
              <a:rPr lang="en-US" altLang="en-US" dirty="0"/>
              <a:t>Serves up NFS, CIFS, http, ftp</a:t>
            </a:r>
          </a:p>
          <a:p>
            <a:r>
              <a:rPr lang="en-US" altLang="en-US" dirty="0"/>
              <a:t>Random I/O optimized, write optimized</a:t>
            </a:r>
          </a:p>
          <a:p>
            <a:pPr lvl="1"/>
            <a:r>
              <a:rPr lang="en-US" altLang="en-US" dirty="0"/>
              <a:t>NVRAM for write caching</a:t>
            </a:r>
          </a:p>
          <a:p>
            <a:r>
              <a:rPr lang="en-US" altLang="en-US" dirty="0"/>
              <a:t>Similar to Berkeley Fast File System, with extensive modifications</a:t>
            </a:r>
          </a:p>
        </p:txBody>
      </p:sp>
    </p:spTree>
  </p:cSld>
  <p:clrMapOvr>
    <a:masterClrMapping/>
  </p:clrMapOvr>
  <p:transition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>
            <a:extLst>
              <a:ext uri="{FF2B5EF4-FFF2-40B4-BE49-F238E27FC236}">
                <a16:creationId xmlns:a16="http://schemas.microsoft.com/office/drawing/2014/main" id="{732AAD18-B571-4DF5-B1A3-F2141CF10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WAFL File Layout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A39905-729D-7F1E-F7A1-EA1B2242C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6018" name="Picture 2">
            <a:extLst>
              <a:ext uri="{FF2B5EF4-FFF2-40B4-BE49-F238E27FC236}">
                <a16:creationId xmlns:a16="http://schemas.microsoft.com/office/drawing/2014/main" id="{97B25236-6EEA-49EC-BE55-D6CB0529C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2419" y="1175662"/>
            <a:ext cx="5170006" cy="175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5849214A-E2EF-4858-A782-82F55193D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Snapshots in WAFL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9521E4-AB80-34A2-2E61-DE5C21FDB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8066" name="Picture 2">
            <a:extLst>
              <a:ext uri="{FF2B5EF4-FFF2-40B4-BE49-F238E27FC236}">
                <a16:creationId xmlns:a16="http://schemas.microsoft.com/office/drawing/2014/main" id="{2E9E6806-9EFD-47E6-8226-77F885DF5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175" y="1233488"/>
            <a:ext cx="3092450" cy="493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>
            <a:extLst>
              <a:ext uri="{FF2B5EF4-FFF2-40B4-BE49-F238E27FC236}">
                <a16:creationId xmlns:a16="http://schemas.microsoft.com/office/drawing/2014/main" id="{645B293F-DC9B-4CB1-B01B-B3F4480FF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Apple File System</a:t>
            </a:r>
          </a:p>
        </p:txBody>
      </p:sp>
      <p:pic>
        <p:nvPicPr>
          <p:cNvPr id="93186" name="Content Placeholder 4">
            <a:extLst>
              <a:ext uri="{FF2B5EF4-FFF2-40B4-BE49-F238E27FC236}">
                <a16:creationId xmlns:a16="http://schemas.microsoft.com/office/drawing/2014/main" id="{4EF77C9A-953A-4195-9FD7-AB65B941CF6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293" y="1219200"/>
            <a:ext cx="5131414" cy="4906963"/>
          </a:xfrm>
        </p:spPr>
      </p:pic>
    </p:spTree>
  </p:cSld>
  <p:clrMapOvr>
    <a:masterClrMapping/>
  </p:clrMapOvr>
  <p:transition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>
            <a:extLst>
              <a:ext uri="{FF2B5EF4-FFF2-40B4-BE49-F238E27FC236}">
                <a16:creationId xmlns:a16="http://schemas.microsoft.com/office/drawing/2014/main" id="{9408D5CB-D7A2-45DB-A9C6-A2837835B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325" y="1547814"/>
            <a:ext cx="387985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A299C03-3833-4686-8D26-72A06D1548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Linked Allocation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528231-FF23-A250-59C9-CAE56C9EF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157006"/>
      </p:ext>
    </p:extLst>
  </p:cSld>
  <p:clrMapOvr>
    <a:masterClrMapping/>
  </p:clrMapOvr>
  <p:transition>
    <p:wipe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2DFBE6AC-1BA8-4025-A63D-ACE3D4DEB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Linked Allocation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93B1D99E-E031-4323-B82A-79E5FF2252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Each file is a linked list of disk blocks: blocks may be scattered anywhere on the disk</a:t>
            </a:r>
          </a:p>
        </p:txBody>
      </p:sp>
      <p:grpSp>
        <p:nvGrpSpPr>
          <p:cNvPr id="36867" name="Group 4">
            <a:extLst>
              <a:ext uri="{FF2B5EF4-FFF2-40B4-BE49-F238E27FC236}">
                <a16:creationId xmlns:a16="http://schemas.microsoft.com/office/drawing/2014/main" id="{1F9CD8D8-3924-4B1B-9FD0-6F8B5C40CD61}"/>
              </a:ext>
            </a:extLst>
          </p:cNvPr>
          <p:cNvGrpSpPr>
            <a:grpSpLocks/>
          </p:cNvGrpSpPr>
          <p:nvPr/>
        </p:nvGrpSpPr>
        <p:grpSpPr bwMode="auto">
          <a:xfrm>
            <a:off x="4111626" y="2347813"/>
            <a:ext cx="2940050" cy="1514474"/>
            <a:chOff x="1574" y="1567"/>
            <a:chExt cx="1852" cy="954"/>
          </a:xfrm>
        </p:grpSpPr>
        <p:sp>
          <p:nvSpPr>
            <p:cNvPr id="36876" name="Rectangle 5">
              <a:extLst>
                <a:ext uri="{FF2B5EF4-FFF2-40B4-BE49-F238E27FC236}">
                  <a16:creationId xmlns:a16="http://schemas.microsoft.com/office/drawing/2014/main" id="{BCC6CD5A-CD91-40F0-9115-2F52CF37B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1" y="1576"/>
              <a:ext cx="945" cy="2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/>
                <a:t>pointer</a:t>
              </a:r>
            </a:p>
          </p:txBody>
        </p:sp>
        <p:sp>
          <p:nvSpPr>
            <p:cNvPr id="36877" name="Rectangle 6">
              <a:extLst>
                <a:ext uri="{FF2B5EF4-FFF2-40B4-BE49-F238E27FC236}">
                  <a16:creationId xmlns:a16="http://schemas.microsoft.com/office/drawing/2014/main" id="{628E7234-B0CB-4EFF-8A81-9D54D0434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1" y="1848"/>
              <a:ext cx="945" cy="67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>
                <a:latin typeface="Verdana" panose="020B0604030504040204" pitchFamily="34" charset="0"/>
              </a:endParaRPr>
            </a:p>
          </p:txBody>
        </p:sp>
        <p:sp>
          <p:nvSpPr>
            <p:cNvPr id="36878" name="Text Box 7">
              <a:extLst>
                <a:ext uri="{FF2B5EF4-FFF2-40B4-BE49-F238E27FC236}">
                  <a16:creationId xmlns:a16="http://schemas.microsoft.com/office/drawing/2014/main" id="{1705E268-7248-421A-923E-E53ABD560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1567"/>
              <a:ext cx="10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block      =</a:t>
              </a:r>
            </a:p>
          </p:txBody>
        </p:sp>
      </p:grpSp>
      <p:sp>
        <p:nvSpPr>
          <p:cNvPr id="8" name="Rectangle 3">
            <a:extLst>
              <a:ext uri="{FF2B5EF4-FFF2-40B4-BE49-F238E27FC236}">
                <a16:creationId xmlns:a16="http://schemas.microsoft.com/office/drawing/2014/main" id="{ED2F4022-6CD5-7743-9BEA-E44E4C2C9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9078" y="3203223"/>
            <a:ext cx="7370763" cy="9064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Font typeface="Monotype Sorts" pitchFamily="-84" charset="2"/>
              <a:buNone/>
              <a:defRPr/>
            </a:pPr>
            <a:endParaRPr lang="en-US" altLang="en-US" kern="0" dirty="0"/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altLang="en-US" kern="0" dirty="0"/>
              <a:t>Mapping</a:t>
            </a: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A050EAF1-2D18-482C-BB5E-5CAFBD104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7775" y="4933950"/>
            <a:ext cx="7670183" cy="163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r>
              <a:rPr lang="en-US" altLang="en-US" dirty="0"/>
              <a:t>Block to be accessed is the Qth block in the linked chain of blocks representing the file.</a:t>
            </a:r>
          </a:p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endParaRPr lang="en-US" altLang="en-US" dirty="0"/>
          </a:p>
          <a:p>
            <a:pPr lvl="1">
              <a:spcBef>
                <a:spcPct val="0"/>
              </a:spcBef>
              <a:buClr>
                <a:schemeClr val="accent2"/>
              </a:buClr>
              <a:buSzPct val="90000"/>
              <a:buFontTx/>
              <a:buNone/>
            </a:pPr>
            <a:r>
              <a:rPr lang="en-US" altLang="en-US" dirty="0"/>
              <a:t>Displacement into block = R + 1</a:t>
            </a:r>
          </a:p>
        </p:txBody>
      </p:sp>
      <p:grpSp>
        <p:nvGrpSpPr>
          <p:cNvPr id="36870" name="Group 1">
            <a:extLst>
              <a:ext uri="{FF2B5EF4-FFF2-40B4-BE49-F238E27FC236}">
                <a16:creationId xmlns:a16="http://schemas.microsoft.com/office/drawing/2014/main" id="{65C621B7-3C10-491F-A311-0EAE38CF84A9}"/>
              </a:ext>
            </a:extLst>
          </p:cNvPr>
          <p:cNvGrpSpPr>
            <a:grpSpLocks/>
          </p:cNvGrpSpPr>
          <p:nvPr/>
        </p:nvGrpSpPr>
        <p:grpSpPr bwMode="auto">
          <a:xfrm>
            <a:off x="4636385" y="3889527"/>
            <a:ext cx="1523731" cy="1077610"/>
            <a:chOff x="3112384" y="3889151"/>
            <a:chExt cx="1523731" cy="1077611"/>
          </a:xfrm>
        </p:grpSpPr>
        <p:sp>
          <p:nvSpPr>
            <p:cNvPr id="36871" name="Text Box 5">
              <a:extLst>
                <a:ext uri="{FF2B5EF4-FFF2-40B4-BE49-F238E27FC236}">
                  <a16:creationId xmlns:a16="http://schemas.microsoft.com/office/drawing/2014/main" id="{C6DFE8F1-C390-4E0F-9B40-03FC3F118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2384" y="4205063"/>
              <a:ext cx="1138058" cy="46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LA/511</a:t>
              </a:r>
            </a:p>
          </p:txBody>
        </p:sp>
        <p:sp>
          <p:nvSpPr>
            <p:cNvPr id="36872" name="Text Box 6">
              <a:extLst>
                <a:ext uri="{FF2B5EF4-FFF2-40B4-BE49-F238E27FC236}">
                  <a16:creationId xmlns:a16="http://schemas.microsoft.com/office/drawing/2014/main" id="{01A1A44A-DD26-432B-8D4C-0478EF091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2611" y="3889151"/>
              <a:ext cx="423504" cy="46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Q</a:t>
              </a:r>
            </a:p>
          </p:txBody>
        </p:sp>
        <p:sp>
          <p:nvSpPr>
            <p:cNvPr id="36873" name="Text Box 7">
              <a:extLst>
                <a:ext uri="{FF2B5EF4-FFF2-40B4-BE49-F238E27FC236}">
                  <a16:creationId xmlns:a16="http://schemas.microsoft.com/office/drawing/2014/main" id="{9694045C-0E72-4114-AAB0-B9882F5847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4276" y="4505101"/>
              <a:ext cx="407474" cy="4616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5" tIns="45718" rIns="91435" bIns="45718" anchor="ctr"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en-US"/>
                <a:t>R</a:t>
              </a:r>
            </a:p>
          </p:txBody>
        </p:sp>
        <p:sp>
          <p:nvSpPr>
            <p:cNvPr id="36874" name="Line 8">
              <a:extLst>
                <a:ext uri="{FF2B5EF4-FFF2-40B4-BE49-F238E27FC236}">
                  <a16:creationId xmlns:a16="http://schemas.microsoft.com/office/drawing/2014/main" id="{873BF068-5475-4EFA-A110-5153CBD5C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9713" y="4177925"/>
              <a:ext cx="258762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  <p:sp>
          <p:nvSpPr>
            <p:cNvPr id="36875" name="Line 9">
              <a:extLst>
                <a:ext uri="{FF2B5EF4-FFF2-40B4-BE49-F238E27FC236}">
                  <a16:creationId xmlns:a16="http://schemas.microsoft.com/office/drawing/2014/main" id="{3804C853-554B-4EC0-9E2B-7D400B32F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650" y="4489075"/>
              <a:ext cx="25876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1435" tIns="45718" rIns="91435" bIns="45718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5290220"/>
      </p:ext>
    </p:extLst>
  </p:cSld>
  <p:clrMapOvr>
    <a:masterClrMapping/>
  </p:clrMapOvr>
  <p:transition>
    <p:wipe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68A77BF0-2C8E-4F2C-B89E-F2540B5B7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In-Memory File System Structures</a:t>
            </a:r>
            <a:endParaRPr lang="en-US" altLang="en-US" sz="2400" dirty="0"/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1E835648-11EB-4E90-AC6E-4D8B1CA721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Mount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storing file system mounts, mount points, file system types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System-wide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a copy of the FCB of each file and other info</a:t>
            </a:r>
          </a:p>
          <a:p>
            <a:pPr algn="just"/>
            <a:r>
              <a:rPr lang="en-US" altLang="en-US" b="1" dirty="0">
                <a:solidFill>
                  <a:srgbClr val="006699"/>
                </a:solidFill>
              </a:rPr>
              <a:t>Per-process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open-file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contains pointers to appropriate entries in system-wide open-file table as well as other info</a:t>
            </a:r>
          </a:p>
          <a:p>
            <a:pPr algn="just"/>
            <a:r>
              <a:rPr lang="en-US" altLang="en-US" dirty="0"/>
              <a:t>The following figure illustrates the necessary file system structures provided by the operating systems</a:t>
            </a:r>
          </a:p>
          <a:p>
            <a:pPr algn="just"/>
            <a:r>
              <a:rPr lang="en-US" altLang="en-US" dirty="0"/>
              <a:t>Figure 12-3(a) refers to opening a file</a:t>
            </a:r>
          </a:p>
          <a:p>
            <a:pPr algn="just"/>
            <a:r>
              <a:rPr lang="en-US" altLang="en-US" dirty="0"/>
              <a:t>Figure 12-3(b) refers to reading a file</a:t>
            </a:r>
          </a:p>
          <a:p>
            <a:pPr algn="just"/>
            <a:r>
              <a:rPr lang="en-US" altLang="en-US" dirty="0"/>
              <a:t>Plus buffers hold data blocks from secondary storage</a:t>
            </a:r>
          </a:p>
          <a:p>
            <a:pPr algn="just"/>
            <a:r>
              <a:rPr lang="en-US" altLang="en-US" dirty="0"/>
              <a:t>Open returns a file handle for subsequent use</a:t>
            </a:r>
          </a:p>
          <a:p>
            <a:pPr algn="just"/>
            <a:r>
              <a:rPr lang="en-US" altLang="en-US" dirty="0"/>
              <a:t>Data from read eventually copied to specified user process memory address</a:t>
            </a:r>
          </a:p>
        </p:txBody>
      </p:sp>
    </p:spTree>
    <p:extLst>
      <p:ext uri="{BB962C8B-B14F-4D97-AF65-F5344CB8AC3E}">
        <p14:creationId xmlns:p14="http://schemas.microsoft.com/office/powerpoint/2010/main" val="2488549350"/>
      </p:ext>
    </p:extLst>
  </p:cSld>
  <p:clrMapOvr>
    <a:masterClrMapping/>
  </p:clrMapOvr>
  <p:transition>
    <p:wipe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3E7638FD-2A25-43CF-B34A-9C878CDE4D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 dirty="0"/>
              <a:t>End of Chapter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S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8E9540F8-C56E-444C-ACB3-A860CA9AFDC0}" vid="{4ACF5BCF-BEF1-4540-B07B-0840E8236B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SSN</Template>
  <TotalTime>2427</TotalTime>
  <Words>2335</Words>
  <Application>Microsoft Office PowerPoint</Application>
  <PresentationFormat>Widescreen</PresentationFormat>
  <Paragraphs>360</Paragraphs>
  <Slides>47</Slides>
  <Notes>36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Arial</vt:lpstr>
      <vt:lpstr>Calibri</vt:lpstr>
      <vt:lpstr>Comic Sans MS</vt:lpstr>
      <vt:lpstr>Helvetica</vt:lpstr>
      <vt:lpstr>Monotype Sorts</vt:lpstr>
      <vt:lpstr>MT Extra</vt:lpstr>
      <vt:lpstr>Symbol</vt:lpstr>
      <vt:lpstr>Tahoma</vt:lpstr>
      <vt:lpstr>Times New Roman</vt:lpstr>
      <vt:lpstr>Verdana</vt:lpstr>
      <vt:lpstr>Wingdings</vt:lpstr>
      <vt:lpstr>SSN</vt:lpstr>
      <vt:lpstr>Chapter 14:  File System Implementation</vt:lpstr>
      <vt:lpstr>Outline </vt:lpstr>
      <vt:lpstr>Objectives</vt:lpstr>
      <vt:lpstr>File-System Structure</vt:lpstr>
      <vt:lpstr>Layered File System</vt:lpstr>
      <vt:lpstr>File System Layers</vt:lpstr>
      <vt:lpstr>File System Layers (Cont.)</vt:lpstr>
      <vt:lpstr>File System Layers (Cont.)</vt:lpstr>
      <vt:lpstr>File-System Operations</vt:lpstr>
      <vt:lpstr>File Control Block (FCB)</vt:lpstr>
      <vt:lpstr>In-Memory File System Structures</vt:lpstr>
      <vt:lpstr>     In-Memory File System Structures (Cont.)</vt:lpstr>
      <vt:lpstr>Directory Implementation</vt:lpstr>
      <vt:lpstr>Allocation Method </vt:lpstr>
      <vt:lpstr>Contiguous Allocation Method </vt:lpstr>
      <vt:lpstr>Contiguous Allocation (Cont.)</vt:lpstr>
      <vt:lpstr>Extent-Based Systems</vt:lpstr>
      <vt:lpstr>Linked Allocation</vt:lpstr>
      <vt:lpstr>Linked Allocation Example</vt:lpstr>
      <vt:lpstr>Linked Allocation (Cont.)</vt:lpstr>
      <vt:lpstr>FAT Allocation Method</vt:lpstr>
      <vt:lpstr>File-Allocation Table</vt:lpstr>
      <vt:lpstr>Indexed Allocation Method</vt:lpstr>
      <vt:lpstr>Example of Indexed Allocation</vt:lpstr>
      <vt:lpstr>Performance</vt:lpstr>
      <vt:lpstr>Free-Space Management</vt:lpstr>
      <vt:lpstr>Free-Space Management</vt:lpstr>
      <vt:lpstr>Linked Free Space List on Disk</vt:lpstr>
      <vt:lpstr>Free-Space Management (Cont.)</vt:lpstr>
      <vt:lpstr>Free-Space Management (Cont.)</vt:lpstr>
      <vt:lpstr>TRIMing Unused Blocks</vt:lpstr>
      <vt:lpstr>Efficiency and Performance</vt:lpstr>
      <vt:lpstr>Efficiency and Performance (Cont.)</vt:lpstr>
      <vt:lpstr>Page Cache</vt:lpstr>
      <vt:lpstr>I/O Without a Unified Buffer Cache</vt:lpstr>
      <vt:lpstr>Unified Buffer Cache</vt:lpstr>
      <vt:lpstr>I/O Using a Unified Buffer Cache</vt:lpstr>
      <vt:lpstr>Recovery</vt:lpstr>
      <vt:lpstr>Log Structured File Systems</vt:lpstr>
      <vt:lpstr>Example: WAFL File System</vt:lpstr>
      <vt:lpstr>The WAFL File Layout</vt:lpstr>
      <vt:lpstr>Snapshots in WAFL</vt:lpstr>
      <vt:lpstr>The Apple File System</vt:lpstr>
      <vt:lpstr>Linked Allocation</vt:lpstr>
      <vt:lpstr>Linked Allocation</vt:lpstr>
      <vt:lpstr>In-Memory File System Structures</vt:lpstr>
      <vt:lpstr>End of Chapter 14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MaFaR – Masked Face Recognition Research and Innovation</dc:title>
  <dc:creator>Sree Sharmila T</dc:creator>
  <cp:lastModifiedBy>Hrithika S</cp:lastModifiedBy>
  <cp:revision>127</cp:revision>
  <dcterms:created xsi:type="dcterms:W3CDTF">2021-08-20T04:14:01Z</dcterms:created>
  <dcterms:modified xsi:type="dcterms:W3CDTF">2025-07-06T11:34:57Z</dcterms:modified>
</cp:coreProperties>
</file>