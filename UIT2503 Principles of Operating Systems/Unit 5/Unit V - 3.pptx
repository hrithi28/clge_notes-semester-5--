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41"/>
  </p:notesMasterIdLst>
  <p:sldIdLst>
    <p:sldId id="299" r:id="rId2"/>
    <p:sldId id="257" r:id="rId3"/>
    <p:sldId id="258" r:id="rId4"/>
    <p:sldId id="259" r:id="rId5"/>
    <p:sldId id="261" r:id="rId6"/>
    <p:sldId id="316" r:id="rId7"/>
    <p:sldId id="319" r:id="rId8"/>
    <p:sldId id="262" r:id="rId9"/>
    <p:sldId id="263" r:id="rId10"/>
    <p:sldId id="264" r:id="rId11"/>
    <p:sldId id="265" r:id="rId12"/>
    <p:sldId id="266" r:id="rId13"/>
    <p:sldId id="485" r:id="rId14"/>
    <p:sldId id="260" r:id="rId15"/>
    <p:sldId id="268" r:id="rId16"/>
    <p:sldId id="321" r:id="rId17"/>
    <p:sldId id="320" r:id="rId18"/>
    <p:sldId id="484" r:id="rId19"/>
    <p:sldId id="317" r:id="rId20"/>
    <p:sldId id="486" r:id="rId21"/>
    <p:sldId id="315" r:id="rId22"/>
    <p:sldId id="487" r:id="rId23"/>
    <p:sldId id="318" r:id="rId24"/>
    <p:sldId id="328" r:id="rId25"/>
    <p:sldId id="275" r:id="rId26"/>
    <p:sldId id="276" r:id="rId27"/>
    <p:sldId id="277" r:id="rId28"/>
    <p:sldId id="278" r:id="rId29"/>
    <p:sldId id="279" r:id="rId30"/>
    <p:sldId id="282" r:id="rId31"/>
    <p:sldId id="283" r:id="rId32"/>
    <p:sldId id="284" r:id="rId33"/>
    <p:sldId id="285" r:id="rId34"/>
    <p:sldId id="488" r:id="rId35"/>
    <p:sldId id="294" r:id="rId36"/>
    <p:sldId id="295" r:id="rId37"/>
    <p:sldId id="298" r:id="rId38"/>
    <p:sldId id="297" r:id="rId39"/>
    <p:sldId id="314" r:id="rId4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FFCC"/>
    <a:srgbClr val="FF33CC"/>
    <a:srgbClr val="070CC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54D33-E8EA-4265-8935-261D91E4D9B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1B623-262D-4279-8EFF-46905E6DE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7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6E7CF920-488B-42E0-9440-9A11B7D93D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9A8748-23BD-4604-ABD1-36CC9D1DFE60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FDAFEDA-D70D-4C20-A7EA-D2F3B7BEBA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9C75285-E37E-4014-8E71-F896080F1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829D8A9A-C80E-4EFF-9BBF-F99485B097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74C7E9-F040-43A5-A02B-7B3564DE1EB4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E1B05469-F229-496A-9100-5080C50BF7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AD6AA1F7-2174-4613-889A-2E4CE3097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03F5888B-8C91-4155-8F4E-30D35383F5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6D2EA7-7198-42DD-A325-6CC321E9025E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633DFBF-B12A-4FA5-B967-BD082F34E1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9CA0B3E5-B53B-4F18-9A81-C279B9A3F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F5D8EF20-2B33-42A0-BE9B-7019395EC7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908165-D958-4DDB-9065-BCEC095E6272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435883FA-9470-47C6-B1C9-F4922A9052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542B7158-1EFC-46BC-9606-F2841363D7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CB9BEDC9-DDB7-4C3C-B40A-C8652229F4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C65E7B-61F4-475C-84B4-05AD95DE5E9F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1C36A8BF-4187-41C0-9B41-F46AF5CB1E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3AEB5067-E056-414F-A796-10B6C2F10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B6267618-D325-4D6F-B4DC-A5CC575208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3692990-6E56-4D35-BD90-190416A81C7B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6E6CCDBC-0080-4C1B-ACAA-2F709F28A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227791CD-C623-4BAA-AB0B-E183BE12E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3FE16A3-2607-4ABA-872C-8A431BF223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614397-364B-4882-8C56-416B97B7CD7D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825277C5-6FF6-472B-B1B2-A162AC929A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EEE28775-1141-4618-8163-256EE66CF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742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47090E75-20C9-492E-A8E1-CA46BD6FC7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5418E6-809C-4662-89DF-BEF89E899F00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B65CDCB2-F76A-4019-900A-C03B6A3AA5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26B99814-4B6A-4EEF-9FAD-83D73A5AE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5224D5E7-E3EB-41B1-9826-418BB7E56B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24DE445-2236-4A35-B82B-A5220EEE4671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DC336EF1-6542-40D6-A1D9-C69DACB2A1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D23A2B31-DB3C-4DB5-894A-BEAD12DDE4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23FF0752-631B-4837-8997-5DCFD4664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63F8E3-1A48-4BB3-A5CF-D0A947C89F04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892DA693-929A-4C16-927D-FBB8F82E2E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1C9BAE9D-E811-4111-992F-434746110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214E9AC-4F79-470C-BF0D-5B48C759CF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BAD754-A430-4DF9-B4D1-B279BDF873B9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55CF1B11-48DD-4A95-8E3A-69FE388AFD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E68F0F72-CA37-4A44-9AEC-2B237F3F7D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F6AF66BF-B548-4A5E-A814-A3E3851CB0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B5695F-AA39-45C2-B506-17528805D557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558E9CD0-30F6-445D-BFE2-8266B6959C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108D7456-CC1B-43CE-A48D-68C3F7F54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C186DCFD-D70B-4812-BD91-F434C524AC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05CEC3-A068-4B76-B054-2088C316CEBC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7FF909BF-E68B-4257-B1C7-493C40FF3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0362F85C-BCFE-4811-B73A-397FF5353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6AE9770D-EE50-408A-B9AC-65DFB5BE3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E7FED8-4114-426E-AFA1-DD1BFBB9DE89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AAC9FE28-57EF-4166-9357-71412318ED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DD2402A-E21D-4607-BC3D-9DCDE79B4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6AE9770D-EE50-408A-B9AC-65DFB5BE3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E7FED8-4114-426E-AFA1-DD1BFBB9DE89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AAC9FE28-57EF-4166-9357-71412318ED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DD2402A-E21D-4607-BC3D-9DCDE79B4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412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6AE9770D-EE50-408A-B9AC-65DFB5BE3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E7FED8-4114-426E-AFA1-DD1BFBB9DE89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AAC9FE28-57EF-4166-9357-71412318ED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DD2402A-E21D-4607-BC3D-9DCDE79B4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8127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4B0E816B-8497-42ED-AAFC-698C4827A6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6A1499-5760-4D5F-9D28-0D4A9225FA87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5BF9D266-E370-4558-9DA3-DB2CB8BCE7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BAC30B81-DF9B-4FFE-82D2-095784BF9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1383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1BE9D2E7-A188-4C48-B7D8-38E97A5274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2D633A0-AF10-46AA-AA57-D16228C66F20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7D7DBCA2-1119-49FA-A8B4-3F1D579AF2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28D001FF-7B49-4C26-944F-85DCA2A46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8954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974D2720-3E47-4333-ADBA-198A535A13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0DA0DA-B95D-4575-B714-06F259E39FF6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606D1D41-43C1-4759-958F-F561B4137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229881FC-29EC-42CE-BA72-B7588D68C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3FE16A3-2607-4ABA-872C-8A431BF223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614397-364B-4882-8C56-416B97B7CD7D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825277C5-6FF6-472B-B1B2-A162AC929A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EEE28775-1141-4618-8163-256EE66CF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79546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D97F732C-F89E-47E2-B59C-A12FFB782F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33D637-BCE5-4E5D-9874-9EFBFE9D9D08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E4F0DE8-E8B5-4C7D-B055-95C406BC3C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06954C32-A2A8-47D3-9E0F-1137C1B68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EC461AAA-CFEF-42EE-8AF1-5A61282285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E89A6CA-A27A-48DC-A193-6688F0032372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7267D01B-0B18-468C-84E3-0EC1B30BF9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E469E36-4F41-4F57-B693-9C7C11FBA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C2E8DE37-7674-4FDC-BDA6-36D02C25C1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4F0040-1B98-4F0E-BD49-DF658C3D7C95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FE40D393-2DEC-49FB-B799-1F946CFFA9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148EB59F-476B-4E98-B58A-D56625568C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94970420-6BEE-4A26-A5B6-1CBF978BE2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2A2EC-CEA9-4304-B5CE-E4AECC768278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829884F7-6903-412F-8748-6D35529EB7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6143852-93F3-4D3F-AFF6-82478CE0C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88D94CA6-A8CB-4B96-A231-B80C7BBA1F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0EE775A-D9F7-4A95-B333-F891C5D4DA5D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BF1B1340-F7F3-4773-999D-DAC5CDB94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A0AD820-C113-4453-9FD3-41D1AB4BB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B11D5468-5ACE-4DA5-A8B3-8976C1D5A4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0ED4EAF-AB70-4F97-88AE-0E564E534DC9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DC303E0B-E9C9-4AFB-88A2-B0CBA1A007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ABA8AF9E-F66F-45D5-B27C-7473154DBC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681E090F-6E9F-41B7-B8FC-51E19263B2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C88994-3A7F-4528-A778-185C8514683A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D84D11C4-FDED-490D-B439-4268CDBFB3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EF7021B9-2DCA-441F-AAA2-93E8102556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158D98A-1AE4-4B3D-8A07-80E14B6E0F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79595F-FC7F-49B8-8036-A16B10273444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A74E424E-18A6-43CE-9BD1-8E7E197551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D392E193-B823-4104-BDD1-C6DCA2DFB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251E72B0-690D-4FD8-82C7-9EC11450EA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524D4E-20DC-4D93-8DCD-E293153F4EFF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EFA9456E-7149-400D-B992-98BC42EE65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FC56900-FBAB-4660-B386-7F5313198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FCE873E5-E47B-4999-A1BB-AFE04322D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1BC784-645F-4333-A257-6F0A6CD37719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E188AC23-0335-4DE4-95C6-A4ECDAF6A2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CBEB557A-1930-49B0-AB43-C3944239C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4423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9C1148F4-4F7F-4260-8B6E-87505DA2DA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A784DC-949B-4BF3-B1F2-10FEF9DEDAD0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DF05173A-578A-4DA8-9CB6-428F8B5CA8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55EDC5B3-11F6-45E3-8BF5-793B62555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A33D151D-6DE0-42D5-BDBB-75D3552ACC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3C6E41-7C41-477A-A042-BB5743EEB66C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C856F83E-1078-46D8-971F-88F38709C0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06AB2421-AE25-4CC7-866A-D96F9CA46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130FC767-B009-47BF-8836-F0D0ADBED2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A89EB48-38D6-412A-A9D2-02EC89F1D3FB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15B628E2-0FB0-4C7E-B358-0771799475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3624952B-D60E-4C01-B858-312B412102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5467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2CC0B1F1-4027-4F0F-84D3-CDBE772BF9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347DC2-786D-435A-BEA1-8D182729303C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A7A0605C-56F8-4CC7-8D92-C691C245A5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DFACDC2C-C783-4142-8BEB-94AF9BF865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3E72F64-5CD8-4B71-A59F-8663532E75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82236F-6024-461D-95C0-A8C6844DD1F5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FCDA589-3737-4601-8B1E-7EE93F3B4E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3E0CDBE-0D2F-4E79-86F1-62A72CE4B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83235"/>
            <a:ext cx="12170833" cy="128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0" y="0"/>
            <a:ext cx="12192000" cy="1752600"/>
          </a:xfrm>
          <a:prstGeom prst="rect">
            <a:avLst/>
          </a:prstGeom>
          <a:solidFill>
            <a:srgbClr val="33529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charset="0"/>
              <a:cs typeface="+mn-cs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5531122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1066800"/>
            <a:ext cx="1097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3"/>
            <a:ext cx="10972800" cy="4906963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55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52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960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 sz="2400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053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1" descr="ba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68727"/>
            <a:ext cx="12189884" cy="128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09728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1453038" y="6484230"/>
            <a:ext cx="719092" cy="30480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fld id="{68F38F93-EFB2-4D8E-B34E-D4180BE42A95}" type="slidenum">
              <a:rPr lang="en-US" altLang="en-US" sz="1600" b="1">
                <a:solidFill>
                  <a:schemeClr val="accent2"/>
                </a:solidFill>
                <a:latin typeface="Calibri" panose="020F0502020204030204" pitchFamily="34" charset="0"/>
              </a:rPr>
              <a:pPr algn="ctr"/>
              <a:t>‹#›</a:t>
            </a:fld>
            <a:endParaRPr lang="en-US" altLang="en-US" sz="1800" b="1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6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50" r:id="rId3"/>
    <p:sldLayoutId id="2147483752" r:id="rId4"/>
    <p:sldLayoutId id="2147483753" r:id="rId5"/>
  </p:sldLayoutIdLst>
  <p:transition>
    <p:wipe dir="d"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B57B5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E30A934-7B5E-4C49-8AA9-85E72C0A931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13:  </a:t>
            </a:r>
            <a:br>
              <a:rPr lang="en-US" altLang="en-US"/>
            </a:br>
            <a:r>
              <a:rPr lang="en-US" altLang="en-US"/>
              <a:t>File-System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23F8973-D50F-4DF1-AD92-3DC692F22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AC2A110-A4D8-43F4-9C09-95BEEA7D7F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File Concept</a:t>
            </a:r>
          </a:p>
          <a:p>
            <a:r>
              <a:rPr lang="en-US" altLang="en-US" dirty="0"/>
              <a:t>Access Methods</a:t>
            </a:r>
          </a:p>
          <a:p>
            <a:r>
              <a:rPr lang="en-US" altLang="en-US" dirty="0"/>
              <a:t>Disk and Directory Structure</a:t>
            </a:r>
          </a:p>
          <a:p>
            <a:r>
              <a:rPr lang="en-US" altLang="en-US" dirty="0"/>
              <a:t>Protection</a:t>
            </a:r>
          </a:p>
          <a:p>
            <a:r>
              <a:rPr lang="en-US" altLang="en-US" dirty="0"/>
              <a:t>Memory-Mapped Files</a:t>
            </a: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594F17E-A241-488A-BC65-2AAC5ED0B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371A58D-A8E3-4A35-A32D-F80D44774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 explain the function of file systems</a:t>
            </a:r>
          </a:p>
          <a:p>
            <a:r>
              <a:rPr lang="en-US" altLang="en-US" dirty="0"/>
              <a:t>To describe the interfaces to file systems</a:t>
            </a:r>
          </a:p>
          <a:p>
            <a:r>
              <a:rPr lang="en-US" altLang="en-US" dirty="0"/>
              <a:t>To discuss file-system design tradeoffs, including access methods, file sharing, file locking, and directory structures</a:t>
            </a:r>
          </a:p>
          <a:p>
            <a:r>
              <a:rPr lang="en-US" altLang="en-US" dirty="0"/>
              <a:t>To explore file-system protection</a:t>
            </a:r>
          </a:p>
          <a:p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87311EE-EAAE-42C5-87B1-E2BA40562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 Concept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7B7C5E7-8176-4731-B84D-C095481726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Contiguous logical address space</a:t>
            </a:r>
          </a:p>
          <a:p>
            <a:r>
              <a:rPr lang="en-US" altLang="en-US" dirty="0"/>
              <a:t>Types: </a:t>
            </a:r>
          </a:p>
          <a:p>
            <a:pPr lvl="1"/>
            <a:r>
              <a:rPr lang="en-US" altLang="en-US" dirty="0"/>
              <a:t>Data</a:t>
            </a:r>
          </a:p>
          <a:p>
            <a:pPr lvl="2"/>
            <a:r>
              <a:rPr lang="en-US" altLang="en-US" dirty="0"/>
              <a:t>Numeric</a:t>
            </a:r>
          </a:p>
          <a:p>
            <a:pPr lvl="2"/>
            <a:r>
              <a:rPr lang="en-US" altLang="en-US" dirty="0"/>
              <a:t>Character</a:t>
            </a:r>
          </a:p>
          <a:p>
            <a:pPr lvl="2"/>
            <a:r>
              <a:rPr lang="en-US" altLang="en-US" dirty="0"/>
              <a:t>Binary</a:t>
            </a:r>
          </a:p>
          <a:p>
            <a:pPr lvl="1"/>
            <a:r>
              <a:rPr lang="en-US" altLang="en-US" dirty="0"/>
              <a:t>Program</a:t>
            </a:r>
          </a:p>
          <a:p>
            <a:r>
              <a:rPr lang="en-US" altLang="en-US" dirty="0"/>
              <a:t>Contents defined by file’s creator</a:t>
            </a:r>
          </a:p>
          <a:p>
            <a:pPr lvl="1"/>
            <a:r>
              <a:rPr lang="en-US" altLang="en-US" dirty="0"/>
              <a:t>Many types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source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822FA0E-4125-4F49-9BE5-C72BAB45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 Attributes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780046D-9741-40EC-933F-FFEA08E523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/>
              <a:t>Name</a:t>
            </a:r>
            <a:r>
              <a:rPr lang="en-US" altLang="en-US" dirty="0"/>
              <a:t> – only information kept in human-readable form</a:t>
            </a:r>
          </a:p>
          <a:p>
            <a:pPr algn="just"/>
            <a:r>
              <a:rPr lang="en-US" altLang="en-US" b="1" dirty="0"/>
              <a:t>Identifier</a:t>
            </a:r>
            <a:r>
              <a:rPr lang="en-US" altLang="en-US" dirty="0"/>
              <a:t> – unique tag (number) identifies file within file system</a:t>
            </a:r>
          </a:p>
          <a:p>
            <a:pPr algn="just"/>
            <a:r>
              <a:rPr lang="en-US" altLang="en-US" b="1" dirty="0"/>
              <a:t>Type</a:t>
            </a:r>
            <a:r>
              <a:rPr lang="en-US" altLang="en-US" dirty="0"/>
              <a:t> – needed for systems that support different types</a:t>
            </a:r>
          </a:p>
          <a:p>
            <a:pPr algn="just"/>
            <a:r>
              <a:rPr lang="en-US" altLang="en-US" b="1" dirty="0"/>
              <a:t>Location</a:t>
            </a:r>
            <a:r>
              <a:rPr lang="en-US" altLang="en-US" dirty="0"/>
              <a:t> – pointer to file location on device</a:t>
            </a:r>
          </a:p>
          <a:p>
            <a:pPr algn="just"/>
            <a:r>
              <a:rPr lang="en-US" altLang="en-US" b="1" dirty="0"/>
              <a:t>Size</a:t>
            </a:r>
            <a:r>
              <a:rPr lang="en-US" altLang="en-US" dirty="0"/>
              <a:t> – current file size</a:t>
            </a:r>
          </a:p>
          <a:p>
            <a:pPr algn="just"/>
            <a:r>
              <a:rPr lang="en-US" altLang="en-US" b="1" dirty="0"/>
              <a:t>Protection</a:t>
            </a:r>
            <a:r>
              <a:rPr lang="en-US" altLang="en-US" dirty="0"/>
              <a:t> – controls who can do reading, writing, executing</a:t>
            </a:r>
          </a:p>
          <a:p>
            <a:pPr algn="just"/>
            <a:r>
              <a:rPr lang="en-US" altLang="en-US" b="1" dirty="0"/>
              <a:t>Time, date, and user identification</a:t>
            </a:r>
            <a:r>
              <a:rPr lang="en-US" altLang="en-US" dirty="0"/>
              <a:t> – data for protection, security, and usage monitoring</a:t>
            </a:r>
          </a:p>
          <a:p>
            <a:pPr algn="just"/>
            <a:r>
              <a:rPr lang="en-US" altLang="en-US" dirty="0"/>
              <a:t>Information about files are kept in the directory structure, which is maintained on the disk</a:t>
            </a:r>
          </a:p>
          <a:p>
            <a:pPr algn="just"/>
            <a:r>
              <a:rPr lang="en-US" altLang="en-US" dirty="0"/>
              <a:t>Many variations, including extended file attributes such as file checksum</a:t>
            </a:r>
          </a:p>
          <a:p>
            <a:pPr algn="just"/>
            <a:r>
              <a:rPr lang="en-US" altLang="en-US" dirty="0"/>
              <a:t>Information kept in the directory structure</a:t>
            </a:r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69DE311-EA1E-4C99-816C-B9B6C22995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 info Window on Mac OS X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9C9455-7378-697C-F758-10FB15870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5" name="Picture 4" descr="11_01.pdf">
            <a:extLst>
              <a:ext uri="{FF2B5EF4-FFF2-40B4-BE49-F238E27FC236}">
                <a16:creationId xmlns:a16="http://schemas.microsoft.com/office/drawing/2014/main" id="{97B5BCB4-024F-4BC3-9E3E-A2CA2D692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64" y="1041401"/>
            <a:ext cx="1920875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38BD3AB-ADA2-41E1-B7F5-5355D00439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Directory Structure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F944469-B704-4C95-B54F-B06D7A5DFE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collection of nodes containing information about all files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>
                <a:latin typeface="Helvetica" panose="020B0604020202020204" pitchFamily="34" charset="0"/>
              </a:rPr>
              <a:t>Both the directory structure and the files reside on disk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FA0E160-EA21-4EED-AEA0-5382DEE31E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095786"/>
              </p:ext>
            </p:extLst>
          </p:nvPr>
        </p:nvGraphicFramePr>
        <p:xfrm>
          <a:off x="3903887" y="2240124"/>
          <a:ext cx="3309590" cy="2865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2171594" imgH="1874473" progId="AcroExch.Document.DC">
                  <p:embed/>
                </p:oleObj>
              </mc:Choice>
              <mc:Fallback>
                <p:oleObj name="Acrobat Document" r:id="rId3" imgW="2171594" imgH="1874473" progId="AcroExch.Document.DC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FA0E160-EA21-4EED-AEA0-5382DEE31E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03887" y="2240124"/>
                        <a:ext cx="3309590" cy="2865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3531826"/>
      </p:ext>
    </p:extLst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D82530B-0E54-46E1-8931-717459219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 Operations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7DAB2CA-5895-49F7-9AFA-D5AA30392E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/>
              <a:t>Create</a:t>
            </a:r>
          </a:p>
          <a:p>
            <a:pPr algn="just"/>
            <a:r>
              <a:rPr lang="en-US" altLang="en-US" b="1" dirty="0"/>
              <a:t>Write – </a:t>
            </a:r>
            <a:r>
              <a:rPr lang="en-US" altLang="en-US" dirty="0"/>
              <a:t>at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location</a:t>
            </a:r>
          </a:p>
          <a:p>
            <a:pPr algn="just"/>
            <a:r>
              <a:rPr lang="en-US" altLang="en-US" b="1" dirty="0"/>
              <a:t>Read – </a:t>
            </a:r>
            <a:r>
              <a:rPr lang="en-US" altLang="en-US" dirty="0"/>
              <a:t>at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location</a:t>
            </a:r>
          </a:p>
          <a:p>
            <a:pPr algn="just"/>
            <a:r>
              <a:rPr lang="en-US" altLang="en-US" b="1" dirty="0"/>
              <a:t>Reposition within file -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seek</a:t>
            </a:r>
          </a:p>
          <a:p>
            <a:pPr algn="just"/>
            <a:r>
              <a:rPr lang="en-US" altLang="en-US" b="1" dirty="0"/>
              <a:t>Delete</a:t>
            </a:r>
          </a:p>
          <a:p>
            <a:pPr algn="just"/>
            <a:r>
              <a:rPr lang="en-US" altLang="en-US" b="1" dirty="0"/>
              <a:t>Truncate</a:t>
            </a:r>
          </a:p>
          <a:p>
            <a:pPr algn="just"/>
            <a:r>
              <a:rPr lang="en-US" altLang="en-US" b="1" i="1" dirty="0"/>
              <a:t>Open </a:t>
            </a:r>
            <a:r>
              <a:rPr lang="en-US" altLang="en-US" b="1" dirty="0"/>
              <a:t>(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) </a:t>
            </a:r>
            <a:r>
              <a:rPr lang="en-US" altLang="en-US" dirty="0"/>
              <a:t>– search the directory structure on disk for entry 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, and move the content of entry to memory</a:t>
            </a:r>
          </a:p>
          <a:p>
            <a:pPr algn="just"/>
            <a:r>
              <a:rPr lang="en-US" altLang="en-US" b="1" i="1" dirty="0"/>
              <a:t>Close </a:t>
            </a:r>
            <a:r>
              <a:rPr lang="en-US" altLang="en-US" b="1" dirty="0"/>
              <a:t>(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) </a:t>
            </a:r>
            <a:r>
              <a:rPr lang="en-US" altLang="en-US" dirty="0"/>
              <a:t>– move the content of entry</a:t>
            </a:r>
            <a:r>
              <a:rPr lang="en-US" altLang="en-US" b="1" dirty="0"/>
              <a:t> 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 </a:t>
            </a:r>
            <a:r>
              <a:rPr lang="en-US" altLang="en-US" dirty="0"/>
              <a:t>in memory to directory structure on disk</a:t>
            </a:r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90BB23-426F-4779-AAC3-AA1C8446D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Open Files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74ECB5E-8070-4DEB-980D-3BC98F606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Several pieces of data are needed to manage open files: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: tracks open files</a:t>
            </a:r>
          </a:p>
          <a:p>
            <a:pPr lvl="1" algn="just"/>
            <a:r>
              <a:rPr lang="en-US" altLang="en-US" dirty="0"/>
              <a:t>File pointer:  pointer to last read/write location, per process that has the file open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File-open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</a:t>
            </a:r>
            <a:r>
              <a:rPr lang="en-US" altLang="en-US" dirty="0"/>
              <a:t>: counter of number of times a file is open – to allow removal of data from open-file table when last processes closes it</a:t>
            </a:r>
          </a:p>
          <a:p>
            <a:pPr lvl="1" algn="just"/>
            <a:r>
              <a:rPr lang="en-US" altLang="en-US" dirty="0"/>
              <a:t>Disk location of the file: cache of data access information</a:t>
            </a:r>
          </a:p>
          <a:p>
            <a:pPr lvl="1" algn="just"/>
            <a:r>
              <a:rPr lang="en-US" altLang="en-US" dirty="0"/>
              <a:t>Access rights: per-process access mode information</a:t>
            </a: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1901319-4902-4FF1-A8EF-AA9B1300B3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File Locking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F341099-F84A-486B-8354-E95792451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Provided by some operating systems and file systems</a:t>
            </a:r>
          </a:p>
          <a:p>
            <a:pPr lvl="1" algn="just"/>
            <a:r>
              <a:rPr lang="en-US" altLang="en-US" dirty="0"/>
              <a:t>Similar to reader-writer locks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lock</a:t>
            </a:r>
            <a:r>
              <a:rPr lang="en-US" altLang="en-US" dirty="0"/>
              <a:t> similar to reader lock – several processes can acquire concurrently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Exclusive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similar to writer lock</a:t>
            </a:r>
          </a:p>
          <a:p>
            <a:pPr algn="just"/>
            <a:r>
              <a:rPr lang="en-US" altLang="en-US" dirty="0"/>
              <a:t>Mediates access to a file</a:t>
            </a:r>
          </a:p>
          <a:p>
            <a:pPr algn="just"/>
            <a:r>
              <a:rPr lang="en-US" altLang="en-US" dirty="0"/>
              <a:t>Mandatory or advisory: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Mandatory</a:t>
            </a:r>
            <a:r>
              <a:rPr lang="en-US" altLang="en-US" dirty="0"/>
              <a:t> – access is denied depending on locks held and requested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Advisory</a:t>
            </a:r>
            <a:r>
              <a:rPr lang="en-US" altLang="en-US" dirty="0"/>
              <a:t> – processes can find status of locks and decide what to do</a:t>
            </a:r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DA52379-7701-4C4A-8B31-198418483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658" y="180272"/>
            <a:ext cx="10972800" cy="792162"/>
          </a:xfrm>
        </p:spPr>
        <p:txBody>
          <a:bodyPr/>
          <a:lstStyle/>
          <a:p>
            <a:pPr eaLnBrk="1" hangingPunct="1"/>
            <a:r>
              <a:rPr lang="en-US" altLang="en-US" dirty="0"/>
              <a:t>File Locking Example – Java API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9254F1E-2F1B-4E2A-9773-37236C49BF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import java.io.*;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import </a:t>
            </a:r>
            <a:r>
              <a:rPr lang="en-US" altLang="en-US" sz="1400" dirty="0" err="1">
                <a:solidFill>
                  <a:srgbClr val="0033CC"/>
                </a:solidFill>
              </a:rPr>
              <a:t>java.nio.channels</a:t>
            </a:r>
            <a:r>
              <a:rPr lang="en-US" altLang="en-US" sz="1400" dirty="0">
                <a:solidFill>
                  <a:srgbClr val="0033CC"/>
                </a:solidFill>
              </a:rPr>
              <a:t>.*;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public class </a:t>
            </a:r>
            <a:r>
              <a:rPr lang="en-US" altLang="en-US" sz="1400" dirty="0" err="1">
                <a:solidFill>
                  <a:srgbClr val="0033CC"/>
                </a:solidFill>
              </a:rPr>
              <a:t>LockingExample</a:t>
            </a:r>
            <a:r>
              <a:rPr lang="en-US" altLang="en-US" sz="1400" dirty="0">
                <a:solidFill>
                  <a:srgbClr val="0033CC"/>
                </a:solidFill>
              </a:rPr>
              <a:t>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i="1" dirty="0">
                <a:solidFill>
                  <a:srgbClr val="0033CC"/>
                </a:solidFill>
              </a:rPr>
              <a:t>	</a:t>
            </a:r>
            <a:r>
              <a:rPr lang="en-US" altLang="en-US" sz="1400" dirty="0">
                <a:solidFill>
                  <a:srgbClr val="0033CC"/>
                </a:solidFill>
              </a:rPr>
              <a:t>public static final </a:t>
            </a:r>
            <a:r>
              <a:rPr lang="en-US" altLang="en-US" sz="1400" dirty="0" err="1">
                <a:solidFill>
                  <a:srgbClr val="0033CC"/>
                </a:solidFill>
              </a:rPr>
              <a:t>boolean</a:t>
            </a:r>
            <a:r>
              <a:rPr lang="en-US" altLang="en-US" sz="1400" dirty="0">
                <a:solidFill>
                  <a:srgbClr val="0033CC"/>
                </a:solidFill>
              </a:rPr>
              <a:t> EXCLUSIVE = false;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public static final </a:t>
            </a:r>
            <a:r>
              <a:rPr lang="en-US" altLang="en-US" sz="1400" dirty="0" err="1">
                <a:solidFill>
                  <a:srgbClr val="0033CC"/>
                </a:solidFill>
              </a:rPr>
              <a:t>boolean</a:t>
            </a:r>
            <a:r>
              <a:rPr lang="en-US" altLang="en-US" sz="1400" dirty="0">
                <a:solidFill>
                  <a:srgbClr val="0033CC"/>
                </a:solidFill>
              </a:rPr>
              <a:t> SHARED = true;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public static void main(String </a:t>
            </a:r>
            <a:r>
              <a:rPr lang="en-US" altLang="en-US" sz="1400" dirty="0" err="1">
                <a:solidFill>
                  <a:srgbClr val="0033CC"/>
                </a:solidFill>
              </a:rPr>
              <a:t>arsg</a:t>
            </a:r>
            <a:r>
              <a:rPr lang="en-US" altLang="en-US" sz="1400" dirty="0">
                <a:solidFill>
                  <a:srgbClr val="0033CC"/>
                </a:solidFill>
              </a:rPr>
              <a:t>[]) throws </a:t>
            </a:r>
            <a:r>
              <a:rPr lang="en-US" altLang="en-US" sz="1400" dirty="0" err="1">
                <a:solidFill>
                  <a:srgbClr val="0033CC"/>
                </a:solidFill>
              </a:rPr>
              <a:t>IOException</a:t>
            </a:r>
            <a:r>
              <a:rPr lang="en-US" altLang="en-US" sz="1400" dirty="0">
                <a:solidFill>
                  <a:srgbClr val="0033CC"/>
                </a:solidFill>
              </a:rPr>
              <a:t> </a:t>
            </a:r>
            <a:r>
              <a:rPr lang="en-US" altLang="en-US" sz="1400" i="1" dirty="0">
                <a:solidFill>
                  <a:srgbClr val="0033CC"/>
                </a:solidFill>
              </a:rPr>
              <a:t>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	</a:t>
            </a:r>
            <a:r>
              <a:rPr lang="en-US" altLang="en-US" sz="1400" dirty="0" err="1">
                <a:solidFill>
                  <a:srgbClr val="0033CC"/>
                </a:solidFill>
              </a:rPr>
              <a:t>FileLock</a:t>
            </a:r>
            <a:r>
              <a:rPr lang="en-US" altLang="en-US" sz="1400" dirty="0">
                <a:solidFill>
                  <a:srgbClr val="0033CC"/>
                </a:solidFill>
              </a:rPr>
              <a:t> </a:t>
            </a:r>
            <a:r>
              <a:rPr lang="en-US" altLang="en-US" sz="1400" dirty="0" err="1">
                <a:solidFill>
                  <a:srgbClr val="0033CC"/>
                </a:solidFill>
              </a:rPr>
              <a:t>sharedLock</a:t>
            </a:r>
            <a:r>
              <a:rPr lang="en-US" altLang="en-US" sz="1400" dirty="0">
                <a:solidFill>
                  <a:srgbClr val="0033CC"/>
                </a:solidFill>
              </a:rPr>
              <a:t> = null;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	</a:t>
            </a:r>
            <a:r>
              <a:rPr lang="en-US" altLang="en-US" sz="1400" dirty="0" err="1">
                <a:solidFill>
                  <a:srgbClr val="0033CC"/>
                </a:solidFill>
              </a:rPr>
              <a:t>FileLock</a:t>
            </a:r>
            <a:r>
              <a:rPr lang="en-US" altLang="en-US" sz="1400" dirty="0">
                <a:solidFill>
                  <a:srgbClr val="0033CC"/>
                </a:solidFill>
              </a:rPr>
              <a:t> </a:t>
            </a:r>
            <a:r>
              <a:rPr lang="en-US" altLang="en-US" sz="1400" dirty="0" err="1">
                <a:solidFill>
                  <a:srgbClr val="0033CC"/>
                </a:solidFill>
              </a:rPr>
              <a:t>exclusiveLock</a:t>
            </a:r>
            <a:r>
              <a:rPr lang="en-US" altLang="en-US" sz="1400" dirty="0">
                <a:solidFill>
                  <a:srgbClr val="0033CC"/>
                </a:solidFill>
              </a:rPr>
              <a:t> = null;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	try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		</a:t>
            </a:r>
            <a:r>
              <a:rPr lang="en-US" altLang="en-US" sz="1400" dirty="0" err="1">
                <a:solidFill>
                  <a:srgbClr val="0033CC"/>
                </a:solidFill>
              </a:rPr>
              <a:t>RandomAccessFile</a:t>
            </a:r>
            <a:r>
              <a:rPr lang="en-US" altLang="en-US" sz="1400" dirty="0">
                <a:solidFill>
                  <a:srgbClr val="0033CC"/>
                </a:solidFill>
              </a:rPr>
              <a:t> </a:t>
            </a:r>
            <a:r>
              <a:rPr lang="en-US" altLang="en-US" sz="1400" dirty="0" err="1">
                <a:solidFill>
                  <a:srgbClr val="0033CC"/>
                </a:solidFill>
              </a:rPr>
              <a:t>raf</a:t>
            </a:r>
            <a:r>
              <a:rPr lang="en-US" altLang="en-US" sz="1400" dirty="0">
                <a:solidFill>
                  <a:srgbClr val="0033CC"/>
                </a:solidFill>
              </a:rPr>
              <a:t> = new </a:t>
            </a:r>
            <a:r>
              <a:rPr lang="en-US" altLang="en-US" sz="1400" dirty="0" err="1">
                <a:solidFill>
                  <a:srgbClr val="0033CC"/>
                </a:solidFill>
              </a:rPr>
              <a:t>RandomAccessFile</a:t>
            </a:r>
            <a:r>
              <a:rPr lang="en-US" altLang="en-US" sz="1400" dirty="0">
                <a:solidFill>
                  <a:srgbClr val="0033CC"/>
                </a:solidFill>
              </a:rPr>
              <a:t>("file.txt", "</a:t>
            </a:r>
            <a:r>
              <a:rPr lang="en-US" altLang="en-US" sz="1400" dirty="0" err="1">
                <a:solidFill>
                  <a:srgbClr val="0033CC"/>
                </a:solidFill>
              </a:rPr>
              <a:t>rw</a:t>
            </a:r>
            <a:r>
              <a:rPr lang="en-US" altLang="en-US" sz="1400" dirty="0">
                <a:solidFill>
                  <a:srgbClr val="0033CC"/>
                </a:solidFill>
              </a:rPr>
              <a:t>");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		// get the channel for the file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		</a:t>
            </a:r>
            <a:r>
              <a:rPr lang="en-US" altLang="en-US" sz="1400" dirty="0" err="1">
                <a:solidFill>
                  <a:srgbClr val="0033CC"/>
                </a:solidFill>
              </a:rPr>
              <a:t>FileChannel</a:t>
            </a:r>
            <a:r>
              <a:rPr lang="en-US" altLang="en-US" sz="1400" dirty="0">
                <a:solidFill>
                  <a:srgbClr val="0033CC"/>
                </a:solidFill>
              </a:rPr>
              <a:t> </a:t>
            </a:r>
            <a:r>
              <a:rPr lang="en-US" altLang="en-US" sz="1400" dirty="0" err="1">
                <a:solidFill>
                  <a:srgbClr val="0033CC"/>
                </a:solidFill>
              </a:rPr>
              <a:t>ch</a:t>
            </a:r>
            <a:r>
              <a:rPr lang="en-US" altLang="en-US" sz="1400" dirty="0">
                <a:solidFill>
                  <a:srgbClr val="0033CC"/>
                </a:solidFill>
              </a:rPr>
              <a:t> = </a:t>
            </a:r>
            <a:r>
              <a:rPr lang="en-US" altLang="en-US" sz="1400" dirty="0" err="1">
                <a:solidFill>
                  <a:srgbClr val="0033CC"/>
                </a:solidFill>
              </a:rPr>
              <a:t>raf.getChannel</a:t>
            </a:r>
            <a:r>
              <a:rPr lang="en-US" altLang="en-US" sz="1400" dirty="0">
                <a:solidFill>
                  <a:srgbClr val="0033CC"/>
                </a:solidFill>
              </a:rPr>
              <a:t>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		// this locks the first half of the file - exclusive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		</a:t>
            </a:r>
            <a:r>
              <a:rPr lang="en-US" altLang="en-US" sz="1400" dirty="0" err="1">
                <a:solidFill>
                  <a:srgbClr val="0033CC"/>
                </a:solidFill>
              </a:rPr>
              <a:t>exclusiveLock</a:t>
            </a:r>
            <a:r>
              <a:rPr lang="en-US" altLang="en-US" sz="1400" dirty="0">
                <a:solidFill>
                  <a:srgbClr val="0033CC"/>
                </a:solidFill>
              </a:rPr>
              <a:t> = </a:t>
            </a:r>
            <a:r>
              <a:rPr lang="en-US" altLang="en-US" sz="1400" dirty="0" err="1">
                <a:solidFill>
                  <a:srgbClr val="0033CC"/>
                </a:solidFill>
              </a:rPr>
              <a:t>ch.lock</a:t>
            </a:r>
            <a:r>
              <a:rPr lang="en-US" altLang="en-US" sz="1400" dirty="0">
                <a:solidFill>
                  <a:srgbClr val="0033CC"/>
                </a:solidFill>
              </a:rPr>
              <a:t>(0, </a:t>
            </a:r>
            <a:r>
              <a:rPr lang="en-US" altLang="en-US" sz="1400" dirty="0" err="1">
                <a:solidFill>
                  <a:srgbClr val="0033CC"/>
                </a:solidFill>
              </a:rPr>
              <a:t>raf.length</a:t>
            </a:r>
            <a:r>
              <a:rPr lang="en-US" altLang="en-US" sz="1400" dirty="0">
                <a:solidFill>
                  <a:srgbClr val="0033CC"/>
                </a:solidFill>
              </a:rPr>
              <a:t>()/2, EXCLUSIVE);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		/** Now modify the data . . . 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		// release the lock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33CC"/>
                </a:solidFill>
              </a:rPr>
              <a:t>			</a:t>
            </a:r>
            <a:r>
              <a:rPr lang="en-US" altLang="en-US" sz="1400" dirty="0" err="1">
                <a:solidFill>
                  <a:srgbClr val="0033CC"/>
                </a:solidFill>
              </a:rPr>
              <a:t>exclusiveLock.release</a:t>
            </a:r>
            <a:r>
              <a:rPr lang="en-US" altLang="en-US" sz="1400" dirty="0">
                <a:solidFill>
                  <a:srgbClr val="0033CC"/>
                </a:solidFill>
              </a:rPr>
              <a:t>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400" dirty="0">
              <a:solidFill>
                <a:srgbClr val="0033CC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701A68-51A6-0D77-0AA9-64EC53D45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384" y="303457"/>
            <a:ext cx="3438958" cy="5282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737741-89B6-3ABF-DC55-3CDBBD10A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956" y="1078467"/>
            <a:ext cx="1878599" cy="16970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6E5FF7-262B-3FDF-E8F1-78D6628D8AD1}"/>
              </a:ext>
            </a:extLst>
          </p:cNvPr>
          <p:cNvSpPr txBox="1"/>
          <p:nvPr/>
        </p:nvSpPr>
        <p:spPr>
          <a:xfrm>
            <a:off x="4758813" y="1078467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When you call the </a:t>
            </a:r>
            <a:r>
              <a:rPr lang="en-US" sz="1400" dirty="0">
                <a:latin typeface="Courier New" panose="02070309020205020404" pitchFamily="49" charset="0"/>
              </a:rPr>
              <a:t>.lock()</a:t>
            </a:r>
            <a:r>
              <a:rPr lang="en-US" sz="1400" dirty="0"/>
              <a:t> method: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The third parameter (</a:t>
            </a:r>
            <a:r>
              <a:rPr lang="en-US" sz="1400" dirty="0">
                <a:latin typeface="Courier New" panose="02070309020205020404" pitchFamily="49" charset="0"/>
              </a:rPr>
              <a:t>shared</a:t>
            </a:r>
            <a:r>
              <a:rPr lang="en-US" sz="1400" dirty="0"/>
              <a:t>) determines the type of lock: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</a:rPr>
              <a:t>shared = true</a:t>
            </a:r>
            <a:r>
              <a:rPr lang="en-US" sz="1400" dirty="0"/>
              <a:t> → </a:t>
            </a:r>
            <a:r>
              <a:rPr lang="en-US" sz="1400" b="1" dirty="0"/>
              <a:t>Shared Lock</a:t>
            </a:r>
            <a:r>
              <a:rPr lang="en-US" sz="1400" dirty="0"/>
              <a:t> (read-only)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</a:rPr>
              <a:t>shared = false</a:t>
            </a:r>
            <a:r>
              <a:rPr lang="en-US" sz="1400" dirty="0"/>
              <a:t> → </a:t>
            </a:r>
            <a:r>
              <a:rPr lang="en-US" sz="1400" b="1" dirty="0"/>
              <a:t>Exclusive Lock</a:t>
            </a:r>
            <a:r>
              <a:rPr lang="en-US" sz="1400" dirty="0"/>
              <a:t> (write access)</a:t>
            </a:r>
          </a:p>
          <a:p>
            <a:pPr>
              <a:buNone/>
            </a:pPr>
            <a:r>
              <a:rPr lang="en-US" sz="1400" dirty="0"/>
              <a:t>These constants make the code more readable.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153A3E-A27F-1138-D401-1393C6C8D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44" y="4725780"/>
            <a:ext cx="1980508" cy="164715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F283D67-9DC7-448C-9127-0834C3751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 dirty="0"/>
              <a:t>File Locking Example – Java API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D8394A8-4CC0-4F3D-9DF1-D348EF3AB7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// this locks the second half of the file - shared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</a:t>
            </a:r>
            <a:r>
              <a:rPr lang="en-US" altLang="en-US" sz="1600" dirty="0" err="1">
                <a:solidFill>
                  <a:srgbClr val="0033CC"/>
                </a:solidFill>
              </a:rPr>
              <a:t>sharedLock</a:t>
            </a:r>
            <a:r>
              <a:rPr lang="en-US" altLang="en-US" sz="1600" dirty="0">
                <a:solidFill>
                  <a:srgbClr val="0033CC"/>
                </a:solidFill>
              </a:rPr>
              <a:t> = </a:t>
            </a:r>
            <a:r>
              <a:rPr lang="en-US" altLang="en-US" sz="1600" dirty="0" err="1">
                <a:solidFill>
                  <a:srgbClr val="0033CC"/>
                </a:solidFill>
              </a:rPr>
              <a:t>ch.lock</a:t>
            </a:r>
            <a:r>
              <a:rPr lang="en-US" altLang="en-US" sz="1600" dirty="0">
                <a:solidFill>
                  <a:srgbClr val="0033CC"/>
                </a:solidFill>
              </a:rPr>
              <a:t>(</a:t>
            </a:r>
            <a:r>
              <a:rPr lang="en-US" altLang="en-US" sz="1600" dirty="0" err="1">
                <a:solidFill>
                  <a:srgbClr val="0033CC"/>
                </a:solidFill>
              </a:rPr>
              <a:t>raf.length</a:t>
            </a:r>
            <a:r>
              <a:rPr lang="en-US" altLang="en-US" sz="1600" dirty="0">
                <a:solidFill>
                  <a:srgbClr val="0033CC"/>
                </a:solidFill>
              </a:rPr>
              <a:t>()/2+1, </a:t>
            </a:r>
            <a:r>
              <a:rPr lang="en-US" altLang="en-US" sz="1600" dirty="0" err="1">
                <a:solidFill>
                  <a:srgbClr val="0033CC"/>
                </a:solidFill>
              </a:rPr>
              <a:t>raf.length</a:t>
            </a:r>
            <a:r>
              <a:rPr lang="en-US" altLang="en-US" sz="1600" dirty="0">
                <a:solidFill>
                  <a:srgbClr val="0033CC"/>
                </a:solidFill>
              </a:rPr>
              <a:t>(), 				SHARED);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/** Now read the data . . . 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// release the lock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</a:t>
            </a:r>
            <a:r>
              <a:rPr lang="en-US" altLang="en-US" sz="1600" dirty="0" err="1">
                <a:solidFill>
                  <a:srgbClr val="0033CC"/>
                </a:solidFill>
              </a:rPr>
              <a:t>sharedLock.release</a:t>
            </a:r>
            <a:r>
              <a:rPr lang="en-US" altLang="en-US" sz="1600" dirty="0">
                <a:solidFill>
                  <a:srgbClr val="0033CC"/>
                </a:solidFill>
              </a:rPr>
              <a:t>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>
                <a:solidFill>
                  <a:srgbClr val="0033CC"/>
                </a:solidFill>
              </a:rPr>
              <a:t>		</a:t>
            </a:r>
            <a:r>
              <a:rPr lang="en-US" altLang="en-US" sz="1600" dirty="0">
                <a:solidFill>
                  <a:srgbClr val="0033CC"/>
                </a:solidFill>
              </a:rPr>
              <a:t>}</a:t>
            </a:r>
            <a:r>
              <a:rPr lang="en-US" altLang="en-US" sz="1600" i="1" dirty="0">
                <a:solidFill>
                  <a:srgbClr val="0033CC"/>
                </a:solidFill>
              </a:rPr>
              <a:t> </a:t>
            </a:r>
            <a:r>
              <a:rPr lang="en-US" altLang="en-US" sz="1600" dirty="0">
                <a:solidFill>
                  <a:srgbClr val="0033CC"/>
                </a:solidFill>
              </a:rPr>
              <a:t>catch (</a:t>
            </a:r>
            <a:r>
              <a:rPr lang="en-US" altLang="en-US" sz="1600" dirty="0" err="1">
                <a:solidFill>
                  <a:srgbClr val="0033CC"/>
                </a:solidFill>
              </a:rPr>
              <a:t>java.io.IOException</a:t>
            </a:r>
            <a:r>
              <a:rPr lang="en-US" altLang="en-US" sz="1600" dirty="0">
                <a:solidFill>
                  <a:srgbClr val="0033CC"/>
                </a:solidFill>
              </a:rPr>
              <a:t> </a:t>
            </a:r>
            <a:r>
              <a:rPr lang="en-US" altLang="en-US" sz="1600" dirty="0" err="1">
                <a:solidFill>
                  <a:srgbClr val="0033CC"/>
                </a:solidFill>
              </a:rPr>
              <a:t>ioe</a:t>
            </a:r>
            <a:r>
              <a:rPr lang="en-US" altLang="en-US" sz="1600" dirty="0">
                <a:solidFill>
                  <a:srgbClr val="0033CC"/>
                </a:solidFill>
              </a:rPr>
              <a:t>) {</a:t>
            </a:r>
            <a:r>
              <a:rPr lang="en-US" altLang="en-US" sz="1600" i="1" dirty="0">
                <a:solidFill>
                  <a:srgbClr val="0033CC"/>
                </a:solidFill>
              </a:rPr>
              <a:t>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>
                <a:solidFill>
                  <a:srgbClr val="0033CC"/>
                </a:solidFill>
              </a:rPr>
              <a:t>			</a:t>
            </a:r>
            <a:r>
              <a:rPr lang="en-US" altLang="en-US" sz="1600" dirty="0" err="1">
                <a:solidFill>
                  <a:srgbClr val="0033CC"/>
                </a:solidFill>
              </a:rPr>
              <a:t>System.err.println</a:t>
            </a:r>
            <a:r>
              <a:rPr lang="en-US" altLang="en-US" sz="1600" dirty="0">
                <a:solidFill>
                  <a:srgbClr val="0033CC"/>
                </a:solidFill>
              </a:rPr>
              <a:t>(</a:t>
            </a:r>
            <a:r>
              <a:rPr lang="en-US" altLang="en-US" sz="1600" dirty="0" err="1">
                <a:solidFill>
                  <a:srgbClr val="0033CC"/>
                </a:solidFill>
              </a:rPr>
              <a:t>ioe</a:t>
            </a:r>
            <a:r>
              <a:rPr lang="en-US" altLang="en-US" sz="1600" dirty="0">
                <a:solidFill>
                  <a:srgbClr val="0033CC"/>
                </a:solidFill>
              </a:rPr>
              <a:t>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>
                <a:solidFill>
                  <a:srgbClr val="0033CC"/>
                </a:solidFill>
              </a:rPr>
              <a:t>		</a:t>
            </a:r>
            <a:r>
              <a:rPr lang="en-US" altLang="en-US" sz="1600" dirty="0">
                <a:solidFill>
                  <a:srgbClr val="0033CC"/>
                </a:solidFill>
              </a:rPr>
              <a:t>}finally {</a:t>
            </a:r>
            <a:r>
              <a:rPr lang="en-US" altLang="en-US" sz="1600" i="1" dirty="0">
                <a:solidFill>
                  <a:srgbClr val="0033CC"/>
                </a:solidFill>
              </a:rPr>
              <a:t>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if (</a:t>
            </a:r>
            <a:r>
              <a:rPr lang="en-US" altLang="en-US" sz="1600" dirty="0" err="1">
                <a:solidFill>
                  <a:srgbClr val="0033CC"/>
                </a:solidFill>
              </a:rPr>
              <a:t>exclusiveLock</a:t>
            </a:r>
            <a:r>
              <a:rPr lang="en-US" altLang="en-US" sz="1600" dirty="0">
                <a:solidFill>
                  <a:srgbClr val="0033CC"/>
                </a:solidFill>
              </a:rPr>
              <a:t> != null)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</a:t>
            </a:r>
            <a:r>
              <a:rPr lang="en-US" altLang="en-US" sz="1600" dirty="0" err="1">
                <a:solidFill>
                  <a:srgbClr val="0033CC"/>
                </a:solidFill>
              </a:rPr>
              <a:t>exclusiveLock.release</a:t>
            </a:r>
            <a:r>
              <a:rPr lang="en-US" altLang="en-US" sz="1600" dirty="0">
                <a:solidFill>
                  <a:srgbClr val="0033CC"/>
                </a:solidFill>
              </a:rPr>
              <a:t>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if (</a:t>
            </a:r>
            <a:r>
              <a:rPr lang="en-US" altLang="en-US" sz="1600" dirty="0" err="1">
                <a:solidFill>
                  <a:srgbClr val="0033CC"/>
                </a:solidFill>
              </a:rPr>
              <a:t>sharedLock</a:t>
            </a:r>
            <a:r>
              <a:rPr lang="en-US" altLang="en-US" sz="1600" dirty="0">
                <a:solidFill>
                  <a:srgbClr val="0033CC"/>
                </a:solidFill>
              </a:rPr>
              <a:t> != null)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</a:t>
            </a:r>
            <a:r>
              <a:rPr lang="en-US" altLang="en-US" sz="1600" dirty="0" err="1">
                <a:solidFill>
                  <a:srgbClr val="0033CC"/>
                </a:solidFill>
              </a:rPr>
              <a:t>sharedLock.release</a:t>
            </a:r>
            <a:r>
              <a:rPr lang="en-US" altLang="en-US" sz="1600" dirty="0">
                <a:solidFill>
                  <a:srgbClr val="0033CC"/>
                </a:solidFill>
              </a:rPr>
              <a:t>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>
                <a:solidFill>
                  <a:srgbClr val="0033CC"/>
                </a:solidFill>
              </a:rPr>
              <a:t>		</a:t>
            </a:r>
            <a:r>
              <a:rPr lang="en-US" altLang="en-US" sz="1600" dirty="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>
                <a:solidFill>
                  <a:srgbClr val="0033CC"/>
                </a:solidFill>
              </a:rPr>
              <a:t>	</a:t>
            </a:r>
            <a:r>
              <a:rPr lang="en-US" altLang="en-US" sz="1600" dirty="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rgbClr val="0033CC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B9CBF9-170E-71C6-7607-424F8476F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951" y="2098960"/>
            <a:ext cx="2109377" cy="19722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F511E6-A0B2-6919-5E7B-2D05B6F25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498" y="3091305"/>
            <a:ext cx="2557303" cy="2547492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 Types – Name, Extension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091A03-41B5-8C69-7F5B-2886016B0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3B84F54-84E0-464E-9BF2-D46CB5808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5" t="1186" r="15715" b="1186"/>
          <a:stretch>
            <a:fillRect/>
          </a:stretch>
        </p:blipFill>
        <p:spPr bwMode="auto">
          <a:xfrm>
            <a:off x="4022725" y="1209676"/>
            <a:ext cx="4337050" cy="4632325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253238"/>
      </p:ext>
    </p:extLst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9962686-EB10-476C-A6AC-E3D304176E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 Structure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9E21934-9FD8-4F70-8E28-C941EF28E4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None - sequence of words, bytes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Simple record structure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Lines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Fixed length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Variable length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Complex Structures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Formatted document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Relocatable load file	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Can simulate last two with first method by inserting appropriate control characters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Who decides: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Operating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Program</a:t>
            </a:r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8D8E146-01B9-415C-A11A-1C26DC61C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Access Methods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397E407-429D-4692-9976-AF8F08D3D9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A</a:t>
            </a:r>
            <a:r>
              <a:rPr lang="en-US" altLang="en-US" b="1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file is fixed length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records</a:t>
            </a:r>
            <a:endParaRPr lang="en-US" altLang="en-US" b="1" dirty="0"/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/>
              <a:t>Sequential Access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</a:rPr>
              <a:t>Direct Access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</a:rPr>
              <a:t>Other Access Methods</a:t>
            </a: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8D8E146-01B9-415C-A11A-1C26DC61C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Sequential Access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397E407-429D-4692-9976-AF8F08D3D9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Operations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next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 next 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Reset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no read after last write  (rewrite)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3203575" algn="l"/>
                <a:tab pos="4056063" algn="l"/>
              </a:tabLst>
            </a:pP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Figure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FD60E2-26B2-468E-9ADA-D8D4695E2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081" y="3410888"/>
            <a:ext cx="4311015" cy="1378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92850"/>
      </p:ext>
    </p:extLst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8D8E146-01B9-415C-A11A-1C26DC61C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Direct Access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397E407-429D-4692-9976-AF8F08D3D9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Operations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position to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 lvl="2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next</a:t>
            </a:r>
          </a:p>
          <a:p>
            <a:pPr lvl="2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 next </a:t>
            </a:r>
          </a:p>
          <a:p>
            <a:pPr lvl="2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rewrite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buNone/>
              <a:tabLst>
                <a:tab pos="3203575" algn="l"/>
                <a:tab pos="4056063" algn="l"/>
              </a:tabLst>
            </a:pPr>
            <a:r>
              <a:rPr lang="en-US" altLang="en-US" dirty="0"/>
              <a:t>	     </a:t>
            </a:r>
            <a:r>
              <a:rPr lang="en-US" altLang="en-US" i="1" dirty="0"/>
              <a:t>n</a:t>
            </a:r>
            <a:r>
              <a:rPr lang="en-US" altLang="en-US" dirty="0"/>
              <a:t> =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relative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</a:p>
          <a:p>
            <a:pPr>
              <a:lnSpc>
                <a:spcPct val="90000"/>
              </a:lnSpc>
              <a:buNone/>
              <a:tabLst>
                <a:tab pos="3203575" algn="l"/>
                <a:tab pos="4056063" algn="l"/>
              </a:tabLst>
            </a:pPr>
            <a:r>
              <a:rPr lang="en-US" altLang="en-US" sz="800" dirty="0">
                <a:solidFill>
                  <a:srgbClr val="0033CC"/>
                </a:solidFill>
              </a:rPr>
              <a:t> </a:t>
            </a:r>
            <a:endParaRPr lang="en-US" altLang="en-US" sz="800" dirty="0"/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/>
              <a:t>Relative block numbers allow OS to decide where file should be placed</a:t>
            </a:r>
          </a:p>
        </p:txBody>
      </p:sp>
    </p:spTree>
    <p:extLst>
      <p:ext uri="{BB962C8B-B14F-4D97-AF65-F5344CB8AC3E}">
        <p14:creationId xmlns:p14="http://schemas.microsoft.com/office/powerpoint/2010/main" val="2231559244"/>
      </p:ext>
    </p:extLst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200" dirty="0"/>
              <a:t>Simulation of Sequential Access on Direct-access File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32E28C-0D2B-F1DE-7229-3C9F74D44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C918AC22-6351-4060-911C-F46F6A5E3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237" y="2481621"/>
            <a:ext cx="5535592" cy="2042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2539275"/>
      </p:ext>
    </p:extLst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700664A-68A2-4820-AA5D-34D6B0576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Other Access Methods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C0EAA8-FD35-4A48-B21B-F54F29B77C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Can be other access methods built on top of base methods</a:t>
            </a:r>
          </a:p>
          <a:p>
            <a:pPr algn="just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General involve creation of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index</a:t>
            </a:r>
            <a:r>
              <a:rPr lang="en-US" altLang="en-US" dirty="0">
                <a:solidFill>
                  <a:srgbClr val="000000"/>
                </a:solidFill>
              </a:rPr>
              <a:t> for the file</a:t>
            </a:r>
          </a:p>
          <a:p>
            <a:pPr algn="just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Keep index in memory for fast determination of location of data to be operated on (consider Universal Produce Code (UPC code) plus record of data about that item)</a:t>
            </a:r>
          </a:p>
          <a:p>
            <a:pPr algn="just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If the index is too large, create an in-memory index, which an index of a disk index</a:t>
            </a:r>
          </a:p>
          <a:p>
            <a:pPr algn="just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IBM indexed sequential-access method (ISAM)</a:t>
            </a:r>
          </a:p>
          <a:p>
            <a:pPr lvl="1" algn="just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Small master index, points to disk blocks of secondary index</a:t>
            </a:r>
          </a:p>
          <a:p>
            <a:pPr lvl="1" algn="just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File kept sorted on a defined key</a:t>
            </a:r>
          </a:p>
          <a:p>
            <a:pPr lvl="1" algn="just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All done by the OS</a:t>
            </a:r>
          </a:p>
          <a:p>
            <a:pPr algn="just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VMS operating system provides index and relative files </a:t>
            </a:r>
          </a:p>
          <a:p>
            <a:pPr marL="0" indent="0" algn="just">
              <a:lnSpc>
                <a:spcPct val="90000"/>
              </a:lnSpc>
              <a:buNone/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as another example (see next slide)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B11FC1-B081-2863-BCE1-5E28C88DB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107" y="3672684"/>
            <a:ext cx="2509345" cy="2477621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of Index and Relative Files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EE8D41-1C83-D317-607F-1E5AF4CE8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93802F99-6447-4625-BEC8-79DB52B88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686" y="1109840"/>
            <a:ext cx="5261202" cy="3546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1082998"/>
      </p:ext>
    </p:extLst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>
            <a:extLst>
              <a:ext uri="{FF2B5EF4-FFF2-40B4-BE49-F238E27FC236}">
                <a16:creationId xmlns:a16="http://schemas.microsoft.com/office/drawing/2014/main" id="{25BE7AEC-07DA-4065-A39B-D6218730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Disk Structure</a:t>
            </a:r>
          </a:p>
        </p:txBody>
      </p:sp>
      <p:sp>
        <p:nvSpPr>
          <p:cNvPr id="22531" name="Content Placeholder 3">
            <a:extLst>
              <a:ext uri="{FF2B5EF4-FFF2-40B4-BE49-F238E27FC236}">
                <a16:creationId xmlns:a16="http://schemas.microsoft.com/office/drawing/2014/main" id="{DD9C32BF-30B5-4B23-8669-58D6AE49D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Disk can be subdivided into </a:t>
            </a:r>
            <a:r>
              <a:rPr lang="en-US" altLang="en-US" b="1" dirty="0">
                <a:solidFill>
                  <a:srgbClr val="006699"/>
                </a:solidFill>
              </a:rPr>
              <a:t>partitions</a:t>
            </a:r>
          </a:p>
          <a:p>
            <a:pPr algn="just"/>
            <a:r>
              <a:rPr lang="en-US" altLang="en-US" dirty="0"/>
              <a:t>Disks or partitions can be </a:t>
            </a:r>
            <a:r>
              <a:rPr lang="en-US" altLang="en-US" b="1" dirty="0">
                <a:solidFill>
                  <a:srgbClr val="006699"/>
                </a:solidFill>
              </a:rPr>
              <a:t>RAID</a:t>
            </a:r>
            <a:r>
              <a:rPr lang="en-US" altLang="en-US" b="1" dirty="0">
                <a:solidFill>
                  <a:srgbClr val="3366FF"/>
                </a:solidFill>
              </a:rPr>
              <a:t> (</a:t>
            </a:r>
            <a:r>
              <a:rPr lang="en-US" b="1" dirty="0"/>
              <a:t>Redundant Array of Independent (or Inexpensive) Disks)) </a:t>
            </a:r>
            <a:r>
              <a:rPr lang="en-US" altLang="en-US" dirty="0"/>
              <a:t>protected against failure.</a:t>
            </a:r>
          </a:p>
          <a:p>
            <a:pPr algn="just"/>
            <a:r>
              <a:rPr lang="en-US" altLang="en-US" dirty="0"/>
              <a:t>Disk or partition can be used </a:t>
            </a:r>
            <a:r>
              <a:rPr lang="en-US" altLang="en-US" b="1" dirty="0">
                <a:solidFill>
                  <a:srgbClr val="006699"/>
                </a:solidFill>
              </a:rPr>
              <a:t>raw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without a file system, or </a:t>
            </a:r>
            <a:r>
              <a:rPr lang="en-US" altLang="en-US" b="1" dirty="0">
                <a:solidFill>
                  <a:srgbClr val="006699"/>
                </a:solidFill>
              </a:rPr>
              <a:t>formatted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with a file system</a:t>
            </a:r>
          </a:p>
          <a:p>
            <a:pPr algn="just"/>
            <a:r>
              <a:rPr lang="en-US" altLang="en-US" dirty="0"/>
              <a:t>Partitions also known as minidisks, slices</a:t>
            </a:r>
          </a:p>
          <a:p>
            <a:pPr algn="just"/>
            <a:r>
              <a:rPr lang="en-US" altLang="en-US" dirty="0"/>
              <a:t>Entity containing file system is known as a </a:t>
            </a:r>
            <a:r>
              <a:rPr lang="en-US" altLang="en-US" b="1" dirty="0">
                <a:solidFill>
                  <a:srgbClr val="006699"/>
                </a:solidFill>
              </a:rPr>
              <a:t>volume</a:t>
            </a:r>
          </a:p>
          <a:p>
            <a:pPr algn="just"/>
            <a:r>
              <a:rPr lang="en-US" altLang="en-US" dirty="0"/>
              <a:t>Each volume containing a file system also tracks that file system’</a:t>
            </a:r>
            <a:r>
              <a:rPr lang="en-US" altLang="ja-JP" dirty="0"/>
              <a:t>s info in </a:t>
            </a:r>
            <a:r>
              <a:rPr lang="en-US" altLang="ja-JP" b="1" dirty="0">
                <a:solidFill>
                  <a:srgbClr val="006699"/>
                </a:solidFill>
              </a:rPr>
              <a:t>device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</a:rPr>
              <a:t>directory</a:t>
            </a:r>
            <a:r>
              <a:rPr lang="en-US" altLang="ja-JP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or </a:t>
            </a:r>
            <a:r>
              <a:rPr lang="en-US" altLang="ja-JP" b="1" dirty="0">
                <a:solidFill>
                  <a:srgbClr val="006699"/>
                </a:solidFill>
              </a:rPr>
              <a:t>volume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</a:rPr>
              <a:t>table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</a:rPr>
              <a:t>of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</a:rPr>
              <a:t>contents</a:t>
            </a:r>
          </a:p>
          <a:p>
            <a:pPr algn="just"/>
            <a:r>
              <a:rPr lang="en-US" altLang="en-US" dirty="0"/>
              <a:t>In addition to </a:t>
            </a:r>
            <a:r>
              <a:rPr lang="en-US" altLang="en-US" b="1" dirty="0">
                <a:solidFill>
                  <a:srgbClr val="006699"/>
                </a:solidFill>
              </a:rPr>
              <a:t>general-purpose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systems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there are many </a:t>
            </a:r>
            <a:r>
              <a:rPr lang="en-US" altLang="en-US" b="1" dirty="0">
                <a:solidFill>
                  <a:srgbClr val="006699"/>
                </a:solidFill>
              </a:rPr>
              <a:t>special-purpose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systems</a:t>
            </a:r>
            <a:r>
              <a:rPr lang="en-US" altLang="en-US" dirty="0"/>
              <a:t>, frequently all within the same operating system or computer</a:t>
            </a:r>
          </a:p>
        </p:txBody>
      </p:sp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 dirty="0"/>
              <a:t>A Typical File-system Organization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10A8CA-EFF6-AA84-5BAE-DEAEE3C1B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6" descr="10">
            <a:extLst>
              <a:ext uri="{FF2B5EF4-FFF2-40B4-BE49-F238E27FC236}">
                <a16:creationId xmlns:a16="http://schemas.microsoft.com/office/drawing/2014/main" id="{BB1EB00D-9011-425D-95CF-45D0F3CF0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595" y="1129766"/>
            <a:ext cx="6414023" cy="3409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8301278"/>
      </p:ext>
    </p:extLst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2">
            <a:extLst>
              <a:ext uri="{FF2B5EF4-FFF2-40B4-BE49-F238E27FC236}">
                <a16:creationId xmlns:a16="http://schemas.microsoft.com/office/drawing/2014/main" id="{C8058584-11C1-41DB-99D5-09F20474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Types of File Systems</a:t>
            </a:r>
          </a:p>
        </p:txBody>
      </p:sp>
      <p:sp>
        <p:nvSpPr>
          <p:cNvPr id="24579" name="Content Placeholder 3">
            <a:extLst>
              <a:ext uri="{FF2B5EF4-FFF2-40B4-BE49-F238E27FC236}">
                <a16:creationId xmlns:a16="http://schemas.microsoft.com/office/drawing/2014/main" id="{AD147D40-244B-495A-95A4-1E30381E8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We mostly talk of general-purpose file systems</a:t>
            </a:r>
          </a:p>
          <a:p>
            <a:pPr algn="just"/>
            <a:r>
              <a:rPr lang="en-US" altLang="en-US" dirty="0"/>
              <a:t>But systems frequently have may file systems, some general- and some special- purpose</a:t>
            </a:r>
          </a:p>
          <a:p>
            <a:pPr algn="just"/>
            <a:r>
              <a:rPr lang="en-US" altLang="en-US" dirty="0"/>
              <a:t>Consider Solaris has</a:t>
            </a:r>
          </a:p>
          <a:p>
            <a:pPr lvl="1" algn="just"/>
            <a:r>
              <a:rPr lang="en-US" altLang="en-US" dirty="0" err="1"/>
              <a:t>tmpfs</a:t>
            </a:r>
            <a:r>
              <a:rPr lang="en-US" altLang="en-US" dirty="0"/>
              <a:t> – memory-based volatile FS for fast, temporary I/O</a:t>
            </a:r>
          </a:p>
          <a:p>
            <a:pPr lvl="1" algn="just"/>
            <a:r>
              <a:rPr lang="en-US" altLang="en-US" dirty="0" err="1"/>
              <a:t>objfs</a:t>
            </a:r>
            <a:r>
              <a:rPr lang="en-US" altLang="en-US" dirty="0"/>
              <a:t> – interface into kernel memory to get kernel symbols for debugging</a:t>
            </a:r>
          </a:p>
          <a:p>
            <a:pPr lvl="1" algn="just"/>
            <a:r>
              <a:rPr lang="en-US" altLang="en-US" dirty="0" err="1"/>
              <a:t>ctfs</a:t>
            </a:r>
            <a:r>
              <a:rPr lang="en-US" altLang="en-US" dirty="0"/>
              <a:t> – contract file system for managing daemons </a:t>
            </a:r>
          </a:p>
          <a:p>
            <a:pPr lvl="1" algn="just"/>
            <a:r>
              <a:rPr lang="en-US" altLang="en-US" dirty="0" err="1"/>
              <a:t>lofs</a:t>
            </a:r>
            <a:r>
              <a:rPr lang="en-US" altLang="en-US" dirty="0"/>
              <a:t> – loopback file system allows one FS to be accessed in place of another</a:t>
            </a:r>
          </a:p>
          <a:p>
            <a:pPr lvl="1" algn="just"/>
            <a:r>
              <a:rPr lang="en-US" altLang="en-US" dirty="0" err="1"/>
              <a:t>procfs</a:t>
            </a:r>
            <a:r>
              <a:rPr lang="en-US" altLang="en-US" dirty="0"/>
              <a:t> – kernel interface to process structures</a:t>
            </a:r>
          </a:p>
          <a:p>
            <a:pPr lvl="1" algn="just"/>
            <a:r>
              <a:rPr lang="en-US" altLang="en-US" dirty="0" err="1"/>
              <a:t>ufs</a:t>
            </a:r>
            <a:r>
              <a:rPr lang="en-US" altLang="en-US" dirty="0"/>
              <a:t>, </a:t>
            </a:r>
            <a:r>
              <a:rPr lang="en-US" altLang="en-US" dirty="0" err="1"/>
              <a:t>zfs</a:t>
            </a:r>
            <a:r>
              <a:rPr lang="en-US" altLang="en-US" dirty="0"/>
              <a:t> – general purpose file systems</a:t>
            </a:r>
          </a:p>
        </p:txBody>
      </p:sp>
    </p:spTree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38BD3AB-ADA2-41E1-B7F5-5355D00439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Directory Structure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F944469-B704-4C95-B54F-B06D7A5DFE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collection of nodes containing information about all files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>
                <a:latin typeface="Helvetica" panose="020B0604020202020204" pitchFamily="34" charset="0"/>
              </a:rPr>
              <a:t>Both the directory structure and the files reside on disk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FA0E160-EA21-4EED-AEA0-5382DEE31E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193964"/>
              </p:ext>
            </p:extLst>
          </p:nvPr>
        </p:nvGraphicFramePr>
        <p:xfrm>
          <a:off x="4221561" y="2225011"/>
          <a:ext cx="3041077" cy="264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2171594" imgH="1874473" progId="AcroExch.Document.DC">
                  <p:embed/>
                </p:oleObj>
              </mc:Choice>
              <mc:Fallback>
                <p:oleObj name="Acrobat Document" r:id="rId3" imgW="2171594" imgH="1874473" progId="AcroExch.Document.DC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FA0E160-EA21-4EED-AEA0-5382DEE31E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1561" y="2225011"/>
                        <a:ext cx="3041077" cy="2642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6974385"/>
      </p:ext>
    </p:extLst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ACF19F4-426B-4C1D-B08A-FA62E4E6A2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Operations Performed on Directory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B69FBC2-80F7-43A8-A6AB-561417C6C9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Search for a file</a:t>
            </a:r>
          </a:p>
          <a:p>
            <a:endParaRPr lang="en-US" altLang="en-US" sz="800" dirty="0"/>
          </a:p>
          <a:p>
            <a:r>
              <a:rPr lang="en-US" altLang="en-US" dirty="0"/>
              <a:t>Create a file</a:t>
            </a:r>
          </a:p>
          <a:p>
            <a:endParaRPr lang="en-US" altLang="en-US" sz="800" dirty="0"/>
          </a:p>
          <a:p>
            <a:r>
              <a:rPr lang="en-US" altLang="en-US" dirty="0"/>
              <a:t>Delete a file</a:t>
            </a:r>
          </a:p>
          <a:p>
            <a:endParaRPr lang="en-US" altLang="en-US" sz="800" dirty="0"/>
          </a:p>
          <a:p>
            <a:r>
              <a:rPr lang="en-US" altLang="en-US" dirty="0"/>
              <a:t>List a directory</a:t>
            </a:r>
          </a:p>
          <a:p>
            <a:endParaRPr lang="en-US" altLang="en-US" sz="800" dirty="0"/>
          </a:p>
          <a:p>
            <a:r>
              <a:rPr lang="en-US" altLang="en-US" dirty="0"/>
              <a:t>Rename a file</a:t>
            </a:r>
          </a:p>
          <a:p>
            <a:endParaRPr lang="en-US" altLang="en-US" sz="800" dirty="0"/>
          </a:p>
          <a:p>
            <a:r>
              <a:rPr lang="en-US" altLang="en-US" dirty="0"/>
              <a:t>Traverse the file system</a:t>
            </a:r>
          </a:p>
        </p:txBody>
      </p:sp>
    </p:spTree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7414293-0AF3-4A9F-BE3B-DCA02E9A75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Directory Organization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F79B2879-15AF-4085-9167-1D59489A4A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en-US" sz="2400" dirty="0">
                <a:latin typeface="Helvetica" panose="020B0604020202020204" pitchFamily="34" charset="0"/>
              </a:rPr>
              <a:t>The directory is organized logically to obtain </a:t>
            </a:r>
            <a:endParaRPr lang="en-US" altLang="en-US" dirty="0"/>
          </a:p>
          <a:p>
            <a:pPr algn="just"/>
            <a:r>
              <a:rPr lang="en-US" altLang="en-US" dirty="0"/>
              <a:t>Efficiency – locating a file quickly</a:t>
            </a:r>
          </a:p>
          <a:p>
            <a:pPr algn="just"/>
            <a:r>
              <a:rPr lang="en-US" altLang="en-US" dirty="0"/>
              <a:t>Naming – convenient to users</a:t>
            </a:r>
          </a:p>
          <a:p>
            <a:pPr lvl="1" algn="just"/>
            <a:r>
              <a:rPr lang="en-US" altLang="en-US" dirty="0"/>
              <a:t>Two users can have same name for different files</a:t>
            </a:r>
          </a:p>
          <a:p>
            <a:pPr lvl="1" algn="just"/>
            <a:r>
              <a:rPr lang="en-US" altLang="en-US" dirty="0"/>
              <a:t>The same file can have several different names</a:t>
            </a:r>
          </a:p>
          <a:p>
            <a:pPr algn="just"/>
            <a:r>
              <a:rPr lang="en-US" altLang="en-US" dirty="0"/>
              <a:t>Grouping – logical grouping of files by properties, (e.g., all Java programs, all games, …)</a:t>
            </a:r>
          </a:p>
        </p:txBody>
      </p:sp>
    </p:spTree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5A99D68-2D0E-4041-A56C-2E8506F0E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Single-Level Directory</a:t>
            </a:r>
            <a:endParaRPr lang="en-US" altLang="en-US" sz="2400" dirty="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6992309-99B3-429C-97D5-9162A2154F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single directory for all users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Naming problem</a:t>
            </a:r>
          </a:p>
          <a:p>
            <a:r>
              <a:rPr lang="en-US" altLang="en-US" dirty="0"/>
              <a:t>Grouping problem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A485EA9C-1F05-4BCE-9C7C-9A04E7B2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925" y="3746501"/>
            <a:ext cx="4406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000">
              <a:latin typeface="Helvetica" panose="020B0604020202020204" pitchFamily="34" charset="0"/>
            </a:endParaRPr>
          </a:p>
        </p:txBody>
      </p:sp>
      <p:pic>
        <p:nvPicPr>
          <p:cNvPr id="27653" name="Picture 7">
            <a:extLst>
              <a:ext uri="{FF2B5EF4-FFF2-40B4-BE49-F238E27FC236}">
                <a16:creationId xmlns:a16="http://schemas.microsoft.com/office/drawing/2014/main" id="{76218F22-7939-4544-9D7D-2F1E40450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391" y="1949924"/>
            <a:ext cx="5527087" cy="134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B8D356E-9517-4510-B89B-830CEC942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Two-Level Directory</a:t>
            </a:r>
            <a:endParaRPr lang="en-US" altLang="en-US" sz="2400" dirty="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CB33359-9268-4EDE-93A3-90B81EE486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Separate directory for each user</a:t>
            </a:r>
          </a:p>
        </p:txBody>
      </p:sp>
      <p:sp>
        <p:nvSpPr>
          <p:cNvPr id="28676" name="Rectangle 5">
            <a:extLst>
              <a:ext uri="{FF2B5EF4-FFF2-40B4-BE49-F238E27FC236}">
                <a16:creationId xmlns:a16="http://schemas.microsoft.com/office/drawing/2014/main" id="{E1D5DF09-0166-4795-A39B-12D29BA6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8243" y="4229097"/>
            <a:ext cx="7002463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anose="020B0604020202020204" pitchFamily="34" charset="0"/>
              </a:rPr>
              <a:t>Path name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anose="020B0604020202020204" pitchFamily="34" charset="0"/>
              </a:rPr>
              <a:t>Can have the same file name for different user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anose="020B0604020202020204" pitchFamily="34" charset="0"/>
              </a:rPr>
              <a:t>Efficient searching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anose="020B0604020202020204" pitchFamily="34" charset="0"/>
              </a:rPr>
              <a:t>No grouping capability</a:t>
            </a:r>
          </a:p>
        </p:txBody>
      </p:sp>
      <p:pic>
        <p:nvPicPr>
          <p:cNvPr id="28677" name="Picture 8">
            <a:extLst>
              <a:ext uri="{FF2B5EF4-FFF2-40B4-BE49-F238E27FC236}">
                <a16:creationId xmlns:a16="http://schemas.microsoft.com/office/drawing/2014/main" id="{67867623-FB52-4C18-9523-A6343747D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875" y="1919342"/>
            <a:ext cx="5903704" cy="2037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8349A3E-B928-493E-B782-F5B3F0006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Tree-Structured Directories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F697F2-DA91-0A26-2E38-3471783DE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9699" name="Picture 6">
            <a:extLst>
              <a:ext uri="{FF2B5EF4-FFF2-40B4-BE49-F238E27FC236}">
                <a16:creationId xmlns:a16="http://schemas.microsoft.com/office/drawing/2014/main" id="{B50CD35F-5849-418A-BDA3-1E2065B42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690" y="1705742"/>
            <a:ext cx="6418908" cy="410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E8C4438-D35F-4569-A192-4F79B3071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Acyclic-Graph Directories</a:t>
            </a:r>
            <a:endParaRPr lang="en-US" altLang="en-US" sz="2400" dirty="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F1500EF-5192-4078-8D70-C47011CA42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Have shared subdirectories and files</a:t>
            </a:r>
          </a:p>
          <a:p>
            <a:r>
              <a:rPr lang="en-US" altLang="en-US" dirty="0"/>
              <a:t>Example</a:t>
            </a:r>
          </a:p>
        </p:txBody>
      </p:sp>
      <p:pic>
        <p:nvPicPr>
          <p:cNvPr id="32772" name="Picture 7" descr="10">
            <a:extLst>
              <a:ext uri="{FF2B5EF4-FFF2-40B4-BE49-F238E27FC236}">
                <a16:creationId xmlns:a16="http://schemas.microsoft.com/office/drawing/2014/main" id="{19C737FE-E339-4EEE-A6C3-70AEB5A3B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968" y="1992348"/>
            <a:ext cx="4232834" cy="3420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16B4625-FB4C-47D0-8A30-A6CC09CC3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Acyclic-Graph Directories (Cont.)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CBDBADA-C34E-4024-A3E9-3C106235EE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Two different names (aliasing)</a:t>
            </a:r>
          </a:p>
          <a:p>
            <a:r>
              <a:rPr lang="en-US" altLang="en-US" dirty="0"/>
              <a:t>If </a:t>
            </a:r>
            <a:r>
              <a:rPr lang="en-US" altLang="en-US" b="1" i="1" dirty="0" err="1"/>
              <a:t>dict</a:t>
            </a:r>
            <a:r>
              <a:rPr lang="en-US" altLang="en-US" dirty="0"/>
              <a:t> deletes </a:t>
            </a:r>
            <a:r>
              <a:rPr lang="en-US" altLang="en-US" b="1" dirty="0"/>
              <a:t>w</a:t>
            </a:r>
            <a:r>
              <a:rPr lang="en-US" altLang="en-US" dirty="0"/>
              <a:t>/</a:t>
            </a:r>
            <a:r>
              <a:rPr lang="en-US" altLang="en-US" b="1" i="1" dirty="0"/>
              <a:t>list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dangling pointer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Solutions:</a:t>
            </a:r>
          </a:p>
          <a:p>
            <a:pPr lvl="1"/>
            <a:r>
              <a:rPr lang="en-US" altLang="en-US" dirty="0" err="1"/>
              <a:t>Backpointers</a:t>
            </a:r>
            <a:r>
              <a:rPr lang="en-US" altLang="en-US" dirty="0"/>
              <a:t>, so we can delete all pointers.</a:t>
            </a:r>
          </a:p>
          <a:p>
            <a:pPr lvl="2"/>
            <a:r>
              <a:rPr lang="en-US" altLang="en-US" dirty="0"/>
              <a:t>Variable size records a problem</a:t>
            </a:r>
          </a:p>
          <a:p>
            <a:pPr lvl="1"/>
            <a:r>
              <a:rPr lang="en-US" altLang="en-US" dirty="0" err="1"/>
              <a:t>Backpointers</a:t>
            </a:r>
            <a:r>
              <a:rPr lang="en-US" altLang="en-US" dirty="0"/>
              <a:t> using a daisy chain organization</a:t>
            </a:r>
          </a:p>
          <a:p>
            <a:pPr lvl="1"/>
            <a:r>
              <a:rPr lang="en-US" altLang="en-US" dirty="0"/>
              <a:t>Entry-hold-count solution</a:t>
            </a:r>
          </a:p>
          <a:p>
            <a:r>
              <a:rPr lang="en-US" altLang="en-US" dirty="0"/>
              <a:t>New directory entry type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</a:t>
            </a:r>
            <a:r>
              <a:rPr lang="en-US" altLang="en-US" dirty="0"/>
              <a:t> – another name (pointer) to an existing file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Resolve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follow pointer to locate the file</a:t>
            </a:r>
            <a:endParaRPr lang="en-US" altLang="en-US" b="1" dirty="0"/>
          </a:p>
        </p:txBody>
      </p:sp>
    </p:spTree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687856A-A35F-4694-BA79-E5E5FE171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General Graph Directory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1B7253-4ECA-A842-8F2A-13A40ED0D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4819" name="Picture 6" descr="10">
            <a:extLst>
              <a:ext uri="{FF2B5EF4-FFF2-40B4-BE49-F238E27FC236}">
                <a16:creationId xmlns:a16="http://schemas.microsoft.com/office/drawing/2014/main" id="{76295A14-2EB3-45D4-833C-559743375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6054" y="2076915"/>
            <a:ext cx="5387741" cy="319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3EA828D-CDA3-431E-9172-1C1FFB143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General Graph Directory (Cont.)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136FF0A-B503-40C8-B55A-E2550A3466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How do we guarantee no cycles?</a:t>
            </a:r>
          </a:p>
          <a:p>
            <a:pPr lvl="1" algn="just"/>
            <a:r>
              <a:rPr lang="en-US" altLang="en-US" dirty="0"/>
              <a:t>Allow only links to files not subdirectories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Garbage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collection</a:t>
            </a:r>
          </a:p>
          <a:p>
            <a:pPr lvl="1" algn="just"/>
            <a:r>
              <a:rPr lang="en-US" altLang="en-US" dirty="0"/>
              <a:t>Every time a new link is added use a cycle detection algorithm to determine whether it is OK</a:t>
            </a:r>
          </a:p>
        </p:txBody>
      </p:sp>
    </p:spTree>
  </p:cSld>
  <p:clrMapOvr>
    <a:masterClrMapping/>
  </p:clrMapOvr>
  <p:transition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7BDE1F1-2505-4238-9EC4-F1264D6FD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Current Directory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4225E8E-BF7D-4B18-8AFA-C469132047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Can designate one of the directories as the current (working) directory</a:t>
            </a:r>
          </a:p>
          <a:p>
            <a:pPr lvl="1" algn="just"/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/spell/mail/prog</a:t>
            </a:r>
          </a:p>
          <a:p>
            <a:pPr lvl="1" algn="just"/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list</a:t>
            </a:r>
            <a:endParaRPr lang="en-US" altLang="en-US" dirty="0"/>
          </a:p>
          <a:p>
            <a:pPr algn="just"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Creating and deleting a file is done in current directory</a:t>
            </a:r>
          </a:p>
          <a:p>
            <a:pPr algn="just"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Example of creating a new file</a:t>
            </a:r>
          </a:p>
          <a:p>
            <a:pPr lvl="1" algn="just"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If in current directory  is 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/mail</a:t>
            </a:r>
          </a:p>
          <a:p>
            <a:pPr lvl="1" algn="just"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The command </a:t>
            </a:r>
          </a:p>
          <a:p>
            <a:pPr marL="0" indent="0" algn="just">
              <a:lnSpc>
                <a:spcPct val="90000"/>
              </a:lnSpc>
              <a:buNone/>
              <a:tabLst>
                <a:tab pos="2857500" algn="ctr"/>
              </a:tabLst>
            </a:pPr>
            <a:r>
              <a:rPr lang="en-US" altLang="en-US" dirty="0"/>
              <a:t>                  </a:t>
            </a:r>
            <a:r>
              <a:rPr lang="en-US" altLang="en-US" b="1" dirty="0" err="1"/>
              <a:t>mkdir</a:t>
            </a:r>
            <a:r>
              <a:rPr lang="en-US" altLang="en-US" b="1" dirty="0"/>
              <a:t> &lt;</a:t>
            </a:r>
            <a:r>
              <a:rPr lang="en-US" altLang="en-US" b="1" dirty="0" err="1"/>
              <a:t>dir</a:t>
            </a:r>
            <a:r>
              <a:rPr lang="en-US" altLang="en-US" b="1" dirty="0"/>
              <a:t>-name&gt;</a:t>
            </a:r>
            <a:endParaRPr lang="en-US" altLang="en-US" dirty="0"/>
          </a:p>
          <a:p>
            <a:pPr lvl="1" algn="just"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/>
              <a:t>Results in:</a:t>
            </a:r>
          </a:p>
          <a:p>
            <a:pPr lvl="1" algn="just">
              <a:lnSpc>
                <a:spcPct val="90000"/>
              </a:lnSpc>
              <a:tabLst>
                <a:tab pos="2857500" algn="ctr"/>
              </a:tabLst>
            </a:pPr>
            <a:endParaRPr lang="en-US" altLang="en-US" dirty="0"/>
          </a:p>
          <a:p>
            <a:pPr lvl="1" algn="just">
              <a:lnSpc>
                <a:spcPct val="90000"/>
              </a:lnSpc>
              <a:tabLst>
                <a:tab pos="2857500" algn="ctr"/>
              </a:tabLst>
            </a:pPr>
            <a:endParaRPr lang="en-US" altLang="en-US" dirty="0"/>
          </a:p>
          <a:p>
            <a:pPr lvl="1" algn="just">
              <a:lnSpc>
                <a:spcPct val="90000"/>
              </a:lnSpc>
              <a:tabLst>
                <a:tab pos="2857500" algn="ctr"/>
              </a:tabLst>
            </a:pPr>
            <a:endParaRPr lang="en-US" altLang="en-US" dirty="0"/>
          </a:p>
          <a:p>
            <a:pPr lvl="1" algn="just">
              <a:lnSpc>
                <a:spcPct val="90000"/>
              </a:lnSpc>
              <a:tabLst>
                <a:tab pos="2857500" algn="ctr"/>
              </a:tabLst>
            </a:pPr>
            <a:endParaRPr lang="en-US" altLang="en-US" dirty="0"/>
          </a:p>
          <a:p>
            <a:pPr lvl="1" algn="just"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dirty="0">
                <a:latin typeface="Helvetica" panose="020B0604020202020204" pitchFamily="34" charset="0"/>
              </a:rPr>
              <a:t>Deleting </a:t>
            </a:r>
            <a:r>
              <a:rPr lang="ja-JP" altLang="en-US" dirty="0">
                <a:latin typeface="Helvetica" panose="020B0604020202020204" pitchFamily="34" charset="0"/>
              </a:rPr>
              <a:t>“</a:t>
            </a:r>
            <a:r>
              <a:rPr lang="en-US" altLang="ja-JP" dirty="0">
                <a:latin typeface="Helvetica" panose="020B0604020202020204" pitchFamily="34" charset="0"/>
              </a:rPr>
              <a:t>mail</a:t>
            </a:r>
            <a:r>
              <a:rPr lang="ja-JP" altLang="en-US" dirty="0">
                <a:latin typeface="Helvetica" panose="020B0604020202020204" pitchFamily="34" charset="0"/>
              </a:rPr>
              <a:t>”</a:t>
            </a:r>
            <a:r>
              <a:rPr lang="en-US" altLang="ja-JP" dirty="0">
                <a:latin typeface="Helvetica" panose="020B0604020202020204" pitchFamily="34" charset="0"/>
              </a:rPr>
              <a:t> </a:t>
            </a:r>
            <a:r>
              <a:rPr lang="en-US" altLang="ja-JP" dirty="0">
                <a:latin typeface="Helvetica" panose="020B0604020202020204" pitchFamily="34" charset="0"/>
                <a:sym typeface="Symbol" panose="05050102010706020507" pitchFamily="18" charset="2"/>
              </a:rPr>
              <a:t> deleting the entire subtree rooted by </a:t>
            </a:r>
            <a:r>
              <a:rPr lang="ja-JP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en-US" altLang="ja-JP" dirty="0">
                <a:latin typeface="Helvetica" panose="020B0604020202020204" pitchFamily="34" charset="0"/>
                <a:sym typeface="Symbol" panose="05050102010706020507" pitchFamily="18" charset="2"/>
              </a:rPr>
              <a:t>mail</a:t>
            </a:r>
            <a:r>
              <a:rPr lang="ja-JP" altLang="en-US" dirty="0">
                <a:latin typeface="Helvetica" panose="020B0604020202020204" pitchFamily="34" charset="0"/>
                <a:sym typeface="Symbol" panose="05050102010706020507" pitchFamily="18" charset="2"/>
              </a:rPr>
              <a:t>”</a:t>
            </a:r>
            <a:endParaRPr lang="en-US" altLang="en-US" dirty="0">
              <a:latin typeface="Helvetica" panose="020B0604020202020204" pitchFamily="34" charset="0"/>
            </a:endParaRPr>
          </a:p>
          <a:p>
            <a:pPr algn="just">
              <a:lnSpc>
                <a:spcPct val="90000"/>
              </a:lnSpc>
              <a:tabLst>
                <a:tab pos="2857500" algn="ctr"/>
              </a:tabLst>
            </a:pPr>
            <a:endParaRPr lang="en-US" altLang="en-US" dirty="0"/>
          </a:p>
          <a:p>
            <a:pPr marL="342900" lvl="1" indent="-342900" algn="just">
              <a:lnSpc>
                <a:spcPct val="90000"/>
              </a:lnSpc>
              <a:buClr>
                <a:srgbClr val="993300"/>
              </a:buClr>
              <a:buSzPct val="90000"/>
              <a:buNone/>
              <a:tabLst>
                <a:tab pos="2857500" algn="ctr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  <p:sp>
        <p:nvSpPr>
          <p:cNvPr id="31748" name="Rectangle 11">
            <a:extLst>
              <a:ext uri="{FF2B5EF4-FFF2-40B4-BE49-F238E27FC236}">
                <a16:creationId xmlns:a16="http://schemas.microsoft.com/office/drawing/2014/main" id="{C4796BEF-77B3-4BDD-A44D-A76EC0749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109211"/>
            <a:ext cx="7423150" cy="786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000" dirty="0">
              <a:latin typeface="Helvetica" panose="020B0604020202020204" pitchFamily="34" charset="0"/>
            </a:endParaRPr>
          </a:p>
        </p:txBody>
      </p:sp>
      <p:pic>
        <p:nvPicPr>
          <p:cNvPr id="31749" name="Picture 1">
            <a:extLst>
              <a:ext uri="{FF2B5EF4-FFF2-40B4-BE49-F238E27FC236}">
                <a16:creationId xmlns:a16="http://schemas.microsoft.com/office/drawing/2014/main" id="{FC81682E-CF05-4DC4-841B-08EC50EA1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56" y="4440729"/>
            <a:ext cx="2384809" cy="87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4662553"/>
      </p:ext>
    </p:extLst>
  </p:cSld>
  <p:clrMapOvr>
    <a:masterClrMapping/>
  </p:clrMapOvr>
  <p:transition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1061B50-56DF-4E7B-AC66-6978CD373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007C22D-387E-4D4B-BBFE-5663BA7F2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File owner/creator should be able to control:</a:t>
            </a:r>
          </a:p>
          <a:p>
            <a:pPr lvl="1"/>
            <a:r>
              <a:rPr lang="en-US" altLang="en-US" dirty="0"/>
              <a:t>What can be done</a:t>
            </a:r>
          </a:p>
          <a:p>
            <a:pPr lvl="1"/>
            <a:r>
              <a:rPr lang="en-US" altLang="en-US" dirty="0"/>
              <a:t>By whom</a:t>
            </a:r>
          </a:p>
          <a:p>
            <a:r>
              <a:rPr lang="en-US" altLang="en-US" dirty="0"/>
              <a:t>Types of access</a:t>
            </a:r>
          </a:p>
          <a:p>
            <a:pPr lvl="1"/>
            <a:r>
              <a:rPr lang="en-US" altLang="en-US" b="1" dirty="0"/>
              <a:t>Read</a:t>
            </a:r>
          </a:p>
          <a:p>
            <a:pPr lvl="1"/>
            <a:r>
              <a:rPr lang="en-US" altLang="en-US" b="1" dirty="0"/>
              <a:t>Write</a:t>
            </a:r>
          </a:p>
          <a:p>
            <a:pPr lvl="1"/>
            <a:r>
              <a:rPr lang="en-US" altLang="en-US" b="1" dirty="0"/>
              <a:t>Execute</a:t>
            </a:r>
          </a:p>
          <a:p>
            <a:pPr lvl="1"/>
            <a:r>
              <a:rPr lang="en-US" altLang="en-US" b="1" dirty="0"/>
              <a:t>Append</a:t>
            </a:r>
          </a:p>
          <a:p>
            <a:pPr lvl="1"/>
            <a:r>
              <a:rPr lang="en-US" altLang="en-US" b="1" dirty="0"/>
              <a:t>Delete</a:t>
            </a:r>
          </a:p>
          <a:p>
            <a:pPr lvl="1"/>
            <a:r>
              <a:rPr lang="en-US" altLang="en-US" b="1" dirty="0"/>
              <a:t>List</a:t>
            </a:r>
          </a:p>
        </p:txBody>
      </p:sp>
    </p:spTree>
  </p:cSld>
  <p:clrMapOvr>
    <a:masterClrMapping/>
  </p:clrMapOvr>
  <p:transition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BF170C8-1BD2-476F-98D0-D50064B81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Access Lists and Groups in Unix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77AB603-62F8-44D7-BFEE-9C6DE95A63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/>
              <a:t>Mode of access:  read, write, execute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/>
              <a:t>Three classes of users on Unix / Linux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/>
              <a:t>	</a:t>
            </a:r>
            <a:r>
              <a:rPr lang="en-US" altLang="en-US" sz="800" dirty="0"/>
              <a:t>	</a:t>
            </a:r>
            <a:r>
              <a:rPr lang="en-US" altLang="en-US" sz="1600" dirty="0"/>
              <a:t>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/>
              <a:t>		a) </a:t>
            </a:r>
            <a:r>
              <a:rPr lang="en-US" altLang="en-US" sz="1600" b="1" dirty="0"/>
              <a:t>owner access</a:t>
            </a:r>
            <a:r>
              <a:rPr lang="en-US" altLang="en-US" sz="1600" dirty="0"/>
              <a:t> 	7	</a:t>
            </a:r>
            <a:r>
              <a:rPr lang="en-US" altLang="en-US" sz="1600" dirty="0">
                <a:sym typeface="Symbol" panose="05050102010706020507" pitchFamily="18" charset="2"/>
              </a:rPr>
              <a:t>	1 1 1</a:t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>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b) </a:t>
            </a:r>
            <a:r>
              <a:rPr lang="en-US" altLang="en-US" sz="1600" b="1" dirty="0">
                <a:sym typeface="Symbol" panose="05050102010706020507" pitchFamily="18" charset="2"/>
              </a:rPr>
              <a:t>group access</a:t>
            </a:r>
            <a:r>
              <a:rPr lang="en-US" altLang="en-US" sz="1600" dirty="0">
                <a:sym typeface="Symbol" panose="05050102010706020507" pitchFamily="18" charset="2"/>
              </a:rPr>
              <a:t> 	6	 	1 1 0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c) </a:t>
            </a:r>
            <a:r>
              <a:rPr lang="en-US" altLang="en-US" sz="1600" b="1" dirty="0">
                <a:sym typeface="Symbol" panose="05050102010706020507" pitchFamily="18" charset="2"/>
              </a:rPr>
              <a:t>public access</a:t>
            </a:r>
            <a:r>
              <a:rPr lang="en-US" altLang="en-US" sz="1600" dirty="0">
                <a:sym typeface="Symbol" panose="05050102010706020507" pitchFamily="18" charset="2"/>
              </a:rPr>
              <a:t>	1	 	0 0 1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Ask manager to create a group (unique name), say G, and add some users to the group.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For a file (say </a:t>
            </a:r>
            <a:r>
              <a:rPr lang="en-US" altLang="en-US" i="1" dirty="0">
                <a:sym typeface="Symbol" panose="05050102010706020507" pitchFamily="18" charset="2"/>
              </a:rPr>
              <a:t>game</a:t>
            </a:r>
            <a:r>
              <a:rPr lang="en-US" altLang="en-US" dirty="0">
                <a:sym typeface="Symbol" panose="05050102010706020507" pitchFamily="18" charset="2"/>
              </a:rPr>
              <a:t>) or subdirectory, define an appropriate access.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kumimoji="1" lang="en-US" altLang="en-US" dirty="0">
                <a:latin typeface="Arial" panose="020B0604020202020204" pitchFamily="34" charset="0"/>
                <a:sym typeface="Symbol" panose="05050102010706020507" pitchFamily="18" charset="2"/>
              </a:rPr>
              <a:t>Attach a group to a file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44036" name="Rectangle 13">
            <a:extLst>
              <a:ext uri="{FF2B5EF4-FFF2-40B4-BE49-F238E27FC236}">
                <a16:creationId xmlns:a16="http://schemas.microsoft.com/office/drawing/2014/main" id="{A138F952-386A-4F11-9935-B6FA25113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603" y="4923697"/>
            <a:ext cx="5536642" cy="834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Monotype Sorts" pitchFamily="-84" charset="2"/>
              <a:buNone/>
            </a:pPr>
            <a:r>
              <a:rPr kumimoji="1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chgrp</a:t>
            </a:r>
            <a:r>
              <a:rPr kumimoji="1"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 G    game</a:t>
            </a:r>
          </a:p>
        </p:txBody>
      </p:sp>
      <p:pic>
        <p:nvPicPr>
          <p:cNvPr id="44037" name="Picture 1">
            <a:extLst>
              <a:ext uri="{FF2B5EF4-FFF2-40B4-BE49-F238E27FC236}">
                <a16:creationId xmlns:a16="http://schemas.microsoft.com/office/drawing/2014/main" id="{A6631249-4FFF-4880-A6E7-280DBA8C7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241" y="4961203"/>
            <a:ext cx="2034886" cy="758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4FA8E4E-DE74-48ED-A591-88BF26AA1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Sample UNIX Directory Listing</a:t>
            </a:r>
          </a:p>
        </p:txBody>
      </p:sp>
      <p:pic>
        <p:nvPicPr>
          <p:cNvPr id="46083" name="Picture 4">
            <a:extLst>
              <a:ext uri="{FF2B5EF4-FFF2-40B4-BE49-F238E27FC236}">
                <a16:creationId xmlns:a16="http://schemas.microsoft.com/office/drawing/2014/main" id="{2742550A-BE1C-4724-A9AC-83F6503BD1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691" y="1219200"/>
            <a:ext cx="6542617" cy="4906963"/>
          </a:xfrm>
          <a:noFill/>
        </p:spPr>
      </p:pic>
    </p:spTree>
    <p:extLst>
      <p:ext uri="{BB962C8B-B14F-4D97-AF65-F5344CB8AC3E}">
        <p14:creationId xmlns:p14="http://schemas.microsoft.com/office/powerpoint/2010/main" val="4209183353"/>
      </p:ext>
    </p:extLst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F28242E-4A04-4121-BF10-45AB39388D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700" dirty="0"/>
              <a:t>Windows 7 Access-Control List Management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C1ED44-08FF-09A1-6786-D16CA6BDA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5059" name="Picture 2" descr="11_16.pdf">
            <a:extLst>
              <a:ext uri="{FF2B5EF4-FFF2-40B4-BE49-F238E27FC236}">
                <a16:creationId xmlns:a16="http://schemas.microsoft.com/office/drawing/2014/main" id="{83B81BDC-7461-44F5-9BBC-1F8E59892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26" y="1120775"/>
            <a:ext cx="3533775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E7638FD-2A25-43CF-B34A-9C878CDE4D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S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8E9540F8-C56E-444C-ACB3-A860CA9AFDC0}" vid="{4ACF5BCF-BEF1-4540-B07B-0840E8236B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SSN</Template>
  <TotalTime>5594</TotalTime>
  <Words>1776</Words>
  <Application>Microsoft Office PowerPoint</Application>
  <PresentationFormat>Widescreen</PresentationFormat>
  <Paragraphs>338</Paragraphs>
  <Slides>39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Arial</vt:lpstr>
      <vt:lpstr>Calibri</vt:lpstr>
      <vt:lpstr>Comic Sans MS</vt:lpstr>
      <vt:lpstr>Courier New</vt:lpstr>
      <vt:lpstr>Helvetica</vt:lpstr>
      <vt:lpstr>Monotype Sorts</vt:lpstr>
      <vt:lpstr>Symbol</vt:lpstr>
      <vt:lpstr>Tahoma</vt:lpstr>
      <vt:lpstr>Times New Roman</vt:lpstr>
      <vt:lpstr>Wingdings</vt:lpstr>
      <vt:lpstr>SSN</vt:lpstr>
      <vt:lpstr>Acrobat Document</vt:lpstr>
      <vt:lpstr>Chapter 13:   File-System Interface</vt:lpstr>
      <vt:lpstr>Outline</vt:lpstr>
      <vt:lpstr>Objectives</vt:lpstr>
      <vt:lpstr>File Concept</vt:lpstr>
      <vt:lpstr>File Attributes</vt:lpstr>
      <vt:lpstr>File info Window on Mac OS X</vt:lpstr>
      <vt:lpstr>Directory Structure</vt:lpstr>
      <vt:lpstr>File Operations</vt:lpstr>
      <vt:lpstr>Open Files</vt:lpstr>
      <vt:lpstr> File Locking</vt:lpstr>
      <vt:lpstr>File Locking Example – Java API</vt:lpstr>
      <vt:lpstr>File Locking Example – Java API (Cont.)</vt:lpstr>
      <vt:lpstr>File Types – Name, Extension</vt:lpstr>
      <vt:lpstr>File Structure</vt:lpstr>
      <vt:lpstr>Access Methods</vt:lpstr>
      <vt:lpstr>Sequential Access</vt:lpstr>
      <vt:lpstr>Direct Access</vt:lpstr>
      <vt:lpstr>Simulation of Sequential Access on Direct-access File</vt:lpstr>
      <vt:lpstr>Other Access Methods</vt:lpstr>
      <vt:lpstr>Example of Index and Relative Files</vt:lpstr>
      <vt:lpstr>Disk Structure</vt:lpstr>
      <vt:lpstr>A Typical File-system Organization</vt:lpstr>
      <vt:lpstr>Types of File Systems</vt:lpstr>
      <vt:lpstr>Directory Structure</vt:lpstr>
      <vt:lpstr>Operations Performed on Directory</vt:lpstr>
      <vt:lpstr>Directory Organization</vt:lpstr>
      <vt:lpstr>Single-Level Directory</vt:lpstr>
      <vt:lpstr>Two-Level Directory</vt:lpstr>
      <vt:lpstr>Tree-Structured Directories</vt:lpstr>
      <vt:lpstr>Acyclic-Graph Directories</vt:lpstr>
      <vt:lpstr>Acyclic-Graph Directories (Cont.)</vt:lpstr>
      <vt:lpstr>General Graph Directory</vt:lpstr>
      <vt:lpstr>General Graph Directory (Cont.)</vt:lpstr>
      <vt:lpstr>Current Directory</vt:lpstr>
      <vt:lpstr>Protection</vt:lpstr>
      <vt:lpstr>Access Lists and Groups in Unix</vt:lpstr>
      <vt:lpstr>A Sample UNIX Directory Listing</vt:lpstr>
      <vt:lpstr>Windows 7 Access-Control List Management</vt:lpstr>
      <vt:lpstr>End of Chapter 13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MaFaR – Masked Face Recognition Research and Innovation</dc:title>
  <dc:creator>Sree Sharmila T</dc:creator>
  <cp:lastModifiedBy>Hrithika S</cp:lastModifiedBy>
  <cp:revision>126</cp:revision>
  <dcterms:created xsi:type="dcterms:W3CDTF">2021-08-20T04:14:01Z</dcterms:created>
  <dcterms:modified xsi:type="dcterms:W3CDTF">2025-11-03T20:53:49Z</dcterms:modified>
</cp:coreProperties>
</file>