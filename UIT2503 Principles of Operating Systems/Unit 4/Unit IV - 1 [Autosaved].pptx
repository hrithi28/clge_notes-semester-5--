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71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447" r:id="rId23"/>
    <p:sldId id="448" r:id="rId24"/>
    <p:sldId id="353" r:id="rId25"/>
    <p:sldId id="360" r:id="rId26"/>
    <p:sldId id="361" r:id="rId27"/>
    <p:sldId id="362" r:id="rId28"/>
    <p:sldId id="363" r:id="rId29"/>
    <p:sldId id="419" r:id="rId30"/>
    <p:sldId id="365" r:id="rId31"/>
    <p:sldId id="366" r:id="rId32"/>
    <p:sldId id="367" r:id="rId33"/>
    <p:sldId id="400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401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  <p:sldId id="446" r:id="rId69"/>
    <p:sldId id="395" r:id="rId7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6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053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2" r:id="rId4"/>
    <p:sldLayoutId id="2147483753" r:id="rId5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To provide a detailed description of various ways of organizing memory hardware</a:t>
            </a:r>
          </a:p>
          <a:p>
            <a:pPr algn="just"/>
            <a:r>
              <a:rPr lang="en-US" altLang="en-US" dirty="0"/>
              <a:t>To discuss various memory-management techniques, </a:t>
            </a:r>
          </a:p>
          <a:p>
            <a:pPr algn="just"/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pPr algn="just"/>
            <a:r>
              <a:rPr lang="en-US" altLang="en-US" dirty="0"/>
              <a:t>Main memory and registers are only storage CPU can access directly</a:t>
            </a:r>
          </a:p>
          <a:p>
            <a:pPr algn="just"/>
            <a:r>
              <a:rPr lang="en-US" altLang="en-US" dirty="0"/>
              <a:t>Memory unit only sees a stream of:</a:t>
            </a:r>
          </a:p>
          <a:p>
            <a:pPr lvl="1" algn="just"/>
            <a:r>
              <a:rPr lang="en-US" altLang="en-US" dirty="0"/>
              <a:t>addresses + read requests, or </a:t>
            </a:r>
          </a:p>
          <a:p>
            <a:pPr lvl="1" algn="just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pPr algn="just"/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pPr algn="just"/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pPr algn="just"/>
            <a:r>
              <a:rPr lang="en-US" altLang="en-US" dirty="0"/>
              <a:t>Protection of memory required to ensure correct operation</a:t>
            </a:r>
          </a:p>
          <a:p>
            <a:pPr algn="just"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Need to ensure that a process can access only those addresses in its address space.</a:t>
            </a:r>
          </a:p>
          <a:p>
            <a:pPr algn="just"/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861" y="3223602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565" y="2459834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 algn="just"/>
            <a:r>
              <a:rPr kumimoji="0" lang="en-US" altLang="en-US" dirty="0"/>
              <a:t>Without support, must be loaded into address 0000</a:t>
            </a:r>
          </a:p>
          <a:p>
            <a:pPr algn="just"/>
            <a:r>
              <a:rPr kumimoji="0" lang="en-US" altLang="en-US" dirty="0"/>
              <a:t>Inconvenient to have first user process physical address always at 0000 </a:t>
            </a:r>
          </a:p>
          <a:p>
            <a:pPr lvl="1" algn="just"/>
            <a:r>
              <a:rPr kumimoji="0" lang="en-US" altLang="en-US" dirty="0"/>
              <a:t>How can it not be?</a:t>
            </a:r>
            <a:endParaRPr lang="en-US" altLang="en-US" dirty="0"/>
          </a:p>
          <a:p>
            <a:pPr algn="just"/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 algn="just"/>
            <a:r>
              <a:rPr kumimoji="0" lang="en-US" altLang="en-US" dirty="0"/>
              <a:t>Source code addresses usually symbolic</a:t>
            </a:r>
          </a:p>
          <a:p>
            <a:pPr lvl="1" algn="just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 algn="just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 algn="just"/>
            <a:r>
              <a:rPr kumimoji="0" lang="en-US" altLang="en-US" dirty="0"/>
              <a:t>Linker or loader will bind relocatable addresses to absolute addresses</a:t>
            </a:r>
          </a:p>
          <a:p>
            <a:pPr lvl="2" algn="just"/>
            <a:r>
              <a:rPr kumimoji="0" lang="en-US" altLang="en-US" dirty="0"/>
              <a:t>i.e., 74014</a:t>
            </a:r>
          </a:p>
          <a:p>
            <a:pPr lvl="1" algn="just"/>
            <a:r>
              <a:rPr kumimoji="0" lang="en-US" altLang="en-US" dirty="0"/>
              <a:t>Each binding maps one address space to another</a:t>
            </a:r>
          </a:p>
          <a:p>
            <a:pPr algn="just">
              <a:buFont typeface="Monotype Sorts" pitchFamily="-84" charset="2"/>
              <a:buNone/>
            </a:pPr>
            <a:endParaRPr kumimoji="0" lang="en-US" altLang="en-US" dirty="0"/>
          </a:p>
          <a:p>
            <a:pPr lvl="1" algn="just"/>
            <a:endParaRPr kumimoji="0"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 algn="just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 algn="just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 algn="just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 algn="just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D2077B-ABB5-23C8-CF75-643B7B32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9" y="1231901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pPr algn="just"/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 algn="just"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 algn="just"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 algn="just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 algn="just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Consider simple scheme. which is  a generalization of the base-register scheme.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 algn="just"/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763" y="332525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887B12-9DBB-57E4-B6B3-4635A63A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Main memory must support both OS and user processes</a:t>
            </a:r>
          </a:p>
          <a:p>
            <a:pPr algn="just"/>
            <a:r>
              <a:rPr lang="en-US" altLang="en-US" dirty="0"/>
              <a:t>Limited resource, must allocate efficiently</a:t>
            </a:r>
          </a:p>
          <a:p>
            <a:pPr algn="just"/>
            <a:r>
              <a:rPr lang="en-US" altLang="en-US" dirty="0"/>
              <a:t>Contiguous allocation is one early method</a:t>
            </a:r>
          </a:p>
          <a:p>
            <a:pPr algn="just"/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dirty="0"/>
              <a:t>Resident operating system, usually held in low memory with interrupt vector</a:t>
            </a:r>
          </a:p>
          <a:p>
            <a:pPr lvl="1" algn="just"/>
            <a:r>
              <a:rPr lang="en-US" altLang="en-US" dirty="0"/>
              <a:t>User processes then held in high memory</a:t>
            </a:r>
          </a:p>
          <a:p>
            <a:pPr lvl="1" algn="just"/>
            <a:r>
              <a:rPr lang="en-US" altLang="en-US" dirty="0"/>
              <a:t>Each process contained in single contiguous section of memory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 algn="just"/>
            <a:r>
              <a:rPr lang="en-US" altLang="en-US" dirty="0"/>
              <a:t>Base register contains value of smallest physical address</a:t>
            </a:r>
          </a:p>
          <a:p>
            <a:pPr lvl="1" algn="just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 algn="just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 algn="just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54E476-07BC-6F63-C80A-ABBA0376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76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Multiple-partition allocation</a:t>
            </a:r>
          </a:p>
          <a:p>
            <a:pPr lvl="1" algn="just"/>
            <a:r>
              <a:rPr lang="en-US" altLang="en-US" sz="1600" dirty="0"/>
              <a:t>Degree of multiprogramming limited by number of partitions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 algn="just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 algn="just"/>
            <a:r>
              <a:rPr lang="en-US" altLang="en-US" sz="1600" dirty="0"/>
              <a:t>Process exiting frees its partition, adjacent free partitions combined</a:t>
            </a:r>
          </a:p>
          <a:p>
            <a:pPr lvl="1" algn="just"/>
            <a:r>
              <a:rPr lang="en-US" altLang="en-US" sz="1600" dirty="0"/>
              <a:t>Operating system maintains information about:</a:t>
            </a:r>
          </a:p>
          <a:p>
            <a:pPr lvl="1" algn="just"/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6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31985"/>
            <a:ext cx="10972800" cy="410745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886" y="1118562"/>
            <a:ext cx="8085858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886" y="4272786"/>
            <a:ext cx="7222121" cy="83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pPr algn="just"/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 algn="just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3534-6DF0-B047-F921-F97E8535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37A9-4CE1-5D8D-2A16-4FBBDA1FC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six memory partitions of 300 KB, 600 KB, 350 KB, 200 KB, 750 KB, and 125 KB (in order), how would the first-fit, best-fit, and worst-fit algorithms place processes of size 115 KB, 500 KB, 358 KB, 200 KB, and 375 KB (in order)</a:t>
            </a:r>
          </a:p>
          <a:p>
            <a:pPr marL="0" indent="0">
              <a:buNone/>
            </a:pPr>
            <a:r>
              <a:rPr lang="en-IN" sz="2400" dirty="0"/>
              <a:t>Answer: </a:t>
            </a:r>
          </a:p>
          <a:p>
            <a:r>
              <a:rPr lang="en-IN" sz="2400" dirty="0">
                <a:solidFill>
                  <a:schemeClr val="tx1"/>
                </a:solidFill>
              </a:rPr>
              <a:t>First fit: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115 KB is put in 300-KB partition, leaving 185 KB, 600 KB, 350 KB, 200 KB, 750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500 KB is put in 600-KB partition, leaving 185 KB, 100 KB, 350 KB, 200 KB, 750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358 KB is put in 750-KB partition, leaving 185 KB, 100 KB, 350 KB, 200 KB, 392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200 KB is put in 350-KB partition, leaving 185 KB, 100 KB, 150 KB, 200 KB, 392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375 KB is put in 392-KB partition, leaving 185 KB, 100 KB, 150 KB, 200 KB, 17 KB, 125KB</a:t>
            </a:r>
          </a:p>
        </p:txBody>
      </p:sp>
    </p:spTree>
    <p:extLst>
      <p:ext uri="{BB962C8B-B14F-4D97-AF65-F5344CB8AC3E}">
        <p14:creationId xmlns:p14="http://schemas.microsoft.com/office/powerpoint/2010/main" val="913679084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679B-1883-6DA0-E320-616325D2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C267-2B97-D047-1E5F-85C3B075B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Fit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115 KB is put in 125-KB partition, leaving 300 KB, 600 KB, 350 KB, 200 KB, 750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500 KB is put in 600-KB partition, leaving 300 KB, 100 KB, 350 KB, 200 KB, 750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358 KB is put in 750-KB partition, leaving 300 KB, 100 KB, 350 KB, 200 KB, 392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200 KB is put in 200-KB partition, leaving 300 KB, 100 KB, 350 KB, 0 KB, 392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375 KB is put in 392-KB partition, leaving 300 KB, 100 KB, 350 KB, 0 KB, 17 KB, 10 KB </a:t>
            </a:r>
            <a:endParaRPr lang="en-IN" dirty="0"/>
          </a:p>
          <a:p>
            <a:pPr marL="342900" lvl="1" indent="-342900">
              <a:buChar char="•"/>
            </a:pPr>
            <a:r>
              <a:rPr lang="en-IN" sz="2400" dirty="0">
                <a:solidFill>
                  <a:srgbClr val="0000FF"/>
                </a:solidFill>
                <a:ea typeface="+mn-ea"/>
              </a:rPr>
              <a:t>Worst Fit</a:t>
            </a:r>
          </a:p>
          <a:p>
            <a:pPr marL="400050" lvl="1" indent="0">
              <a:buNone/>
            </a:pPr>
            <a:r>
              <a:rPr lang="en-IN" dirty="0"/>
              <a:t>115 KB is put in 750-KB partition, leaving 300 KB, 600 KB, 350 KB, 200 KB, 635 KB, 125 KB </a:t>
            </a:r>
          </a:p>
          <a:p>
            <a:pPr marL="400050" lvl="1" indent="0">
              <a:buNone/>
            </a:pPr>
            <a:r>
              <a:rPr lang="en-IN" dirty="0"/>
              <a:t>500 KB is put in 635-KB partition, leaving 300 KB, 600 KB, 350 KB, 200 KB, 135 KB, 125 KB 358 KB is put in 600-KB partition, leaving 300 KB, 242 KB, 350 KB, 200 KB, 135 KB, 125 KB 200 KB is put in 350-KB partition, leaving 300 KB, 242 KB, 150 KB, 200 KB, 135 KB, 125 KB 375 KB must wait</a:t>
            </a:r>
          </a:p>
        </p:txBody>
      </p:sp>
    </p:spTree>
    <p:extLst>
      <p:ext uri="{BB962C8B-B14F-4D97-AF65-F5344CB8AC3E}">
        <p14:creationId xmlns:p14="http://schemas.microsoft.com/office/powerpoint/2010/main" val="2729341546"/>
      </p:ext>
    </p:extLst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 algn="just"/>
            <a:r>
              <a:rPr lang="en-US" altLang="en-US" dirty="0"/>
              <a:t>Shuffle memory contents to place all free memory together in one large block</a:t>
            </a:r>
          </a:p>
          <a:p>
            <a:pPr lvl="1" algn="just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 algn="just"/>
            <a:r>
              <a:rPr lang="en-US" altLang="en-US" dirty="0"/>
              <a:t>I/O problem</a:t>
            </a:r>
          </a:p>
          <a:p>
            <a:pPr lvl="2" algn="just"/>
            <a:r>
              <a:rPr lang="en-US" altLang="en-US" dirty="0"/>
              <a:t>Latch job in memory while it is involved in I/O</a:t>
            </a:r>
          </a:p>
          <a:p>
            <a:pPr lvl="2" algn="just"/>
            <a:r>
              <a:rPr lang="en-US" altLang="en-US" dirty="0"/>
              <a:t>Do I/O only into OS buffers</a:t>
            </a:r>
          </a:p>
          <a:p>
            <a:pPr algn="just"/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 algn="just"/>
            <a:r>
              <a:rPr lang="en-US" altLang="en-US" dirty="0"/>
              <a:t>Avoids external fragmentation</a:t>
            </a:r>
          </a:p>
          <a:p>
            <a:pPr lvl="1" algn="just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pPr algn="just"/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 algn="just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pPr algn="just"/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pPr algn="just"/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pPr algn="just"/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pPr algn="just"/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pPr algn="just"/>
            <a:r>
              <a:rPr lang="en-US" altLang="en-US" dirty="0"/>
              <a:t>Backing store likewise split into pages</a:t>
            </a:r>
          </a:p>
          <a:p>
            <a:pPr algn="just"/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Address generated by CPU is divided into:</a:t>
            </a:r>
          </a:p>
          <a:p>
            <a:pPr lvl="1" algn="just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 algn="just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marL="457200" lvl="1" indent="0" algn="just">
              <a:buNone/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2" y="3266921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A699FD-EBAA-AE4F-B683-112FB5042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6" y="1666876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838" y="1326079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790" y="2237556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4423C-7711-5E94-91B8-00B79CFB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131" y="1219203"/>
            <a:ext cx="3046327" cy="2346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F95719-68ED-041B-A97D-736AF11A1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75" y="3881053"/>
            <a:ext cx="3336238" cy="2245113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B4F08-505B-5385-CA57-ECF7408C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123" y="5675465"/>
            <a:ext cx="2480157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152" y="5688165"/>
            <a:ext cx="2222073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6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Page table is kept in main memory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pPr algn="just"/>
            <a:r>
              <a:rPr lang="en-US" altLang="en-US" dirty="0"/>
              <a:t>In this scheme every data/instruction access requires two memory accesses</a:t>
            </a:r>
          </a:p>
          <a:p>
            <a:pPr lvl="1" algn="just"/>
            <a:r>
              <a:rPr lang="en-US" altLang="en-US" dirty="0"/>
              <a:t>One for the page table and one for the data / instruction</a:t>
            </a:r>
          </a:p>
          <a:p>
            <a:pPr algn="just"/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 algn="just"/>
            <a:r>
              <a:rPr lang="en-US" altLang="en-US" dirty="0"/>
              <a:t>Otherwise need to flush at every context switch</a:t>
            </a:r>
          </a:p>
          <a:p>
            <a:pPr algn="just"/>
            <a:r>
              <a:rPr lang="en-US" altLang="en-US" dirty="0"/>
              <a:t>TLBs typically small (64 to 1,024 entries)</a:t>
            </a:r>
          </a:p>
          <a:p>
            <a:pPr algn="just"/>
            <a:r>
              <a:rPr lang="en-US" altLang="en-US" dirty="0"/>
              <a:t>On a TLB miss, value is loaded into the TLB for faster access next time</a:t>
            </a:r>
          </a:p>
          <a:p>
            <a:pPr lvl="1" algn="just"/>
            <a:r>
              <a:rPr lang="en-US" altLang="en-US" dirty="0"/>
              <a:t>Replacement policies must be considered</a:t>
            </a:r>
          </a:p>
          <a:p>
            <a:pPr lvl="1" algn="just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6" y="1693864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6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 algn="just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 algn="just"/>
            <a:r>
              <a:rPr lang="en-US" altLang="en-US" dirty="0"/>
              <a:t>Can also add more bits to indicate page execute-only, and so on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 algn="just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 algn="just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 algn="just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pPr algn="just"/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C6BF47-72C0-96EB-00EB-3077203B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 algn="just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 algn="just"/>
            <a:r>
              <a:rPr lang="en-US" altLang="en-US" dirty="0"/>
              <a:t>Similar to multiple threads sharing the same process space</a:t>
            </a:r>
          </a:p>
          <a:p>
            <a:pPr lvl="1" algn="just"/>
            <a:r>
              <a:rPr lang="en-US" altLang="en-US" dirty="0"/>
              <a:t>Also useful for interprocess communication if sharing of read-write pages is allowed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 algn="just"/>
            <a:r>
              <a:rPr lang="en-US" altLang="en-US" dirty="0"/>
              <a:t>Each process keeps a separate copy of the code and data</a:t>
            </a:r>
          </a:p>
          <a:p>
            <a:pPr lvl="1" algn="just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E533E-4D1E-CF04-AE90-21F3F012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Memory structures for paging can get huge using straight-forward methods</a:t>
            </a:r>
          </a:p>
          <a:p>
            <a:pPr lvl="1" algn="just"/>
            <a:r>
              <a:rPr lang="en-US" altLang="en-US" dirty="0"/>
              <a:t>Consider a 32-bit logical address space as on modern computers</a:t>
            </a:r>
          </a:p>
          <a:p>
            <a:pPr lvl="1" algn="just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 algn="just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 algn="just"/>
            <a:r>
              <a:rPr lang="en-US" altLang="en-US" dirty="0"/>
              <a:t>One simple solution is to divide the page table into smaller units</a:t>
            </a:r>
          </a:p>
          <a:p>
            <a:pPr lvl="2" algn="just"/>
            <a:r>
              <a:rPr lang="en-US" altLang="en-US" dirty="0"/>
              <a:t>Hierarchical Paging</a:t>
            </a:r>
          </a:p>
          <a:p>
            <a:pPr lvl="2" algn="just"/>
            <a:r>
              <a:rPr lang="en-US" altLang="en-US" dirty="0"/>
              <a:t>Hashed Page Tables</a:t>
            </a:r>
          </a:p>
          <a:p>
            <a:pPr lvl="2" algn="just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427" y="2140513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 algn="just"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10-bit page offset</a:t>
            </a:r>
          </a:p>
          <a:p>
            <a:pPr marL="627063" lvl="1" algn="just"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</a:p>
          <a:p>
            <a:pPr algn="just">
              <a:lnSpc>
                <a:spcPct val="90000"/>
              </a:lnSpc>
            </a:pP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CD49D-0993-457B-57D7-77674D20C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176" y="2183121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Even two-level paging scheme not sufficient</a:t>
            </a:r>
          </a:p>
          <a:p>
            <a:pPr algn="just"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 algn="just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 algn="just">
              <a:defRPr/>
            </a:pPr>
            <a:r>
              <a:rPr lang="en-US" altLang="en-US" dirty="0"/>
              <a:t>Address would look like</a:t>
            </a:r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marL="457200" lvl="1" indent="0" algn="just">
              <a:buNone/>
              <a:defRPr/>
            </a:pPr>
            <a:endParaRPr lang="en-US" altLang="en-US" dirty="0"/>
          </a:p>
          <a:p>
            <a:pPr lvl="1" algn="just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 algn="just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 algn="just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 algn="just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 algn="just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8" y="3176589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C1221-D8EB-B6CE-A18F-311FADBD5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1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Common in address spaces &gt; 32 bits</a:t>
            </a:r>
          </a:p>
          <a:p>
            <a:pPr algn="just"/>
            <a:r>
              <a:rPr lang="en-US" altLang="en-US" dirty="0"/>
              <a:t>The virtual page number is hashed into a page table</a:t>
            </a:r>
          </a:p>
          <a:p>
            <a:pPr lvl="1" algn="just"/>
            <a:r>
              <a:rPr lang="en-US" altLang="en-US" dirty="0"/>
              <a:t>This page table contains a chain of elements hashing to the same location</a:t>
            </a:r>
          </a:p>
          <a:p>
            <a:pPr algn="just"/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pPr algn="just"/>
            <a:r>
              <a:rPr lang="en-US" altLang="en-US" dirty="0"/>
              <a:t>Virtual page numbers are compared in this chain searching for a match</a:t>
            </a:r>
          </a:p>
          <a:p>
            <a:pPr lvl="1" algn="just"/>
            <a:r>
              <a:rPr lang="en-US" altLang="en-US" dirty="0"/>
              <a:t>If a match is found, the corresponding physical frame is extracted</a:t>
            </a:r>
          </a:p>
          <a:p>
            <a:pPr algn="just"/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 algn="just"/>
            <a:r>
              <a:rPr lang="en-US" altLang="en-US" dirty="0"/>
              <a:t>Similar to hashed but each entry refers to several pages (such as 16) rather than 1</a:t>
            </a:r>
          </a:p>
          <a:p>
            <a:pPr lvl="1" algn="just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7B6B0F-2CD2-3CDA-A208-67E249BB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598" y="1819272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pPr algn="just"/>
            <a:r>
              <a:rPr lang="en-US" altLang="en-US" dirty="0"/>
              <a:t>One entry for each real page of memory</a:t>
            </a:r>
          </a:p>
          <a:p>
            <a:pPr algn="just"/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pPr algn="just"/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pPr algn="just"/>
            <a:r>
              <a:rPr lang="en-US" altLang="en-US" dirty="0"/>
              <a:t>Use hash table to limit the search to one — or at most a few — page-table entries</a:t>
            </a:r>
          </a:p>
          <a:p>
            <a:pPr lvl="1" algn="just"/>
            <a:r>
              <a:rPr lang="en-US" altLang="en-US" dirty="0"/>
              <a:t>TLB can accelerate access</a:t>
            </a:r>
          </a:p>
          <a:p>
            <a:pPr algn="just"/>
            <a:r>
              <a:rPr lang="en-US" altLang="en-US" dirty="0"/>
              <a:t>But how to implement shared memory?</a:t>
            </a:r>
          </a:p>
          <a:p>
            <a:pPr lvl="1" algn="just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  <p:transition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58C9A-3D8D-DB83-5C75-BC6080D3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Consider modern, 64-bit operating system example with tightly integrated HW</a:t>
            </a:r>
          </a:p>
          <a:p>
            <a:pPr lvl="1" algn="just"/>
            <a:r>
              <a:rPr lang="en-US" altLang="en-US" dirty="0"/>
              <a:t>Goals are efficiency, low overhead</a:t>
            </a:r>
          </a:p>
          <a:p>
            <a:pPr algn="just"/>
            <a:r>
              <a:rPr lang="en-US" altLang="en-US" dirty="0"/>
              <a:t>Based on hashing, but more complex</a:t>
            </a:r>
          </a:p>
          <a:p>
            <a:pPr algn="just"/>
            <a:r>
              <a:rPr lang="en-US" altLang="en-US" dirty="0"/>
              <a:t>Two hash tables</a:t>
            </a:r>
          </a:p>
          <a:p>
            <a:pPr lvl="1" algn="just"/>
            <a:r>
              <a:rPr lang="en-US" altLang="en-US" dirty="0"/>
              <a:t>One kernel and one for all user processes</a:t>
            </a:r>
          </a:p>
          <a:p>
            <a:pPr lvl="1" algn="just"/>
            <a:r>
              <a:rPr lang="en-US" altLang="en-US" dirty="0"/>
              <a:t>Each maps memory addresses from virtual to physical memory</a:t>
            </a:r>
          </a:p>
          <a:p>
            <a:pPr lvl="1" algn="just"/>
            <a:r>
              <a:rPr lang="en-US" altLang="en-US" dirty="0"/>
              <a:t>Each entry represents a contiguous area of mapped virtual memory,</a:t>
            </a:r>
          </a:p>
          <a:p>
            <a:pPr lvl="2" algn="just"/>
            <a:r>
              <a:rPr lang="en-US" altLang="en-US" dirty="0"/>
              <a:t>More efficient than having a separate hash-table entry for each page</a:t>
            </a:r>
          </a:p>
          <a:p>
            <a:pPr lvl="1" algn="just"/>
            <a:r>
              <a:rPr lang="en-US" altLang="en-US" dirty="0"/>
              <a:t>Each entry has  base address and  span (indicating the number of pages the entry represents)</a:t>
            </a:r>
          </a:p>
          <a:p>
            <a:pPr algn="just"/>
            <a:endParaRPr lang="en-US" altLang="en-US" sz="1400" dirty="0"/>
          </a:p>
        </p:txBody>
      </p:sp>
    </p:spTree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TLB holds translation table entries (TTEs) for fast hardware lookups</a:t>
            </a:r>
          </a:p>
          <a:p>
            <a:pPr lvl="1" algn="just"/>
            <a:r>
              <a:rPr lang="en-US" altLang="en-US" dirty="0"/>
              <a:t>A cache of TTEs reside in a translation storage buffer (TSB)</a:t>
            </a:r>
          </a:p>
          <a:p>
            <a:pPr lvl="2" algn="just"/>
            <a:r>
              <a:rPr lang="en-US" altLang="en-US" dirty="0"/>
              <a:t>Includes an entry per recently accessed page</a:t>
            </a:r>
          </a:p>
          <a:p>
            <a:pPr algn="just"/>
            <a:r>
              <a:rPr lang="en-US" altLang="en-US" dirty="0"/>
              <a:t>Virtual address reference causes TLB search </a:t>
            </a:r>
          </a:p>
          <a:p>
            <a:pPr lvl="1" algn="just"/>
            <a:r>
              <a:rPr lang="en-US" altLang="en-US" dirty="0"/>
              <a:t>If miss, hardware walks the in-memory TSB looking for the TTE corresponding to the address</a:t>
            </a:r>
          </a:p>
          <a:p>
            <a:pPr lvl="2" algn="just"/>
            <a:r>
              <a:rPr lang="en-US" altLang="en-US" dirty="0"/>
              <a:t>If match found, the CPU copies the TSB entry into the TLB and translation completes</a:t>
            </a:r>
          </a:p>
          <a:p>
            <a:pPr lvl="2" algn="just"/>
            <a:r>
              <a:rPr lang="en-US" altLang="en-US" dirty="0"/>
              <a:t>If no match found, kernel interrupted to search the hash table</a:t>
            </a:r>
          </a:p>
          <a:p>
            <a:pPr lvl="3" algn="just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 algn="just"/>
            <a:r>
              <a:rPr lang="en-US" altLang="en-US" dirty="0"/>
              <a:t>Total physical memory space of processes can exceed physical memory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pPr algn="just"/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pPr algn="just"/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Does the swapped out process need to swap back in to same physical addresses?</a:t>
            </a:r>
          </a:p>
          <a:p>
            <a:pPr algn="just"/>
            <a:r>
              <a:rPr lang="en-US" altLang="en-US" dirty="0"/>
              <a:t>Depends on address binding method</a:t>
            </a:r>
          </a:p>
          <a:p>
            <a:pPr lvl="1" algn="just"/>
            <a:r>
              <a:rPr lang="en-US" altLang="en-US" dirty="0"/>
              <a:t>Plus consider pending I/O to / from process memory space</a:t>
            </a:r>
          </a:p>
          <a:p>
            <a:pPr algn="just"/>
            <a:r>
              <a:rPr lang="en-US" altLang="en-US" dirty="0"/>
              <a:t>Modified versions of swapping are found on many systems (i.e., UNIX, Linux, and Windows)</a:t>
            </a:r>
          </a:p>
          <a:p>
            <a:pPr lvl="1" algn="just"/>
            <a:r>
              <a:rPr lang="en-US" altLang="en-US" dirty="0"/>
              <a:t>Swapping normally disabled</a:t>
            </a:r>
          </a:p>
          <a:p>
            <a:pPr lvl="1" algn="just"/>
            <a:r>
              <a:rPr lang="en-US" altLang="en-US" dirty="0"/>
              <a:t>Started if more than threshold amount of memory allocated</a:t>
            </a:r>
          </a:p>
          <a:p>
            <a:pPr lvl="1" algn="just"/>
            <a:r>
              <a:rPr lang="en-US" altLang="en-US" dirty="0"/>
              <a:t>Disabled again once memory demand reduced below threshold</a:t>
            </a:r>
          </a:p>
          <a:p>
            <a:pPr algn="just"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FE2A12-9EFD-66EF-A707-66CD7A625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3" y="1400176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pPr algn="just"/>
            <a:r>
              <a:rPr lang="en-US" altLang="en-US" dirty="0"/>
              <a:t>Context switch time can then be very high</a:t>
            </a:r>
          </a:p>
          <a:p>
            <a:pPr algn="just"/>
            <a:r>
              <a:rPr lang="en-US" altLang="en-US" dirty="0"/>
              <a:t>100MB process swapping to hard disk with transfer rate of 50MB/sec</a:t>
            </a:r>
          </a:p>
          <a:p>
            <a:pPr lvl="1" algn="just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 algn="just"/>
            <a:r>
              <a:rPr lang="en-US" altLang="en-US" dirty="0"/>
              <a:t>Plus swap in of same sized process</a:t>
            </a:r>
          </a:p>
          <a:p>
            <a:pPr lvl="1" algn="just"/>
            <a:r>
              <a:rPr lang="en-US" altLang="en-US" dirty="0"/>
              <a:t>Total context switch swapping component time of 4000ms (4 seconds)</a:t>
            </a:r>
          </a:p>
          <a:p>
            <a:pPr algn="just"/>
            <a:r>
              <a:rPr lang="en-US" altLang="en-US" dirty="0"/>
              <a:t>Can reduce if reduce size of memory swapped – by knowing how much memory really being used</a:t>
            </a:r>
          </a:p>
          <a:p>
            <a:pPr lvl="1" algn="just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  <p:transition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Other constraints as well on swapping</a:t>
            </a:r>
          </a:p>
          <a:p>
            <a:pPr lvl="1" algn="just"/>
            <a:r>
              <a:rPr lang="en-US" altLang="en-US" dirty="0"/>
              <a:t>Pending I/O – can’t swap out as I/O would occur to wrong process</a:t>
            </a:r>
          </a:p>
          <a:p>
            <a:pPr lvl="1" algn="just"/>
            <a:r>
              <a:rPr lang="en-US" altLang="en-US" dirty="0"/>
              <a:t>Or always transfer I/O to kernel space, then to I/O device</a:t>
            </a:r>
          </a:p>
          <a:p>
            <a:pPr lvl="2" algn="just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pPr algn="just"/>
            <a:r>
              <a:rPr lang="en-US" altLang="en-US" dirty="0"/>
              <a:t>Standard swapping not used in modern operating systems</a:t>
            </a:r>
          </a:p>
          <a:p>
            <a:pPr lvl="1" algn="just"/>
            <a:r>
              <a:rPr lang="en-US" altLang="en-US" dirty="0"/>
              <a:t>But modified version common</a:t>
            </a:r>
          </a:p>
          <a:p>
            <a:pPr lvl="2" algn="just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  <p:transition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  <p:transition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AAE3D-3989-304B-1018-A3397616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Supports both segmentation and segmentation with paging</a:t>
            </a:r>
          </a:p>
          <a:p>
            <a:pPr lvl="1" algn="just"/>
            <a:r>
              <a:rPr lang="en-US" altLang="en-US" dirty="0"/>
              <a:t>Each segment can be 4 GB</a:t>
            </a:r>
          </a:p>
          <a:p>
            <a:pPr lvl="1" algn="just"/>
            <a:r>
              <a:rPr lang="en-US" altLang="en-US" dirty="0"/>
              <a:t>Up to 16 K segments per process</a:t>
            </a:r>
          </a:p>
          <a:p>
            <a:pPr lvl="1" algn="just"/>
            <a:r>
              <a:rPr lang="en-US" altLang="en-US" dirty="0"/>
              <a:t>Divided into two partitions</a:t>
            </a:r>
          </a:p>
          <a:p>
            <a:pPr lvl="2" algn="just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 algn="just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915" y="1986829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A6A2FB-5CC7-0176-7C92-D8548E3D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3573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EEC0D-1133-86B2-B9A4-790E1CD9B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36D593-D9C3-20E5-DE06-6D35E0E27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  <a:p>
            <a:pPr algn="just"/>
            <a:endParaRPr lang="en-IN" dirty="0"/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830C2-017C-68DD-0DC0-4D1CD228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  <a:p>
            <a:endParaRPr lang="en-IN" dirty="0"/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764" y="4541069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DE2269-CF3F-AA36-DFAE-7A019F44F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sz="3200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20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endParaRPr lang="en-IN" sz="3200" dirty="0"/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7" y="1636402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3418</TotalTime>
  <Words>4295</Words>
  <Application>Microsoft Office PowerPoint</Application>
  <PresentationFormat>Widescreen</PresentationFormat>
  <Paragraphs>508</Paragraphs>
  <Slides>69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Calibri</vt:lpstr>
      <vt:lpstr>Comic Sans MS</vt:lpstr>
      <vt:lpstr>Courier New</vt:lpstr>
      <vt:lpstr>Helvetica</vt:lpstr>
      <vt:lpstr>Monotype Sorts</vt:lpstr>
      <vt:lpstr>Symbol</vt:lpstr>
      <vt:lpstr>Tahoma</vt:lpstr>
      <vt:lpstr>Times New Roman</vt:lpstr>
      <vt:lpstr>Wingdings</vt:lpstr>
      <vt:lpstr>SSN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- Example</vt:lpstr>
      <vt:lpstr>Fragmentation - Example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118</cp:revision>
  <dcterms:created xsi:type="dcterms:W3CDTF">2021-08-20T04:14:01Z</dcterms:created>
  <dcterms:modified xsi:type="dcterms:W3CDTF">2025-09-28T16:50:57Z</dcterms:modified>
</cp:coreProperties>
</file>