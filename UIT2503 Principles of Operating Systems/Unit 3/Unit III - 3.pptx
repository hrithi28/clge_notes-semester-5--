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45"/>
  </p:notesMasterIdLst>
  <p:sldIdLst>
    <p:sldId id="331" r:id="rId2"/>
    <p:sldId id="332" r:id="rId3"/>
    <p:sldId id="333" r:id="rId4"/>
    <p:sldId id="334" r:id="rId5"/>
    <p:sldId id="418" r:id="rId6"/>
    <p:sldId id="335" r:id="rId7"/>
    <p:sldId id="337" r:id="rId8"/>
    <p:sldId id="381" r:id="rId9"/>
    <p:sldId id="340" r:id="rId10"/>
    <p:sldId id="341" r:id="rId11"/>
    <p:sldId id="342" r:id="rId12"/>
    <p:sldId id="343" r:id="rId13"/>
    <p:sldId id="344" r:id="rId14"/>
    <p:sldId id="345" r:id="rId15"/>
    <p:sldId id="383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FFCC"/>
    <a:srgbClr val="FF33CC"/>
    <a:srgbClr val="070CC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54D33-E8EA-4265-8935-261D91E4D9B4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1B623-262D-4279-8EFF-46905E6DE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7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6AC06DF3-9AE2-41AA-9CBA-13E1929E3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AC1245-D4B7-4BF8-9C7C-5CCEA50EE6B4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F68B959-C08D-438B-A2B9-0BE8A788A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0B3EA2-4E30-4C2D-A22C-A8F69CD23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E49DA5C-9C96-455B-BD41-985D1B07C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F77E98-83BC-45F0-9564-A2CA759AE191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EA8B14E3-EAA5-468B-8771-F49BC03DE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E6443A0-E601-4FA9-AF8A-86ED17B9E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132B9CC-18EE-4478-8D12-79FCC5CB9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27E375-79F8-453D-B390-C386C8FE8BB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46E798B-69C3-4350-B87E-8BCD5B93D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C55E9DD-8D6A-4B1C-8480-D1203C92F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AD5D30B1-CAA9-4C7E-82FB-CACCC63DF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C752A8-8EC3-41CB-8B59-F3DE3C42BF38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A5E4639-96B8-4F2E-9BDC-7323C8400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256AD8A-0021-4843-A1C4-5D5EB55E5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079486D-A568-4512-97A1-83E8EED76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55255A-768F-4DA6-9FB2-D6327BA5FA1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A1A371DD-73C6-47EE-A578-8E86506C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8E01DCC-7830-4805-92C8-F11675DBC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9DFB9DE9-23F1-4586-8476-EB7515F08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990E245-8548-4FEA-8094-0CB87CE40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0ACF84F-14F0-44C1-87FE-68D25CB11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91A421C3-D251-468B-8986-49310FCBB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2B5525-892E-4BC9-B86F-030983BEA0EC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7EA6A59-C89E-4757-AE6C-872BEFC90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EA8330E-5E62-48F6-9094-D7C8ED9BC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101DA7AD-4F6A-4E73-A41B-D405F5B10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66DD38-3EB5-4134-B79D-C9C4288F343A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0E0A80F-DF39-4281-9C9A-11DBE7910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B6E452F-C003-4903-85A5-DF124EC5F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2145F13D-850B-4ECD-9C54-CC94AB539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46B475-1E8C-4550-ADF8-00CA85A1A0DB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9B6270F-5D7E-4AAA-BF78-BAA8346E9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7E5F964-17B3-45FA-9C56-980A57069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82DC06A2-6609-45C8-BDEC-A716F778D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B62495-4ED4-41CA-BD1C-15D6C682AAAD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340B1FD-4D5A-405F-BAC9-0F32DCF3A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9FBEA20-FF0E-408A-AFC5-16ED6CDFE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689F2254-CEAC-49B1-BE0A-D6CB96F43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D41B5E-17FB-4D46-9362-847B144758B3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B1FD14C-9281-442C-8C41-64B3BE637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4DEA45-1A08-4C66-97F7-6168200C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A353AA0-75CC-497D-91B9-904D63A07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6E1ECD-C743-4D6B-BD89-29F8B07C8DD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367321B-5D3F-40F6-873F-A0784A936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7737192-9A86-4917-AA29-F5DDF1F6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D1CD0EC-DA42-4B0A-91AE-C322FFF59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385A92-FB98-4E13-B633-A2409733F70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14F7186-B838-47BD-BB46-FCF66D59FA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C57AA80-DBC4-41A7-B1E2-378433EB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9311C47-F7AB-46DF-911B-8A18B2597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BC7FA-2A8F-4C00-BF8D-85AE95F3803B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BACDE31-FAC6-484D-B679-84D4734C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F1C660C-85C3-44DC-B351-84A7FEC20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AD30CC9D-7DD3-44B2-A8FC-073E926D4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0FE232-0859-4FEB-B794-69908630F257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3748D27-ADCC-4859-912A-07FA26801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5E0810E-A480-4FF7-B73F-667996217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37028435-25E6-4A3F-B20A-EB7193F77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533BA6-63EA-4C8E-83D6-D75ED0A0DEDD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0FDCA58-DEE3-4954-8951-F43ECB200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46113F0-86BE-41CA-9B9F-A08D697B7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665131B-02A1-4089-8A6A-3ECBBEBF6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3F69B1-EE3C-4C05-93FA-4501AC790494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33FA0CE-6439-42A3-9DCD-EA87FF718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E0A33F4-52D6-4093-86D6-67B742B18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792FF15-7A49-43D0-A115-585E2200E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2923B9-B579-4C76-9C8F-F75E541564F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CD7888D-A9DA-4CC5-A90D-5319A897C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4F605D-F0FE-4CA7-A649-128C342B2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37DD703A-9D9B-4A3C-94E4-94F051966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CCD7ED-0622-4446-BEE7-FC6134B518E5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EED2E36-0063-4F32-BEBB-00285C49C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52F800A-2C32-447C-A000-2690B9625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C3333D1D-E65D-4B89-8425-6E44461ABA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2AD3C6-3796-443F-BEF1-D7BB5126679A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0D8270D-05F7-42B0-9BA1-8DD9811B9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CF7658-4FEB-4CBF-80D9-CB99F52E4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75D2170-B7E7-4E3E-9E59-992D46F81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E1D3FD-B35A-4DBF-B791-BA5787967C2A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8803E2A-E437-4C89-A1E5-9341B9B6B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2161F1-20B1-4BA8-BDB3-5D756C52D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4AF2CC2-7843-4103-B4FD-A7AAC6D1D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24F6B0-400A-4243-88CD-37282AB90F11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1843D4D-D422-4E71-885E-FB6A7F165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9A406CF-8133-4241-A273-A716941B1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628516B-41BA-4A5F-B9F6-4374FDE05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586326-4BC7-4B67-B6D0-BCE4326A5AA3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0E7C568-95D9-4222-9AF6-17DB50942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40EED6A-BEA4-4846-8DD6-49230CEDD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F916C152-73D8-464B-99EE-F6F1FA4B1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929230-05BF-4F8E-AAC6-9C2CABFA3A3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9BA3C69-44B1-47E2-A112-EC9A898C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36193AF-01D3-4E16-BA42-54D7E3B29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DE0041D-EB20-44A4-B890-E4F7209FD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44A5C6-97A1-4829-A483-FFE95AC41A71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CB85357-8A0A-45B1-93B2-226D274F6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6F5FF3A-C78E-4E91-9558-6F09843B9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AC5AB899-77D3-455F-9B21-6A69A2B36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94D91-CE4B-4811-9F12-1C1C3BA044F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52DB2037-C37A-4CA1-BD76-5F7585DE6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7AB9C24-6195-4426-8F5C-F51C8B614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FCF99593-3D61-45EC-AE3E-666EA1167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47E08D-E788-4793-A447-675472F508F1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F011B3B-A08E-470C-A349-615B552E8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0EC2961-88E3-4417-B379-0A1B1AAAF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0159211-0323-4C37-9CD9-29B8BAD08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E425D2-AF5D-4132-9A2F-C7A3D296DE2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B34BB0D-33CC-42F0-82C9-4C7D28821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6996B81-6007-4913-82D9-A0BE6BDC1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FAC21EC5-CA2D-46EA-97C3-F21B8C2A0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33DEFD-8CE8-4151-BD0F-A1B90B603367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39EAC599-FAF6-4398-BBBD-0FB3C67A4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F563622-5D37-42A4-B057-9D3EA55C5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D6E12682-9701-4F39-BB3E-92E4FC21C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98336-7757-4016-8252-3D560ED463A8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FE593242-7A5A-4B00-BA3E-61851F35D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F75FE67-284F-41B4-A1B6-F34F94944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961B956-A0C3-490F-AA7C-63E1D3F15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4E0DDC-DEED-4536-B61A-5F0C9D5EB9D2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E350ED2-0623-4ED7-B1A2-C3ED08545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25808C0-0E5E-4B5C-8D23-736C3CFF2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902642F4-E0F8-4929-B08E-262907331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CEC565-1F79-4ED9-AF48-6877F7383DF8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E27F7D9-8FBC-41BD-A75A-49ABD406C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2EC3AE3-96CA-4114-B784-44078F699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53DE3335-3CD8-4BE6-8520-4541D24D5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F74AF4-5110-4B4D-8D5F-3D303766ACDC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CD171C36-DE07-41E4-B9A5-C9C9558E4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32FE629-FE3C-488F-8CC2-E0AB0D48F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C4B30BFB-1565-48F8-9931-E4896EF52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584267-1E93-4193-AB8C-7CE8D18E655B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D799F1C-1708-4226-A08B-131126238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8D6CD20-A953-4B1C-8FD6-276535612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EFC8381-020E-475F-9CBF-F1C9278751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BB14BB-F15E-4364-9A5F-D46CF6966674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E839460C-E25F-4936-8FC3-1571CCB8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A1B5A7B-2C6F-4732-B6FF-6CAE4DD68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CA973F4B-8029-49E1-8C56-41A7E9240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4046-5666-41B3-886D-062DE8244CAC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B0F8AA49-F542-42B6-975E-C7F0EFD76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6BCD7B1-5B82-46B6-AA4C-B0F269BAC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1CEC2E7B-5B2B-4EB2-AAAD-E5691A6E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A80C5E-8E4D-4DA5-A27C-ECDA1D1CE610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1E57FEC-A475-42F5-B967-B10F8AB19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48F885B-5E1A-4E3A-B4EE-EBC0DC8DB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49EC4C22-398C-4206-BB0C-E5D96B849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FE1507-F8C6-4550-9308-FC6BF0D09833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8DB72F6-E0EC-4635-B4F5-D9ECFAF7C4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98D8344-5E35-4121-8B1D-84F0EB7D9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4A8DED5-9BEB-4215-BE0F-7C846434F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925D9D-7534-4064-99E1-C9780FC489DC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0D493A7-4A45-4901-915C-EC9EF0A66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1F78BDF-9E0C-4AA4-8E28-044D8E994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11BBF78D-E4AF-4A4D-839B-A0D51076B0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B419FD-7D0A-4AA8-B70F-F67AF9A664FE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5BDA589-16EC-4BAC-BF6D-353F0ABD1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AF7CE04-5998-40E0-8D26-F2F518625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E7A3C8EC-B1D6-4E88-BD43-3582AB965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BAD9A3-4FA1-4968-95B7-8DD9DB52AB80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D0A48504-0C82-4A63-A6BD-6647B10740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AAF36EC-FFD6-4C4B-AA91-C9F49D483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83235"/>
            <a:ext cx="12170833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12192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531122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1066800"/>
            <a:ext cx="1097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3"/>
            <a:ext cx="109728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5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5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B880B0A-F9CB-4811-9094-7618A750CB0C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7B5C8F79-181C-4400-9D32-679CEAFB7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FA2F0A4-C9BA-432E-83F3-2EBF639B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44A7E6B-BD9D-4F33-9EFE-7C39BF131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89A2D9F-C175-44B2-A1F3-85F5B4785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06BF961-D67A-4284-A8BD-4B2D4188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44C0E95-7E00-42CF-9971-510C5CA39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29AB6F1-A51F-46BF-BDB8-E69C92C6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 sz="24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90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960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68727"/>
            <a:ext cx="12189884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1453038" y="6484230"/>
            <a:ext cx="719092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6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0" r:id="rId3"/>
    <p:sldLayoutId id="2147483751" r:id="rId4"/>
    <p:sldLayoutId id="2147483752" r:id="rId5"/>
  </p:sldLayoutIdLst>
  <p:transition>
    <p:wipe dir="d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3FFF3FEB-4621-4BB0-8381-30D0EE5065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683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8: 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C20AB209-B0F9-420A-89E6-E8E9E50B2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1D54AC39-219B-4A2F-8A80-B3261E1F15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System Model</a:t>
            </a:r>
          </a:p>
          <a:p>
            <a:r>
              <a:rPr lang="en-US" altLang="en-US" dirty="0"/>
              <a:t>Deadlock Characterization</a:t>
            </a:r>
          </a:p>
          <a:p>
            <a:r>
              <a:rPr lang="en-US" altLang="en-US" dirty="0"/>
              <a:t>Methods for Handling Deadlocks</a:t>
            </a:r>
          </a:p>
          <a:p>
            <a:r>
              <a:rPr lang="en-US" altLang="en-US" dirty="0"/>
              <a:t>Deadlock Prevention</a:t>
            </a:r>
          </a:p>
          <a:p>
            <a:r>
              <a:rPr lang="en-US" altLang="en-US" dirty="0"/>
              <a:t>Deadlock Avoidance</a:t>
            </a:r>
          </a:p>
          <a:p>
            <a:r>
              <a:rPr lang="en-US" altLang="en-US" dirty="0"/>
              <a:t>Deadlock Detection </a:t>
            </a:r>
          </a:p>
          <a:p>
            <a:r>
              <a:rPr lang="en-US" altLang="en-US" dirty="0"/>
              <a:t>Recovery from Deadlock </a:t>
            </a: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38D12EB-E650-49F7-BF5C-96934752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6DA4E9BA-E5B9-48E9-A6E9-2CB00D152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Illustrate how deadlock can occur when mutex locks are used</a:t>
            </a:r>
          </a:p>
          <a:p>
            <a:pPr algn="just"/>
            <a:r>
              <a:rPr lang="en-US" altLang="en-US" dirty="0"/>
              <a:t>Define the four necessary conditions that characterize deadlock</a:t>
            </a:r>
          </a:p>
          <a:p>
            <a:pPr algn="just"/>
            <a:r>
              <a:rPr lang="en-US" altLang="en-US" dirty="0"/>
              <a:t>Identify a deadlock situation in a resource allocation graph</a:t>
            </a:r>
          </a:p>
          <a:p>
            <a:pPr algn="just"/>
            <a:r>
              <a:rPr lang="en-US" altLang="en-US" dirty="0"/>
              <a:t>Evaluate the four different approaches for preventing deadlocks</a:t>
            </a:r>
          </a:p>
          <a:p>
            <a:pPr algn="just"/>
            <a:r>
              <a:rPr lang="en-US" altLang="en-US" dirty="0"/>
              <a:t>Apply the banker’s algorithm for deadlock avoidance</a:t>
            </a:r>
          </a:p>
          <a:p>
            <a:pPr algn="just"/>
            <a:r>
              <a:rPr lang="en-US" altLang="en-US" dirty="0"/>
              <a:t>Apply the deadlock detection algorithm</a:t>
            </a:r>
          </a:p>
          <a:p>
            <a:pPr algn="just"/>
            <a:r>
              <a:rPr lang="en-US" altLang="en-US" dirty="0"/>
              <a:t>Evaluate approaches for recovering from deadlock</a:t>
            </a:r>
          </a:p>
          <a:p>
            <a:pPr algn="just"/>
            <a:endParaRPr lang="en-US" altLang="en-US" dirty="0"/>
          </a:p>
          <a:p>
            <a:pPr algn="just">
              <a:buSzPct val="85000"/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661502D7-7068-4DDE-82B3-CB27E3C63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System Model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CD8E9D65-BCDC-43F0-9CD9-F441192198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System consists of resources</a:t>
            </a:r>
          </a:p>
          <a:p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/>
              <a:t>R</a:t>
            </a:r>
            <a:r>
              <a:rPr lang="en-US" altLang="en-US" baseline="-25000" dirty="0"/>
              <a:t>m</a:t>
            </a:r>
          </a:p>
          <a:p>
            <a:pPr lvl="1"/>
            <a:r>
              <a:rPr lang="en-US" altLang="en-US" i="1" dirty="0"/>
              <a:t>CPU cycles, memory space, I/O devices</a:t>
            </a:r>
          </a:p>
          <a:p>
            <a:r>
              <a:rPr lang="en-US" altLang="en-US" dirty="0"/>
              <a:t>Each resource type </a:t>
            </a:r>
            <a:r>
              <a:rPr lang="en-US" altLang="en-US" i="1" dirty="0"/>
              <a:t>R</a:t>
            </a:r>
            <a:r>
              <a:rPr lang="en-US" altLang="en-US" baseline="-25000" dirty="0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r>
              <a:rPr lang="en-US" altLang="en-US" dirty="0"/>
              <a:t>Each process utilizes a resource as follows:</a:t>
            </a:r>
          </a:p>
          <a:p>
            <a:pPr lvl="1"/>
            <a:r>
              <a:rPr lang="en-US" altLang="en-US" b="1" dirty="0"/>
              <a:t>request </a:t>
            </a:r>
          </a:p>
          <a:p>
            <a:pPr lvl="1"/>
            <a:r>
              <a:rPr lang="en-US" altLang="en-US" b="1" dirty="0"/>
              <a:t>use </a:t>
            </a:r>
          </a:p>
          <a:p>
            <a:pPr lvl="1"/>
            <a:r>
              <a:rPr lang="en-US" altLang="en-US" b="1" dirty="0"/>
              <a:t>release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DB5CD8E6-87F9-4726-9621-AFEDA885C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Deadlock with Semaphores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5ED238E1-E3E6-41E4-AE23-2237E43D6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Data: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r>
              <a:rPr lang="en-US" altLang="en-US" dirty="0"/>
              <a:t>Two threads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</a:p>
          <a:p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87ADAA0F-64F7-46C8-A7FE-1C5113FEB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F4824E8A-1421-4BF0-9A60-6CA3F5021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5476"/>
            <a:ext cx="10972800" cy="4300690"/>
          </a:xfrm>
        </p:spPr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thread at a time can use a resource</a:t>
            </a:r>
            <a:endParaRPr lang="en-US" altLang="en-US" sz="800" dirty="0"/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thread holding at least one resource is waiting to acquire additional resources held by other threads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thread holding it, after that thread has completed its task</a:t>
            </a:r>
            <a:endParaRPr lang="en-US" altLang="en-US" sz="800" dirty="0"/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} of waiting threads such that </a:t>
            </a:r>
            <a:r>
              <a:rPr lang="en-US" altLang="en-US" i="1" dirty="0"/>
              <a:t>T</a:t>
            </a:r>
            <a:r>
              <a:rPr lang="en-US" altLang="en-US" baseline="-25000" dirty="0"/>
              <a:t>0 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,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pPr algn="just"/>
            <a:endParaRPr lang="en-US" altLang="en-US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DD9E7C76-64A7-4BA1-B082-DA8BDA6C2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301" y="1179145"/>
            <a:ext cx="84733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1C97935-CF39-4A80-87B3-E8FC1A79B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97E50AC4-3665-4FFE-B1D6-0D72C5ECE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V is partitioned into two types:</a:t>
            </a:r>
          </a:p>
          <a:p>
            <a:pPr lvl="1"/>
            <a:r>
              <a:rPr lang="en-US" altLang="en-US" i="1" dirty="0"/>
              <a:t>T</a:t>
            </a:r>
            <a:r>
              <a:rPr lang="en-US" altLang="en-US" dirty="0"/>
              <a:t> = {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r>
              <a:rPr lang="en-US" altLang="en-US" dirty="0"/>
              <a:t>}, the set consisting of all the threads in the system.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/>
            <a:endParaRPr lang="en-US" altLang="en-US" sz="9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request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endParaRPr lang="en-US" altLang="en-US" sz="800" i="1" baseline="-25000" dirty="0"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assignment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5FCC8E8A-16FC-4644-B90C-8C320716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8267" y="1219203"/>
            <a:ext cx="56387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A set of vertices </a:t>
            </a:r>
            <a:r>
              <a:rPr kumimoji="0" lang="en-US" altLang="en-US" i="1" dirty="0"/>
              <a:t>V</a:t>
            </a:r>
            <a:r>
              <a:rPr kumimoji="0" lang="en-US" altLang="en-US" dirty="0"/>
              <a:t> and a set of edges </a:t>
            </a:r>
            <a:r>
              <a:rPr kumimoji="0" lang="en-US" altLang="en-US" i="1" dirty="0"/>
              <a:t>E</a:t>
            </a:r>
            <a:r>
              <a:rPr kumimoji="0" lang="en-US" altLang="en-US" dirty="0"/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1A4B64E3-DEA9-4327-B63F-42B7E332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Resource Allocation Graph Example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66863360-8218-4F9C-99FE-9BE85325D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One instance of R</a:t>
            </a:r>
            <a:r>
              <a:rPr lang="en-US" altLang="en-US" baseline="-25000" dirty="0"/>
              <a:t>1</a:t>
            </a:r>
          </a:p>
          <a:p>
            <a:r>
              <a:rPr lang="en-US" altLang="en-US" dirty="0"/>
              <a:t>Two instances of R</a:t>
            </a:r>
            <a:r>
              <a:rPr lang="en-US" altLang="en-US" baseline="-25000" dirty="0"/>
              <a:t>2</a:t>
            </a:r>
          </a:p>
          <a:p>
            <a:r>
              <a:rPr lang="en-US" altLang="en-US" dirty="0"/>
              <a:t>One instance of R</a:t>
            </a:r>
            <a:r>
              <a:rPr lang="en-US" altLang="en-US" baseline="-25000" dirty="0"/>
              <a:t>3</a:t>
            </a:r>
          </a:p>
          <a:p>
            <a:r>
              <a:rPr lang="en-US" altLang="en-US" dirty="0"/>
              <a:t>Three instance of R</a:t>
            </a:r>
            <a:r>
              <a:rPr lang="en-US" altLang="en-US" baseline="-25000" dirty="0"/>
              <a:t>4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holds one instance of R</a:t>
            </a:r>
            <a:r>
              <a:rPr lang="en-US" altLang="en-US" baseline="-25000" dirty="0"/>
              <a:t>2</a:t>
            </a:r>
            <a:r>
              <a:rPr lang="en-US" altLang="en-US" dirty="0"/>
              <a:t> and is waiting for an instance of R</a:t>
            </a:r>
            <a:r>
              <a:rPr lang="en-US" altLang="en-US" baseline="-25000" dirty="0"/>
              <a:t>1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holds one instance of R</a:t>
            </a:r>
            <a:r>
              <a:rPr lang="en-US" altLang="en-US" baseline="-25000" dirty="0"/>
              <a:t>1</a:t>
            </a:r>
            <a:r>
              <a:rPr lang="en-US" altLang="en-US" dirty="0"/>
              <a:t>, one instance of R</a:t>
            </a:r>
            <a:r>
              <a:rPr lang="en-US" altLang="en-US" baseline="-25000" dirty="0"/>
              <a:t>2</a:t>
            </a:r>
            <a:r>
              <a:rPr lang="en-US" altLang="en-US" dirty="0"/>
              <a:t>, and is waiting for an instance of R</a:t>
            </a:r>
            <a:r>
              <a:rPr lang="en-US" altLang="en-US" baseline="-25000" dirty="0"/>
              <a:t>3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is holds one instance of R</a:t>
            </a:r>
            <a:r>
              <a:rPr lang="en-US" altLang="en-US" baseline="-25000" dirty="0"/>
              <a:t>3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4B3F1686-A558-47EE-B9D9-DBE933ACC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4" y="1500188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37C291A-9445-4721-B361-26FE27F41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Resource Allocation Graph with a Deadlock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567370-9607-AE9F-F646-160B0F68B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7410" name="Picture 1">
            <a:extLst>
              <a:ext uri="{FF2B5EF4-FFF2-40B4-BE49-F238E27FC236}">
                <a16:creationId xmlns:a16="http://schemas.microsoft.com/office/drawing/2014/main" id="{6DC2929A-0DEC-4DB0-815C-C96B1DCBC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1089025"/>
            <a:ext cx="335438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1FE1CF9-67CC-4C8B-A23E-E3989C148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Graph with a Cycle But no Deadlock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4CB177-528A-98BD-F073-A17879AE2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9458" name="Picture 1">
            <a:extLst>
              <a:ext uri="{FF2B5EF4-FFF2-40B4-BE49-F238E27FC236}">
                <a16:creationId xmlns:a16="http://schemas.microsoft.com/office/drawing/2014/main" id="{CC72185A-FCE6-4038-BA8E-B2DF5B5E4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217" y="1423144"/>
            <a:ext cx="3248633" cy="414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368CA74-5723-4606-85F5-095271A5A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7CA9EB25-8907-4C31-9562-78429BD390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If graph contains no cycles </a:t>
            </a:r>
            <a:r>
              <a:rPr lang="en-US" altLang="en-US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E6DC195-A097-4489-91F0-082398196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B1974F3-B27D-4398-888B-6020EB15EE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Ensure that the system will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/>
            <a:r>
              <a:rPr lang="en-US" altLang="en-US" dirty="0"/>
              <a:t>Deadlock prevention</a:t>
            </a:r>
          </a:p>
          <a:p>
            <a:pPr lvl="1"/>
            <a:r>
              <a:rPr lang="en-US" altLang="en-US" dirty="0"/>
              <a:t>Deadlock avoidance</a:t>
            </a:r>
          </a:p>
          <a:p>
            <a:r>
              <a:rPr lang="en-US" altLang="en-US" dirty="0"/>
              <a:t>Allow the system to enter a deadlock state and then recover</a:t>
            </a:r>
          </a:p>
          <a:p>
            <a:r>
              <a:rPr lang="en-US" altLang="en-US" dirty="0"/>
              <a:t>Ignore the problem and pretend that deadlocks never occur in the system.</a:t>
            </a:r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93884E20-FE6E-43AF-8F05-40E2C3E8F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Deadlock Prevention</a:t>
            </a:r>
          </a:p>
        </p:txBody>
      </p:sp>
      <p:sp>
        <p:nvSpPr>
          <p:cNvPr id="25602" name="Rectangle 1027">
            <a:extLst>
              <a:ext uri="{FF2B5EF4-FFF2-40B4-BE49-F238E27FC236}">
                <a16:creationId xmlns:a16="http://schemas.microsoft.com/office/drawing/2014/main" id="{248F74CB-A637-4326-83AD-A85531E46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2133600"/>
            <a:ext cx="10972800" cy="3992566"/>
          </a:xfrm>
        </p:spPr>
        <p:txBody>
          <a:bodyPr/>
          <a:lstStyle/>
          <a:p>
            <a:pPr algn="just"/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pPr algn="just"/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thread requests a resource, it does not hold any other resources</a:t>
            </a:r>
          </a:p>
          <a:p>
            <a:pPr lvl="1" algn="just"/>
            <a:r>
              <a:rPr lang="en-US" altLang="en-US" dirty="0"/>
              <a:t>Require threads to request and be allocated all its resources before it begins execution or allow thread to request resources only when the thread has none allocated to it.</a:t>
            </a:r>
          </a:p>
          <a:p>
            <a:pPr lvl="1" algn="just"/>
            <a:r>
              <a:rPr lang="en-US" altLang="en-US" dirty="0"/>
              <a:t>Low resource utilization; starvation possible</a:t>
            </a:r>
          </a:p>
        </p:txBody>
      </p:sp>
      <p:sp>
        <p:nvSpPr>
          <p:cNvPr id="25603" name="Text Box 1028">
            <a:extLst>
              <a:ext uri="{FF2B5EF4-FFF2-40B4-BE49-F238E27FC236}">
                <a16:creationId xmlns:a16="http://schemas.microsoft.com/office/drawing/2014/main" id="{9845B2D7-F006-41D6-8929-1B9EF427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020" y="1369367"/>
            <a:ext cx="9158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Invalidate one of the four necessary conditions for deadlock:</a:t>
            </a:r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>
            <a:extLst>
              <a:ext uri="{FF2B5EF4-FFF2-40B4-BE49-F238E27FC236}">
                <a16:creationId xmlns:a16="http://schemas.microsoft.com/office/drawing/2014/main" id="{5E79F7A0-88E3-48D2-89FF-125D5DE02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Deadlock Prevention (Cont.)</a:t>
            </a:r>
          </a:p>
        </p:txBody>
      </p:sp>
      <p:sp>
        <p:nvSpPr>
          <p:cNvPr id="27650" name="Rectangle 1027">
            <a:extLst>
              <a:ext uri="{FF2B5EF4-FFF2-40B4-BE49-F238E27FC236}">
                <a16:creationId xmlns:a16="http://schemas.microsoft.com/office/drawing/2014/main" id="{D9A7966E-2C18-4BF6-AF61-56D5353061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/>
              <a:t>No Preemption</a:t>
            </a:r>
            <a:r>
              <a:rPr lang="en-US" altLang="en-US" dirty="0"/>
              <a:t>:</a:t>
            </a:r>
          </a:p>
          <a:p>
            <a:pPr lvl="1" algn="just"/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 algn="just"/>
            <a:r>
              <a:rPr lang="en-US" altLang="en-US" dirty="0"/>
              <a:t>Preempted resources are added to the list of resources for which the thread is waiting</a:t>
            </a:r>
          </a:p>
          <a:p>
            <a:pPr lvl="1" algn="just"/>
            <a:r>
              <a:rPr lang="en-US" altLang="en-US" dirty="0"/>
              <a:t>Thread will be restarted only when it can regain its old resources, as well as the new ones that it is requesting</a:t>
            </a:r>
          </a:p>
          <a:p>
            <a:pPr algn="just"/>
            <a:r>
              <a:rPr lang="en-US" altLang="en-US" b="1" dirty="0"/>
              <a:t>Circular Wait:</a:t>
            </a:r>
          </a:p>
          <a:p>
            <a:pPr lvl="1" algn="just"/>
            <a:r>
              <a:rPr lang="en-US" altLang="en-US" dirty="0"/>
              <a:t>Impose a total ordering of all resource types, and require that each thread requests resources in an increasing order of enumeration</a:t>
            </a:r>
          </a:p>
          <a:p>
            <a:pPr lvl="1"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C9BCC94F-DF14-4CEF-B307-FFDB8B7B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Circular Wait</a:t>
            </a:r>
          </a:p>
        </p:txBody>
      </p:sp>
      <p:sp>
        <p:nvSpPr>
          <p:cNvPr id="92162" name="Content Placeholder 2">
            <a:extLst>
              <a:ext uri="{FF2B5EF4-FFF2-40B4-BE49-F238E27FC236}">
                <a16:creationId xmlns:a16="http://schemas.microsoft.com/office/drawing/2014/main" id="{58AB02F0-3B68-482D-A95F-2D1605DF3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Invalidating the circular wait condition is most common.</a:t>
            </a:r>
          </a:p>
          <a:p>
            <a:r>
              <a:rPr lang="en-US" altLang="en-US" dirty="0"/>
              <a:t>Simply assign each resource (i.e., mutex locks) a unique number.</a:t>
            </a:r>
          </a:p>
          <a:p>
            <a:r>
              <a:rPr lang="en-US" altLang="en-US" dirty="0"/>
              <a:t>Resources must be acquired in order.</a:t>
            </a:r>
          </a:p>
          <a:p>
            <a:r>
              <a:rPr lang="en-US" altLang="en-US" dirty="0"/>
              <a:t>If: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r>
              <a:rPr lang="en-US" altLang="en-US" dirty="0"/>
              <a:t>code for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thread_two</a:t>
            </a:r>
            <a:r>
              <a:rPr lang="en-US" altLang="en-US" dirty="0"/>
              <a:t> could not be </a:t>
            </a:r>
            <a:br>
              <a:rPr lang="en-US" altLang="en-US" dirty="0"/>
            </a:br>
            <a:r>
              <a:rPr lang="en-US" altLang="en-US" dirty="0"/>
              <a:t>written as follows:</a:t>
            </a:r>
          </a:p>
        </p:txBody>
      </p:sp>
      <p:pic>
        <p:nvPicPr>
          <p:cNvPr id="92163" name="Content Placeholder 4">
            <a:extLst>
              <a:ext uri="{FF2B5EF4-FFF2-40B4-BE49-F238E27FC236}">
                <a16:creationId xmlns:a16="http://schemas.microsoft.com/office/drawing/2014/main" id="{211EEBA5-828D-4DE4-9727-3740CF9D0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450" y="2011363"/>
            <a:ext cx="30988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>
            <a:extLst>
              <a:ext uri="{FF2B5EF4-FFF2-40B4-BE49-F238E27FC236}">
                <a16:creationId xmlns:a16="http://schemas.microsoft.com/office/drawing/2014/main" id="{6FD34B5C-0025-47BD-A2A2-5E565E3A22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87888" y="4160838"/>
            <a:ext cx="2214562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AFFD0F5-6606-4126-85B7-48E43CCCD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Deadlock Avoidance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316B56B-E9C7-4926-A854-188C569231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Simplest and most useful model requires that each thread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r>
              <a:rPr lang="en-US" altLang="en-US" dirty="0"/>
              <a:t>The deadlock-avoidance algorithm dynamically examines the resource-allocation state to ensure that there can never be a circular-wait condition</a:t>
            </a:r>
          </a:p>
          <a:p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19AE85A0-D9E0-41AE-B1B3-22E783F9D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418" y="819062"/>
            <a:ext cx="767909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0134717-6B8D-4E64-9AC7-D74C60478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Safe State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FC0A195-78EA-410E-9026-C9CEFE55C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When a thread requests an available resource, system must decide if immediate allocation leaves the system in a safe state</a:t>
            </a:r>
          </a:p>
          <a:p>
            <a:pPr algn="just"/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safe state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T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T</a:t>
            </a:r>
            <a:r>
              <a:rPr lang="en-US" altLang="en-US" i="1" baseline="-25000" dirty="0"/>
              <a:t>n</a:t>
            </a:r>
            <a:r>
              <a:rPr lang="en-US" altLang="en-US" dirty="0"/>
              <a:t>&gt; of ALL the threads  in the systems such that  for each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, the resources that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pPr algn="just"/>
            <a:r>
              <a:rPr lang="en-US" altLang="en-US" dirty="0"/>
              <a:t>That is:</a:t>
            </a:r>
          </a:p>
          <a:p>
            <a:pPr lvl="1" algn="just"/>
            <a:r>
              <a:rPr lang="en-US" altLang="en-US" dirty="0"/>
              <a:t>If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 algn="just"/>
            <a:r>
              <a:rPr lang="en-US" altLang="en-US" dirty="0"/>
              <a:t>When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 algn="just"/>
            <a:r>
              <a:rPr lang="en-US" altLang="en-US" dirty="0"/>
              <a:t>When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terminates,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E27B5FF-B4F4-4F92-A75E-BC8329853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15BDF1D-C0EA-4FC7-A293-BF12CBE7CC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If a system is in safe state </a:t>
            </a:r>
            <a:r>
              <a:rPr lang="en-US" altLang="en-US" dirty="0">
                <a:sym typeface="Symbol" panose="05050102010706020507" pitchFamily="18" charset="2"/>
              </a:rPr>
              <a:t> no deadlocks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833C35E-A99A-45F7-A732-34E0D4573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Safe, Unsafe, Deadlock State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C52D77-44CD-9A50-3942-1B50A1894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5842" name="Picture 1">
            <a:extLst>
              <a:ext uri="{FF2B5EF4-FFF2-40B4-BE49-F238E27FC236}">
                <a16:creationId xmlns:a16="http://schemas.microsoft.com/office/drawing/2014/main" id="{138FEED4-3700-4E13-BB16-66A99CC6B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1462089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D3210E7-ED94-41D3-A580-4892C80D7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Avoidance Algorithms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03BE1552-DFDD-4C2D-ABAD-33391FB8DA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Single instance of a resource type</a:t>
            </a:r>
          </a:p>
          <a:p>
            <a:pPr lvl="1"/>
            <a:r>
              <a:rPr lang="en-US" altLang="en-US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Multiple instances of a resource type</a:t>
            </a:r>
          </a:p>
          <a:p>
            <a:pPr lvl="1"/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62E1847-7FBC-4E3E-907B-AD5F78E0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Resource-Allocation Graph Scheme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86FC01CE-3998-490A-BDE6-3A6213797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Claim edge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indicated that process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may request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; represented by a dashed line</a:t>
            </a:r>
          </a:p>
          <a:p>
            <a:pPr algn="just"/>
            <a:r>
              <a:rPr lang="en-US" altLang="en-US" dirty="0">
                <a:sym typeface="Symbol" panose="05050102010706020507" pitchFamily="18" charset="2"/>
              </a:rPr>
              <a:t>Claim edge converts to request edge when a </a:t>
            </a:r>
            <a:r>
              <a:rPr lang="en-US" altLang="en-US" dirty="0"/>
              <a:t>thread</a:t>
            </a:r>
            <a:r>
              <a:rPr lang="en-US" altLang="en-US" dirty="0">
                <a:sym typeface="Symbol" panose="05050102010706020507" pitchFamily="18" charset="2"/>
              </a:rPr>
              <a:t> requests a resource</a:t>
            </a:r>
          </a:p>
          <a:p>
            <a:pPr algn="just"/>
            <a:r>
              <a:rPr lang="en-US" altLang="en-US" dirty="0">
                <a:sym typeface="Symbol" panose="05050102010706020507" pitchFamily="18" charset="2"/>
              </a:rPr>
              <a:t>Request edge converted to an assignment edge when the  resource is allocated to the </a:t>
            </a:r>
            <a:r>
              <a:rPr lang="en-US" altLang="en-US" dirty="0"/>
              <a:t>thread</a:t>
            </a:r>
            <a:endParaRPr lang="en-US" altLang="en-US" dirty="0">
              <a:sym typeface="Symbol" panose="05050102010706020507" pitchFamily="18" charset="2"/>
            </a:endParaRPr>
          </a:p>
          <a:p>
            <a:pPr algn="just"/>
            <a:r>
              <a:rPr lang="en-US" altLang="en-US" dirty="0">
                <a:sym typeface="Symbol" panose="05050102010706020507" pitchFamily="18" charset="2"/>
              </a:rPr>
              <a:t>When a resource is released by a</a:t>
            </a:r>
            <a:r>
              <a:rPr lang="en-US" altLang="en-US" dirty="0"/>
              <a:t> thread</a:t>
            </a:r>
            <a:r>
              <a:rPr lang="en-US" altLang="en-US" dirty="0">
                <a:sym typeface="Symbol" panose="05050102010706020507" pitchFamily="18" charset="2"/>
              </a:rPr>
              <a:t>, assignment edge reconverts to a claim edge</a:t>
            </a:r>
          </a:p>
          <a:p>
            <a:pPr algn="just"/>
            <a:r>
              <a:rPr lang="en-US" altLang="en-US" dirty="0">
                <a:sym typeface="Symbol" panose="05050102010706020507" pitchFamily="18" charset="2"/>
              </a:rPr>
              <a:t>Resources must be claimed </a:t>
            </a:r>
            <a:r>
              <a:rPr lang="en-US" altLang="en-US" i="1" dirty="0">
                <a:sym typeface="Symbol" panose="05050102010706020507" pitchFamily="18" charset="2"/>
              </a:rPr>
              <a:t>a priori</a:t>
            </a:r>
            <a:r>
              <a:rPr lang="en-US" altLang="en-US" dirty="0">
                <a:sym typeface="Symbol" panose="05050102010706020507" pitchFamily="18" charset="2"/>
              </a:rPr>
              <a:t> in the system</a:t>
            </a: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69641F8-B5ED-4701-ADC4-AF8830265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FE4BA7-C512-0A76-874F-C3CAC8F19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1986" name="Picture 1">
            <a:extLst>
              <a:ext uri="{FF2B5EF4-FFF2-40B4-BE49-F238E27FC236}">
                <a16:creationId xmlns:a16="http://schemas.microsoft.com/office/drawing/2014/main" id="{971D754B-5ADF-443C-9EFE-EC7015D91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078" y="1423697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B73D6D1-D7A9-4A37-BC41-6815A8C70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Unsafe State In Resource-Allocation Graph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F3669F-5873-838E-2657-64DC0FC78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4034" name="Picture 1">
            <a:extLst>
              <a:ext uri="{FF2B5EF4-FFF2-40B4-BE49-F238E27FC236}">
                <a16:creationId xmlns:a16="http://schemas.microsoft.com/office/drawing/2014/main" id="{F5B9B755-77BC-48DD-8A47-C57BD1123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6" y="1438276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0FB8F846-16AC-4967-ACDC-17AEF923D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Resource-Allocation Graph Algorithm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A7AE779-FF63-41A9-B5BD-D519561ABD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Suppose that thread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requests a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pPr algn="just"/>
            <a:r>
              <a:rPr lang="en-US" altLang="en-US" dirty="0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9A3144D-3E55-44DD-99C2-5A8149921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Banker’s Algorithm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D051B137-35A8-4BCD-B97B-829EA95E2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Multiple instances of resources</a:t>
            </a:r>
          </a:p>
          <a:p>
            <a:pPr algn="just"/>
            <a:r>
              <a:rPr lang="en-US" altLang="en-US" dirty="0"/>
              <a:t>Each thread must a priori claim maximum use</a:t>
            </a:r>
          </a:p>
          <a:p>
            <a:pPr algn="just"/>
            <a:r>
              <a:rPr lang="en-US" altLang="en-US" dirty="0"/>
              <a:t>When a thread requests a resource, it may have to wait  </a:t>
            </a:r>
          </a:p>
          <a:p>
            <a:pPr algn="just"/>
            <a:r>
              <a:rPr lang="en-US" altLang="en-US" dirty="0"/>
              <a:t>When a thread gets all its resources it must return them in a finite amount of time</a:t>
            </a:r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7FA0DF4-BE04-4A21-8DF8-1258C2593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D3FB76A-D010-4081-9D81-A9865380F0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522265"/>
            <a:ext cx="10972800" cy="4603901"/>
          </a:xfrm>
        </p:spPr>
        <p:txBody>
          <a:bodyPr/>
          <a:lstStyle/>
          <a:p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AE86C5C3-E474-4D7C-8E73-3297B5A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3" y="1060600"/>
            <a:ext cx="92849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2790C097-F637-4E56-9DE9-9732B5BC1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3636911B-2CB1-426E-842A-DA9B080064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lnSpc>
                <a:spcPct val="90000"/>
              </a:lnSpc>
              <a:buNone/>
            </a:pPr>
            <a:endParaRPr lang="en-US" altLang="en-US" sz="800" dirty="0"/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Find an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lnSpc>
                <a:spcPct val="90000"/>
              </a:lnSpc>
              <a:buNone/>
            </a:pPr>
            <a:r>
              <a:rPr lang="en-US" altLang="en-US" dirty="0"/>
              <a:t>  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lnSpc>
                <a:spcPct val="90000"/>
              </a:lnSpc>
              <a:buNone/>
            </a:pPr>
            <a:r>
              <a:rPr lang="en-US" altLang="en-US" dirty="0"/>
              <a:t>  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None/>
            </a:pPr>
            <a:r>
              <a:rPr lang="en-US" altLang="en-US" dirty="0">
                <a:sym typeface="Symbol" panose="05050102010706020507" pitchFamily="18" charset="2"/>
              </a:rPr>
              <a:t>   If no such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i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>
              <a:buFont typeface="+mj-lt"/>
              <a:buAutoNum type="arabicPeriod"/>
            </a:pPr>
            <a:r>
              <a:rPr lang="en-US" altLang="en-US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b="1" dirty="0"/>
              <a:t>  </a:t>
            </a:r>
            <a:r>
              <a:rPr lang="en-US" altLang="en-US" dirty="0"/>
              <a:t>go to step 2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altLang="en-US" sz="700" dirty="0"/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r>
              <a:rPr lang="en-US" altLang="en-US" dirty="0"/>
              <a:t>, then the system is in a safe state</a:t>
            </a:r>
          </a:p>
        </p:txBody>
      </p:sp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D555E4E-D656-4473-9631-EC334BFD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Resource-Request Algorithm for Process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endParaRPr lang="en-US" altLang="en-US" sz="2800" dirty="0"/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778FADBB-9076-4FBD-93D9-F75ADC967E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b="1" i="1" dirty="0"/>
              <a:t>   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dirty="0">
                <a:sym typeface="Symbol" panose="05050102010706020507" pitchFamily="18" charset="2"/>
              </a:rPr>
              <a:t>, go to step 3.  Otherwise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Pretend to allocate requested resources to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b="1" dirty="0">
                <a:sym typeface="Symbol" panose="05050102010706020507" pitchFamily="18" charset="2"/>
              </a:rPr>
              <a:t> = </a:t>
            </a:r>
            <a:r>
              <a:rPr lang="en-US" altLang="en-US" b="1" i="1" dirty="0">
                <a:sym typeface="Symbol" panose="05050102010706020507" pitchFamily="18" charset="2"/>
              </a:rPr>
              <a:t>Available  </a:t>
            </a:r>
            <a:r>
              <a:rPr lang="en-US" altLang="en-US" b="1" dirty="0">
                <a:sym typeface="Symbol" panose="05050102010706020507" pitchFamily="18" charset="2"/>
              </a:rPr>
              <a:t>–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 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+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–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endParaRPr lang="en-US" altLang="en-US" b="1" i="1" baseline="-25000" dirty="0">
              <a:sym typeface="Symbol" panose="05050102010706020507" pitchFamily="18" charset="2"/>
            </a:endParaRP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unsafe 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18387C4-9D5B-4D54-8084-FE05B91CC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of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9D491DD-A38E-475F-8906-6128AD1F38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threads </a:t>
            </a:r>
            <a:r>
              <a:rPr lang="en-US" altLang="en-US" i="1" dirty="0"/>
              <a:t>T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A B C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B8887BD-D3BC-4339-B372-7CC9B71D7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3FB620B-ED3D-4487-B4B3-8D8C199019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D3E796E-9D4C-428C-896A-890447D90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5866BF7C-1FA0-4840-882A-7A5E6F0E9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anose="05050102010706020507" pitchFamily="18" charset="2"/>
              </a:rPr>
              <a:t> Available (that is, (1,0,2)  (3,3,2)  true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Need</a:t>
            </a:r>
            <a:r>
              <a:rPr lang="en-US" altLang="en-US" i="1" dirty="0"/>
              <a:t>	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A B C	A B C	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0 1 0 	7 4 3 	2 3 0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	   3 0 2        0 2 0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3 0 2 	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2 1 1 	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 	 4 3 1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(3,3,0) by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dirty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(0,2,0) by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 be granted?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73354F7-D46C-481C-9D4A-3953C7C9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Deadlock Detection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B0C7DA51-11F7-430E-8F04-C804721EE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Recovery scheme</a:t>
            </a:r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E0AC6EB-98B0-4800-BA12-8164E363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Single Instance of Each Resource Type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A96C6DF-1521-4C97-AEB7-B25DA22EF8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Maintain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wait-for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graph</a:t>
            </a:r>
          </a:p>
          <a:p>
            <a:pPr lvl="1"/>
            <a:r>
              <a:rPr lang="en-US" altLang="en-US" dirty="0"/>
              <a:t>Nodes are threads</a:t>
            </a:r>
          </a:p>
          <a:p>
            <a:pPr lvl="1"/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b="1" i="1" baseline="-25000" dirty="0">
                <a:sym typeface="Symbol" panose="05050102010706020507" pitchFamily="18" charset="2"/>
              </a:rPr>
              <a:t>   </a:t>
            </a: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is waiting for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i="1" dirty="0">
              <a:sym typeface="Symbol" panose="05050102010706020507" pitchFamily="18" charset="2"/>
            </a:endParaRPr>
          </a:p>
          <a:p>
            <a:r>
              <a:rPr lang="en-US" altLang="en-US" dirty="0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An algorithm to detect a cycle in a graph requires an order of</a:t>
            </a:r>
            <a:r>
              <a:rPr lang="en-US" altLang="en-US" i="1" dirty="0"/>
              <a:t> </a:t>
            </a:r>
            <a:r>
              <a:rPr lang="en-US" altLang="en-US" b="1" i="1" dirty="0"/>
              <a:t>n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</a:t>
            </a:r>
            <a:r>
              <a:rPr lang="en-US" altLang="en-US" dirty="0"/>
              <a:t>operations, where </a:t>
            </a:r>
            <a:r>
              <a:rPr lang="en-US" altLang="en-US" b="1" i="1" dirty="0"/>
              <a:t>n</a:t>
            </a:r>
            <a:r>
              <a:rPr lang="en-US" altLang="en-US" dirty="0"/>
              <a:t> is the number of vertices in the graph</a:t>
            </a:r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0484A614-EAE8-49DD-A55B-4F7E12A56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Resource-Allocation Graph and  Wait-for Graph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275BD5-AC3B-CAAD-7899-86C064085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6562" name="Text Box 5">
            <a:extLst>
              <a:ext uri="{FF2B5EF4-FFF2-40B4-BE49-F238E27FC236}">
                <a16:creationId xmlns:a16="http://schemas.microsoft.com/office/drawing/2014/main" id="{FD3E6C09-91AB-4252-8558-115F273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303" y="5246838"/>
            <a:ext cx="38843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Resource-Allocation Graph</a:t>
            </a:r>
          </a:p>
        </p:txBody>
      </p:sp>
      <p:sp>
        <p:nvSpPr>
          <p:cNvPr id="66563" name="Text Box 6">
            <a:extLst>
              <a:ext uri="{FF2B5EF4-FFF2-40B4-BE49-F238E27FC236}">
                <a16:creationId xmlns:a16="http://schemas.microsoft.com/office/drawing/2014/main" id="{4DB892FA-9656-4369-B039-CF364DF8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678" y="5246838"/>
            <a:ext cx="4176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Corresponding wait-for graph</a:t>
            </a:r>
          </a:p>
        </p:txBody>
      </p:sp>
      <p:pic>
        <p:nvPicPr>
          <p:cNvPr id="66564" name="Picture 1">
            <a:extLst>
              <a:ext uri="{FF2B5EF4-FFF2-40B4-BE49-F238E27FC236}">
                <a16:creationId xmlns:a16="http://schemas.microsoft.com/office/drawing/2014/main" id="{0B62FAF8-3075-42AC-BA0B-5BDEAC7D4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388" y="1252539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3ED25FA-FD51-4DC3-9667-49F48E298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408F457-CD45-48AA-8181-E44F8AA0A5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thread.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thread.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thread</a:t>
            </a:r>
            <a:r>
              <a:rPr lang="en-US" altLang="en-US" i="1" dirty="0"/>
              <a:t>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A086C2B-A5AE-4F5F-8E2A-37905099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Detection Algorithm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F25B4FD-55C6-400C-B972-1DEDC81853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/>
              <a:t>Work</a:t>
            </a:r>
            <a:r>
              <a:rPr lang="en-US" altLang="en-US" dirty="0"/>
              <a:t> and </a:t>
            </a:r>
            <a:r>
              <a:rPr lang="en-US" altLang="en-US" b="1" i="1" dirty="0"/>
              <a:t>Finish</a:t>
            </a:r>
            <a:r>
              <a:rPr lang="en-US" altLang="en-US" dirty="0"/>
              <a:t> be vectors of length </a:t>
            </a:r>
            <a:r>
              <a:rPr lang="en-US" altLang="en-US" b="1" i="1" dirty="0"/>
              <a:t>m</a:t>
            </a:r>
            <a:r>
              <a:rPr lang="en-US" altLang="en-US" dirty="0"/>
              <a:t> and </a:t>
            </a:r>
            <a:r>
              <a:rPr lang="en-US" altLang="en-US" b="1" i="1" dirty="0"/>
              <a:t>n</a:t>
            </a:r>
            <a:r>
              <a:rPr lang="en-US" altLang="en-US" dirty="0"/>
              <a:t>, respectively Initialize: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Available</a:t>
            </a:r>
            <a:endParaRPr lang="en-US" altLang="en-US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dirty="0"/>
              <a:t> For </a:t>
            </a:r>
            <a:r>
              <a:rPr lang="en-US" altLang="en-US" b="1" i="1" dirty="0"/>
              <a:t>i</a:t>
            </a:r>
            <a:r>
              <a:rPr lang="en-US" altLang="en-US" b="1" dirty="0"/>
              <a:t> = 1,2, …,</a:t>
            </a:r>
            <a:r>
              <a:rPr lang="en-US" altLang="en-US" b="1" i="1" dirty="0"/>
              <a:t> n</a:t>
            </a:r>
            <a:r>
              <a:rPr lang="en-US" altLang="en-US" dirty="0"/>
              <a:t>, if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 0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[i] </a:t>
            </a:r>
            <a:r>
              <a:rPr lang="en-US" altLang="en-US" b="1" i="1" dirty="0">
                <a:sym typeface="Symbol" panose="05050102010706020507" pitchFamily="18" charset="2"/>
              </a:rPr>
              <a:t>= false</a:t>
            </a:r>
            <a:r>
              <a:rPr lang="en-US" altLang="en-US" dirty="0">
                <a:sym typeface="Symbol" panose="05050102010706020507" pitchFamily="18" charset="2"/>
              </a:rPr>
              <a:t>; otherwise,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[i] = </a:t>
            </a:r>
            <a:r>
              <a:rPr lang="en-US" altLang="en-US" b="1" i="1" dirty="0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+mj-lt"/>
              <a:buAutoNum type="arabicPeriod"/>
            </a:pPr>
            <a:r>
              <a:rPr lang="en-US" altLang="en-US" dirty="0"/>
              <a:t>Find an index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dirty="0">
              <a:sym typeface="Symbol" panose="05050102010706020507" pitchFamily="18" charset="2"/>
            </a:endParaRPr>
          </a:p>
          <a:p>
            <a:pPr marL="850900" lvl="1" indent="-393700">
              <a:buNone/>
            </a:pPr>
            <a:r>
              <a:rPr lang="en-US" altLang="en-US" dirty="0">
                <a:sym typeface="Symbol" panose="05050102010706020507" pitchFamily="18" charset="2"/>
              </a:rPr>
              <a:t>If no such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C8DFB5C-1F8D-4190-83A2-9517D9381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Detection Algorithm (Cont.)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590227E-597D-4241-9B48-CEE17B87B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AutoNum type="arabicPeriod" startAt="3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dirty="0"/>
              <a:t>go to step 2</a:t>
            </a:r>
            <a:br>
              <a:rPr lang="en-US" altLang="en-US" dirty="0"/>
            </a:b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  <a:buAutoNum type="arabicPeriod" startAt="3"/>
            </a:pPr>
            <a:r>
              <a:rPr lang="en-US" altLang="en-US" dirty="0"/>
              <a:t>If </a:t>
            </a:r>
            <a:r>
              <a:rPr lang="en-US" altLang="en-US" b="1" i="1" dirty="0"/>
              <a:t>Finish[i] == false</a:t>
            </a:r>
            <a:r>
              <a:rPr lang="en-US" altLang="en-US" dirty="0"/>
              <a:t>, for some </a:t>
            </a:r>
            <a:r>
              <a:rPr lang="en-US" altLang="en-US" b="1" i="1" dirty="0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  </a:t>
            </a:r>
            <a:r>
              <a:rPr lang="en-US" altLang="en-US" b="1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, then the system is in   deadlock state. Moreover, if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] == </a:t>
            </a:r>
            <a:r>
              <a:rPr lang="en-US" altLang="en-US" b="1" i="1" dirty="0">
                <a:sym typeface="Symbol" panose="05050102010706020507" pitchFamily="18" charset="2"/>
              </a:rPr>
              <a:t>false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96085A5E-EEBE-4448-A0CB-F924E9CD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488" y="3662017"/>
            <a:ext cx="76946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b="1" baseline="3000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20245696-9CE8-4FC7-BC3D-C43A8603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of Detection Algorithm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CBEDF2A5-8F09-4357-9519-FCAE0F3F3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threads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A B C 	A B C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0 1 0             0 0 0 	0 0 0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	2 0 0 	  2 0 2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3 0 3             0 0 0 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3</a:t>
            </a:r>
            <a:r>
              <a:rPr lang="en-US" altLang="en-US" dirty="0"/>
              <a:t>		2 1 1 	   1 0 0 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T</a:t>
            </a:r>
            <a:r>
              <a:rPr lang="en-US" altLang="en-US" baseline="-25000" dirty="0"/>
              <a:t>4	</a:t>
            </a:r>
            <a:r>
              <a:rPr lang="en-US" altLang="en-US" dirty="0"/>
              <a:t>	0 0 2 	   0 0 2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T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Finish[i] = true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endParaRPr lang="en-US" altLang="en-US" b="1" dirty="0"/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A86E4C4-151E-4B29-AF3A-94D82C4FF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8FFF5E-8931-4A8B-8BF7-20846C289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thread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D4BC432-7638-454C-8A48-5A8BCB25F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Detection-Algorithm Usage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58D4C12-F6CC-4793-92BE-5D929F7ED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When, and how often, to invoke depends on:</a:t>
            </a:r>
          </a:p>
          <a:p>
            <a:pPr lvl="1" algn="just"/>
            <a:r>
              <a:rPr lang="en-US" altLang="en-US" dirty="0"/>
              <a:t>How often a deadlock is likely to occur?</a:t>
            </a:r>
          </a:p>
          <a:p>
            <a:pPr lvl="1" algn="just"/>
            <a:r>
              <a:rPr lang="en-US" altLang="en-US" dirty="0"/>
              <a:t>How many processes will need to be rolled back?</a:t>
            </a:r>
          </a:p>
          <a:p>
            <a:pPr lvl="2" algn="just"/>
            <a:r>
              <a:rPr lang="en-US" altLang="en-US" dirty="0"/>
              <a:t>one for each disjoint cycle</a:t>
            </a:r>
          </a:p>
          <a:p>
            <a:pPr lvl="2" algn="just"/>
            <a:endParaRPr lang="en-US" altLang="en-US" dirty="0"/>
          </a:p>
          <a:p>
            <a:pPr algn="just"/>
            <a:r>
              <a:rPr lang="en-US" altLang="en-US" dirty="0"/>
              <a:t>If detection algorithm is invoked arbitrarily, there may be many cycles in the resource graph and so we would not be able to tell which of the many deadlocked threads </a:t>
            </a:r>
            <a:r>
              <a:rPr lang="ja-JP" altLang="en-US" dirty="0"/>
              <a:t>“</a:t>
            </a:r>
            <a:r>
              <a:rPr lang="en-US" altLang="ja-JP" dirty="0"/>
              <a:t>caused</a:t>
            </a:r>
            <a:r>
              <a:rPr lang="ja-JP" altLang="en-US" dirty="0"/>
              <a:t>”</a:t>
            </a:r>
            <a:r>
              <a:rPr lang="en-US" altLang="ja-JP" dirty="0"/>
              <a:t> the deadlock.</a:t>
            </a: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AC46895-F09F-4AA8-B270-CB5567B1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Recovery from Deadlock:  Process Termination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38916639-ABF6-4FC4-8E81-7F4537AFC9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Abort all deadlocked threads</a:t>
            </a:r>
          </a:p>
          <a:p>
            <a:pPr algn="just"/>
            <a:r>
              <a:rPr lang="en-US" altLang="en-US" dirty="0"/>
              <a:t>Abort one process at a time until the deadlock cycle is eliminated</a:t>
            </a:r>
          </a:p>
          <a:p>
            <a:pPr algn="just"/>
            <a:r>
              <a:rPr lang="en-US" altLang="en-US" dirty="0"/>
              <a:t>In which order should we choose to abort?</a:t>
            </a:r>
          </a:p>
          <a:p>
            <a:pPr marL="800100" lvl="1" indent="-342900" algn="just">
              <a:buFont typeface="Arial" panose="020B0604020202020204" pitchFamily="34" charset="0"/>
              <a:buAutoNum type="arabicPeriod"/>
            </a:pPr>
            <a:r>
              <a:rPr lang="en-US" altLang="en-US" dirty="0"/>
              <a:t>Priority of the thread</a:t>
            </a:r>
          </a:p>
          <a:p>
            <a:pPr marL="800100" lvl="1" indent="-342900" algn="just">
              <a:buFont typeface="Arial" panose="020B0604020202020204" pitchFamily="34" charset="0"/>
              <a:buAutoNum type="arabicPeriod"/>
            </a:pPr>
            <a:r>
              <a:rPr lang="en-US" altLang="en-US" dirty="0"/>
              <a:t>How long has the thread computed, and how much longer to completion</a:t>
            </a:r>
          </a:p>
          <a:p>
            <a:pPr marL="800100" lvl="1" indent="-342900" algn="just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that the thread has used</a:t>
            </a:r>
          </a:p>
          <a:p>
            <a:pPr marL="800100" lvl="1" indent="-342900" algn="just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that the thread needs to complete</a:t>
            </a:r>
          </a:p>
          <a:p>
            <a:pPr marL="800100" lvl="1" indent="-342900" algn="just">
              <a:buFont typeface="Arial" panose="020B0604020202020204" pitchFamily="34" charset="0"/>
              <a:buAutoNum type="arabicPeriod"/>
            </a:pPr>
            <a:r>
              <a:rPr lang="en-US" altLang="en-US" dirty="0"/>
              <a:t>How many threads will need to be terminated</a:t>
            </a:r>
          </a:p>
          <a:p>
            <a:pPr marL="800100" lvl="1" indent="-342900" algn="just">
              <a:buFont typeface="Arial" panose="020B0604020202020204" pitchFamily="34" charset="0"/>
              <a:buAutoNum type="arabicPeriod"/>
            </a:pPr>
            <a:r>
              <a:rPr lang="en-US" altLang="en-US" dirty="0"/>
              <a:t>Is the thread interactive or batch?</a:t>
            </a:r>
          </a:p>
        </p:txBody>
      </p:sp>
    </p:spTree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019776DB-F4CF-4A0D-88E0-0C4A9C46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Recovery from Deadlock:  Resource Preemption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1EC2BE65-1915-4205-9A59-81178CB32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Selecting a victim </a:t>
            </a:r>
            <a:r>
              <a:rPr lang="en-US" altLang="en-US" dirty="0"/>
              <a:t>– minimize cost</a:t>
            </a:r>
          </a:p>
          <a:p>
            <a:r>
              <a:rPr lang="en-US" altLang="en-US" b="1" dirty="0"/>
              <a:t>Rollback</a:t>
            </a:r>
            <a:r>
              <a:rPr lang="en-US" altLang="en-US" dirty="0"/>
              <a:t> – return to some safe state, restart the thread for that state</a:t>
            </a:r>
          </a:p>
          <a:p>
            <a:r>
              <a:rPr lang="en-US" altLang="en-US" b="1" dirty="0"/>
              <a:t>Starvation</a:t>
            </a:r>
            <a:r>
              <a:rPr lang="en-US" altLang="en-US" dirty="0"/>
              <a:t> –  same thread may always be picked as victim, include number of rollback in cost factor</a:t>
            </a:r>
          </a:p>
        </p:txBody>
      </p:sp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3030AF7D-20DF-4721-ADDB-52BDFA1CE7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8E9540F8-C56E-444C-ACB3-A860CA9AFDC0}" vid="{4ACF5BCF-BEF1-4540-B07B-0840E8236B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SSN</Template>
  <TotalTime>2069</TotalTime>
  <Words>2842</Words>
  <Application>Microsoft Office PowerPoint</Application>
  <PresentationFormat>Widescreen</PresentationFormat>
  <Paragraphs>322</Paragraphs>
  <Slides>43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Arial</vt:lpstr>
      <vt:lpstr>Calibri</vt:lpstr>
      <vt:lpstr>Comic Sans MS</vt:lpstr>
      <vt:lpstr>Courier New</vt:lpstr>
      <vt:lpstr>Helvetica</vt:lpstr>
      <vt:lpstr>Monotype Sorts</vt:lpstr>
      <vt:lpstr>Symbol</vt:lpstr>
      <vt:lpstr>Tahoma</vt:lpstr>
      <vt:lpstr>Times New Roman</vt:lpstr>
      <vt:lpstr>Webdings</vt:lpstr>
      <vt:lpstr>SSN</vt:lpstr>
      <vt:lpstr>Chapter 8:  Deadlocks</vt:lpstr>
      <vt:lpstr>Outline</vt:lpstr>
      <vt:lpstr>Chapter Objectives</vt:lpstr>
      <vt:lpstr>System Model</vt:lpstr>
      <vt:lpstr>Deadlock with Semaphores</vt:lpstr>
      <vt:lpstr>Deadlock Characterization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Detection-Algorithm Usage</vt:lpstr>
      <vt:lpstr>Recovery from Deadlock:  Process Termination</vt:lpstr>
      <vt:lpstr>Recovery from Deadlock:  Resource Preemption</vt:lpstr>
      <vt:lpstr>End of Chapter 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MaFaR – Masked Face Recognition Research and Innovation</dc:title>
  <dc:creator>Sree Sharmila T</dc:creator>
  <cp:lastModifiedBy>Hrithika S</cp:lastModifiedBy>
  <cp:revision>115</cp:revision>
  <dcterms:created xsi:type="dcterms:W3CDTF">2021-08-20T04:14:01Z</dcterms:created>
  <dcterms:modified xsi:type="dcterms:W3CDTF">2025-07-06T11:31:15Z</dcterms:modified>
</cp:coreProperties>
</file>