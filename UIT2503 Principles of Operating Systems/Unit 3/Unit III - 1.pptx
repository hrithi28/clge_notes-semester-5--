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61"/>
  </p:notesMasterIdLst>
  <p:sldIdLst>
    <p:sldId id="428" r:id="rId2"/>
    <p:sldId id="429" r:id="rId3"/>
    <p:sldId id="430" r:id="rId4"/>
    <p:sldId id="420" r:id="rId5"/>
    <p:sldId id="431" r:id="rId6"/>
    <p:sldId id="432" r:id="rId7"/>
    <p:sldId id="433" r:id="rId8"/>
    <p:sldId id="480" r:id="rId9"/>
    <p:sldId id="446" r:id="rId10"/>
    <p:sldId id="453" r:id="rId11"/>
    <p:sldId id="459" r:id="rId12"/>
    <p:sldId id="460" r:id="rId13"/>
    <p:sldId id="458" r:id="rId14"/>
    <p:sldId id="457" r:id="rId15"/>
    <p:sldId id="481" r:id="rId16"/>
    <p:sldId id="482" r:id="rId17"/>
    <p:sldId id="447" r:id="rId18"/>
    <p:sldId id="483" r:id="rId19"/>
    <p:sldId id="456" r:id="rId20"/>
    <p:sldId id="462" r:id="rId21"/>
    <p:sldId id="463" r:id="rId22"/>
    <p:sldId id="464" r:id="rId23"/>
    <p:sldId id="343" r:id="rId24"/>
    <p:sldId id="484" r:id="rId25"/>
    <p:sldId id="448" r:id="rId26"/>
    <p:sldId id="346" r:id="rId27"/>
    <p:sldId id="449" r:id="rId28"/>
    <p:sldId id="485" r:id="rId29"/>
    <p:sldId id="349" r:id="rId30"/>
    <p:sldId id="434" r:id="rId31"/>
    <p:sldId id="435" r:id="rId32"/>
    <p:sldId id="450" r:id="rId33"/>
    <p:sldId id="486" r:id="rId34"/>
    <p:sldId id="487" r:id="rId35"/>
    <p:sldId id="451" r:id="rId36"/>
    <p:sldId id="472" r:id="rId37"/>
    <p:sldId id="488" r:id="rId38"/>
    <p:sldId id="355" r:id="rId39"/>
    <p:sldId id="452" r:id="rId40"/>
    <p:sldId id="489" r:id="rId41"/>
    <p:sldId id="418" r:id="rId42"/>
    <p:sldId id="490" r:id="rId43"/>
    <p:sldId id="370" r:id="rId44"/>
    <p:sldId id="476" r:id="rId45"/>
    <p:sldId id="491" r:id="rId46"/>
    <p:sldId id="372" r:id="rId47"/>
    <p:sldId id="492" r:id="rId48"/>
    <p:sldId id="493" r:id="rId49"/>
    <p:sldId id="494" r:id="rId50"/>
    <p:sldId id="495" r:id="rId51"/>
    <p:sldId id="496" r:id="rId52"/>
    <p:sldId id="497" r:id="rId53"/>
    <p:sldId id="479" r:id="rId54"/>
    <p:sldId id="498" r:id="rId55"/>
    <p:sldId id="475" r:id="rId56"/>
    <p:sldId id="438" r:id="rId57"/>
    <p:sldId id="437" r:id="rId58"/>
    <p:sldId id="439" r:id="rId59"/>
    <p:sldId id="404" r:id="rId60"/>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CC"/>
    <a:srgbClr val="FFFFCC"/>
    <a:srgbClr val="FF33CC"/>
    <a:srgbClr val="070CC9"/>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F54D33-E8EA-4265-8935-261D91E4D9B4}" type="datetimeFigureOut">
              <a:rPr lang="en-IN" smtClean="0"/>
              <a:t>05-10-2025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21B623-262D-4279-8EFF-46905E6DE0B9}" type="slidenum">
              <a:rPr lang="en-IN" smtClean="0"/>
              <a:t>‹#›</a:t>
            </a:fld>
            <a:endParaRPr lang="en-IN"/>
          </a:p>
        </p:txBody>
      </p:sp>
    </p:spTree>
    <p:extLst>
      <p:ext uri="{BB962C8B-B14F-4D97-AF65-F5344CB8AC3E}">
        <p14:creationId xmlns:p14="http://schemas.microsoft.com/office/powerpoint/2010/main" val="1650079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ban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5583235"/>
            <a:ext cx="12170833" cy="128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8"/>
          <p:cNvSpPr>
            <a:spLocks noChangeArrowheads="1"/>
          </p:cNvSpPr>
          <p:nvPr/>
        </p:nvSpPr>
        <p:spPr bwMode="auto">
          <a:xfrm>
            <a:off x="0" y="0"/>
            <a:ext cx="12192000" cy="1752600"/>
          </a:xfrm>
          <a:prstGeom prst="rect">
            <a:avLst/>
          </a:prstGeom>
          <a:solidFill>
            <a:srgbClr val="335295"/>
          </a:solidFill>
          <a:ln w="9525">
            <a:noFill/>
            <a:miter lim="800000"/>
            <a:headEnd/>
            <a:tailEnd/>
          </a:ln>
        </p:spPr>
        <p:txBody>
          <a:bodyPr wrap="none" anchor="ctr"/>
          <a:lstStyle/>
          <a:p>
            <a:pPr>
              <a:defRPr/>
            </a:pPr>
            <a:endParaRPr lang="en-US" sz="1800">
              <a:latin typeface="Arial" charset="0"/>
              <a:cs typeface="+mn-cs"/>
            </a:endParaRPr>
          </a:p>
        </p:txBody>
      </p:sp>
      <p:sp>
        <p:nvSpPr>
          <p:cNvPr id="5122" name="Rectangle 2"/>
          <p:cNvSpPr>
            <a:spLocks noGrp="1" noChangeArrowheads="1"/>
          </p:cNvSpPr>
          <p:nvPr>
            <p:ph type="ctrTitle"/>
          </p:nvPr>
        </p:nvSpPr>
        <p:spPr>
          <a:xfrm>
            <a:off x="914400" y="2286000"/>
            <a:ext cx="10363200" cy="1143000"/>
          </a:xfrm>
        </p:spPr>
        <p:txBody>
          <a:bodyPr/>
          <a:lstStyle>
            <a:lvl1pPr>
              <a:defRPr>
                <a:solidFill>
                  <a:srgbClr val="1B57B5"/>
                </a:solidFill>
                <a:latin typeface="Arial" panose="020B0604020202020204" pitchFamily="34" charset="0"/>
                <a:cs typeface="Arial" panose="020B0604020202020204" pitchFamily="34" charset="0"/>
              </a:defRPr>
            </a:lvl1pPr>
          </a:lstStyle>
          <a:p>
            <a:r>
              <a:rPr lang="en-US"/>
              <a:t>Click to edit Master title style</a:t>
            </a:r>
          </a:p>
        </p:txBody>
      </p:sp>
      <p:sp>
        <p:nvSpPr>
          <p:cNvPr id="5123" name="Rectangle 3"/>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latin typeface="Arial" panose="020B0604020202020204" pitchFamily="34" charset="0"/>
                <a:cs typeface="Arial" panose="020B0604020202020204" pitchFamily="34" charset="0"/>
              </a:defRPr>
            </a:lvl1pPr>
          </a:lstStyle>
          <a:p>
            <a:r>
              <a:rPr lang="en-US"/>
              <a:t>Click to edit Master subtitle style</a:t>
            </a:r>
          </a:p>
        </p:txBody>
      </p:sp>
    </p:spTree>
    <p:extLst>
      <p:ext uri="{BB962C8B-B14F-4D97-AF65-F5344CB8AC3E}">
        <p14:creationId xmlns:p14="http://schemas.microsoft.com/office/powerpoint/2010/main" val="565531122"/>
      </p:ext>
    </p:extLst>
  </p:cSld>
  <p:clrMapOvr>
    <a:masterClrMapping/>
  </p:clrMapOvr>
  <p:transition>
    <p:wipe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609600" y="1066800"/>
            <a:ext cx="109728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09600" y="274638"/>
            <a:ext cx="10972800" cy="792162"/>
          </a:xfrm>
        </p:spPr>
        <p:txBody>
          <a:bodyPr/>
          <a:lstStyle>
            <a:lvl1pPr>
              <a:defRPr sz="3200">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609600" y="1219203"/>
            <a:ext cx="10972800" cy="4906963"/>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97355123"/>
      </p:ext>
    </p:extLst>
  </p:cSld>
  <p:clrMapOvr>
    <a:overrideClrMapping bg1="lt1" tx1="dk1" bg2="lt2" tx2="dk2" accent1="accent1" accent2="accent2" accent3="accent3" accent4="accent4" accent5="accent5" accent6="accent6" hlink="hlink" folHlink="folHlink"/>
  </p:clrMapOvr>
  <p:transition>
    <p:wipe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264584" y="2960688"/>
            <a:ext cx="114808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z="2400"/>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z="2400"/>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z="2400"/>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8652933" y="6588126"/>
            <a:ext cx="3617384"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35984" y="6613526"/>
            <a:ext cx="2730235"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sz="2400"/>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725237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95159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5238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1" descr="band"/>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 y="5568727"/>
            <a:ext cx="12189884" cy="1289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2" name="Rectangle 3"/>
          <p:cNvSpPr>
            <a:spLocks noGrp="1" noChangeArrowheads="1"/>
          </p:cNvSpPr>
          <p:nvPr>
            <p:ph type="body" idx="1"/>
          </p:nvPr>
        </p:nvSpPr>
        <p:spPr bwMode="auto">
          <a:xfrm>
            <a:off x="609600" y="1447800"/>
            <a:ext cx="109728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Oval 4"/>
          <p:cNvSpPr>
            <a:spLocks noChangeArrowheads="1"/>
          </p:cNvSpPr>
          <p:nvPr/>
        </p:nvSpPr>
        <p:spPr bwMode="auto">
          <a:xfrm>
            <a:off x="11453038" y="6484230"/>
            <a:ext cx="719092" cy="304800"/>
          </a:xfrm>
          <a:prstGeom prst="ellipse">
            <a:avLst/>
          </a:prstGeom>
          <a:solidFill>
            <a:schemeClr val="bg1"/>
          </a:solidFill>
          <a:ln w="25400" algn="ctr">
            <a:solidFill>
              <a:schemeClr val="bg1"/>
            </a:solidFill>
            <a:round/>
            <a:headEnd/>
            <a:tailEnd/>
          </a:ln>
        </p:spPr>
        <p:txBody>
          <a:bodyPr lIns="0" tIns="0" rIns="0" bIns="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fld id="{68F38F93-EFB2-4D8E-B34E-D4180BE42A95}" type="slidenum">
              <a:rPr lang="en-US" altLang="en-US" sz="1600" b="1">
                <a:solidFill>
                  <a:schemeClr val="accent2"/>
                </a:solidFill>
                <a:latin typeface="Calibri" panose="020F0502020204030204" pitchFamily="34" charset="0"/>
              </a:rPr>
              <a:pPr algn="ctr"/>
              <a:t>‹#›</a:t>
            </a:fld>
            <a:endParaRPr lang="en-US" altLang="en-US" sz="1800" b="1" dirty="0">
              <a:solidFill>
                <a:schemeClr val="accent2"/>
              </a:solidFill>
              <a:latin typeface="Calibri" panose="020F0502020204030204" pitchFamily="34" charset="0"/>
            </a:endParaRPr>
          </a:p>
        </p:txBody>
      </p:sp>
    </p:spTree>
    <p:extLst>
      <p:ext uri="{BB962C8B-B14F-4D97-AF65-F5344CB8AC3E}">
        <p14:creationId xmlns:p14="http://schemas.microsoft.com/office/powerpoint/2010/main" val="337416695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Lst>
  <p:transition>
    <p:wipe dir="d"/>
  </p:transition>
  <p:txStyles>
    <p:titleStyle>
      <a:lvl1pPr algn="ctr" rtl="0" eaLnBrk="1" fontAlgn="base" hangingPunct="1">
        <a:spcBef>
          <a:spcPct val="0"/>
        </a:spcBef>
        <a:spcAft>
          <a:spcPct val="0"/>
        </a:spcAft>
        <a:defRPr sz="3200">
          <a:solidFill>
            <a:srgbClr val="1B57B5"/>
          </a:solidFill>
          <a:latin typeface="Arial" panose="020B0604020202020204" pitchFamily="34" charset="0"/>
          <a:ea typeface="+mj-ea"/>
          <a:cs typeface="Arial" panose="020B0604020202020204" pitchFamily="34" charset="0"/>
        </a:defRPr>
      </a:lvl1pPr>
      <a:lvl2pPr algn="ctr" rtl="0" eaLnBrk="1" fontAlgn="base" hangingPunct="1">
        <a:spcBef>
          <a:spcPct val="0"/>
        </a:spcBef>
        <a:spcAft>
          <a:spcPct val="0"/>
        </a:spcAft>
        <a:defRPr sz="3200">
          <a:solidFill>
            <a:srgbClr val="1B57B5"/>
          </a:solidFill>
          <a:latin typeface="Tahoma" pitchFamily="34" charset="0"/>
          <a:cs typeface="Tahoma" pitchFamily="34" charset="0"/>
        </a:defRPr>
      </a:lvl2pPr>
      <a:lvl3pPr algn="ctr" rtl="0" eaLnBrk="1" fontAlgn="base" hangingPunct="1">
        <a:spcBef>
          <a:spcPct val="0"/>
        </a:spcBef>
        <a:spcAft>
          <a:spcPct val="0"/>
        </a:spcAft>
        <a:defRPr sz="3200">
          <a:solidFill>
            <a:srgbClr val="1B57B5"/>
          </a:solidFill>
          <a:latin typeface="Tahoma" pitchFamily="34" charset="0"/>
          <a:cs typeface="Tahoma" pitchFamily="34" charset="0"/>
        </a:defRPr>
      </a:lvl3pPr>
      <a:lvl4pPr algn="ctr" rtl="0" eaLnBrk="1" fontAlgn="base" hangingPunct="1">
        <a:spcBef>
          <a:spcPct val="0"/>
        </a:spcBef>
        <a:spcAft>
          <a:spcPct val="0"/>
        </a:spcAft>
        <a:defRPr sz="3200">
          <a:solidFill>
            <a:srgbClr val="1B57B5"/>
          </a:solidFill>
          <a:latin typeface="Tahoma" pitchFamily="34" charset="0"/>
          <a:cs typeface="Tahoma" pitchFamily="34" charset="0"/>
        </a:defRPr>
      </a:lvl4pPr>
      <a:lvl5pPr algn="ctr" rtl="0" eaLnBrk="1" fontAlgn="base" hangingPunct="1">
        <a:spcBef>
          <a:spcPct val="0"/>
        </a:spcBef>
        <a:spcAft>
          <a:spcPct val="0"/>
        </a:spcAft>
        <a:defRPr sz="3200">
          <a:solidFill>
            <a:srgbClr val="1B57B5"/>
          </a:solidFill>
          <a:latin typeface="Tahoma" pitchFamily="34" charset="0"/>
          <a:cs typeface="Tahoma" pitchFamily="34" charset="0"/>
        </a:defRPr>
      </a:lvl5pPr>
      <a:lvl6pPr marL="457200" algn="ctr" rtl="0" eaLnBrk="1" fontAlgn="base" hangingPunct="1">
        <a:spcBef>
          <a:spcPct val="0"/>
        </a:spcBef>
        <a:spcAft>
          <a:spcPct val="0"/>
        </a:spcAft>
        <a:defRPr sz="4000">
          <a:solidFill>
            <a:schemeClr val="tx2"/>
          </a:solidFill>
          <a:latin typeface="Comic Sans MS" pitchFamily="66" charset="0"/>
        </a:defRPr>
      </a:lvl6pPr>
      <a:lvl7pPr marL="914400" algn="ctr" rtl="0" eaLnBrk="1" fontAlgn="base" hangingPunct="1">
        <a:spcBef>
          <a:spcPct val="0"/>
        </a:spcBef>
        <a:spcAft>
          <a:spcPct val="0"/>
        </a:spcAft>
        <a:defRPr sz="4000">
          <a:solidFill>
            <a:schemeClr val="tx2"/>
          </a:solidFill>
          <a:latin typeface="Comic Sans MS" pitchFamily="66" charset="0"/>
        </a:defRPr>
      </a:lvl7pPr>
      <a:lvl8pPr marL="1371600" algn="ctr" rtl="0" eaLnBrk="1" fontAlgn="base" hangingPunct="1">
        <a:spcBef>
          <a:spcPct val="0"/>
        </a:spcBef>
        <a:spcAft>
          <a:spcPct val="0"/>
        </a:spcAft>
        <a:defRPr sz="4000">
          <a:solidFill>
            <a:schemeClr val="tx2"/>
          </a:solidFill>
          <a:latin typeface="Comic Sans MS" pitchFamily="66" charset="0"/>
        </a:defRPr>
      </a:lvl8pPr>
      <a:lvl9pPr marL="1828800" algn="ctr" rtl="0" eaLnBrk="1" fontAlgn="base" hangingPunct="1">
        <a:spcBef>
          <a:spcPct val="0"/>
        </a:spcBef>
        <a:spcAft>
          <a:spcPct val="0"/>
        </a:spcAft>
        <a:defRPr sz="4000">
          <a:solidFill>
            <a:schemeClr val="tx2"/>
          </a:solidFill>
          <a:latin typeface="Comic Sans MS" pitchFamily="66" charset="0"/>
        </a:defRPr>
      </a:lvl9pPr>
    </p:titleStyle>
    <p:bodyStyle>
      <a:lvl1pPr marL="342900" indent="-342900" algn="l" rtl="0" eaLnBrk="1" fontAlgn="base" hangingPunct="1">
        <a:spcBef>
          <a:spcPct val="20000"/>
        </a:spcBef>
        <a:spcAft>
          <a:spcPct val="0"/>
        </a:spcAft>
        <a:buChar char="•"/>
        <a:defRPr sz="2800">
          <a:solidFill>
            <a:srgbClr val="0000FF"/>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rgbClr val="1B57B5"/>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2209800" y="808039"/>
            <a:ext cx="7772400" cy="2128837"/>
          </a:xfrm>
        </p:spPr>
        <p:txBody>
          <a:bodyPr/>
          <a:lstStyle/>
          <a:p>
            <a:pPr eaLnBrk="1" hangingPunct="1"/>
            <a:r>
              <a:rPr lang="en-US" altLang="en-US"/>
              <a:t>Chapter 6:  Synchronization Tools</a:t>
            </a:r>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3810000" y="5116513"/>
            <a:ext cx="4078288" cy="1200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p:txBody>
          <a:bodyPr/>
          <a:lstStyle/>
          <a:p>
            <a:pPr algn="just"/>
            <a:r>
              <a:rPr lang="en-US" altLang="en-US" dirty="0"/>
              <a:t>Describe the critical-section problem and illustrate a race condition</a:t>
            </a:r>
          </a:p>
          <a:p>
            <a:pPr algn="just"/>
            <a:r>
              <a:rPr lang="en-US" altLang="en-US" dirty="0"/>
              <a:t>Illustrate hardware solutions to the critical-section problem using memory barriers, compare-and-swap operations, and atomic variables</a:t>
            </a:r>
          </a:p>
          <a:p>
            <a:pPr algn="just"/>
            <a:r>
              <a:rPr lang="en-US" altLang="en-US" dirty="0"/>
              <a:t>Demonstrate how mutex locks, semaphores, monitors, and condition variables can be used to solve the critical section problem</a:t>
            </a:r>
          </a:p>
          <a:p>
            <a:pPr algn="just"/>
            <a:r>
              <a:rPr lang="en-US" altLang="en-US" dirty="0"/>
              <a:t>Evaluate tools that solve the critical-section problem in low-,  Moderate-, and high-contention scenarios</a:t>
            </a:r>
          </a:p>
        </p:txBody>
      </p:sp>
    </p:spTree>
  </p:cSld>
  <p:clrMapOvr>
    <a:masterClrMapping/>
  </p:clrMapOvr>
  <p:transition>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idx="1"/>
          </p:nvPr>
        </p:nvSpPr>
        <p:spPr/>
        <p:txBody>
          <a:bodyPr/>
          <a:lstStyle/>
          <a:p>
            <a:pPr algn="just"/>
            <a:r>
              <a:rPr lang="en-US" altLang="en-US" dirty="0"/>
              <a:t>Processes can execute concurrently</a:t>
            </a:r>
          </a:p>
          <a:p>
            <a:pPr lvl="1" algn="just"/>
            <a:r>
              <a:rPr lang="en-US" altLang="en-US" dirty="0"/>
              <a:t>May be interrupted at any time, partially completing execution</a:t>
            </a:r>
          </a:p>
          <a:p>
            <a:pPr algn="just"/>
            <a:r>
              <a:rPr lang="en-US" altLang="en-US" dirty="0"/>
              <a:t>Concurrent access to shared data may result in data inconsistency</a:t>
            </a:r>
          </a:p>
          <a:p>
            <a:pPr algn="just"/>
            <a:r>
              <a:rPr lang="en-US" altLang="en-US" dirty="0"/>
              <a:t>Maintaining data consistency requires mechanisms to ensure the orderly execution of cooperating processes</a:t>
            </a:r>
          </a:p>
          <a:p>
            <a:pPr algn="just"/>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68779" y="3194278"/>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p:txBody>
          <a:bodyPr/>
          <a:lstStyle/>
          <a:p>
            <a:pPr algn="just"/>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pPr algn="just"/>
            <a:r>
              <a:rPr lang="en-US" altLang="en-US" dirty="0"/>
              <a:t>Each process has </a:t>
            </a:r>
            <a:r>
              <a:rPr lang="en-US" altLang="en-US" b="1" dirty="0">
                <a:solidFill>
                  <a:srgbClr val="006699"/>
                </a:solidFill>
                <a:latin typeface="+mj-lt"/>
              </a:rPr>
              <a:t>critical section </a:t>
            </a:r>
            <a:r>
              <a:rPr lang="en-US" altLang="en-US" dirty="0"/>
              <a:t>segment of code</a:t>
            </a:r>
          </a:p>
          <a:p>
            <a:pPr lvl="1" algn="just"/>
            <a:r>
              <a:rPr lang="en-US" altLang="en-US" dirty="0"/>
              <a:t>Process may be changing common variables, updating table, writing file, etc.</a:t>
            </a:r>
          </a:p>
          <a:p>
            <a:pPr lvl="1" algn="just"/>
            <a:r>
              <a:rPr lang="en-US" altLang="en-US" dirty="0"/>
              <a:t>When one process in critical section, no other may be in its critical section</a:t>
            </a:r>
          </a:p>
          <a:p>
            <a:pPr algn="just"/>
            <a:r>
              <a:rPr lang="en-US" altLang="en-US" b="1" i="1" dirty="0"/>
              <a:t>Critical section problem </a:t>
            </a:r>
            <a:r>
              <a:rPr lang="en-US" altLang="en-US" dirty="0"/>
              <a:t>is to design protocol to solve this</a:t>
            </a:r>
          </a:p>
          <a:p>
            <a:pPr algn="just"/>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p>
          <a:p>
            <a:pPr algn="just"/>
            <a:endParaRPr lang="en-US" altLang="en-US" b="1" dirty="0">
              <a:solidFill>
                <a:srgbClr val="3366FF"/>
              </a:solidFill>
            </a:endParaRPr>
          </a:p>
          <a:p>
            <a:pPr algn="just">
              <a:buFont typeface="Monotype Sorts" pitchFamily="-84" charset="2"/>
              <a:buNone/>
            </a:pPr>
            <a:endParaRPr lang="en-US" altLang="en-US" b="1" dirty="0">
              <a:solidFill>
                <a:srgbClr val="006699"/>
              </a:solidFill>
              <a:latin typeface="+mj-lt"/>
            </a:endParaRPr>
          </a:p>
        </p:txBody>
      </p:sp>
    </p:spTree>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3503960" y="1943901"/>
            <a:ext cx="2592040" cy="2515352"/>
          </a:xfrm>
          <a:prstGeom prst="rect">
            <a:avLst/>
          </a:prstGeom>
        </p:spPr>
      </p:pic>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609600" y="1676399"/>
            <a:ext cx="10972800" cy="4906963"/>
          </a:xfrm>
        </p:spPr>
        <p:txBody>
          <a:bodyPr/>
          <a:lstStyle/>
          <a:p>
            <a:pPr algn="just">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algn="just">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algn="just">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lgn="just">
              <a:buSzPct val="125000"/>
            </a:pPr>
            <a:r>
              <a:rPr lang="en-US" altLang="en-US" dirty="0"/>
              <a:t>Assume that each process executes at a nonzero speed </a:t>
            </a:r>
          </a:p>
          <a:p>
            <a:pPr lvl="1" algn="just">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2497396" y="989486"/>
            <a:ext cx="7197208" cy="461665"/>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1061077" y="2916769"/>
            <a:ext cx="9270808" cy="461665"/>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1070409" y="3299324"/>
            <a:ext cx="9889567" cy="461665"/>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1070409" y="3709870"/>
            <a:ext cx="9656585" cy="461665"/>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one variable:</a:t>
            </a:r>
          </a:p>
          <a:p>
            <a:pPr lvl="1">
              <a:lnSpc>
                <a:spcPct val="90000"/>
              </a:lnSpc>
              <a:tabLst>
                <a:tab pos="739775" algn="l"/>
                <a:tab pos="1020763" algn="l"/>
                <a:tab pos="1257300" algn="l"/>
              </a:tabLst>
            </a:pPr>
            <a:r>
              <a:rPr lang="en-US" altLang="en-US"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p>
          <a:p>
            <a:pPr>
              <a:lnSpc>
                <a:spcPct val="90000"/>
              </a:lnSpc>
              <a:tabLst>
                <a:tab pos="739775" algn="l"/>
                <a:tab pos="1020763"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p>
        </p:txBody>
      </p:sp>
    </p:spTree>
    <p:extLst>
      <p:ext uri="{BB962C8B-B14F-4D97-AF65-F5344CB8AC3E}">
        <p14:creationId xmlns:p14="http://schemas.microsoft.com/office/powerpoint/2010/main" val="2362815966"/>
      </p:ext>
    </p:extLst>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3" name="Content Placeholder 2">
            <a:extLst>
              <a:ext uri="{FF2B5EF4-FFF2-40B4-BE49-F238E27FC236}">
                <a16:creationId xmlns:a16="http://schemas.microsoft.com/office/drawing/2014/main" id="{B1B4B7AE-E314-01B3-F382-EE0830771A5F}"/>
              </a:ext>
            </a:extLst>
          </p:cNvPr>
          <p:cNvSpPr>
            <a:spLocks noGrp="1"/>
          </p:cNvSpPr>
          <p:nvPr>
            <p:ph idx="1"/>
          </p:nvPr>
        </p:nvSpPr>
        <p:spPr/>
        <p:txBody>
          <a:bodyPr/>
          <a:lstStyle/>
          <a:p>
            <a:endParaRPr lang="en-IN"/>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3371850" y="1666876"/>
            <a:ext cx="602773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while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164661111"/>
      </p:ext>
    </p:extLst>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p:txBody>
          <a:bodyPr/>
          <a:lstStyle/>
          <a:p>
            <a:pPr algn="just"/>
            <a:r>
              <a:rPr lang="en-US" altLang="en-US" dirty="0">
                <a:solidFill>
                  <a:srgbClr val="000000"/>
                </a:solidFill>
              </a:rPr>
              <a:t>Mutual exclusion is preserved</a:t>
            </a:r>
          </a:p>
          <a:p>
            <a:pPr algn="just">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p>
          <a:p>
            <a:pPr algn="just">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lgn="just">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p>
          <a:p>
            <a:pPr algn="just"/>
            <a:r>
              <a:rPr lang="en-US" altLang="en-US" dirty="0">
                <a:solidFill>
                  <a:srgbClr val="000000"/>
                </a:solidFill>
              </a:rPr>
              <a:t>What about the Progress requirement?</a:t>
            </a:r>
          </a:p>
          <a:p>
            <a:pPr algn="just"/>
            <a:r>
              <a:rPr lang="en-US" altLang="en-US" dirty="0">
                <a:solidFill>
                  <a:srgbClr val="000000"/>
                </a:solidFill>
              </a:rPr>
              <a:t>What about the Bounded-waiting requirement?</a:t>
            </a:r>
            <a:endParaRPr lang="en-US" altLang="en-US" sz="1600" dirty="0">
              <a:solidFill>
                <a:srgbClr val="000000"/>
              </a:solidFill>
            </a:endParaRPr>
          </a:p>
          <a:p>
            <a:pPr algn="just">
              <a:lnSpc>
                <a:spcPct val="90000"/>
              </a:lnSpc>
            </a:pPr>
            <a:endParaRPr lang="en-US" altLang="en-US" dirty="0"/>
          </a:p>
        </p:txBody>
      </p:sp>
    </p:spTree>
    <p:extLst>
      <p:ext uri="{BB962C8B-B14F-4D97-AF65-F5344CB8AC3E}">
        <p14:creationId xmlns:p14="http://schemas.microsoft.com/office/powerpoint/2010/main" val="4035540508"/>
      </p:ext>
    </p:extLst>
  </p:cSld>
  <p:clrMapOvr>
    <a:masterClrMapping/>
  </p:clrMapOvr>
  <p:transition>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p:txBody>
          <a:bodyPr/>
          <a:lstStyle/>
          <a:p>
            <a:pPr algn="just">
              <a:lnSpc>
                <a:spcPct val="90000"/>
              </a:lnSpc>
              <a:tabLst>
                <a:tab pos="739775" algn="l"/>
                <a:tab pos="1020763" algn="l"/>
                <a:tab pos="1257300" algn="l"/>
              </a:tabLst>
            </a:pPr>
            <a:r>
              <a:rPr lang="en-US" altLang="en-US" dirty="0"/>
              <a:t>Two process solution</a:t>
            </a:r>
            <a:endParaRPr lang="en-US" altLang="en-US" sz="800" dirty="0"/>
          </a:p>
          <a:p>
            <a:pPr algn="just">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gn="just">
              <a:lnSpc>
                <a:spcPct val="90000"/>
              </a:lnSpc>
              <a:tabLst>
                <a:tab pos="739775" algn="l"/>
                <a:tab pos="1020763" algn="l"/>
                <a:tab pos="1257300" algn="l"/>
              </a:tabLst>
            </a:pPr>
            <a:r>
              <a:rPr lang="en-US" altLang="en-US" dirty="0">
                <a:solidFill>
                  <a:srgbClr val="000000"/>
                </a:solidFill>
              </a:rPr>
              <a:t>The two processes share two variables:</a:t>
            </a:r>
          </a:p>
          <a:p>
            <a:pPr lvl="1" algn="just">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gn="just">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gn="just">
              <a:lnSpc>
                <a:spcPct val="90000"/>
              </a:lnSpc>
              <a:tabLst>
                <a:tab pos="739775" algn="l"/>
                <a:tab pos="1020763" algn="l"/>
                <a:tab pos="1257300" algn="l"/>
              </a:tabLst>
            </a:pPr>
            <a:endParaRPr lang="en-US" altLang="en-US" sz="800" b="1" dirty="0">
              <a:solidFill>
                <a:srgbClr val="000000"/>
              </a:solidFill>
            </a:endParaRPr>
          </a:p>
          <a:p>
            <a:pPr algn="just">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gn="just">
              <a:lnSpc>
                <a:spcPct val="90000"/>
              </a:lnSpc>
              <a:tabLst>
                <a:tab pos="739775" algn="l"/>
                <a:tab pos="1020763"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p>
          <a:p>
            <a:pPr lvl="1" algn="just">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b="1" dirty="0">
                <a:solidFill>
                  <a:srgbClr val="000000"/>
                </a:solidFill>
                <a:latin typeface="Courier New" panose="02070309020205020404" pitchFamily="49" charset="0"/>
              </a:rPr>
              <a:t>P</a:t>
            </a:r>
            <a:r>
              <a:rPr lang="en-US" altLang="en-US" b="1" baseline="-25000" dirty="0">
                <a:solidFill>
                  <a:srgbClr val="000000"/>
                </a:solidFill>
                <a:latin typeface="Courier New" panose="02070309020205020404"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transition>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3" name="Content Placeholder 2">
            <a:extLst>
              <a:ext uri="{FF2B5EF4-FFF2-40B4-BE49-F238E27FC236}">
                <a16:creationId xmlns:a16="http://schemas.microsoft.com/office/drawing/2014/main" id="{9BC9F34E-51B6-2C80-910A-7C1C600923CC}"/>
              </a:ext>
            </a:extLst>
          </p:cNvPr>
          <p:cNvSpPr>
            <a:spLocks noGrp="1"/>
          </p:cNvSpPr>
          <p:nvPr>
            <p:ph idx="1"/>
          </p:nvPr>
        </p:nvSpPr>
        <p:spPr/>
        <p:txBody>
          <a:bodyPr/>
          <a:lstStyle/>
          <a:p>
            <a:endParaRPr lang="en-IN"/>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3371850" y="1344760"/>
            <a:ext cx="5467350"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4197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4197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transition>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p:txBody>
          <a:bodyPr/>
          <a:lstStyle/>
          <a:p>
            <a:pPr algn="just"/>
            <a:r>
              <a:rPr lang="en-US" altLang="en-US" dirty="0">
                <a:solidFill>
                  <a:srgbClr val="000000"/>
                </a:solidFill>
              </a:rPr>
              <a:t>Provable that the three  CS requirement are met:</a:t>
            </a:r>
          </a:p>
          <a:p>
            <a:pPr algn="just">
              <a:buFont typeface="Monotype Sorts" pitchFamily="-84" charset="2"/>
              <a:buNone/>
            </a:pPr>
            <a:r>
              <a:rPr lang="en-US" altLang="en-US" dirty="0">
                <a:solidFill>
                  <a:srgbClr val="000000"/>
                </a:solidFill>
              </a:rPr>
              <a:t>        1.   Mutual exclusion is preserved</a:t>
            </a:r>
          </a:p>
          <a:p>
            <a:pPr algn="just">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lgn="just">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lgn="just">
              <a:buFont typeface="Monotype Sorts" pitchFamily="-84" charset="2"/>
              <a:buNone/>
            </a:pPr>
            <a:r>
              <a:rPr lang="en-US" altLang="en-US" dirty="0">
                <a:solidFill>
                  <a:srgbClr val="000000"/>
                </a:solidFill>
              </a:rPr>
              <a:t>        2.   Progress requirement is satisfied</a:t>
            </a:r>
          </a:p>
          <a:p>
            <a:pPr algn="just">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gn="just">
              <a:lnSpc>
                <a:spcPct val="90000"/>
              </a:lnSpc>
            </a:pPr>
            <a:endParaRPr lang="en-US" altLang="en-US" dirty="0"/>
          </a:p>
        </p:txBody>
      </p:sp>
    </p:spTree>
  </p:cSld>
  <p:clrMapOvr>
    <a:masterClrMapping/>
  </p:clrMapOvr>
  <p:transition>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p:txBody>
          <a:bodyPr/>
          <a:lstStyle/>
          <a:p>
            <a:pPr algn="just"/>
            <a:r>
              <a:rPr lang="en-US" altLang="en-US" dirty="0"/>
              <a:t>Although useful for demonstrating an algorithm, Peterson’s Solution is not guaranteed to work on modern architectures.</a:t>
            </a:r>
          </a:p>
          <a:p>
            <a:pPr lvl="1" algn="just"/>
            <a:r>
              <a:rPr lang="en-US" altLang="en-US" dirty="0"/>
              <a:t>To improve performance, processors and/or compilers may reorder operations that have no dependencies</a:t>
            </a:r>
          </a:p>
          <a:p>
            <a:pPr algn="just"/>
            <a:r>
              <a:rPr lang="en-US" altLang="en-US" dirty="0"/>
              <a:t>Understanding why it will not work is useful for better understanding race conditions.</a:t>
            </a:r>
          </a:p>
          <a:p>
            <a:pPr algn="just"/>
            <a:r>
              <a:rPr lang="en-US" altLang="en-US" dirty="0"/>
              <a:t>For single-threaded this is ok as the result will always be the same.</a:t>
            </a:r>
          </a:p>
          <a:p>
            <a:pPr algn="just"/>
            <a:r>
              <a:rPr lang="en-US" altLang="en-US" dirty="0"/>
              <a:t>For multithreaded the reordering may produce inconsistent or unexpected results!</a:t>
            </a:r>
          </a:p>
        </p:txBody>
      </p:sp>
    </p:spTree>
  </p:cSld>
  <p:clrMapOvr>
    <a:masterClrMapping/>
  </p:clrMapOvr>
  <p:transition>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2618092" y="5525524"/>
            <a:ext cx="2733870" cy="461665"/>
          </a:xfrm>
          <a:prstGeom prst="rect">
            <a:avLst/>
          </a:prstGeom>
          <a:noFill/>
        </p:spPr>
        <p:txBody>
          <a:bodyPr wrap="square" rtlCol="0">
            <a:spAutoFit/>
          </a:bodyPr>
          <a:lstStyle/>
          <a:p>
            <a:r>
              <a:rPr lang="en-US" dirty="0">
                <a:latin typeface="+mn-lt"/>
              </a:rPr>
              <a:t>100</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pPr algn="just"/>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p>
          <a:p>
            <a:pPr marL="0" indent="0" algn="just">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p>
          <a:p>
            <a:pPr marL="0" indent="0" algn="just">
              <a:buNone/>
            </a:pPr>
            <a:r>
              <a:rPr lang="en-US" altLang="en-US" dirty="0">
                <a:latin typeface="Courier New" panose="02070309020205020404" pitchFamily="49" charset="0"/>
                <a:cs typeface="Courier New" panose="02070309020205020404" pitchFamily="49" charset="0"/>
              </a:rPr>
              <a:t>      x = 100;</a:t>
            </a:r>
          </a:p>
          <a:p>
            <a:pPr marL="0" indent="0" algn="just">
              <a:buNone/>
            </a:pPr>
            <a:endParaRPr lang="en-US" altLang="en-US" dirty="0">
              <a:latin typeface="Courier New" panose="02070309020205020404" pitchFamily="49" charset="0"/>
              <a:cs typeface="Courier New" panose="02070309020205020404" pitchFamily="49" charset="0"/>
            </a:endParaRPr>
          </a:p>
          <a:p>
            <a:pPr marL="0" indent="0" algn="just">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a:t>
            </a:r>
            <a:endParaRPr lang="en-US" altLang="en-US" dirty="0">
              <a:latin typeface="Courier New" panose="02070309020205020404" pitchFamily="49" charset="0"/>
              <a:cs typeface="Courier New" panose="02070309020205020404" pitchFamily="49" charset="0"/>
            </a:endParaRPr>
          </a:p>
          <a:p>
            <a:pPr algn="just"/>
            <a:r>
              <a:rPr lang="en-US" altLang="en-US" dirty="0"/>
              <a:t>If this occurs, the output may be 0!</a:t>
            </a:r>
          </a:p>
          <a:p>
            <a:pPr marL="0" indent="0" algn="just">
              <a:buNone/>
            </a:pPr>
            <a:br>
              <a:rPr lang="en-US" altLang="en-US" dirty="0"/>
            </a:br>
            <a:br>
              <a:rPr lang="en-US" altLang="en-US" dirty="0"/>
            </a:br>
            <a:br>
              <a:rPr lang="en-US" altLang="en-US" dirty="0"/>
            </a:br>
            <a:endParaRPr lang="en-US" altLang="en-US" dirty="0"/>
          </a:p>
        </p:txBody>
      </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pPr algn="just"/>
            <a:r>
              <a:rPr lang="en-US" altLang="en-US" dirty="0"/>
              <a:t>The effects of instruction reordering in Peterson’s Solution</a:t>
            </a:r>
          </a:p>
          <a:p>
            <a:pPr algn="just"/>
            <a:endParaRPr lang="en-US" altLang="en-US" dirty="0"/>
          </a:p>
          <a:p>
            <a:pPr algn="just"/>
            <a:endParaRPr lang="en-US" altLang="en-US" dirty="0"/>
          </a:p>
          <a:p>
            <a:pPr algn="just"/>
            <a:endParaRPr lang="en-US" altLang="en-US" dirty="0"/>
          </a:p>
          <a:p>
            <a:pPr algn="just"/>
            <a:endParaRPr lang="en-US" altLang="en-US" dirty="0"/>
          </a:p>
          <a:p>
            <a:pPr algn="just"/>
            <a:endParaRPr lang="en-US" altLang="en-US" dirty="0"/>
          </a:p>
          <a:p>
            <a:pPr algn="just"/>
            <a:r>
              <a:rPr lang="en-US" altLang="en-US" dirty="0"/>
              <a:t>This allows both processes to be in their critical section at the same time!</a:t>
            </a:r>
          </a:p>
          <a:p>
            <a:pPr algn="just"/>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p>
          <a:p>
            <a:pPr algn="just"/>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24621" y="1821443"/>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p:txBody>
          <a:bodyPr/>
          <a:lstStyle/>
          <a:p>
            <a:pPr algn="just"/>
            <a:r>
              <a:rPr lang="en-US" altLang="en-US" b="1" dirty="0"/>
              <a:t>Memory model </a:t>
            </a:r>
            <a:r>
              <a:rPr lang="en-US" altLang="en-US" dirty="0"/>
              <a:t>are the memory guarantees a computer architecture makes to application programs.</a:t>
            </a:r>
          </a:p>
          <a:p>
            <a:pPr algn="just"/>
            <a:r>
              <a:rPr lang="en-US" altLang="en-US" dirty="0"/>
              <a:t>Memory models may be either:</a:t>
            </a:r>
          </a:p>
          <a:p>
            <a:pPr lvl="1" algn="just"/>
            <a:r>
              <a:rPr lang="en-US" altLang="en-US" b="1" dirty="0"/>
              <a:t>Strongly ordered </a:t>
            </a:r>
            <a:r>
              <a:rPr lang="en-US" altLang="en-US" dirty="0"/>
              <a:t>– where a memory modification of one processor is immediately visible to all other processors.</a:t>
            </a:r>
          </a:p>
          <a:p>
            <a:pPr lvl="1" algn="just"/>
            <a:r>
              <a:rPr lang="en-US" altLang="en-US" b="1" dirty="0"/>
              <a:t>Weakly ordered  </a:t>
            </a:r>
            <a:r>
              <a:rPr lang="en-US" altLang="en-US" dirty="0"/>
              <a:t>– where a memory modification of one processor may not be immediately visible to all other processors.</a:t>
            </a:r>
          </a:p>
          <a:p>
            <a:pPr algn="just"/>
            <a:r>
              <a:rPr lang="en-US" altLang="en-US" dirty="0"/>
              <a:t>A </a:t>
            </a:r>
            <a:r>
              <a:rPr lang="en-US" altLang="en-US" b="1" dirty="0"/>
              <a:t>memory barrier </a:t>
            </a:r>
            <a:r>
              <a:rPr lang="en-US" altLang="en-US" dirty="0"/>
              <a:t>is an instruction that forces any change in memory to be propagated (made visible) to all other processors.</a:t>
            </a:r>
          </a:p>
          <a:p>
            <a:pPr algn="just"/>
            <a:br>
              <a:rPr lang="en-US" altLang="en-US" dirty="0"/>
            </a:br>
            <a:endParaRPr lang="en-US" altLang="en-US" dirty="0"/>
          </a:p>
        </p:txBody>
      </p:sp>
    </p:spTree>
    <p:extLst>
      <p:ext uri="{BB962C8B-B14F-4D97-AF65-F5344CB8AC3E}">
        <p14:creationId xmlns:p14="http://schemas.microsoft.com/office/powerpoint/2010/main" val="2482274028"/>
      </p:ext>
    </p:extLst>
  </p:cSld>
  <p:clrMapOvr>
    <a:masterClrMapping/>
  </p:clrMapOvr>
  <p:transition>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p:txBody>
          <a:bodyPr/>
          <a:lstStyle/>
          <a:p>
            <a:pPr algn="just"/>
            <a:r>
              <a:rPr lang="en-US" altLang="en-US" dirty="0"/>
              <a:t>When a memory barrier instruction is performed, the system ensures that all loads and stores are completed before any subsequent load or store operations are performed.</a:t>
            </a:r>
          </a:p>
          <a:p>
            <a:pPr algn="just"/>
            <a:r>
              <a:rPr lang="en-US" altLang="en-US" dirty="0"/>
              <a:t>Therefore, even if instructions were reordered, the memory barrier ensures that the store operations are completed in memory and visible to other processors before future load or store operations are performed.</a:t>
            </a:r>
          </a:p>
          <a:p>
            <a:pPr algn="just"/>
            <a:endParaRPr lang="en-US" altLang="en-US" dirty="0"/>
          </a:p>
        </p:txBody>
      </p:sp>
    </p:spTree>
    <p:extLst>
      <p:ext uri="{BB962C8B-B14F-4D97-AF65-F5344CB8AC3E}">
        <p14:creationId xmlns:p14="http://schemas.microsoft.com/office/powerpoint/2010/main" val="1006609211"/>
      </p:ext>
    </p:extLst>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609600" y="-187478"/>
            <a:ext cx="10972800" cy="7921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530942" y="737423"/>
            <a:ext cx="10972800" cy="4906963"/>
          </a:xfrm>
        </p:spPr>
        <p:txBody>
          <a:bodyPr/>
          <a:lstStyle/>
          <a:p>
            <a:r>
              <a:rPr lang="en-US" altLang="en-US" dirty="0"/>
              <a:t>Returning to the example of slides 6.17 - 6.18</a:t>
            </a:r>
          </a:p>
          <a:p>
            <a:r>
              <a:rPr lang="en-US" altLang="en-US" dirty="0"/>
              <a:t>We could add a memory barrier to the following instructions to ensure Thread 1 outputs 100:</a:t>
            </a:r>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p>
          <a:p>
            <a:pPr marL="0" indent="0">
              <a:buNone/>
            </a:pPr>
            <a:endParaRPr lang="en-US" altLang="en-US" dirty="0"/>
          </a:p>
        </p:txBody>
      </p:sp>
    </p:spTree>
    <p:extLst>
      <p:ext uri="{BB962C8B-B14F-4D97-AF65-F5344CB8AC3E}">
        <p14:creationId xmlns:p14="http://schemas.microsoft.com/office/powerpoint/2010/main" val="2104174687"/>
      </p:ext>
    </p:extLst>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p:txBody>
          <a:bodyPr/>
          <a:lstStyle/>
          <a:p>
            <a:pPr algn="just">
              <a:lnSpc>
                <a:spcPct val="90000"/>
              </a:lnSpc>
              <a:tabLst>
                <a:tab pos="739775" algn="l"/>
                <a:tab pos="1020763" algn="l"/>
                <a:tab pos="1257300" algn="l"/>
              </a:tabLst>
            </a:pPr>
            <a:r>
              <a:rPr lang="en-US" altLang="en-US" dirty="0"/>
              <a:t>Many systems provide hardware support for implementing the critical section code.</a:t>
            </a:r>
          </a:p>
          <a:p>
            <a:pPr algn="just">
              <a:lnSpc>
                <a:spcPct val="90000"/>
              </a:lnSpc>
              <a:tabLst>
                <a:tab pos="739775" algn="l"/>
                <a:tab pos="1020763" algn="l"/>
                <a:tab pos="1257300" algn="l"/>
              </a:tabLst>
            </a:pPr>
            <a:r>
              <a:rPr lang="en-US" altLang="en-US" dirty="0"/>
              <a:t>Uniprocessors – could disable interrupts</a:t>
            </a:r>
          </a:p>
          <a:p>
            <a:pPr lvl="1" algn="just">
              <a:lnSpc>
                <a:spcPct val="90000"/>
              </a:lnSpc>
              <a:tabLst>
                <a:tab pos="739775" algn="l"/>
                <a:tab pos="1020763" algn="l"/>
                <a:tab pos="1257300" algn="l"/>
              </a:tabLst>
            </a:pPr>
            <a:r>
              <a:rPr lang="en-US" altLang="en-US" dirty="0"/>
              <a:t>Currently running code would execute without preemption</a:t>
            </a:r>
          </a:p>
          <a:p>
            <a:pPr lvl="1" algn="just">
              <a:lnSpc>
                <a:spcPct val="90000"/>
              </a:lnSpc>
              <a:tabLst>
                <a:tab pos="739775" algn="l"/>
                <a:tab pos="1020763" algn="l"/>
                <a:tab pos="1257300" algn="l"/>
              </a:tabLst>
            </a:pPr>
            <a:r>
              <a:rPr lang="en-US" altLang="en-US" dirty="0"/>
              <a:t>Generally too inefficient on multiprocessor systems</a:t>
            </a:r>
          </a:p>
          <a:p>
            <a:pPr lvl="2" algn="just">
              <a:lnSpc>
                <a:spcPct val="90000"/>
              </a:lnSpc>
              <a:tabLst>
                <a:tab pos="739775" algn="l"/>
                <a:tab pos="1020763" algn="l"/>
                <a:tab pos="1257300" algn="l"/>
              </a:tabLst>
            </a:pPr>
            <a:r>
              <a:rPr lang="en-US" altLang="en-US" dirty="0"/>
              <a:t>Operating systems using this not broadly scalable</a:t>
            </a:r>
          </a:p>
          <a:p>
            <a:pPr algn="just">
              <a:lnSpc>
                <a:spcPct val="90000"/>
              </a:lnSpc>
              <a:tabLst>
                <a:tab pos="739775" algn="l"/>
                <a:tab pos="1020763" algn="l"/>
                <a:tab pos="1257300" algn="l"/>
              </a:tabLst>
            </a:pPr>
            <a:r>
              <a:rPr lang="en-US" altLang="en-US" dirty="0"/>
              <a:t>We will look at three forms of hardware support:</a:t>
            </a:r>
          </a:p>
          <a:p>
            <a:pPr marL="457200" indent="-457200" algn="just">
              <a:lnSpc>
                <a:spcPct val="90000"/>
              </a:lnSpc>
              <a:buAutoNum type="arabicPeriod"/>
              <a:tabLst>
                <a:tab pos="739775" algn="l"/>
                <a:tab pos="1020763" algn="l"/>
                <a:tab pos="1257300" algn="l"/>
              </a:tabLst>
            </a:pPr>
            <a:r>
              <a:rPr lang="en-US" altLang="en-US" dirty="0"/>
              <a:t>Hardware instructions</a:t>
            </a:r>
          </a:p>
          <a:p>
            <a:pPr marL="457200" indent="-457200" algn="just">
              <a:lnSpc>
                <a:spcPct val="90000"/>
              </a:lnSpc>
              <a:buAutoNum type="arabicPeriod"/>
              <a:tabLst>
                <a:tab pos="739775" algn="l"/>
                <a:tab pos="1020763" algn="l"/>
                <a:tab pos="1257300" algn="l"/>
              </a:tabLst>
            </a:pPr>
            <a:r>
              <a:rPr lang="en-US" altLang="en-US" dirty="0"/>
              <a:t>Atomic variables </a:t>
            </a:r>
          </a:p>
        </p:txBody>
      </p:sp>
    </p:spTree>
  </p:cSld>
  <p:clrMapOvr>
    <a:masterClrMapping/>
  </p:clrMapOvr>
  <p:transition>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p:txBody>
          <a:bodyPr/>
          <a:lstStyle/>
          <a:p>
            <a:pPr algn="just"/>
            <a:r>
              <a:rPr lang="en-US" altLang="en-US" dirty="0"/>
              <a:t>Special hardware instructions that allow us to either </a:t>
            </a:r>
            <a:r>
              <a:rPr lang="en-US" altLang="en-US" i="1" dirty="0"/>
              <a:t>test-and-modify</a:t>
            </a:r>
            <a:r>
              <a:rPr lang="en-US" altLang="en-US" dirty="0"/>
              <a:t> the content of a word, or to </a:t>
            </a:r>
            <a:r>
              <a:rPr lang="en-US" altLang="en-US" i="1" dirty="0"/>
              <a:t>swap</a:t>
            </a:r>
            <a:r>
              <a:rPr lang="en-US" altLang="en-US" dirty="0"/>
              <a:t> the contents of two words atomically (uninterruptedly.)</a:t>
            </a:r>
          </a:p>
          <a:p>
            <a:pPr lvl="1" algn="just"/>
            <a:r>
              <a:rPr lang="en-US" altLang="en-US" b="1" dirty="0"/>
              <a:t>Test-and-Set</a:t>
            </a:r>
            <a:r>
              <a:rPr lang="en-US" altLang="en-US" dirty="0"/>
              <a:t> instruction</a:t>
            </a:r>
          </a:p>
          <a:p>
            <a:pPr lvl="1" algn="just"/>
            <a:r>
              <a:rPr lang="en-US" altLang="en-US" b="1" dirty="0"/>
              <a:t>Compare-and-Swap</a:t>
            </a:r>
            <a:r>
              <a:rPr lang="en-US" altLang="en-US" dirty="0"/>
              <a:t> instruction</a:t>
            </a:r>
          </a:p>
        </p:txBody>
      </p:sp>
    </p:spTree>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p:txBody>
          <a:bodyPr/>
          <a:lstStyle/>
          <a:p>
            <a:r>
              <a:rPr lang="en-US" altLang="en-US" dirty="0"/>
              <a:t>Definition</a:t>
            </a:r>
          </a:p>
          <a:p>
            <a:pPr>
              <a:lnSpc>
                <a:spcPct val="90000"/>
              </a:lnSpc>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t>Returns the original value of passed parameter</a:t>
            </a:r>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transition>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p:txBody>
          <a:bodyPr/>
          <a:lstStyle/>
          <a:p>
            <a:pPr>
              <a:lnSpc>
                <a:spcPct val="90000"/>
              </a:lnSpc>
              <a:tabLst>
                <a:tab pos="741363" algn="l"/>
                <a:tab pos="1022350" algn="l"/>
                <a:tab pos="1258888"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dirty="0"/>
              <a:t>Does it solve the critical-section problem?</a:t>
            </a:r>
          </a:p>
          <a:p>
            <a:pPr>
              <a:lnSpc>
                <a:spcPct val="90000"/>
              </a:lnSpc>
              <a:buNone/>
              <a:tabLst>
                <a:tab pos="741363" algn="l"/>
                <a:tab pos="1022350" algn="l"/>
                <a:tab pos="1258888" algn="l"/>
              </a:tabLst>
            </a:pPr>
            <a:endParaRPr lang="en-US" altLang="en-US" dirty="0"/>
          </a:p>
          <a:p>
            <a:pPr>
              <a:lnSpc>
                <a:spcPct val="90000"/>
              </a:lnSpc>
              <a:buNone/>
              <a:tabLst>
                <a:tab pos="741363" algn="l"/>
                <a:tab pos="1022350" algn="l"/>
                <a:tab pos="1258888" algn="l"/>
              </a:tabLst>
            </a:pPr>
            <a:r>
              <a:rPr lang="en-US" altLang="en-US" dirty="0"/>
              <a:t>               </a:t>
            </a:r>
          </a:p>
        </p:txBody>
      </p:sp>
    </p:spTree>
  </p:cSld>
  <p:clrMapOvr>
    <a:masterClrMapping/>
  </p:clrMapOvr>
  <p:transition>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p:txBody>
          <a:bodyPr/>
          <a:lstStyle/>
          <a:p>
            <a:r>
              <a:rPr lang="en-US" altLang="en-US" dirty="0"/>
              <a:t>The </a:t>
            </a:r>
            <a:r>
              <a:rPr lang="en-US" altLang="en-US" dirty="0" err="1"/>
              <a:t>compare_and_swap</a:t>
            </a:r>
            <a:r>
              <a:rPr lang="en-US" altLang="en-US" dirty="0"/>
              <a: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p:txBody>
          <a:bodyPr/>
          <a:lstStyle/>
          <a:p>
            <a:r>
              <a:rPr lang="en-US" altLang="en-US" dirty="0"/>
              <a:t>Definition</a:t>
            </a:r>
          </a:p>
          <a:p>
            <a:pPr>
              <a:buNone/>
              <a:tabLst>
                <a:tab pos="741363" algn="l"/>
                <a:tab pos="1022350" algn="l"/>
                <a:tab pos="1258888"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p>
          <a:p>
            <a:pPr>
              <a:buNone/>
              <a:tabLst>
                <a:tab pos="741363" algn="l"/>
                <a:tab pos="1022350" algn="l"/>
                <a:tab pos="1258888" algn="l"/>
              </a:tabLst>
            </a:pPr>
            <a:r>
              <a:rPr lang="en-US" altLang="en-US" sz="1400" b="1" dirty="0">
                <a:latin typeface="Courier New" panose="02070309020205020404" pitchFamily="49" charset="0"/>
              </a:rPr>
              <a:t>      {                  </a:t>
            </a:r>
          </a:p>
          <a:p>
            <a:pPr>
              <a:buNone/>
              <a:tabLst>
                <a:tab pos="741363" algn="l"/>
                <a:tab pos="1022350" algn="l"/>
                <a:tab pos="1258888"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p>
          <a:p>
            <a:pPr>
              <a:buNone/>
              <a:tabLst>
                <a:tab pos="741363" algn="l"/>
                <a:tab pos="1022350" algn="l"/>
                <a:tab pos="1258888" algn="l"/>
              </a:tabLst>
            </a:pPr>
            <a:r>
              <a:rPr lang="en-US" altLang="en-US" sz="1400" b="1" dirty="0">
                <a:latin typeface="Courier New" panose="02070309020205020404" pitchFamily="49" charset="0"/>
              </a:rPr>
              <a:t>        if (*value == expected) </a:t>
            </a:r>
          </a:p>
          <a:p>
            <a:pPr>
              <a:buNone/>
              <a:tabLst>
                <a:tab pos="741363" algn="l"/>
                <a:tab pos="1022350" algn="l"/>
                <a:tab pos="1258888"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p>
          <a:p>
            <a:pPr>
              <a:buNone/>
              <a:tabLst>
                <a:tab pos="741363" algn="l"/>
                <a:tab pos="1022350" algn="l"/>
                <a:tab pos="1258888" algn="l"/>
              </a:tabLst>
            </a:pPr>
            <a:r>
              <a:rPr lang="en-US" altLang="en-US" sz="1400" b="1" dirty="0">
                <a:latin typeface="Courier New" panose="02070309020205020404" pitchFamily="49" charset="0"/>
              </a:rPr>
              <a:t>         return temp; </a:t>
            </a:r>
          </a:p>
          <a:p>
            <a:pPr>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dirty="0"/>
              <a:t>Properties</a:t>
            </a:r>
          </a:p>
          <a:p>
            <a:pPr lvl="1"/>
            <a:r>
              <a:rPr lang="en-US" altLang="en-US" dirty="0"/>
              <a:t>Executed atomically</a:t>
            </a:r>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transition>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p>
          <a:p>
            <a:pPr>
              <a:lnSpc>
                <a:spcPct val="90000"/>
              </a:lnSpc>
              <a:tabLst>
                <a:tab pos="741363" algn="l"/>
                <a:tab pos="1022350" algn="l"/>
                <a:tab pos="1258888" algn="l"/>
              </a:tabLst>
            </a:pPr>
            <a:r>
              <a:rPr lang="en-US" altLang="en-US" dirty="0"/>
              <a:t>Solution:</a:t>
            </a:r>
          </a:p>
          <a:p>
            <a:pPr>
              <a:buNone/>
              <a:tabLst>
                <a:tab pos="741363" algn="l"/>
                <a:tab pos="1022350" algn="l"/>
                <a:tab pos="1258888"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p>
          <a:p>
            <a:pPr>
              <a:buNone/>
              <a:tabLst>
                <a:tab pos="741363" algn="l"/>
                <a:tab pos="1022350" algn="l"/>
                <a:tab pos="1258888"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None/>
              <a:tabLst>
                <a:tab pos="741363" algn="l"/>
                <a:tab pos="1022350" algn="l"/>
                <a:tab pos="1258888"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None/>
              <a:tabLst>
                <a:tab pos="741363" algn="l"/>
                <a:tab pos="1022350" algn="l"/>
                <a:tab pos="1258888"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None/>
              <a:tabLst>
                <a:tab pos="741363" algn="l"/>
                <a:tab pos="1022350" algn="l"/>
                <a:tab pos="1258888" algn="l"/>
              </a:tabLst>
            </a:pPr>
            <a:r>
              <a:rPr lang="en-US" altLang="en-US" sz="1600" b="1" dirty="0">
                <a:latin typeface="Courier New" panose="02070309020205020404" pitchFamily="49" charset="0"/>
              </a:rPr>
              <a:t>          /* remainder section */ </a:t>
            </a:r>
          </a:p>
          <a:p>
            <a:pPr>
              <a:buNone/>
              <a:tabLst>
                <a:tab pos="741363" algn="l"/>
                <a:tab pos="1022350" algn="l"/>
                <a:tab pos="1258888" algn="l"/>
              </a:tabLst>
            </a:pPr>
            <a:r>
              <a:rPr lang="en-US" altLang="en-US" sz="1600" b="1" dirty="0">
                <a:latin typeface="Courier New" panose="02070309020205020404" pitchFamily="49" charset="0"/>
              </a:rPr>
              <a:t>      } </a:t>
            </a:r>
          </a:p>
          <a:p>
            <a:pPr>
              <a:buNone/>
              <a:tabLst>
                <a:tab pos="741363" algn="l"/>
                <a:tab pos="1022350" algn="l"/>
                <a:tab pos="1258888" algn="l"/>
              </a:tabLst>
            </a:pPr>
            <a:endParaRPr lang="en-US" altLang="en-US" sz="1600" b="1" dirty="0">
              <a:latin typeface="Courier New" panose="02070309020205020404" pitchFamily="49"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None/>
              <a:tabLst>
                <a:tab pos="741363" algn="l"/>
                <a:tab pos="1022350" algn="l"/>
                <a:tab pos="1258888" algn="l"/>
              </a:tabLst>
            </a:pPr>
            <a:r>
              <a:rPr lang="en-US" altLang="en-US" sz="1600" dirty="0"/>
              <a:t>               </a:t>
            </a:r>
          </a:p>
        </p:txBody>
      </p:sp>
    </p:spTree>
  </p:cSld>
  <p:clrMapOvr>
    <a:masterClrMapping/>
  </p:clrMapOvr>
  <p:transition>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p:txBody>
          <a:bodyPr/>
          <a:lstStyle/>
          <a:p>
            <a:pPr marL="0" indent="0">
              <a:buNone/>
            </a:pPr>
            <a:r>
              <a:rPr lang="en-US" altLang="en-US" sz="1400" b="1" dirty="0">
                <a:latin typeface="Courier New" panose="02070309020205020404" pitchFamily="49" charset="0"/>
              </a:rPr>
              <a:t>while (true) {</a:t>
            </a:r>
            <a:br>
              <a:rPr lang="en-US" altLang="en-US" sz="1400" b="1" dirty="0">
                <a:latin typeface="Courier New" panose="02070309020205020404" pitchFamily="49" charset="0"/>
              </a:rPr>
            </a:b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true;</a:t>
            </a:r>
            <a:br>
              <a:rPr lang="en-US" altLang="en-US" sz="1400" b="1" dirty="0">
                <a:latin typeface="Courier New" panose="02070309020205020404" pitchFamily="49" charset="0"/>
              </a:rPr>
            </a:br>
            <a:r>
              <a:rPr lang="en-US" altLang="en-US" sz="1400" b="1" dirty="0">
                <a:latin typeface="Courier New" panose="02070309020205020404" pitchFamily="49" charset="0"/>
              </a:rPr>
              <a:t>   key = 1;</a:t>
            </a:r>
            <a:br>
              <a:rPr lang="en-US" altLang="en-US" sz="1400" b="1" dirty="0">
                <a:latin typeface="Courier New" panose="02070309020205020404" pitchFamily="49" charset="0"/>
              </a:rPr>
            </a:br>
            <a:r>
              <a:rPr lang="en-US" altLang="en-US" sz="1400" b="1" dirty="0">
                <a:latin typeface="Courier New" panose="02070309020205020404" pitchFamily="49" charset="0"/>
              </a:rPr>
              <a:t>   while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key == 1) </a:t>
            </a:r>
          </a:p>
          <a:p>
            <a:pPr marL="0" indent="0">
              <a:buNone/>
            </a:pPr>
            <a:r>
              <a:rPr lang="en-US" altLang="en-US" sz="1400" b="1" dirty="0">
                <a:latin typeface="Courier New" panose="02070309020205020404" pitchFamily="49" charset="0"/>
              </a:rPr>
              <a:t>      key =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(&amp;lock,0,1); </a:t>
            </a:r>
          </a:p>
          <a:p>
            <a:pPr marL="0" indent="0">
              <a:buNone/>
            </a:pP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false; </a:t>
            </a:r>
          </a:p>
          <a:p>
            <a:pPr marL="0" indent="0">
              <a:buNone/>
            </a:pPr>
            <a:r>
              <a:rPr lang="en-US" altLang="en-US" sz="1400" b="1" dirty="0">
                <a:latin typeface="Courier New" panose="02070309020205020404" pitchFamily="49" charset="0"/>
              </a:rPr>
              <a:t>   /* critical section */ </a:t>
            </a:r>
          </a:p>
          <a:p>
            <a:pPr marL="0" indent="0">
              <a:buNone/>
            </a:pPr>
            <a:r>
              <a:rPr lang="en-US" altLang="en-US" sz="1400" b="1" dirty="0">
                <a:latin typeface="Courier New" panose="02070309020205020404" pitchFamily="49" charset="0"/>
              </a:rPr>
              <a:t>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+ 1) % n; </a:t>
            </a:r>
          </a:p>
          <a:p>
            <a:pPr marL="0" indent="0">
              <a:buNone/>
            </a:pPr>
            <a:r>
              <a:rPr lang="en-US" altLang="en-US" sz="1400" b="1" dirty="0">
                <a:latin typeface="Courier New" panose="02070309020205020404" pitchFamily="49" charset="0"/>
              </a:rPr>
              <a:t>   while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!waiting[j]) </a:t>
            </a:r>
          </a:p>
          <a:p>
            <a:pPr marL="0" indent="0">
              <a:buNone/>
            </a:pPr>
            <a:r>
              <a:rPr lang="en-US" altLang="en-US" sz="1400" b="1" dirty="0">
                <a:latin typeface="Courier New" panose="02070309020205020404" pitchFamily="49" charset="0"/>
              </a:rPr>
              <a:t>      j = (j + 1) % n; </a:t>
            </a:r>
          </a:p>
          <a:p>
            <a:pPr marL="0" indent="0">
              <a:buNone/>
            </a:pPr>
            <a:r>
              <a:rPr lang="en-US" altLang="en-US" sz="1400" b="1" dirty="0">
                <a:latin typeface="Courier New" panose="02070309020205020404" pitchFamily="49" charset="0"/>
              </a:rPr>
              <a:t>   if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p>
          <a:p>
            <a:pPr marL="0" indent="0">
              <a:buNone/>
            </a:pPr>
            <a:r>
              <a:rPr lang="en-US" altLang="en-US" sz="1400" b="1" dirty="0">
                <a:latin typeface="Courier New" panose="02070309020205020404" pitchFamily="49" charset="0"/>
              </a:rPr>
              <a:t>      lock = 0; </a:t>
            </a:r>
          </a:p>
          <a:p>
            <a:pPr marL="0" indent="0">
              <a:buNone/>
            </a:pPr>
            <a:r>
              <a:rPr lang="en-US" altLang="en-US" sz="1400" b="1" dirty="0">
                <a:latin typeface="Courier New" panose="02070309020205020404" pitchFamily="49" charset="0"/>
              </a:rPr>
              <a:t>   else </a:t>
            </a:r>
          </a:p>
          <a:p>
            <a:pPr marL="0" indent="0">
              <a:buNone/>
            </a:pPr>
            <a:r>
              <a:rPr lang="en-US" altLang="en-US" sz="1400" b="1" dirty="0">
                <a:latin typeface="Courier New" panose="02070309020205020404" pitchFamily="49" charset="0"/>
              </a:rPr>
              <a:t>      waiting[j] = false; </a:t>
            </a:r>
          </a:p>
          <a:p>
            <a:pPr marL="0" indent="0">
              <a:buNone/>
            </a:pPr>
            <a:r>
              <a:rPr lang="en-US" altLang="en-US" sz="1400" b="1" dirty="0">
                <a:latin typeface="Courier New" panose="02070309020205020404" pitchFamily="49" charset="0"/>
              </a:rPr>
              <a:t>   /* remainder section */ </a:t>
            </a:r>
          </a:p>
          <a:p>
            <a:pPr marL="0" indent="0">
              <a:buNone/>
            </a:pPr>
            <a:r>
              <a:rPr lang="en-US" altLang="en-US" sz="1400" b="1" dirty="0">
                <a:latin typeface="Courier New" panose="02070309020205020404" pitchFamily="49" charset="0"/>
              </a:rPr>
              <a:t>}</a:t>
            </a:r>
          </a:p>
        </p:txBody>
      </p:sp>
    </p:spTree>
  </p:cSld>
  <p:clrMapOvr>
    <a:masterClrMapping/>
  </p:clrMapOvr>
  <p:transition>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p:txBody>
          <a:bodyPr/>
          <a:lstStyle/>
          <a:p>
            <a:pPr algn="just"/>
            <a:r>
              <a:rPr lang="en-US" altLang="en-US" dirty="0"/>
              <a:t>Typically, instructions such as compare-and-swap are used as building blocks for other synchronization tools.</a:t>
            </a:r>
          </a:p>
          <a:p>
            <a:pPr algn="just"/>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p>
          <a:p>
            <a:pPr algn="just"/>
            <a:r>
              <a:rPr lang="en-US" altLang="en-US" dirty="0"/>
              <a:t>For example:</a:t>
            </a:r>
          </a:p>
          <a:p>
            <a:pPr lvl="1" algn="just"/>
            <a:r>
              <a:rPr lang="en-US" altLang="en-US" dirty="0"/>
              <a:t>Let </a:t>
            </a:r>
            <a:r>
              <a:rPr lang="en-US" altLang="en-US" b="1" dirty="0">
                <a:latin typeface="Courier New" panose="02070309020205020404" pitchFamily="49" charset="0"/>
                <a:cs typeface="Courier New" panose="02070309020205020404" pitchFamily="49" charset="0"/>
              </a:rPr>
              <a:t>sequence </a:t>
            </a:r>
            <a:r>
              <a:rPr lang="en-US" altLang="en-US" dirty="0"/>
              <a:t>be an atomic variable </a:t>
            </a:r>
          </a:p>
          <a:p>
            <a:pPr lvl="1" algn="just"/>
            <a:r>
              <a:rPr lang="en-US" altLang="en-US" dirty="0"/>
              <a:t>Let  </a:t>
            </a:r>
            <a:r>
              <a:rPr lang="en-US" altLang="en-US"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b="1" dirty="0">
                <a:latin typeface="Courier New" panose="02070309020205020404" pitchFamily="49" charset="0"/>
                <a:cs typeface="Courier New" panose="02070309020205020404" pitchFamily="49" charset="0"/>
              </a:rPr>
              <a:t>sequence</a:t>
            </a:r>
            <a:r>
              <a:rPr lang="en-US" altLang="en-US" dirty="0"/>
              <a:t> </a:t>
            </a:r>
          </a:p>
          <a:p>
            <a:pPr lvl="1" algn="just"/>
            <a:r>
              <a:rPr lang="en-US" altLang="en-US" dirty="0"/>
              <a:t>The Command:</a:t>
            </a:r>
          </a:p>
          <a:p>
            <a:pPr marL="457200" lvl="1" indent="0" algn="just">
              <a:buNone/>
            </a:pPr>
            <a:r>
              <a:rPr lang="en-US" altLang="en-US" b="1" dirty="0">
                <a:latin typeface="Courier New" panose="02070309020205020404" pitchFamily="49" charset="0"/>
                <a:cs typeface="Courier New" panose="02070309020205020404" pitchFamily="49" charset="0"/>
              </a:rPr>
              <a:t>     increment(&amp;sequence);</a:t>
            </a:r>
            <a:r>
              <a:rPr lang="en-US" altLang="en-US" dirty="0"/>
              <a:t> </a:t>
            </a:r>
          </a:p>
          <a:p>
            <a:pPr marL="457200" lvl="1" indent="0" algn="just">
              <a:buNone/>
            </a:pPr>
            <a:r>
              <a:rPr lang="en-US" altLang="en-US" dirty="0"/>
              <a:t>      ensures </a:t>
            </a:r>
            <a:r>
              <a:rPr lang="en-US" altLang="en-US" b="1" dirty="0">
                <a:latin typeface="Courier New" panose="02070309020205020404" pitchFamily="49" charset="0"/>
                <a:cs typeface="Courier New" panose="02070309020205020404" pitchFamily="49" charset="0"/>
              </a:rPr>
              <a:t>sequence</a:t>
            </a:r>
            <a:r>
              <a:rPr lang="en-US" altLang="en-US" dirty="0"/>
              <a:t> is incremented without interruption:</a:t>
            </a:r>
          </a:p>
          <a:p>
            <a:pPr marL="457200" lvl="1" indent="0" algn="just">
              <a:buNone/>
            </a:pPr>
            <a:br>
              <a:rPr lang="en-US" altLang="en-US" dirty="0"/>
            </a:br>
            <a:br>
              <a:rPr lang="en-US" altLang="en-US" dirty="0"/>
            </a:br>
            <a:endParaRPr lang="en-US" altLang="en-US" dirty="0"/>
          </a:p>
        </p:txBody>
      </p:sp>
    </p:spTree>
  </p:cSld>
  <p:clrMapOvr>
    <a:masterClrMapping/>
  </p:clrMapOvr>
  <p:transition>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latin typeface="Courier New" panose="02070309020205020404" pitchFamily="49" charset="0"/>
                <a:cs typeface="Courier New" panose="02070309020205020404" pitchFamily="49" charset="0"/>
              </a:rPr>
              <a:t>void increment(</a:t>
            </a:r>
            <a:r>
              <a:rPr lang="en-US" altLang="en-US" b="1" dirty="0" err="1">
                <a:latin typeface="Courier New" panose="02070309020205020404" pitchFamily="49" charset="0"/>
                <a:cs typeface="Courier New" panose="02070309020205020404" pitchFamily="49" charset="0"/>
              </a:rPr>
              <a:t>atomic_int</a:t>
            </a:r>
            <a:r>
              <a:rPr lang="en-US" altLang="en-US" b="1" dirty="0">
                <a:latin typeface="Courier New" panose="02070309020205020404" pitchFamily="49" charset="0"/>
                <a:cs typeface="Courier New" panose="02070309020205020404" pitchFamily="49" charset="0"/>
              </a:rPr>
              <a:t>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int temp;</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temp =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(temp !=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(v,temp,temp+1));</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transition>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p:txBody>
          <a:bodyPr/>
          <a:lstStyle/>
          <a:p>
            <a:pPr algn="just">
              <a:lnSpc>
                <a:spcPct val="90000"/>
              </a:lnSpc>
            </a:pPr>
            <a:r>
              <a:rPr lang="en-US" altLang="en-US" dirty="0"/>
              <a:t>Previous solutions are complicated and generally inaccessible to application programmers</a:t>
            </a:r>
          </a:p>
          <a:p>
            <a:pPr algn="just">
              <a:lnSpc>
                <a:spcPct val="90000"/>
              </a:lnSpc>
            </a:pPr>
            <a:r>
              <a:rPr lang="en-US" altLang="en-US" dirty="0"/>
              <a:t>OS designers build software tools to solve critical section problem</a:t>
            </a:r>
          </a:p>
          <a:p>
            <a:pPr algn="just">
              <a:lnSpc>
                <a:spcPct val="90000"/>
              </a:lnSpc>
            </a:pPr>
            <a:r>
              <a:rPr lang="en-US" altLang="en-US" dirty="0"/>
              <a:t>Simplest is </a:t>
            </a:r>
            <a:r>
              <a:rPr lang="en-US" altLang="en-US" sz="2000" dirty="0"/>
              <a:t>mutex</a:t>
            </a:r>
            <a:r>
              <a:rPr lang="en-US" altLang="en-US" dirty="0"/>
              <a:t> lock</a:t>
            </a:r>
          </a:p>
          <a:p>
            <a:pPr lvl="1" algn="just">
              <a:lnSpc>
                <a:spcPct val="90000"/>
              </a:lnSpc>
            </a:pPr>
            <a:r>
              <a:rPr lang="en-US" altLang="en-US" dirty="0"/>
              <a:t>Boolean variable indicating if lock is available or not</a:t>
            </a:r>
          </a:p>
          <a:p>
            <a:pPr algn="just">
              <a:lnSpc>
                <a:spcPct val="90000"/>
              </a:lnSpc>
            </a:pPr>
            <a:r>
              <a:rPr lang="en-US" altLang="en-US" dirty="0"/>
              <a:t>Protect a critical section  by </a:t>
            </a:r>
          </a:p>
          <a:p>
            <a:pPr lvl="1" algn="just">
              <a:lnSpc>
                <a:spcPct val="90000"/>
              </a:lnSpc>
            </a:pPr>
            <a:r>
              <a:rPr lang="en-US" altLang="en-US" dirty="0"/>
              <a:t>First </a:t>
            </a:r>
            <a:r>
              <a:rPr lang="en-US" altLang="en-US" b="1" dirty="0">
                <a:latin typeface="Courier New" panose="02070309020205020404" pitchFamily="49" charset="0"/>
                <a:cs typeface="Courier New" panose="02070309020205020404" pitchFamily="49" charset="0"/>
              </a:rPr>
              <a:t>acquire()</a:t>
            </a:r>
            <a:r>
              <a:rPr lang="en-US" altLang="en-US" dirty="0"/>
              <a:t> a lock </a:t>
            </a:r>
          </a:p>
          <a:p>
            <a:pPr lvl="1" algn="just">
              <a:lnSpc>
                <a:spcPct val="90000"/>
              </a:lnSpc>
            </a:pPr>
            <a:r>
              <a:rPr lang="en-US" altLang="en-US" dirty="0"/>
              <a:t>Then </a:t>
            </a:r>
            <a:r>
              <a:rPr lang="en-US" altLang="en-US" b="1" dirty="0">
                <a:latin typeface="Courier New" panose="02070309020205020404" pitchFamily="49" charset="0"/>
              </a:rPr>
              <a:t>release()</a:t>
            </a:r>
            <a:r>
              <a:rPr lang="en-US" altLang="en-US" dirty="0"/>
              <a:t> the lock</a:t>
            </a:r>
          </a:p>
          <a:p>
            <a:pPr algn="just">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p>
          <a:p>
            <a:pPr lvl="1" algn="just">
              <a:lnSpc>
                <a:spcPct val="90000"/>
              </a:lnSpc>
            </a:pPr>
            <a:r>
              <a:rPr lang="en-US" altLang="en-US" dirty="0"/>
              <a:t>Usually implemented via hardware atomic instructions such as compare-and-swap.</a:t>
            </a:r>
          </a:p>
          <a:p>
            <a:pPr algn="just">
              <a:lnSpc>
                <a:spcPct val="90000"/>
              </a:lnSpc>
            </a:pPr>
            <a:r>
              <a:rPr lang="en-US" altLang="en-US" dirty="0"/>
              <a:t>But this solution requires </a:t>
            </a:r>
            <a:r>
              <a:rPr lang="en-US" altLang="en-US" b="1" dirty="0">
                <a:solidFill>
                  <a:srgbClr val="006699"/>
                </a:solidFill>
                <a:latin typeface="+mj-lt"/>
              </a:rPr>
              <a:t>busy waiting</a:t>
            </a:r>
          </a:p>
          <a:p>
            <a:pPr lvl="1" algn="just">
              <a:lnSpc>
                <a:spcPct val="90000"/>
              </a:lnSpc>
            </a:pPr>
            <a:r>
              <a:rPr lang="en-US" altLang="en-US" dirty="0"/>
              <a:t>This lock therefore called a </a:t>
            </a:r>
            <a:r>
              <a:rPr lang="en-US" altLang="en-US" b="1" dirty="0">
                <a:solidFill>
                  <a:srgbClr val="006699"/>
                </a:solidFill>
                <a:latin typeface="+mj-lt"/>
              </a:rPr>
              <a:t>spinlock</a:t>
            </a:r>
          </a:p>
          <a:p>
            <a:pPr algn="just">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transition>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4702176"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4702176" y="3686176"/>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p:txBody>
          <a:bodyPr/>
          <a:lstStyle/>
          <a:p>
            <a:r>
              <a:rPr lang="en-US" altLang="en-US" sz="2800" dirty="0"/>
              <a:t>Solution to CS Problem Using Mutex Locks</a:t>
            </a:r>
          </a:p>
        </p:txBody>
      </p:sp>
      <p:sp>
        <p:nvSpPr>
          <p:cNvPr id="3" name="Content Placeholder 2">
            <a:extLst>
              <a:ext uri="{FF2B5EF4-FFF2-40B4-BE49-F238E27FC236}">
                <a16:creationId xmlns:a16="http://schemas.microsoft.com/office/drawing/2014/main" id="{D5024221-4BEA-9B3E-610B-7FB0BC81EC87}"/>
              </a:ext>
            </a:extLst>
          </p:cNvPr>
          <p:cNvSpPr>
            <a:spLocks noGrp="1"/>
          </p:cNvSpPr>
          <p:nvPr>
            <p:ph idx="1"/>
          </p:nvPr>
        </p:nvSpPr>
        <p:spPr/>
        <p:txBody>
          <a:bodyPr/>
          <a:lstStyle/>
          <a:p>
            <a:endParaRPr lang="en-IN"/>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3810000" y="2274888"/>
            <a:ext cx="45720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transition>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p:txBody>
          <a:bodyPr/>
          <a:lstStyle/>
          <a:p>
            <a:pPr eaLnBrk="1" hangingPunct="1"/>
            <a:r>
              <a:rPr lang="en-US" altLang="en-US" dirty="0"/>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transition>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p:txBody>
          <a:bodyPr/>
          <a:lstStyle/>
          <a:p>
            <a:pPr algn="just">
              <a:tabLst>
                <a:tab pos="2001838" algn="ctr"/>
                <a:tab pos="4513263" algn="ctr"/>
              </a:tabLst>
            </a:pPr>
            <a:r>
              <a:rPr lang="en-US" altLang="en-US" b="1" dirty="0">
                <a:solidFill>
                  <a:srgbClr val="006699"/>
                </a:solidFill>
                <a:latin typeface="+mj-lt"/>
              </a:rPr>
              <a:t>Counting semaphore</a:t>
            </a:r>
            <a:r>
              <a:rPr lang="en-US" altLang="en-US" b="1" dirty="0">
                <a:solidFill>
                  <a:srgbClr val="3366FF"/>
                </a:solidFill>
              </a:rPr>
              <a:t> </a:t>
            </a:r>
            <a:r>
              <a:rPr lang="en-US" altLang="en-US" dirty="0"/>
              <a:t>– integer value can range over an unrestricted domain</a:t>
            </a:r>
          </a:p>
          <a:p>
            <a:pPr algn="just">
              <a:tabLst>
                <a:tab pos="2001838" algn="ctr"/>
                <a:tab pos="4513263" algn="ctr"/>
              </a:tabLst>
            </a:pPr>
            <a:r>
              <a:rPr lang="en-US" altLang="en-US" b="1" dirty="0">
                <a:solidFill>
                  <a:srgbClr val="006699"/>
                </a:solidFill>
                <a:latin typeface="+mj-lt"/>
              </a:rPr>
              <a:t>Binary semaphore </a:t>
            </a:r>
            <a:r>
              <a:rPr lang="en-US" altLang="en-US" dirty="0"/>
              <a:t>– integer value can range only between 0 and 1</a:t>
            </a:r>
          </a:p>
          <a:p>
            <a:pPr lvl="1" algn="just">
              <a:tabLst>
                <a:tab pos="2001838" algn="ctr"/>
                <a:tab pos="4513263"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p>
          <a:p>
            <a:pPr algn="just">
              <a:tabLst>
                <a:tab pos="2001838" algn="ctr"/>
                <a:tab pos="4513263"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lgn="just">
              <a:tabLst>
                <a:tab pos="2001838" algn="ctr"/>
                <a:tab pos="4513263" algn="ctr"/>
              </a:tabLst>
            </a:pPr>
            <a:r>
              <a:rPr lang="en-US" altLang="en-US" dirty="0">
                <a:sym typeface="MT Extra" panose="05050102010205020202" pitchFamily="18" charset="2"/>
              </a:rPr>
              <a:t>With semaphores we can solve various synchronization problems</a:t>
            </a:r>
          </a:p>
          <a:p>
            <a:pPr marL="0" indent="0" algn="just">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transition>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transition>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p:txBody>
          <a:bodyPr/>
          <a:lstStyle/>
          <a:p>
            <a:pPr algn="just"/>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pPr algn="just"/>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pPr algn="just"/>
            <a:r>
              <a:rPr lang="en-US" altLang="en-US" dirty="0"/>
              <a:t>Could now have </a:t>
            </a:r>
            <a:r>
              <a:rPr lang="en-US" altLang="en-US" b="1" dirty="0">
                <a:solidFill>
                  <a:srgbClr val="006699"/>
                </a:solidFill>
                <a:latin typeface="+mj-lt"/>
              </a:rPr>
              <a:t>busy waiting </a:t>
            </a:r>
            <a:r>
              <a:rPr lang="en-US" altLang="en-US" dirty="0"/>
              <a:t>in critical section implementation</a:t>
            </a:r>
          </a:p>
          <a:p>
            <a:pPr lvl="1" algn="just"/>
            <a:r>
              <a:rPr lang="en-US" altLang="en-US" dirty="0"/>
              <a:t>But implementation code is short</a:t>
            </a:r>
          </a:p>
          <a:p>
            <a:pPr lvl="1" algn="just"/>
            <a:r>
              <a:rPr lang="en-US" altLang="en-US" dirty="0"/>
              <a:t>Little busy waiting if critical section rarely occupied</a:t>
            </a:r>
          </a:p>
          <a:p>
            <a:pPr algn="just"/>
            <a:r>
              <a:rPr lang="en-US" altLang="en-US" dirty="0"/>
              <a:t>Note that applications may spend lots of time in critical sections and therefore this is not a good solution</a:t>
            </a:r>
          </a:p>
          <a:p>
            <a:pPr algn="just">
              <a:buFont typeface="Monotype Sorts" pitchFamily="-84" charset="2"/>
              <a:buNone/>
            </a:pPr>
            <a:r>
              <a:rPr lang="en-US" altLang="en-US" dirty="0"/>
              <a:t> </a:t>
            </a:r>
          </a:p>
          <a:p>
            <a:pPr lvl="1" algn="just">
              <a:buFont typeface="Monotype Sorts" pitchFamily="-84" charset="2"/>
              <a:buNone/>
            </a:pPr>
            <a:endParaRPr lang="en-US" altLang="en-US" dirty="0"/>
          </a:p>
        </p:txBody>
      </p:sp>
    </p:spTree>
  </p:cSld>
  <p:clrMapOvr>
    <a:masterClrMapping/>
  </p:clrMapOvr>
  <p:transition>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p:txBody>
          <a:bodyPr/>
          <a:lstStyle/>
          <a:p>
            <a:pPr algn="just"/>
            <a:r>
              <a:rPr lang="en-US" altLang="en-US" dirty="0"/>
              <a:t>With each semaphore there is an associated waiting queue</a:t>
            </a:r>
          </a:p>
          <a:p>
            <a:pPr algn="just"/>
            <a:r>
              <a:rPr lang="en-US" altLang="en-US" dirty="0"/>
              <a:t>Each entry in a waiting queue has two data items:</a:t>
            </a:r>
          </a:p>
          <a:p>
            <a:pPr lvl="1" algn="just"/>
            <a:r>
              <a:rPr lang="en-US" altLang="en-US" dirty="0"/>
              <a:t> Value (of type integer)</a:t>
            </a:r>
          </a:p>
          <a:p>
            <a:pPr lvl="1" algn="just"/>
            <a:r>
              <a:rPr lang="en-US" altLang="en-US" dirty="0"/>
              <a:t> Pointer to next record in the list</a:t>
            </a:r>
          </a:p>
          <a:p>
            <a:pPr algn="just"/>
            <a:r>
              <a:rPr lang="en-US" altLang="en-US" dirty="0"/>
              <a:t>Two operations:</a:t>
            </a:r>
          </a:p>
          <a:p>
            <a:pPr lvl="1" algn="just"/>
            <a:r>
              <a:rPr lang="en-US" altLang="en-US" b="1" dirty="0">
                <a:solidFill>
                  <a:srgbClr val="006699"/>
                </a:solidFill>
                <a:latin typeface="+mj-lt"/>
              </a:rPr>
              <a:t>block </a:t>
            </a:r>
            <a:r>
              <a:rPr lang="en-US" altLang="en-US" dirty="0"/>
              <a:t>– place the process invoking the operation on the appropriate waiting queue</a:t>
            </a:r>
          </a:p>
          <a:p>
            <a:pPr lvl="1" algn="just"/>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p>
          <a:p>
            <a:pPr marL="0" indent="0" algn="just">
              <a:buNone/>
            </a:pPr>
            <a:endParaRPr lang="en-US" altLang="en-US" dirty="0"/>
          </a:p>
          <a:p>
            <a:pPr lvl="1" algn="just"/>
            <a:endParaRPr lang="en-US" altLang="en-US" dirty="0"/>
          </a:p>
          <a:p>
            <a:pPr algn="just">
              <a:buFont typeface="Monotype Sorts" pitchFamily="-84" charset="2"/>
              <a:buNone/>
            </a:pPr>
            <a:r>
              <a:rPr lang="en-US" altLang="en-US" dirty="0">
                <a:solidFill>
                  <a:srgbClr val="0000FF"/>
                </a:solidFill>
              </a:rPr>
              <a:t>                        </a:t>
            </a:r>
          </a:p>
        </p:txBody>
      </p:sp>
    </p:spTree>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p:txBody>
          <a:bodyPr/>
          <a:lstStyle/>
          <a:p>
            <a:endParaRPr lang="en-US" altLang="en-US" dirty="0"/>
          </a:p>
          <a:p>
            <a:r>
              <a:rPr lang="en-US" altLang="en-US" dirty="0"/>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transition>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p:txBody>
          <a:bodyPr/>
          <a:lstStyle/>
          <a:p>
            <a:pPr marL="0" indent="0">
              <a:buNone/>
            </a:pPr>
            <a:endParaRPr lang="en-US" altLang="en-US" sz="1400" b="1" dirty="0">
              <a:latin typeface="Courier New" panose="02070309020205020404" pitchFamily="49" charset="0"/>
            </a:endParaRPr>
          </a:p>
          <a:p>
            <a:pPr marL="0" indent="0">
              <a:buNone/>
            </a:pPr>
            <a:r>
              <a:rPr lang="en-US" altLang="en-US" sz="1600" b="1" dirty="0">
                <a:latin typeface="Courier New" panose="02070309020205020404" pitchFamily="49" charset="0"/>
              </a:rPr>
              <a:t>wait(semaphore *S) { </a:t>
            </a:r>
          </a:p>
          <a:p>
            <a:pPr marL="0" indent="0">
              <a:buNone/>
            </a:pPr>
            <a:r>
              <a:rPr lang="en-US" altLang="en-US" sz="1600" b="1" dirty="0">
                <a:latin typeface="Courier New" panose="02070309020205020404" pitchFamily="49" charset="0"/>
              </a:rPr>
              <a:t>   S-&gt;value--; </a:t>
            </a:r>
          </a:p>
          <a:p>
            <a:pPr marL="0" indent="0">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None/>
            </a:pPr>
            <a:r>
              <a:rPr lang="en-US" altLang="en-US" sz="1600" b="1" dirty="0">
                <a:latin typeface="Courier New" panose="02070309020205020404" pitchFamily="49" charset="0"/>
              </a:rPr>
              <a:t>      block(); </a:t>
            </a:r>
          </a:p>
          <a:p>
            <a:pPr marL="0" indent="0">
              <a:buNone/>
            </a:pPr>
            <a:r>
              <a:rPr lang="en-US" altLang="en-US" sz="1600" b="1" dirty="0">
                <a:latin typeface="Courier New" panose="02070309020205020404" pitchFamily="49" charset="0"/>
              </a:rPr>
              <a:t>   } </a:t>
            </a:r>
          </a:p>
          <a:p>
            <a:pPr marL="0" indent="0">
              <a:buNone/>
            </a:pPr>
            <a:r>
              <a:rPr lang="en-US" altLang="en-US" sz="1600" b="1" dirty="0">
                <a:latin typeface="Courier New" panose="02070309020205020404" pitchFamily="49" charset="0"/>
              </a:rPr>
              <a:t>}</a:t>
            </a:r>
          </a:p>
          <a:p>
            <a:pPr marL="0" indent="0">
              <a:buNone/>
            </a:pPr>
            <a:endParaRPr lang="en-US" altLang="en-US" sz="1600" b="1" dirty="0">
              <a:latin typeface="Courier New" panose="02070309020205020404" pitchFamily="49" charset="0"/>
            </a:endParaRPr>
          </a:p>
          <a:p>
            <a:pPr marL="0" indent="0">
              <a:buNone/>
            </a:pPr>
            <a:r>
              <a:rPr lang="en-US" altLang="en-US" sz="1600" b="1" dirty="0">
                <a:latin typeface="Courier New" panose="02070309020205020404" pitchFamily="49" charset="0"/>
              </a:rPr>
              <a:t>signal(semaphore *S) { </a:t>
            </a:r>
          </a:p>
          <a:p>
            <a:pPr marL="0" indent="0">
              <a:buNone/>
            </a:pPr>
            <a:r>
              <a:rPr lang="en-US" altLang="en-US" sz="1600" b="1" dirty="0">
                <a:latin typeface="Courier New" panose="02070309020205020404" pitchFamily="49" charset="0"/>
              </a:rPr>
              <a:t>   S-&gt;value++; </a:t>
            </a:r>
          </a:p>
          <a:p>
            <a:pPr marL="0" indent="0">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None/>
            </a:pPr>
            <a:r>
              <a:rPr lang="en-US" altLang="en-US" sz="1600" b="1" dirty="0">
                <a:latin typeface="Courier New" panose="02070309020205020404" pitchFamily="49" charset="0"/>
              </a:rPr>
              <a:t>      wakeup(P); </a:t>
            </a:r>
          </a:p>
          <a:p>
            <a:pPr marL="0" indent="0">
              <a:buNone/>
            </a:pPr>
            <a:r>
              <a:rPr lang="en-US" altLang="en-US" sz="1600" b="1" dirty="0">
                <a:latin typeface="Courier New" panose="02070309020205020404" pitchFamily="49" charset="0"/>
              </a:rPr>
              <a:t>   } </a:t>
            </a:r>
          </a:p>
          <a:p>
            <a:pPr marL="0" indent="0">
              <a:buNone/>
            </a:pPr>
            <a:r>
              <a:rPr lang="en-US" altLang="en-US" sz="1600" b="1" dirty="0">
                <a:latin typeface="Courier New" panose="02070309020205020404" pitchFamily="49" charset="0"/>
              </a:rPr>
              <a:t>} </a:t>
            </a:r>
          </a:p>
        </p:txBody>
      </p:sp>
    </p:spTree>
  </p:cSld>
  <p:clrMapOvr>
    <a:masterClrMapping/>
  </p:clrMapOvr>
  <p:transition>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p:txBody>
          <a:bodyPr/>
          <a:lstStyle/>
          <a:p>
            <a:pPr algn="just"/>
            <a:r>
              <a:rPr lang="en-US" altLang="en-US" dirty="0"/>
              <a:t> Incorrect use of semaphore operations:</a:t>
            </a:r>
          </a:p>
          <a:p>
            <a:pPr lvl="1" algn="just"/>
            <a:r>
              <a:rPr lang="en-US" altLang="en-US" dirty="0"/>
              <a:t> </a:t>
            </a:r>
            <a:r>
              <a:rPr lang="en-US" altLang="en-US" b="1" dirty="0">
                <a:latin typeface="Courier New" panose="02070309020205020404" pitchFamily="49" charset="0"/>
                <a:cs typeface="Courier New" panose="02070309020205020404" pitchFamily="49" charset="0"/>
              </a:rPr>
              <a:t>signal(mutex)  ….  wait(mutex)</a:t>
            </a:r>
          </a:p>
          <a:p>
            <a:pPr lvl="1" algn="just"/>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lgn="just"/>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lgn="just"/>
            <a:endParaRPr lang="en-US" altLang="en-US" dirty="0"/>
          </a:p>
          <a:p>
            <a:pPr algn="just"/>
            <a:r>
              <a:rPr lang="en-US" altLang="en-US" dirty="0"/>
              <a:t>These – and others – are examples of what can occur when semaphores and other synchronization tools are used incorrectly.</a:t>
            </a:r>
          </a:p>
          <a:p>
            <a:pPr algn="just"/>
            <a:endParaRPr lang="en-US" altLang="en-US" dirty="0"/>
          </a:p>
          <a:p>
            <a:pPr algn="just"/>
            <a:endParaRPr lang="en-US" altLang="en-US" dirty="0"/>
          </a:p>
          <a:p>
            <a:pPr algn="just"/>
            <a:endParaRPr lang="en-US" altLang="en-US" dirty="0"/>
          </a:p>
        </p:txBody>
      </p:sp>
    </p:spTree>
  </p:cSld>
  <p:clrMapOvr>
    <a:masterClrMapping/>
  </p:clrMapOvr>
  <p:transition>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p:txBody>
          <a:bodyPr/>
          <a:lstStyle/>
          <a:p>
            <a:pPr>
              <a:lnSpc>
                <a:spcPct val="80000"/>
              </a:lnSpc>
            </a:pPr>
            <a:r>
              <a:rPr lang="en-US" altLang="en-US" dirty="0"/>
              <a:t>A high-level abstraction that provides a convenient and effective mechanism for process synchronization</a:t>
            </a:r>
          </a:p>
          <a:p>
            <a:pPr>
              <a:lnSpc>
                <a:spcPct val="80000"/>
              </a:lnSpc>
            </a:pPr>
            <a:r>
              <a:rPr lang="en-US" altLang="en-US" i="1" dirty="0"/>
              <a:t>Abstract data type</a:t>
            </a:r>
            <a:r>
              <a:rPr lang="en-US" altLang="en-US" dirty="0"/>
              <a:t>, internal variables only accessible by code within the procedure</a:t>
            </a:r>
          </a:p>
          <a:p>
            <a:pPr>
              <a:lnSpc>
                <a:spcPct val="80000"/>
              </a:lnSpc>
            </a:pPr>
            <a:r>
              <a:rPr lang="en-US" altLang="en-US" dirty="0"/>
              <a:t>Only one process may be active within the monitor at a time</a:t>
            </a:r>
          </a:p>
          <a:p>
            <a:pPr>
              <a:lnSpc>
                <a:spcPct val="80000"/>
              </a:lnSpc>
            </a:pPr>
            <a:r>
              <a:rPr lang="en-US" altLang="en-US" dirty="0"/>
              <a:t>Pseudocode syntax of a monitor:</a:t>
            </a:r>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p:txBody>
      </p:sp>
    </p:spTree>
  </p:cSld>
  <p:clrMapOvr>
    <a:masterClrMapping/>
  </p:clrMapOvr>
  <p:transition>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p:txBody>
          <a:bodyPr/>
          <a:lstStyle/>
          <a:p>
            <a:pPr eaLnBrk="1" hangingPunct="1"/>
            <a:r>
              <a:rPr lang="en-US" altLang="en-US" dirty="0"/>
              <a:t>Schematic view of a Monitor</a:t>
            </a:r>
          </a:p>
        </p:txBody>
      </p:sp>
      <p:sp>
        <p:nvSpPr>
          <p:cNvPr id="3" name="Content Placeholder 2">
            <a:extLst>
              <a:ext uri="{FF2B5EF4-FFF2-40B4-BE49-F238E27FC236}">
                <a16:creationId xmlns:a16="http://schemas.microsoft.com/office/drawing/2014/main" id="{CA651A43-6FAA-67EA-43A3-00140D077D07}"/>
              </a:ext>
            </a:extLst>
          </p:cNvPr>
          <p:cNvSpPr>
            <a:spLocks noGrp="1"/>
          </p:cNvSpPr>
          <p:nvPr>
            <p:ph idx="1"/>
          </p:nvPr>
        </p:nvSpPr>
        <p:spPr/>
        <p:txBody>
          <a:bodyPr/>
          <a:lstStyle/>
          <a:p>
            <a:endParaRPr lang="en-IN"/>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38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p:txBody>
          <a:bodyPr/>
          <a:lstStyle/>
          <a:p>
            <a:pPr>
              <a:lnSpc>
                <a:spcPct val="80000"/>
              </a:lnSpc>
              <a:tabLst>
                <a:tab pos="1887538" algn="l"/>
                <a:tab pos="2335213" algn="l"/>
                <a:tab pos="2506663" algn="l"/>
              </a:tabLst>
            </a:pPr>
            <a:r>
              <a:rPr lang="en-US" altLang="en-US" dirty="0"/>
              <a:t>Variables </a:t>
            </a:r>
          </a:p>
          <a:p>
            <a:pPr>
              <a:lnSpc>
                <a:spcPct val="80000"/>
              </a:lnSpc>
              <a:buNone/>
              <a:tabLst>
                <a:tab pos="1887538" algn="l"/>
                <a:tab pos="2335213" algn="l"/>
                <a:tab pos="2506663" algn="l"/>
              </a:tabLst>
            </a:pPr>
            <a:endParaRPr lang="en-US" altLang="en-US" dirty="0"/>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semaphore mutex </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procedure </a:t>
            </a:r>
            <a:r>
              <a:rPr lang="en-US" altLang="en-US" b="1" i="1" dirty="0"/>
              <a:t>P</a:t>
            </a:r>
            <a:r>
              <a:rPr lang="en-US" altLang="en-US" dirty="0"/>
              <a:t>  is replaced by</a:t>
            </a:r>
          </a:p>
          <a:p>
            <a:pPr>
              <a:lnSpc>
                <a:spcPct val="80000"/>
              </a:lnSpc>
              <a:tabLst>
                <a:tab pos="1887538" algn="l"/>
                <a:tab pos="2335213" algn="l"/>
                <a:tab pos="2506663" algn="l"/>
              </a:tabLst>
            </a:pPr>
            <a:endParaRPr lang="en-US" altLang="en-US" sz="1600" dirty="0"/>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extLst>
      <p:ext uri="{BB962C8B-B14F-4D97-AF65-F5344CB8AC3E}">
        <p14:creationId xmlns:p14="http://schemas.microsoft.com/office/powerpoint/2010/main" val="2444370674"/>
      </p:ext>
    </p:extLst>
  </p:cSld>
  <p:clrMapOvr>
    <a:masterClrMapping/>
  </p:clrMapOvr>
  <p:transition>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p:txBody>
          <a:bodyPr/>
          <a:lstStyle/>
          <a:p>
            <a:pPr algn="just"/>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pPr algn="just"/>
            <a:r>
              <a:rPr lang="en-US" altLang="en-US" dirty="0"/>
              <a:t>Two operations are allowed on a condition variable:</a:t>
            </a:r>
          </a:p>
          <a:p>
            <a:pPr lvl="1" algn="just"/>
            <a:r>
              <a:rPr lang="en-US" altLang="en-US" b="1" dirty="0" err="1">
                <a:solidFill>
                  <a:srgbClr val="000000"/>
                </a:solidFill>
                <a:latin typeface="Courier New" panose="02070309020205020404" pitchFamily="49" charset="0"/>
              </a:rPr>
              <a:t>x.wait</a:t>
            </a:r>
            <a:r>
              <a:rPr lang="en-US" altLang="en-US" b="1" dirty="0">
                <a:solidFill>
                  <a:srgbClr val="000000"/>
                </a:solidFill>
                <a:latin typeface="Courier New" panose="02070309020205020404" pitchFamily="49" charset="0"/>
              </a:rPr>
              <a:t>() </a:t>
            </a:r>
            <a:r>
              <a:rPr lang="en-US" altLang="en-US" dirty="0"/>
              <a:t>–  a process that invokes the operation is suspended until </a:t>
            </a:r>
            <a:r>
              <a:rPr lang="en-US" altLang="en-US" b="1" dirty="0" err="1">
                <a:solidFill>
                  <a:srgbClr val="000000"/>
                </a:solidFill>
                <a:latin typeface="Courier New" panose="02070309020205020404" pitchFamily="49" charset="0"/>
              </a:rPr>
              <a:t>x.signal</a:t>
            </a:r>
            <a:r>
              <a:rPr lang="en-US" altLang="en-US" b="1" dirty="0">
                <a:solidFill>
                  <a:srgbClr val="000000"/>
                </a:solidFill>
                <a:latin typeface="Courier New" panose="02070309020205020404" pitchFamily="49" charset="0"/>
              </a:rPr>
              <a:t>() </a:t>
            </a:r>
          </a:p>
          <a:p>
            <a:pPr lvl="1" algn="just"/>
            <a:r>
              <a:rPr lang="en-US" altLang="en-US" b="1" dirty="0" err="1">
                <a:solidFill>
                  <a:srgbClr val="000000"/>
                </a:solidFill>
                <a:latin typeface="Courier New" panose="02070309020205020404" pitchFamily="49" charset="0"/>
              </a:rPr>
              <a:t>x.signal</a:t>
            </a:r>
            <a:r>
              <a:rPr lang="en-US" altLang="en-US"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b="1" dirty="0" err="1">
                <a:solidFill>
                  <a:srgbClr val="000000"/>
                </a:solidFill>
                <a:latin typeface="Courier New" panose="02070309020205020404" pitchFamily="49" charset="0"/>
              </a:rPr>
              <a:t>x.wait</a:t>
            </a:r>
            <a:r>
              <a:rPr lang="en-US" altLang="en-US" b="1" dirty="0">
                <a:solidFill>
                  <a:srgbClr val="000000"/>
                </a:solidFill>
                <a:latin typeface="Courier New" panose="02070309020205020404" pitchFamily="49" charset="0"/>
              </a:rPr>
              <a:t>()</a:t>
            </a:r>
          </a:p>
          <a:p>
            <a:pPr lvl="2" algn="just"/>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transition>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p:txBody>
          <a:bodyPr/>
          <a:lstStyle/>
          <a:p>
            <a:pPr eaLnBrk="1" hangingPunct="1"/>
            <a:r>
              <a:rPr lang="en-US" altLang="en-US" dirty="0"/>
              <a:t> Monitor with Condition Variables</a:t>
            </a:r>
          </a:p>
        </p:txBody>
      </p:sp>
      <p:sp>
        <p:nvSpPr>
          <p:cNvPr id="3" name="Content Placeholder 2">
            <a:extLst>
              <a:ext uri="{FF2B5EF4-FFF2-40B4-BE49-F238E27FC236}">
                <a16:creationId xmlns:a16="http://schemas.microsoft.com/office/drawing/2014/main" id="{CCB43C41-A23C-B4C7-EAF8-5F4E98F79BFB}"/>
              </a:ext>
            </a:extLst>
          </p:cNvPr>
          <p:cNvSpPr>
            <a:spLocks noGrp="1"/>
          </p:cNvSpPr>
          <p:nvPr>
            <p:ph idx="1"/>
          </p:nvPr>
        </p:nvSpPr>
        <p:spPr/>
        <p:txBody>
          <a:bodyPr/>
          <a:lstStyle/>
          <a:p>
            <a:endParaRPr lang="en-IN"/>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70276" y="1446214"/>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p:txBody>
          <a:bodyPr/>
          <a:lstStyle/>
          <a:p>
            <a:pPr algn="just">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lgn="just">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lgn="just">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lgn="just">
              <a:tabLst>
                <a:tab pos="2001838" algn="ctr"/>
                <a:tab pos="4513263" algn="ctr"/>
              </a:tabLst>
            </a:pPr>
            <a:r>
              <a:rPr lang="en-US" altLang="ja-JP" dirty="0">
                <a:sym typeface="MT Extra" panose="05050102010205020202" pitchFamily="18" charset="2"/>
              </a:rPr>
              <a:t>One Boolean variable “done”</a:t>
            </a:r>
          </a:p>
          <a:p>
            <a:pPr lvl="1" algn="just">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lgn="just">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lgn="just">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lgn="just">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lgn="just">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lgn="just">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lgn="just">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x.wait</a:t>
            </a:r>
            <a:r>
              <a:rPr lang="en-US" altLang="en-US" b="1" dirty="0">
                <a:solidFill>
                  <a:srgbClr val="000000"/>
                </a:solidFill>
                <a:latin typeface="Courier New" panose="02070309020205020404" pitchFamily="49" charset="0"/>
                <a:sym typeface="MT Extra" panose="05050102010205020202" pitchFamily="18" charset="2"/>
              </a:rPr>
              <a:t>()</a:t>
            </a:r>
          </a:p>
          <a:p>
            <a:pPr lvl="2" algn="just">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lgn="just">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transition>
    <p:wipe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383458" y="-79323"/>
            <a:ext cx="10972800" cy="792162"/>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452284" y="806248"/>
            <a:ext cx="10972800" cy="4906963"/>
          </a:xfrm>
        </p:spPr>
        <p:txBody>
          <a:bodyPr/>
          <a:lstStyle/>
          <a:p>
            <a:pPr>
              <a:lnSpc>
                <a:spcPct val="80000"/>
              </a:lnSpc>
              <a:tabLst>
                <a:tab pos="1887538" algn="l"/>
                <a:tab pos="2335213" algn="l"/>
                <a:tab pos="2506663" algn="l"/>
              </a:tabLst>
            </a:pPr>
            <a:r>
              <a:rPr lang="en-US" altLang="en-US" dirty="0"/>
              <a:t>Variables </a:t>
            </a:r>
          </a:p>
          <a:p>
            <a:pPr>
              <a:lnSpc>
                <a:spcPct val="80000"/>
              </a:lnSpc>
              <a:buNone/>
              <a:tabLst>
                <a:tab pos="1887538" algn="l"/>
                <a:tab pos="2335213" algn="l"/>
                <a:tab pos="2506663" algn="l"/>
              </a:tabLst>
            </a:pPr>
            <a:endParaRPr lang="en-US" altLang="en-US" dirty="0"/>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semaphore mutex;  // (initially  = 1)</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semaphore next;   // (initially  = 0)</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function </a:t>
            </a:r>
            <a:r>
              <a:rPr lang="en-US" altLang="en-US" b="1" i="1" dirty="0"/>
              <a:t>P</a:t>
            </a:r>
            <a:r>
              <a:rPr lang="en-US" altLang="en-US" dirty="0"/>
              <a:t>  will be replaced by</a:t>
            </a:r>
          </a:p>
          <a:p>
            <a:pPr>
              <a:lnSpc>
                <a:spcPct val="80000"/>
              </a:lnSpc>
              <a:tabLst>
                <a:tab pos="1887538" algn="l"/>
                <a:tab pos="2335213" algn="l"/>
                <a:tab pos="2506663" algn="l"/>
              </a:tabLst>
            </a:pPr>
            <a:endParaRPr lang="en-US" altLang="en-US" sz="1600" dirty="0"/>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signal(next)</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else </a:t>
            </a:r>
          </a:p>
          <a:p>
            <a:pPr>
              <a:lnSpc>
                <a:spcPct val="80000"/>
              </a:lnSpc>
              <a:spcBef>
                <a:spcPct val="15000"/>
              </a:spcBef>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cSld>
  <p:clrMapOvr>
    <a:masterClrMapping/>
  </p:clrMapOvr>
  <p:transition>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p:txBody>
          <a:bodyPr/>
          <a:lstStyle/>
          <a:p>
            <a:pPr>
              <a:lnSpc>
                <a:spcPct val="90000"/>
              </a:lnSpc>
              <a:spcBef>
                <a:spcPct val="15000"/>
              </a:spcBef>
              <a:tabLst>
                <a:tab pos="1828800" algn="l"/>
                <a:tab pos="2217738" algn="l"/>
              </a:tabLst>
            </a:pPr>
            <a:r>
              <a:rPr lang="en-US" altLang="en-US" dirty="0"/>
              <a:t>For each condition variable </a:t>
            </a:r>
            <a:r>
              <a:rPr lang="en-US" altLang="en-US" b="1" i="1" dirty="0"/>
              <a:t>x</a:t>
            </a:r>
            <a:r>
              <a:rPr lang="en-US" altLang="en-US" dirty="0"/>
              <a:t>, we  have</a:t>
            </a:r>
            <a:r>
              <a:rPr lang="en-US" altLang="en-US" sz="1600" dirty="0"/>
              <a:t>:</a:t>
            </a:r>
          </a:p>
          <a:p>
            <a:pPr>
              <a:lnSpc>
                <a:spcPct val="90000"/>
              </a:lnSpc>
              <a:spcBef>
                <a:spcPct val="15000"/>
              </a:spcBef>
              <a:buNone/>
              <a:tabLst>
                <a:tab pos="1828800" algn="l"/>
                <a:tab pos="2217738" algn="l"/>
              </a:tabLst>
            </a:pPr>
            <a:endParaRPr lang="en-US" altLang="en-US" sz="1600" dirty="0"/>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p>
          <a:p>
            <a:pPr>
              <a:lnSpc>
                <a:spcPct val="90000"/>
              </a:lnSpc>
              <a:spcBef>
                <a:spcPct val="15000"/>
              </a:spcBef>
              <a:buNone/>
              <a:tabLst>
                <a:tab pos="1828800" algn="l"/>
                <a:tab pos="2217738" algn="l"/>
              </a:tabLst>
            </a:pPr>
            <a:r>
              <a:rPr lang="en-US" altLang="en-US" sz="1600" dirty="0"/>
              <a:t>		</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signal(next);</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else</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signal(mutex);</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p>
          <a:p>
            <a:pPr>
              <a:lnSpc>
                <a:spcPct val="90000"/>
              </a:lnSpc>
              <a:spcBef>
                <a:spcPct val="15000"/>
              </a:spcBef>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None/>
              <a:tabLst>
                <a:tab pos="1828800" algn="l"/>
                <a:tab pos="2217738" algn="l"/>
              </a:tabLst>
            </a:pPr>
            <a:r>
              <a:rPr lang="en-US" altLang="en-US" sz="1600" b="1" dirty="0"/>
              <a:t>		</a:t>
            </a:r>
          </a:p>
        </p:txBody>
      </p:sp>
    </p:spTree>
  </p:cSld>
  <p:clrMapOvr>
    <a:masterClrMapping/>
  </p:clrMapOvr>
  <p:transition>
    <p:wipe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FCD1EAFB-0631-4AB6-8B81-00F8342C9418}"/>
              </a:ext>
            </a:extLst>
          </p:cNvPr>
          <p:cNvSpPr>
            <a:spLocks noGrp="1" noChangeArrowheads="1"/>
          </p:cNvSpPr>
          <p:nvPr>
            <p:ph type="title"/>
          </p:nvPr>
        </p:nvSpPr>
        <p:spPr/>
        <p:txBody>
          <a:bodyPr/>
          <a:lstStyle/>
          <a:p>
            <a:pPr eaLnBrk="1" hangingPunct="1"/>
            <a:r>
              <a:rPr lang="en-US" altLang="en-US" dirty="0"/>
              <a:t>Implementation (Cont.)</a:t>
            </a:r>
          </a:p>
        </p:txBody>
      </p:sp>
      <p:sp>
        <p:nvSpPr>
          <p:cNvPr id="73730" name="Rectangle 3">
            <a:extLst>
              <a:ext uri="{FF2B5EF4-FFF2-40B4-BE49-F238E27FC236}">
                <a16:creationId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None/>
              <a:tabLst>
                <a:tab pos="1368425" algn="l"/>
                <a:tab pos="1712913" algn="l"/>
                <a:tab pos="2335213" algn="l"/>
              </a:tabLst>
            </a:pPr>
            <a:r>
              <a:rPr lang="en-US" altLang="en-US" b="1">
                <a:solidFill>
                  <a:srgbClr val="000000"/>
                </a:solidFill>
                <a:latin typeface="Courier New" panose="02070309020205020404" pitchFamily="49" charset="0"/>
              </a:rPr>
              <a:t>		if (x_count &gt; 0) {</a:t>
            </a:r>
          </a:p>
          <a:p>
            <a:pPr>
              <a:spcBef>
                <a:spcPct val="15000"/>
              </a:spcBef>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None/>
              <a:tabLst>
                <a:tab pos="1368425" algn="l"/>
                <a:tab pos="1712913" algn="l"/>
                <a:tab pos="2335213" algn="l"/>
              </a:tabLst>
            </a:pPr>
            <a:r>
              <a:rPr lang="en-US" altLang="en-US" b="1">
                <a:solidFill>
                  <a:srgbClr val="000000"/>
                </a:solidFill>
                <a:latin typeface="Courier New" panose="02070309020205020404" pitchFamily="49" charset="0"/>
              </a:rPr>
              <a:t>			signal(x_sem);</a:t>
            </a:r>
          </a:p>
          <a:p>
            <a:pPr>
              <a:spcBef>
                <a:spcPct val="15000"/>
              </a:spcBef>
              <a:buNone/>
              <a:tabLst>
                <a:tab pos="1368425" algn="l"/>
                <a:tab pos="1712913" algn="l"/>
                <a:tab pos="2335213" algn="l"/>
              </a:tabLst>
            </a:pPr>
            <a:r>
              <a:rPr lang="en-US" altLang="en-US" b="1">
                <a:solidFill>
                  <a:srgbClr val="000000"/>
                </a:solidFill>
                <a:latin typeface="Courier New" panose="02070309020205020404" pitchFamily="49" charset="0"/>
              </a:rPr>
              <a:t>			wait(next);</a:t>
            </a:r>
          </a:p>
          <a:p>
            <a:pPr>
              <a:spcBef>
                <a:spcPct val="15000"/>
              </a:spcBef>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None/>
              <a:tabLst>
                <a:tab pos="1368425" algn="l"/>
                <a:tab pos="1712913" algn="l"/>
                <a:tab pos="2335213" algn="l"/>
              </a:tabLst>
            </a:pPr>
            <a:r>
              <a:rPr lang="en-US" altLang="en-US" b="1">
                <a:solidFill>
                  <a:srgbClr val="000000"/>
                </a:solidFill>
                <a:latin typeface="Courier New" panose="02070309020205020404" pitchFamily="49" charset="0"/>
              </a:rPr>
              <a:t>		}</a:t>
            </a:r>
          </a:p>
          <a:p>
            <a:pPr>
              <a:spcBef>
                <a:spcPct val="15000"/>
              </a:spcBef>
              <a:buNone/>
              <a:tabLst>
                <a:tab pos="1368425" algn="l"/>
                <a:tab pos="1712913" algn="l"/>
                <a:tab pos="2335213" algn="l"/>
              </a:tabLst>
            </a:pPr>
            <a:r>
              <a:rPr lang="en-US" altLang="en-US" b="1"/>
              <a:t>		</a:t>
            </a:r>
            <a:r>
              <a:rPr lang="en-US" altLang="en-US"/>
              <a:t>	</a:t>
            </a:r>
          </a:p>
        </p:txBody>
      </p:sp>
    </p:spTree>
  </p:cSld>
  <p:clrMapOvr>
    <a:masterClrMapping/>
  </p:clrMapOvr>
  <p:transition>
    <p:wipe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p:txBody>
          <a:bodyPr/>
          <a:lstStyle/>
          <a:p>
            <a:r>
              <a:rPr lang="en-US" altLang="en-US" dirty="0"/>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p:txBody>
          <a:bodyPr/>
          <a:lstStyle/>
          <a:p>
            <a:pPr algn="just"/>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p>
          <a:p>
            <a:pPr algn="just"/>
            <a:r>
              <a:rPr lang="en-US" altLang="en-US" dirty="0"/>
              <a:t>FCFS frequently not adequate </a:t>
            </a:r>
          </a:p>
          <a:p>
            <a:pPr algn="just"/>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p>
          <a:p>
            <a:pPr marL="0" indent="0" algn="just">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marL="0" indent="0" algn="just">
              <a:buNone/>
            </a:pPr>
            <a:r>
              <a:rPr lang="en-US" altLang="en-US" sz="2000" b="1" dirty="0">
                <a:latin typeface="Courier New" panose="02070309020205020404" pitchFamily="49" charset="0"/>
                <a:cs typeface="Courier New" panose="02070309020205020404" pitchFamily="49" charset="0"/>
              </a:rPr>
              <a:t>  </a:t>
            </a:r>
            <a:r>
              <a:rPr lang="en-US" altLang="en-US" dirty="0"/>
              <a:t>where:</a:t>
            </a:r>
          </a:p>
          <a:p>
            <a:pPr lvl="1" algn="just"/>
            <a:r>
              <a:rPr lang="en-US" altLang="en-US"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lgn="just"/>
            <a:r>
              <a:rPr lang="en-US" altLang="en-US" dirty="0"/>
              <a:t>The process with lowest number (highest priority) is scheduled next</a:t>
            </a:r>
          </a:p>
        </p:txBody>
      </p:sp>
    </p:spTree>
  </p:cSld>
  <p:clrMapOvr>
    <a:masterClrMapping/>
  </p:clrMapOvr>
  <p:transition>
    <p:wipe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EB810C-31E3-E139-8C15-8A31163B6A8F}"/>
              </a:ext>
            </a:extLst>
          </p:cNvPr>
          <p:cNvSpPr>
            <a:spLocks noGrp="1"/>
          </p:cNvSpPr>
          <p:nvPr>
            <p:ph type="title"/>
          </p:nvPr>
        </p:nvSpPr>
        <p:spPr/>
        <p:txBody>
          <a:bodyPr/>
          <a:lstStyle/>
          <a:p>
            <a:r>
              <a:rPr lang="en-US" altLang="en-US" dirty="0"/>
              <a:t>Single Resource allocation </a:t>
            </a:r>
            <a:endParaRPr lang="en-IN" dirty="0"/>
          </a:p>
        </p:txBody>
      </p:sp>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p:txBody>
          <a:bodyPr/>
          <a:lstStyle/>
          <a:p>
            <a:pPr algn="just">
              <a:lnSpc>
                <a:spcPct val="80000"/>
              </a:lnSpc>
              <a:buFont typeface="Monotype Sorts" pitchFamily="-84" charset="2"/>
              <a:buNone/>
            </a:pPr>
            <a:endParaRPr lang="en-US" altLang="en-US" sz="1600" dirty="0"/>
          </a:p>
          <a:p>
            <a:pPr algn="just">
              <a:lnSpc>
                <a:spcPct val="80000"/>
              </a:lnSpc>
            </a:pPr>
            <a:r>
              <a:rPr lang="en-US" altLang="en-US" dirty="0"/>
              <a:t>Allocate a single resource among competing processes using priority numbers that specifies  the maximum time a process  plans to use the resource</a:t>
            </a:r>
          </a:p>
          <a:p>
            <a:pPr algn="just">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gn="just">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gn="just">
              <a:lnSpc>
                <a:spcPct val="80000"/>
              </a:lnSpc>
              <a:buFont typeface="Monotype Sorts" pitchFamily="-84" charset="2"/>
              <a:buNone/>
            </a:pPr>
            <a:endParaRPr lang="en-US" altLang="en-US" dirty="0">
              <a:solidFill>
                <a:srgbClr val="0000FF"/>
              </a:solidFill>
            </a:endParaRPr>
          </a:p>
          <a:p>
            <a:pPr algn="just">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gn="just">
              <a:lnSpc>
                <a:spcPct val="80000"/>
              </a:lnSpc>
              <a:buFont typeface="Monotype Sorts" pitchFamily="-84" charset="2"/>
              <a:buNone/>
            </a:pPr>
            <a:endParaRPr lang="en-US" altLang="en-US" dirty="0">
              <a:solidFill>
                <a:srgbClr val="0000FF"/>
              </a:solidFill>
            </a:endParaRPr>
          </a:p>
          <a:p>
            <a:pPr algn="just">
              <a:lnSpc>
                <a:spcPct val="80000"/>
              </a:lnSpc>
              <a:buFont typeface="Monotype Sorts" pitchFamily="-84" charset="2"/>
              <a:buNone/>
            </a:pPr>
            <a:endParaRPr lang="en-US" altLang="en-US" dirty="0">
              <a:solidFill>
                <a:srgbClr val="0000FF"/>
              </a:solidFill>
            </a:endParaRPr>
          </a:p>
          <a:p>
            <a:pPr algn="just">
              <a:lnSpc>
                <a:spcPct val="80000"/>
              </a:lnSpc>
              <a:buFont typeface="Monotype Sorts" pitchFamily="-84" charset="2"/>
              <a:buNone/>
            </a:pPr>
            <a:r>
              <a:rPr lang="en-US" altLang="en-US" i="1" dirty="0">
                <a:solidFill>
                  <a:srgbClr val="0000FF"/>
                </a:solidFill>
              </a:rPr>
              <a:t>       </a:t>
            </a:r>
          </a:p>
        </p:txBody>
      </p:sp>
    </p:spTree>
  </p:cSld>
  <p:clrMapOvr>
    <a:masterClrMapping/>
  </p:clrMapOvr>
  <p:transition>
    <p:wipe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1653E1-65FF-4837-F5E2-E0B027BE1CA6}"/>
              </a:ext>
            </a:extLst>
          </p:cNvPr>
          <p:cNvSpPr>
            <a:spLocks noGrp="1"/>
          </p:cNvSpPr>
          <p:nvPr>
            <p:ph type="title"/>
          </p:nvPr>
        </p:nvSpPr>
        <p:spPr/>
        <p:txBody>
          <a:bodyPr/>
          <a:lstStyle/>
          <a:p>
            <a:r>
              <a:rPr lang="en-US" altLang="en-US" dirty="0"/>
              <a:t>Single Resource allocation </a:t>
            </a:r>
            <a:endParaRPr lang="en-IN" dirty="0"/>
          </a:p>
        </p:txBody>
      </p:sp>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p:txBody>
          <a:bodyPr/>
          <a:lstStyle/>
          <a:p>
            <a:pPr algn="just">
              <a:lnSpc>
                <a:spcPct val="80000"/>
              </a:lnSpc>
              <a:buFont typeface="Monotype Sorts" pitchFamily="-84" charset="2"/>
              <a:buNone/>
            </a:pPr>
            <a:endParaRPr lang="en-US" altLang="en-US" sz="1600" dirty="0"/>
          </a:p>
          <a:p>
            <a:pPr algn="just">
              <a:lnSpc>
                <a:spcPct val="80000"/>
              </a:lnSpc>
            </a:pPr>
            <a:r>
              <a:rPr lang="en-US" altLang="en-US" dirty="0"/>
              <a:t>Allocate a single resource among competing processes using priority numbers that specifies  the maximum time a process  plans to use the resource</a:t>
            </a:r>
          </a:p>
          <a:p>
            <a:pPr algn="just">
              <a:lnSpc>
                <a:spcPct val="80000"/>
              </a:lnSpc>
            </a:pPr>
            <a:r>
              <a:rPr lang="en-US" altLang="en-US" dirty="0"/>
              <a:t>The process with the shortest time is allocated the resource first</a:t>
            </a:r>
          </a:p>
          <a:p>
            <a:pPr algn="just">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p>
          <a:p>
            <a:pPr algn="just">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gn="just">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endParaRPr lang="en-US" altLang="en-US" dirty="0">
              <a:solidFill>
                <a:srgbClr val="0000FF"/>
              </a:solidFill>
            </a:endParaRPr>
          </a:p>
          <a:p>
            <a:pPr algn="just">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p>
          <a:p>
            <a:pPr algn="just">
              <a:lnSpc>
                <a:spcPct val="80000"/>
              </a:lnSpc>
            </a:pPr>
            <a:endParaRPr lang="en-US" altLang="en-US" sz="2000" b="1" dirty="0">
              <a:solidFill>
                <a:srgbClr val="000000"/>
              </a:solidFill>
              <a:latin typeface="Courier New" panose="02070309020205020404" pitchFamily="49" charset="0"/>
            </a:endParaRPr>
          </a:p>
          <a:p>
            <a:pPr algn="just">
              <a:lnSpc>
                <a:spcPct val="80000"/>
              </a:lnSpc>
              <a:buFont typeface="Monotype Sorts" pitchFamily="-84" charset="2"/>
              <a:buNone/>
            </a:pPr>
            <a:endParaRPr lang="en-US" altLang="en-US" dirty="0">
              <a:solidFill>
                <a:srgbClr val="0000FF"/>
              </a:solidFill>
            </a:endParaRPr>
          </a:p>
          <a:p>
            <a:pPr algn="just">
              <a:lnSpc>
                <a:spcPct val="80000"/>
              </a:lnSpc>
              <a:buFont typeface="Monotype Sorts" pitchFamily="-84" charset="2"/>
              <a:buNone/>
            </a:pPr>
            <a:endParaRPr lang="en-US" altLang="en-US" dirty="0">
              <a:solidFill>
                <a:srgbClr val="0000FF"/>
              </a:solidFill>
            </a:endParaRPr>
          </a:p>
          <a:p>
            <a:pPr algn="just">
              <a:lnSpc>
                <a:spcPct val="80000"/>
              </a:lnSpc>
              <a:buFont typeface="Monotype Sorts" pitchFamily="-84" charset="2"/>
              <a:buNone/>
            </a:pPr>
            <a:r>
              <a:rPr lang="en-US" altLang="en-US" i="1" dirty="0">
                <a:solidFill>
                  <a:srgbClr val="0000FF"/>
                </a:solidFill>
              </a:rPr>
              <a:t>       </a:t>
            </a:r>
          </a:p>
        </p:txBody>
      </p:sp>
    </p:spTree>
    <p:extLst>
      <p:ext uri="{BB962C8B-B14F-4D97-AF65-F5344CB8AC3E}">
        <p14:creationId xmlns:p14="http://schemas.microsoft.com/office/powerpoint/2010/main" val="3192809681"/>
      </p:ext>
    </p:extLst>
  </p:cSld>
  <p:clrMapOvr>
    <a:masterClrMapping/>
  </p:clrMapOvr>
  <p:transition>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p:txBody>
          <a:bodyPr/>
          <a:lstStyle/>
          <a:p>
            <a:pPr eaLnBrk="1" hangingPunct="1"/>
            <a:r>
              <a:rPr lang="en-US" altLang="en-US" dirty="0"/>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p:txBody>
          <a:bodyPr/>
          <a:lstStyle/>
          <a:p>
            <a:pPr>
              <a:buNone/>
              <a:tabLst>
                <a:tab pos="1368425" algn="l"/>
                <a:tab pos="1712913" algn="l"/>
                <a:tab pos="2335213" algn="l"/>
              </a:tabLst>
            </a:pPr>
            <a:endParaRPr lang="en-US" altLang="en-US" sz="1400" dirty="0"/>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monitor </a:t>
            </a:r>
            <a:r>
              <a:rPr lang="en-US" altLang="en-US" sz="1600" b="1" dirty="0" err="1">
                <a:solidFill>
                  <a:srgbClr val="000000"/>
                </a:solidFill>
                <a:latin typeface="Courier New" panose="02070309020205020404" pitchFamily="49" charset="0"/>
              </a:rPr>
              <a:t>ResourceAllocator</a:t>
            </a:r>
            <a:r>
              <a:rPr lang="en-US" altLang="en-US" sz="1600" b="1" dirty="0">
                <a:solidFill>
                  <a:srgbClr val="000000"/>
                </a:solidFill>
                <a:latin typeface="Courier New" panose="02070309020205020404" pitchFamily="49" charset="0"/>
              </a:rPr>
              <a:t>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busy;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condition x;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void acquire(int time) {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if (busy)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x.wait</a:t>
            </a:r>
            <a:r>
              <a:rPr lang="en-US" altLang="en-US" sz="1600" b="1" dirty="0">
                <a:solidFill>
                  <a:srgbClr val="000000"/>
                </a:solidFill>
                <a:latin typeface="Courier New" panose="02070309020205020404" pitchFamily="49" charset="0"/>
              </a:rPr>
              <a:t>(time);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busy = true;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void release() {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x.signal</a:t>
            </a:r>
            <a:r>
              <a:rPr lang="en-US" altLang="en-US" sz="1600" b="1" dirty="0">
                <a:solidFill>
                  <a:srgbClr val="000000"/>
                </a:solidFill>
                <a:latin typeface="Courier New" panose="02070309020205020404" pitchFamily="49" charset="0"/>
              </a:rPr>
              <a:t>();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initialization code()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None/>
              <a:tabLst>
                <a:tab pos="1368425" algn="l"/>
                <a:tab pos="1712913" algn="l"/>
                <a:tab pos="2335213" algn="l"/>
              </a:tabLst>
            </a:pPr>
            <a:r>
              <a:rPr lang="en-US" altLang="en-US" sz="16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p>
        </p:txBody>
      </p:sp>
    </p:spTree>
  </p:cSld>
  <p:clrMapOvr>
    <a:masterClrMapping/>
  </p:clrMapOvr>
  <p:transition>
    <p:wipe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p:txBody>
          <a:bodyPr/>
          <a:lstStyle/>
          <a:p>
            <a:pPr eaLnBrk="1" hangingPunct="1"/>
            <a:r>
              <a:rPr lang="en-US" altLang="en-US" dirty="0"/>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transition>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pPr algn="just"/>
            <a:r>
              <a:rPr lang="en-US" altLang="en-US" dirty="0"/>
              <a:t>Processes may have to wait indefinitely while trying to acquire a synchronization tool such as a mutex lock or semaphore.</a:t>
            </a:r>
          </a:p>
          <a:p>
            <a:pPr algn="just"/>
            <a:r>
              <a:rPr lang="en-US" altLang="en-US" dirty="0"/>
              <a:t>Waiting indefinitely violates the progress and bounded-waiting criteria discussed at the beginning of this chapter.</a:t>
            </a:r>
          </a:p>
          <a:p>
            <a:pPr algn="just"/>
            <a:r>
              <a:rPr lang="en-US" altLang="en-US" b="1" dirty="0"/>
              <a:t>Liveness</a:t>
            </a:r>
            <a:r>
              <a:rPr lang="en-US" altLang="en-US" dirty="0"/>
              <a:t> refers to a set of properties that a system must satisfy to ensure processes make progress.</a:t>
            </a:r>
          </a:p>
          <a:p>
            <a:pPr algn="just"/>
            <a:r>
              <a:rPr lang="en-US" altLang="en-US" dirty="0"/>
              <a:t>Indefinite waiting is an example of a liveness failure.</a:t>
            </a:r>
          </a:p>
        </p:txBody>
      </p:sp>
    </p:spTree>
  </p:cSld>
  <p:clrMapOvr>
    <a:masterClrMapping/>
  </p:clrMapOvr>
  <p:transition>
    <p:wipe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p:txBody>
          <a:bodyPr/>
          <a:lstStyle/>
          <a:p>
            <a:r>
              <a:rPr lang="en-US" altLang="en-US" dirty="0"/>
              <a:t>Liveness</a:t>
            </a:r>
          </a:p>
        </p:txBody>
      </p:sp>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p>
          <a:p>
            <a:pPr>
              <a:lnSpc>
                <a:spcPct val="90000"/>
              </a:lnSpc>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p>
          <a:p>
            <a:pPr>
              <a:lnSpc>
                <a:spcPct val="90000"/>
              </a:lnSpc>
              <a:buNone/>
              <a:tabLst>
                <a:tab pos="1882775" algn="ctr"/>
                <a:tab pos="4568825" algn="ctr"/>
              </a:tabLst>
            </a:pPr>
            <a:r>
              <a:rPr lang="en-US" altLang="en-US" sz="1600" b="1" dirty="0">
                <a:solidFill>
                  <a:srgbClr val="000000"/>
                </a:solidFill>
                <a:latin typeface="Courier New" panose="02070309020205020404" pitchFamily="49" charset="0"/>
              </a:rPr>
              <a:t>	           wait(Q); 	              wait(S);</a:t>
            </a:r>
          </a:p>
          <a:p>
            <a:pPr>
              <a:lnSpc>
                <a:spcPct val="90000"/>
              </a:lnSpc>
              <a:buNone/>
              <a:tabLst>
                <a:tab pos="1882775" algn="ctr"/>
                <a:tab pos="4568825" algn="ctr"/>
              </a:tabLst>
            </a:pPr>
            <a:r>
              <a:rPr lang="en-US" altLang="en-US" sz="1600" b="1" dirty="0">
                <a:solidFill>
                  <a:srgbClr val="000000"/>
                </a:solidFill>
                <a:latin typeface="Courier New" panose="02070309020205020404" pitchFamily="49" charset="0"/>
              </a:rPr>
              <a:t>		 ...		     ...</a:t>
            </a:r>
          </a:p>
          <a:p>
            <a:pPr>
              <a:lnSpc>
                <a:spcPct val="90000"/>
              </a:lnSpc>
              <a:buNone/>
              <a:tabLst>
                <a:tab pos="1882775" algn="ctr"/>
                <a:tab pos="4568825" algn="ctr"/>
              </a:tabLst>
            </a:pPr>
            <a:r>
              <a:rPr lang="en-US" altLang="en-US" sz="1600" b="1" dirty="0">
                <a:solidFill>
                  <a:srgbClr val="000000"/>
                </a:solidFill>
                <a:latin typeface="Courier New" panose="02070309020205020404" pitchFamily="49" charset="0"/>
              </a:rPr>
              <a:t>	           signal(S);                 signal(Q);</a:t>
            </a:r>
          </a:p>
          <a:p>
            <a:pPr>
              <a:lnSpc>
                <a:spcPct val="90000"/>
              </a:lnSpc>
              <a:buNone/>
              <a:tabLst>
                <a:tab pos="1882775" algn="ctr"/>
                <a:tab pos="4568825" algn="ctr"/>
              </a:tabLst>
            </a:pPr>
            <a:r>
              <a:rPr lang="en-US" altLang="en-US" sz="1600" b="1" dirty="0">
                <a:solidFill>
                  <a:srgbClr val="000000"/>
                </a:solidFill>
                <a:latin typeface="Courier New" panose="02070309020205020404" pitchFamily="49" charset="0"/>
              </a:rPr>
              <a:t>              signal(Q);                 signal(S);</a:t>
            </a:r>
          </a:p>
          <a:p>
            <a:pPr>
              <a:lnSpc>
                <a:spcPct val="90000"/>
              </a:lnSpc>
              <a:buNone/>
              <a:tabLst>
                <a:tab pos="1882775" algn="ctr"/>
                <a:tab pos="4568825" algn="ctr"/>
              </a:tabLst>
            </a:pPr>
            <a:endParaRPr lang="en-US" altLang="en-US" sz="1600" b="1" dirty="0">
              <a:solidFill>
                <a:srgbClr val="000000"/>
              </a:solidFill>
              <a:latin typeface="Courier New" panose="02070309020205020404" pitchFamily="49" charset="0"/>
            </a:endParaRPr>
          </a:p>
          <a:p>
            <a:pPr algn="just">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p>
          <a:p>
            <a:pPr algn="just">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p>
          <a:p>
            <a:pPr algn="just">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p>
        </p:txBody>
      </p:sp>
    </p:spTree>
  </p:cSld>
  <p:clrMapOvr>
    <a:masterClrMapping/>
  </p:clrMapOvr>
  <p:transition>
    <p:wipe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p:txBody>
          <a:bodyPr/>
          <a:lstStyle/>
          <a:p>
            <a:r>
              <a:rPr lang="en-US" altLang="en-US" dirty="0"/>
              <a:t>Liveness</a:t>
            </a:r>
          </a:p>
        </p:txBody>
      </p:sp>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dirty="0"/>
              <a:t>A process may never be removed from the semaphore queue in which it is suspended</a:t>
            </a:r>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Tree>
  </p:cSld>
  <p:clrMapOvr>
    <a:masterClrMapping/>
  </p:clrMapOvr>
  <p:transition>
    <p:wipe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theme/theme1.xml><?xml version="1.0" encoding="utf-8"?>
<a:theme xmlns:a="http://schemas.openxmlformats.org/drawingml/2006/main" name="SS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Comic Sans MS"/>
        <a:ea typeface=""/>
        <a:cs typeface=""/>
      </a:majorFont>
      <a:minorFont>
        <a:latin typeface="Comic Sans MS"/>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8E9540F8-C56E-444C-ACB3-A860CA9AFDC0}" vid="{4ACF5BCF-BEF1-4540-B07B-0840E8236B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SSN</Template>
  <TotalTime>3155</TotalTime>
  <Words>3933</Words>
  <Application>Microsoft Office PowerPoint</Application>
  <PresentationFormat>Widescreen</PresentationFormat>
  <Paragraphs>580</Paragraphs>
  <Slides>59</Slides>
  <Notes>40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59</vt:i4>
      </vt:variant>
    </vt:vector>
  </HeadingPairs>
  <TitlesOfParts>
    <vt:vector size="71" baseType="lpstr">
      <vt:lpstr>Arial</vt:lpstr>
      <vt:lpstr>Calibri</vt:lpstr>
      <vt:lpstr>Comic Sans MS</vt:lpstr>
      <vt:lpstr>Courier New</vt:lpstr>
      <vt:lpstr>Helvetica</vt:lpstr>
      <vt:lpstr>Monotype Sorts</vt:lpstr>
      <vt:lpstr>MT Extra</vt:lpstr>
      <vt:lpstr>Tahoma</vt:lpstr>
      <vt:lpstr>Times New Roman</vt:lpstr>
      <vt:lpstr>Verdana</vt:lpstr>
      <vt:lpstr>Webdings</vt:lpstr>
      <vt:lpstr>SSN</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Single Resource allocation </vt:lpstr>
      <vt:lpstr>Single Resource allocation </vt:lpstr>
      <vt:lpstr>A Monitor to Allocate Single Resource</vt:lpstr>
      <vt:lpstr>Single Resource Monitor (Cont.)</vt:lpstr>
      <vt:lpstr>Liveness</vt:lpstr>
      <vt:lpstr>Liveness</vt:lpstr>
      <vt:lpstr>Liveness</vt:lpstr>
      <vt:lpstr>End of Chapter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MaFaR – Masked Face Recognition Research and Innovation</dc:title>
  <dc:creator>Sree Sharmila T</dc:creator>
  <cp:lastModifiedBy>Hrithika S</cp:lastModifiedBy>
  <cp:revision>114</cp:revision>
  <dcterms:created xsi:type="dcterms:W3CDTF">2021-08-20T04:14:01Z</dcterms:created>
  <dcterms:modified xsi:type="dcterms:W3CDTF">2025-10-06T05:19:25Z</dcterms:modified>
</cp:coreProperties>
</file>